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2000" cy="6858000" type="screen16x9"/>
  <p:notesSz cx="6858000" cy="9144000"/>
  <p:defaultTextStyle>
    <a:defPPr>
      <a:defRPr lang="vi"/>
    </a:defPPr>
    <a:lvl1pPr marL="0" algn="l" defTabSz="457200" rtl="0" eaLnBrk="1" latinLnBrk="0" hangingPunct="1">
      <a:defRPr sz="1800" kern="1200" lang="vi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vi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vi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vi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vi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vi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vi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vi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vi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project22_kmeans_presentation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vi" smtClean="0"/>
              <a:t>1/27/13</a:t>
            </a:fld>
            <a:endParaRPr lang="vi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vi" smtClean="0"/>
              <a:t>‹#›</a:t>
            </a:fld>
            <a:endParaRPr lang="vi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project22_kmeans_presentation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vi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vi" smtClean="0"/>
              <a:t>1/27/13</a:t>
            </a:fld>
            <a:endParaRPr lang="vi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vi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vi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vi" smtClean="0"/>
              <a:t>‹#›</a:t>
            </a:fld>
            <a:endParaRPr lang="vi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600" kern="1200" lang="vi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800" kern="1200" lang="vi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700" kern="1200" lang="vi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 lang="vi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50" kern="1200" lang="vi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350" kern="1200" lang="vi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250" kern="1200" lang="vi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 lang="vi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000" kern="1200" lang="vi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900" kern="1200" lang="vi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vi"/>
      </a:defPPr>
      <a:lvl1pPr marL="0" algn="l" defTabSz="457200" rtl="0" eaLnBrk="1" latinLnBrk="0" hangingPunct="1">
        <a:defRPr sz="1800" kern="1200" lang="vi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700" kern="1200" lang="vi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600" kern="1200" lang="vi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450" kern="1200" lang="vi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350" kern="1200" lang="vi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250" kern="1200" lang="vi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100" kern="1200" lang="vi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000" kern="1200" lang="vi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900" kern="1200" lang="vi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ro-field"/>
          <p:cNvGrpSpPr/>
          <p:nvPr/>
        </p:nvGrpSpPr>
        <p:grpSpPr>
          <a:xfrm>
            <a:off x="0" y="0"/>
            <a:ext cx="12192000" cy="3429000"/>
            <a:chOff x="0" y="0"/>
            <a:chExt cx="12192000" cy="3429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3429000"/>
            </a:xfrm>
            <a:prstGeom prst="rect">
              <a:avLst/>
            </a:prstGeom>
            <a:gradFill>
              <a:gsLst>
                <a:gs pos="0">
                  <a:schemeClr val="accent1">
                    <a:alpha val="8000"/>
                  </a:schemeClr>
                </a:gs>
                <a:gs pos="100000">
                  <a:srgbClr val="1E40AF">
                    <a:alpha val="8000"/>
                  </a:srgbClr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571500" y="3238500"/>
              <a:ext cx="3810000" cy="571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7" name="title-main"/>
          <p:cNvGrpSpPr/>
          <p:nvPr/>
        </p:nvGrpSpPr>
        <p:grpSpPr>
          <a:xfrm>
            <a:off x="552450" y="1778000"/>
            <a:ext cx="7515034" cy="1998218"/>
            <a:chOff x="552450" y="1778000"/>
            <a:chExt cx="7515034" cy="1998218"/>
          </a:xfrm>
        </p:grpSpPr>
        <p:sp>
          <p:nvSpPr>
            <p:cNvPr id="5" name="TextBox 5"/>
            <p:cNvSpPr txBox="1"/>
            <p:nvPr/>
          </p:nvSpPr>
          <p:spPr>
            <a:xfrm>
              <a:off x="552450" y="1778000"/>
              <a:ext cx="7515034" cy="14859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5250"/>
                </a:lnSpc>
              </a:pPr>
              <a:r>
                <a:rPr lang="vi" sz="4200" b="1" dirty="0">
                  <a:solidFill>
                    <a:schemeClr val="dk1"/>
                  </a:solidFill>
                  <a:latin typeface="Inter"/>
                  <a:ea typeface="Inter"/>
                  <a:cs typeface="Inter"/>
                </a:rPr>
                <a:t>Phân Khúc Khách Hàng Bán Sỉ</a:t>
              </a:r>
              <a:br>
                <a:rPr lang="vi" sz="4200" b="1" dirty="0">
                  <a:solidFill>
                    <a:schemeClr val="dk1"/>
                  </a:solidFill>
                  <a:latin typeface="Inter"/>
                  <a:ea typeface="Inter"/>
                  <a:cs typeface="Inter"/>
                </a:rPr>
              </a:br>
              <a:r>
                <a:rPr lang="vi" sz="4200" b="1" dirty="0">
                  <a:solidFill>
                    <a:schemeClr val="dk1"/>
                  </a:solidFill>
                  <a:latin typeface="Inter"/>
                  <a:ea typeface="Inter"/>
                  <a:cs typeface="Inter"/>
                </a:rPr>
                <a:t>Với K-Means Clustering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60832" y="3365500"/>
              <a:ext cx="606875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2100" dirty="0">
                  <a:solidFill>
                    <a:schemeClr val="accent5"/>
                  </a:solidFill>
                  <a:latin typeface="Inter"/>
                  <a:ea typeface="Inter"/>
                  <a:cs typeface="Inter"/>
                </a:rPr>
                <a:t>Project 22 — Machine Learning Fundamentals</a:t>
              </a:r>
            </a:p>
          </p:txBody>
        </p:sp>
      </p:grpSp>
      <p:grpSp>
        <p:nvGrpSpPr>
          <p:cNvPr id="29" name="info-cards"/>
          <p:cNvGrpSpPr/>
          <p:nvPr/>
        </p:nvGrpSpPr>
        <p:grpSpPr>
          <a:xfrm>
            <a:off x="571500" y="4381500"/>
            <a:ext cx="11049000" cy="857250"/>
            <a:chOff x="571500" y="4381500"/>
            <a:chExt cx="11049000" cy="857250"/>
          </a:xfrm>
        </p:grpSpPr>
        <p:grpSp>
          <p:nvGrpSpPr>
            <p:cNvPr id="14" name="card-dataset"/>
            <p:cNvGrpSpPr/>
            <p:nvPr/>
          </p:nvGrpSpPr>
          <p:grpSpPr>
            <a:xfrm>
              <a:off x="571500" y="4381500"/>
              <a:ext cx="3333750" cy="857250"/>
              <a:chOff x="571500" y="4381500"/>
              <a:chExt cx="3333750" cy="857250"/>
            </a:xfrm>
          </p:grpSpPr>
          <p:sp>
            <p:nvSpPr>
              <p:cNvPr id="8" name="Rectangle 8"/>
              <p:cNvSpPr/>
              <p:nvPr/>
            </p:nvSpPr>
            <p:spPr>
              <a:xfrm>
                <a:off x="571500" y="4381500"/>
                <a:ext cx="3333750" cy="857250"/>
              </a:xfrm>
              <a:prstGeom prst="roundRect">
                <a:avLst>
                  <a:gd name="adj" fmla="val 13333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grpSp>
            <p:nvGrpSpPr>
              <p:cNvPr id="11" name="Group 11"/>
              <p:cNvGrpSpPr/>
              <p:nvPr/>
            </p:nvGrpSpPr>
            <p:grpSpPr>
              <a:xfrm>
                <a:off x="809625" y="4655344"/>
                <a:ext cx="285750" cy="309562"/>
                <a:chOff x="809625" y="4655344"/>
                <a:chExt cx="285750" cy="309562"/>
              </a:xfrm>
            </p:grpSpPr>
            <p:sp>
              <p:nvSpPr>
                <p:cNvPr id="9" name="Freeform 9"/>
                <p:cNvSpPr/>
                <p:nvPr/>
              </p:nvSpPr>
              <p:spPr>
                <a:xfrm>
                  <a:off x="821531" y="4667250"/>
                  <a:ext cx="261938" cy="142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1938" h="142875">
                      <a:moveTo>
                        <a:pt x="261938" y="71438"/>
                      </a:moveTo>
                      <a:cubicBezTo>
                        <a:pt x="261938" y="110892"/>
                        <a:pt x="203299" y="142875"/>
                        <a:pt x="130969" y="142875"/>
                      </a:cubicBezTo>
                      <a:cubicBezTo>
                        <a:pt x="58638" y="142875"/>
                        <a:pt x="0" y="110892"/>
                        <a:pt x="0" y="71438"/>
                      </a:cubicBezTo>
                      <a:cubicBezTo>
                        <a:pt x="0" y="31983"/>
                        <a:pt x="58638" y="0"/>
                        <a:pt x="130969" y="0"/>
                      </a:cubicBezTo>
                      <a:cubicBezTo>
                        <a:pt x="203299" y="0"/>
                        <a:pt x="261938" y="31983"/>
                        <a:pt x="261938" y="71438"/>
                      </a:cubicBezTo>
                      <a:close/>
                    </a:path>
                  </a:pathLst>
                </a:custGeom>
                <a:solidFill>
                  <a:schemeClr val="accent1">
                    <a:alpha val="20000"/>
                  </a:schemeClr>
                </a:solidFill>
                <a:ln>
                  <a:noFill/>
                </a:ln>
              </p:spPr>
            </p:sp>
            <p:sp>
              <p:nvSpPr>
                <p:cNvPr id="10" name="Freeform 10"/>
                <p:cNvSpPr/>
                <p:nvPr/>
              </p:nvSpPr>
              <p:spPr>
                <a:xfrm>
                  <a:off x="809625" y="4655344"/>
                  <a:ext cx="285750" cy="3095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5750" h="309562">
                      <a:moveTo>
                        <a:pt x="142875" y="0"/>
                      </a:moveTo>
                      <a:cubicBezTo>
                        <a:pt x="62761" y="0"/>
                        <a:pt x="0" y="36612"/>
                        <a:pt x="0" y="83344"/>
                      </a:cubicBezTo>
                      <a:lnTo>
                        <a:pt x="0" y="226219"/>
                      </a:lnTo>
                      <a:cubicBezTo>
                        <a:pt x="0" y="272951"/>
                        <a:pt x="62761" y="309562"/>
                        <a:pt x="142875" y="309562"/>
                      </a:cubicBezTo>
                      <a:cubicBezTo>
                        <a:pt x="222989" y="309562"/>
                        <a:pt x="285750" y="272951"/>
                        <a:pt x="285750" y="226219"/>
                      </a:cubicBezTo>
                      <a:lnTo>
                        <a:pt x="285750" y="83344"/>
                      </a:lnTo>
                      <a:cubicBezTo>
                        <a:pt x="285750" y="36612"/>
                        <a:pt x="222989" y="0"/>
                        <a:pt x="142875" y="0"/>
                      </a:cubicBezTo>
                      <a:close/>
                      <a:moveTo>
                        <a:pt x="261938" y="154781"/>
                      </a:moveTo>
                      <a:cubicBezTo>
                        <a:pt x="261938" y="169099"/>
                        <a:pt x="250210" y="183699"/>
                        <a:pt x="229776" y="194846"/>
                      </a:cubicBezTo>
                      <a:cubicBezTo>
                        <a:pt x="206767" y="207392"/>
                        <a:pt x="175900" y="214312"/>
                        <a:pt x="142875" y="214312"/>
                      </a:cubicBezTo>
                      <a:cubicBezTo>
                        <a:pt x="109850" y="214312"/>
                        <a:pt x="78983" y="207392"/>
                        <a:pt x="55974" y="194846"/>
                      </a:cubicBezTo>
                      <a:cubicBezTo>
                        <a:pt x="35540" y="183699"/>
                        <a:pt x="23812" y="169099"/>
                        <a:pt x="23812" y="154781"/>
                      </a:cubicBezTo>
                      <a:lnTo>
                        <a:pt x="23812" y="130016"/>
                      </a:lnTo>
                      <a:cubicBezTo>
                        <a:pt x="49203" y="152340"/>
                        <a:pt x="92616" y="166688"/>
                        <a:pt x="142875" y="166688"/>
                      </a:cubicBezTo>
                      <a:cubicBezTo>
                        <a:pt x="193134" y="166688"/>
                        <a:pt x="236547" y="152281"/>
                        <a:pt x="261938" y="130016"/>
                      </a:cubicBezTo>
                      <a:close/>
                      <a:moveTo>
                        <a:pt x="55974" y="43279"/>
                      </a:moveTo>
                      <a:cubicBezTo>
                        <a:pt x="78983" y="30733"/>
                        <a:pt x="109850" y="23812"/>
                        <a:pt x="142875" y="23812"/>
                      </a:cubicBezTo>
                      <a:cubicBezTo>
                        <a:pt x="175900" y="23812"/>
                        <a:pt x="206767" y="30733"/>
                        <a:pt x="229776" y="43279"/>
                      </a:cubicBezTo>
                      <a:cubicBezTo>
                        <a:pt x="250210" y="54426"/>
                        <a:pt x="261938" y="69026"/>
                        <a:pt x="261938" y="83344"/>
                      </a:cubicBezTo>
                      <a:cubicBezTo>
                        <a:pt x="261938" y="97661"/>
                        <a:pt x="250210" y="112261"/>
                        <a:pt x="229776" y="123408"/>
                      </a:cubicBezTo>
                      <a:cubicBezTo>
                        <a:pt x="206767" y="135954"/>
                        <a:pt x="175900" y="142875"/>
                        <a:pt x="142875" y="142875"/>
                      </a:cubicBezTo>
                      <a:cubicBezTo>
                        <a:pt x="109850" y="142875"/>
                        <a:pt x="78983" y="135954"/>
                        <a:pt x="55974" y="123408"/>
                      </a:cubicBezTo>
                      <a:cubicBezTo>
                        <a:pt x="35540" y="112261"/>
                        <a:pt x="23812" y="97661"/>
                        <a:pt x="23812" y="83344"/>
                      </a:cubicBezTo>
                      <a:cubicBezTo>
                        <a:pt x="23812" y="69026"/>
                        <a:pt x="35540" y="54426"/>
                        <a:pt x="55974" y="43279"/>
                      </a:cubicBezTo>
                      <a:close/>
                      <a:moveTo>
                        <a:pt x="229776" y="266283"/>
                      </a:moveTo>
                      <a:cubicBezTo>
                        <a:pt x="206767" y="278829"/>
                        <a:pt x="175900" y="285750"/>
                        <a:pt x="142875" y="285750"/>
                      </a:cubicBezTo>
                      <a:cubicBezTo>
                        <a:pt x="109850" y="285750"/>
                        <a:pt x="78983" y="278829"/>
                        <a:pt x="55974" y="266283"/>
                      </a:cubicBezTo>
                      <a:cubicBezTo>
                        <a:pt x="35540" y="255136"/>
                        <a:pt x="23812" y="240536"/>
                        <a:pt x="23812" y="226219"/>
                      </a:cubicBezTo>
                      <a:lnTo>
                        <a:pt x="23812" y="201454"/>
                      </a:lnTo>
                      <a:cubicBezTo>
                        <a:pt x="49203" y="223778"/>
                        <a:pt x="92616" y="238125"/>
                        <a:pt x="142875" y="238125"/>
                      </a:cubicBezTo>
                      <a:cubicBezTo>
                        <a:pt x="193134" y="238125"/>
                        <a:pt x="236547" y="223718"/>
                        <a:pt x="261938" y="201454"/>
                      </a:cubicBezTo>
                      <a:lnTo>
                        <a:pt x="261938" y="226219"/>
                      </a:lnTo>
                      <a:cubicBezTo>
                        <a:pt x="261938" y="240536"/>
                        <a:pt x="250210" y="255136"/>
                        <a:pt x="229776" y="26628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</p:sp>
          </p:grpSp>
          <p:sp>
            <p:nvSpPr>
              <p:cNvPr id="12" name="TextBox 12"/>
              <p:cNvSpPr txBox="1"/>
              <p:nvPr/>
            </p:nvSpPr>
            <p:spPr>
              <a:xfrm>
                <a:off x="1279779" y="4610100"/>
                <a:ext cx="204069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" sz="1200" b="1" dirty="0">
                    <a:solidFill>
                      <a:schemeClr val="dk1"/>
                    </a:solidFill>
                    <a:latin typeface="Inter"/>
                    <a:ea typeface="Inter"/>
                    <a:cs typeface="Inter"/>
                  </a:rPr>
                  <a:t>UCI Wholesale Customers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280541" y="4873625"/>
                <a:ext cx="187650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" sz="1050" dirty="0">
                    <a:solidFill>
                      <a:schemeClr val="accent5"/>
                    </a:solidFill>
                    <a:latin typeface="Inter"/>
                    <a:ea typeface="Inter"/>
                    <a:cs typeface="Inter"/>
                  </a:rPr>
                  <a:t>440 customers, 6 features</a:t>
                </a:r>
              </a:p>
            </p:txBody>
          </p:sp>
        </p:grpSp>
        <p:grpSp>
          <p:nvGrpSpPr>
            <p:cNvPr id="21" name="card-method"/>
            <p:cNvGrpSpPr/>
            <p:nvPr/>
          </p:nvGrpSpPr>
          <p:grpSpPr>
            <a:xfrm>
              <a:off x="4429125" y="4381500"/>
              <a:ext cx="3333750" cy="857250"/>
              <a:chOff x="4429125" y="4381500"/>
              <a:chExt cx="3333750" cy="857250"/>
            </a:xfrm>
          </p:grpSpPr>
          <p:sp>
            <p:nvSpPr>
              <p:cNvPr id="15" name="Rectangle 15"/>
              <p:cNvSpPr/>
              <p:nvPr/>
            </p:nvSpPr>
            <p:spPr>
              <a:xfrm>
                <a:off x="4429125" y="4381500"/>
                <a:ext cx="3333750" cy="857250"/>
              </a:xfrm>
              <a:prstGeom prst="roundRect">
                <a:avLst>
                  <a:gd name="adj" fmla="val 13333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grpSp>
            <p:nvGrpSpPr>
              <p:cNvPr id="18" name="Group 18"/>
              <p:cNvGrpSpPr/>
              <p:nvPr/>
            </p:nvGrpSpPr>
            <p:grpSpPr>
              <a:xfrm>
                <a:off x="4644085" y="4655344"/>
                <a:ext cx="331542" cy="325952"/>
                <a:chOff x="4644085" y="4655344"/>
                <a:chExt cx="331542" cy="325952"/>
              </a:xfrm>
            </p:grpSpPr>
            <p:sp>
              <p:nvSpPr>
                <p:cNvPr id="16" name="Freeform 16"/>
                <p:cNvSpPr/>
                <p:nvPr/>
              </p:nvSpPr>
              <p:spPr>
                <a:xfrm>
                  <a:off x="4656824" y="4675436"/>
                  <a:ext cx="105676" cy="1607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676" h="160734">
                      <a:moveTo>
                        <a:pt x="105676" y="0"/>
                      </a:moveTo>
                      <a:lnTo>
                        <a:pt x="105676" y="107156"/>
                      </a:lnTo>
                      <a:lnTo>
                        <a:pt x="12808" y="160734"/>
                      </a:lnTo>
                      <a:cubicBezTo>
                        <a:pt x="0" y="91604"/>
                        <a:pt x="39389" y="23431"/>
                        <a:pt x="105676" y="0"/>
                      </a:cubicBezTo>
                      <a:close/>
                    </a:path>
                  </a:pathLst>
                </a:custGeom>
                <a:solidFill>
                  <a:schemeClr val="accent2">
                    <a:alpha val="20000"/>
                  </a:schemeClr>
                </a:solidFill>
                <a:ln>
                  <a:noFill/>
                </a:ln>
              </p:spPr>
            </p:sp>
            <p:sp>
              <p:nvSpPr>
                <p:cNvPr id="17" name="Freeform 17"/>
                <p:cNvSpPr/>
                <p:nvPr/>
              </p:nvSpPr>
              <p:spPr>
                <a:xfrm>
                  <a:off x="4644085" y="4655344"/>
                  <a:ext cx="331542" cy="3259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1542" h="325952">
                      <a:moveTo>
                        <a:pt x="124368" y="137562"/>
                      </a:moveTo>
                      <a:cubicBezTo>
                        <a:pt x="128053" y="135435"/>
                        <a:pt x="130322" y="131503"/>
                        <a:pt x="130321" y="127248"/>
                      </a:cubicBezTo>
                      <a:lnTo>
                        <a:pt x="130321" y="20092"/>
                      </a:lnTo>
                      <a:cubicBezTo>
                        <a:pt x="130300" y="16240"/>
                        <a:pt x="128417" y="12637"/>
                        <a:pt x="125266" y="10421"/>
                      </a:cubicBezTo>
                      <a:cubicBezTo>
                        <a:pt x="122116" y="8205"/>
                        <a:pt x="118089" y="7649"/>
                        <a:pt x="114456" y="8930"/>
                      </a:cubicBezTo>
                      <a:cubicBezTo>
                        <a:pt x="42665" y="34338"/>
                        <a:pt x="0" y="108170"/>
                        <a:pt x="13834" y="183059"/>
                      </a:cubicBezTo>
                      <a:cubicBezTo>
                        <a:pt x="14538" y="186863"/>
                        <a:pt x="17047" y="190087"/>
                        <a:pt x="20561" y="191706"/>
                      </a:cubicBezTo>
                      <a:cubicBezTo>
                        <a:pt x="22121" y="192435"/>
                        <a:pt x="23824" y="192811"/>
                        <a:pt x="25546" y="192807"/>
                      </a:cubicBezTo>
                      <a:cubicBezTo>
                        <a:pt x="27636" y="192808"/>
                        <a:pt x="29689" y="192258"/>
                        <a:pt x="31500" y="191214"/>
                      </a:cubicBezTo>
                      <a:close/>
                      <a:moveTo>
                        <a:pt x="106509" y="38130"/>
                      </a:moveTo>
                      <a:lnTo>
                        <a:pt x="106509" y="120372"/>
                      </a:lnTo>
                      <a:lnTo>
                        <a:pt x="35250" y="161493"/>
                      </a:lnTo>
                      <a:cubicBezTo>
                        <a:pt x="35071" y="159246"/>
                        <a:pt x="35071" y="156984"/>
                        <a:pt x="35071" y="154781"/>
                      </a:cubicBezTo>
                      <a:cubicBezTo>
                        <a:pt x="35115" y="105575"/>
                        <a:pt x="62698" y="60533"/>
                        <a:pt x="106509" y="38130"/>
                      </a:cubicBezTo>
                      <a:close/>
                      <a:moveTo>
                        <a:pt x="166040" y="0"/>
                      </a:moveTo>
                      <a:cubicBezTo>
                        <a:pt x="159465" y="0"/>
                        <a:pt x="154134" y="5331"/>
                        <a:pt x="154134" y="11906"/>
                      </a:cubicBezTo>
                      <a:lnTo>
                        <a:pt x="154134" y="148560"/>
                      </a:lnTo>
                      <a:lnTo>
                        <a:pt x="36843" y="216887"/>
                      </a:lnTo>
                      <a:cubicBezTo>
                        <a:pt x="34093" y="218481"/>
                        <a:pt x="32095" y="221107"/>
                        <a:pt x="31293" y="224182"/>
                      </a:cubicBezTo>
                      <a:cubicBezTo>
                        <a:pt x="30491" y="227257"/>
                        <a:pt x="30951" y="230525"/>
                        <a:pt x="32571" y="233258"/>
                      </a:cubicBezTo>
                      <a:cubicBezTo>
                        <a:pt x="70572" y="297859"/>
                        <a:pt x="149397" y="325952"/>
                        <a:pt x="219690" y="299946"/>
                      </a:cubicBezTo>
                      <a:cubicBezTo>
                        <a:pt x="289982" y="273939"/>
                        <a:pt x="331542" y="201307"/>
                        <a:pt x="318346" y="127529"/>
                      </a:cubicBezTo>
                      <a:cubicBezTo>
                        <a:pt x="305149" y="53751"/>
                        <a:pt x="240989" y="28"/>
                        <a:pt x="166040" y="0"/>
                      </a:cubicBezTo>
                      <a:close/>
                      <a:moveTo>
                        <a:pt x="166040" y="285750"/>
                      </a:moveTo>
                      <a:cubicBezTo>
                        <a:pt x="123880" y="285637"/>
                        <a:pt x="84323" y="265341"/>
                        <a:pt x="59643" y="231160"/>
                      </a:cubicBezTo>
                      <a:lnTo>
                        <a:pt x="172038" y="165675"/>
                      </a:lnTo>
                      <a:cubicBezTo>
                        <a:pt x="175718" y="163551"/>
                        <a:pt x="177987" y="159626"/>
                        <a:pt x="177991" y="155377"/>
                      </a:cubicBezTo>
                      <a:lnTo>
                        <a:pt x="177991" y="24348"/>
                      </a:lnTo>
                      <a:cubicBezTo>
                        <a:pt x="247756" y="30678"/>
                        <a:pt x="300189" y="90784"/>
                        <a:pt x="296989" y="160763"/>
                      </a:cubicBezTo>
                      <a:cubicBezTo>
                        <a:pt x="293790" y="230741"/>
                        <a:pt x="236092" y="285813"/>
                        <a:pt x="166040" y="28575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</p:sp>
          </p:grpSp>
          <p:sp>
            <p:nvSpPr>
              <p:cNvPr id="19" name="TextBox 19"/>
              <p:cNvSpPr txBox="1"/>
              <p:nvPr/>
            </p:nvSpPr>
            <p:spPr>
              <a:xfrm>
                <a:off x="5137404" y="4610100"/>
                <a:ext cx="1150163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" sz="1200" b="1" dirty="0">
                    <a:solidFill>
                      <a:schemeClr val="dk1"/>
                    </a:solidFill>
                    <a:latin typeface="Inter"/>
                    <a:ea typeface="Inter"/>
                    <a:cs typeface="Inter"/>
                  </a:rPr>
                  <a:t>K-Means D011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5138166" y="4873625"/>
                <a:ext cx="195022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" sz="1050" dirty="0">
                    <a:solidFill>
                      <a:schemeClr val="accent5"/>
                    </a:solidFill>
                    <a:latin typeface="Inter"/>
                    <a:ea typeface="Inter"/>
                    <a:cs typeface="Inter"/>
                  </a:rPr>
                  <a:t>log1p + StandardScaler, K=2</a:t>
                </a:r>
              </a:p>
            </p:txBody>
          </p:sp>
        </p:grpSp>
        <p:grpSp>
          <p:nvGrpSpPr>
            <p:cNvPr id="28" name="card-app"/>
            <p:cNvGrpSpPr/>
            <p:nvPr/>
          </p:nvGrpSpPr>
          <p:grpSpPr>
            <a:xfrm>
              <a:off x="8286750" y="4381500"/>
              <a:ext cx="3333750" cy="857250"/>
              <a:chOff x="8286750" y="4381500"/>
              <a:chExt cx="3333750" cy="857250"/>
            </a:xfrm>
          </p:grpSpPr>
          <p:sp>
            <p:nvSpPr>
              <p:cNvPr id="22" name="Rectangle 22"/>
              <p:cNvSpPr/>
              <p:nvPr/>
            </p:nvSpPr>
            <p:spPr>
              <a:xfrm>
                <a:off x="8286750" y="4381500"/>
                <a:ext cx="3333750" cy="857250"/>
              </a:xfrm>
              <a:prstGeom prst="roundRect">
                <a:avLst>
                  <a:gd name="adj" fmla="val 13333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grpSp>
            <p:nvGrpSpPr>
              <p:cNvPr id="25" name="Group 25"/>
              <p:cNvGrpSpPr/>
              <p:nvPr/>
            </p:nvGrpSpPr>
            <p:grpSpPr>
              <a:xfrm>
                <a:off x="8489160" y="4666887"/>
                <a:ext cx="357180" cy="286114"/>
                <a:chOff x="8489160" y="4666887"/>
                <a:chExt cx="357180" cy="286114"/>
              </a:xfrm>
            </p:grpSpPr>
            <p:sp>
              <p:nvSpPr>
                <p:cNvPr id="23" name="Freeform 23"/>
                <p:cNvSpPr/>
                <p:nvPr/>
              </p:nvSpPr>
              <p:spPr>
                <a:xfrm>
                  <a:off x="8501062" y="4750594"/>
                  <a:ext cx="333375" cy="1190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3375" h="119062">
                      <a:moveTo>
                        <a:pt x="333375" y="59531"/>
                      </a:moveTo>
                      <a:lnTo>
                        <a:pt x="261938" y="119062"/>
                      </a:lnTo>
                      <a:lnTo>
                        <a:pt x="71438" y="119062"/>
                      </a:lnTo>
                      <a:lnTo>
                        <a:pt x="0" y="59531"/>
                      </a:lnTo>
                      <a:lnTo>
                        <a:pt x="71438" y="0"/>
                      </a:lnTo>
                      <a:lnTo>
                        <a:pt x="261938" y="0"/>
                      </a:lnTo>
                      <a:close/>
                    </a:path>
                  </a:pathLst>
                </a:custGeom>
                <a:solidFill>
                  <a:schemeClr val="accent3">
                    <a:alpha val="20000"/>
                  </a:schemeClr>
                </a:solidFill>
                <a:ln>
                  <a:noFill/>
                </a:ln>
              </p:spPr>
            </p:sp>
            <p:sp>
              <p:nvSpPr>
                <p:cNvPr id="24" name="Freeform 24"/>
                <p:cNvSpPr/>
                <p:nvPr/>
              </p:nvSpPr>
              <p:spPr>
                <a:xfrm>
                  <a:off x="8489160" y="4666887"/>
                  <a:ext cx="357180" cy="2861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7180" h="286114">
                      <a:moveTo>
                        <a:pt x="90960" y="92860"/>
                      </a:moveTo>
                      <a:lnTo>
                        <a:pt x="30506" y="143238"/>
                      </a:lnTo>
                      <a:lnTo>
                        <a:pt x="90960" y="193617"/>
                      </a:lnTo>
                      <a:cubicBezTo>
                        <a:pt x="94324" y="196310"/>
                        <a:pt x="95971" y="200610"/>
                        <a:pt x="95265" y="204862"/>
                      </a:cubicBezTo>
                      <a:cubicBezTo>
                        <a:pt x="94559" y="209113"/>
                        <a:pt x="91611" y="212651"/>
                        <a:pt x="87557" y="214112"/>
                      </a:cubicBezTo>
                      <a:cubicBezTo>
                        <a:pt x="83503" y="215574"/>
                        <a:pt x="78976" y="214730"/>
                        <a:pt x="75720" y="211908"/>
                      </a:cubicBezTo>
                      <a:lnTo>
                        <a:pt x="4283" y="152376"/>
                      </a:lnTo>
                      <a:cubicBezTo>
                        <a:pt x="1569" y="150114"/>
                        <a:pt x="0" y="146764"/>
                        <a:pt x="0" y="143231"/>
                      </a:cubicBezTo>
                      <a:cubicBezTo>
                        <a:pt x="0" y="139698"/>
                        <a:pt x="1569" y="136347"/>
                        <a:pt x="4283" y="134085"/>
                      </a:cubicBezTo>
                      <a:lnTo>
                        <a:pt x="75720" y="74554"/>
                      </a:lnTo>
                      <a:cubicBezTo>
                        <a:pt x="80775" y="70346"/>
                        <a:pt x="88285" y="71032"/>
                        <a:pt x="92493" y="76087"/>
                      </a:cubicBezTo>
                      <a:cubicBezTo>
                        <a:pt x="96702" y="81142"/>
                        <a:pt x="96015" y="88652"/>
                        <a:pt x="90960" y="92860"/>
                      </a:cubicBezTo>
                      <a:close/>
                      <a:moveTo>
                        <a:pt x="352898" y="134085"/>
                      </a:moveTo>
                      <a:lnTo>
                        <a:pt x="281460" y="74554"/>
                      </a:lnTo>
                      <a:cubicBezTo>
                        <a:pt x="276405" y="70346"/>
                        <a:pt x="268896" y="71032"/>
                        <a:pt x="264687" y="76087"/>
                      </a:cubicBezTo>
                      <a:cubicBezTo>
                        <a:pt x="260479" y="81142"/>
                        <a:pt x="261165" y="88652"/>
                        <a:pt x="266220" y="92860"/>
                      </a:cubicBezTo>
                      <a:lnTo>
                        <a:pt x="326674" y="143238"/>
                      </a:lnTo>
                      <a:lnTo>
                        <a:pt x="266220" y="193617"/>
                      </a:lnTo>
                      <a:cubicBezTo>
                        <a:pt x="262856" y="196310"/>
                        <a:pt x="261210" y="200610"/>
                        <a:pt x="261915" y="204862"/>
                      </a:cubicBezTo>
                      <a:cubicBezTo>
                        <a:pt x="262621" y="209113"/>
                        <a:pt x="265569" y="212651"/>
                        <a:pt x="269623" y="214112"/>
                      </a:cubicBezTo>
                      <a:cubicBezTo>
                        <a:pt x="273677" y="215574"/>
                        <a:pt x="278204" y="214730"/>
                        <a:pt x="281460" y="211908"/>
                      </a:cubicBezTo>
                      <a:lnTo>
                        <a:pt x="352898" y="152376"/>
                      </a:lnTo>
                      <a:cubicBezTo>
                        <a:pt x="355611" y="150114"/>
                        <a:pt x="357180" y="146764"/>
                        <a:pt x="357180" y="143231"/>
                      </a:cubicBezTo>
                      <a:cubicBezTo>
                        <a:pt x="357180" y="139698"/>
                        <a:pt x="355611" y="136347"/>
                        <a:pt x="352898" y="134085"/>
                      </a:cubicBezTo>
                      <a:close/>
                      <a:moveTo>
                        <a:pt x="230278" y="1078"/>
                      </a:moveTo>
                      <a:cubicBezTo>
                        <a:pt x="227310" y="0"/>
                        <a:pt x="224035" y="146"/>
                        <a:pt x="221174" y="1483"/>
                      </a:cubicBezTo>
                      <a:cubicBezTo>
                        <a:pt x="218313" y="2820"/>
                        <a:pt x="216101" y="5238"/>
                        <a:pt x="215023" y="8207"/>
                      </a:cubicBezTo>
                      <a:lnTo>
                        <a:pt x="119773" y="270144"/>
                      </a:lnTo>
                      <a:cubicBezTo>
                        <a:pt x="118691" y="273114"/>
                        <a:pt x="118834" y="276393"/>
                        <a:pt x="120172" y="279257"/>
                      </a:cubicBezTo>
                      <a:cubicBezTo>
                        <a:pt x="121509" y="282121"/>
                        <a:pt x="123930" y="284336"/>
                        <a:pt x="126902" y="285414"/>
                      </a:cubicBezTo>
                      <a:cubicBezTo>
                        <a:pt x="128207" y="285877"/>
                        <a:pt x="129581" y="286114"/>
                        <a:pt x="130965" y="286113"/>
                      </a:cubicBezTo>
                      <a:cubicBezTo>
                        <a:pt x="135974" y="286113"/>
                        <a:pt x="140448" y="282978"/>
                        <a:pt x="142157" y="278270"/>
                      </a:cubicBezTo>
                      <a:lnTo>
                        <a:pt x="237407" y="16333"/>
                      </a:lnTo>
                      <a:cubicBezTo>
                        <a:pt x="238485" y="13364"/>
                        <a:pt x="238339" y="10089"/>
                        <a:pt x="237002" y="7229"/>
                      </a:cubicBezTo>
                      <a:cubicBezTo>
                        <a:pt x="235665" y="4368"/>
                        <a:pt x="233247" y="2155"/>
                        <a:pt x="230278" y="1078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</p:sp>
          </p:grpSp>
          <p:sp>
            <p:nvSpPr>
              <p:cNvPr id="26" name="TextBox 26"/>
              <p:cNvSpPr txBox="1"/>
              <p:nvPr/>
            </p:nvSpPr>
            <p:spPr>
              <a:xfrm>
                <a:off x="8995029" y="4610100"/>
                <a:ext cx="178267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" sz="1200" b="1" dirty="0">
                    <a:solidFill>
                      <a:schemeClr val="dk1"/>
                    </a:solidFill>
                    <a:latin typeface="Inter"/>
                    <a:ea typeface="Inter"/>
                    <a:cs typeface="Inter"/>
                  </a:rPr>
                  <a:t>Full Stack Application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8995791" y="4873625"/>
                <a:ext cx="145996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" sz="1050" dirty="0">
                    <a:solidFill>
                      <a:schemeClr val="accent5"/>
                    </a:solidFill>
                    <a:latin typeface="Inter"/>
                    <a:ea typeface="Inter"/>
                    <a:cs typeface="Inter"/>
                  </a:rPr>
                  <a:t>React + Node.js + API</a:t>
                </a:r>
              </a:p>
            </p:txBody>
          </p:sp>
        </p:grpSp>
      </p:grpSp>
      <p:grpSp>
        <p:nvGrpSpPr>
          <p:cNvPr id="32" name="footer"/>
          <p:cNvGrpSpPr/>
          <p:nvPr/>
        </p:nvGrpSpPr>
        <p:grpSpPr>
          <a:xfrm>
            <a:off x="566166" y="6302375"/>
            <a:ext cx="11059669" cy="205359"/>
            <a:chOff x="566166" y="6302375"/>
            <a:chExt cx="11059669" cy="205359"/>
          </a:xfrm>
        </p:grpSpPr>
        <p:sp>
          <p:nvSpPr>
            <p:cNvPr id="30" name="TextBox 30"/>
            <p:cNvSpPr txBox="1"/>
            <p:nvPr/>
          </p:nvSpPr>
          <p:spPr>
            <a:xfrm>
              <a:off x="566166" y="6302375"/>
              <a:ext cx="181473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1050" dirty="0">
                  <a:solidFill>
                    <a:srgbClr val="9CA3AF"/>
                  </a:solidFill>
                  <a:latin typeface="Inter"/>
                  <a:ea typeface="Inter"/>
                  <a:cs typeface="Inter"/>
                </a:rPr>
                <a:t>Data → Model → Deployment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837736" y="6302375"/>
              <a:ext cx="7880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vi" sz="1050" dirty="0">
                  <a:solidFill>
                    <a:srgbClr val="9CA3AF"/>
                  </a:solidFill>
                  <a:latin typeface="Inter"/>
                  <a:ea typeface="Inter"/>
                  <a:cs typeface="Inter"/>
                </a:rPr>
                <a:t>2026-10-26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8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er"/>
          <p:cNvGrpSpPr/>
          <p:nvPr/>
        </p:nvGrpSpPr>
        <p:grpSpPr>
          <a:xfrm>
            <a:off x="555498" y="476250"/>
            <a:ext cx="4412101" cy="616077"/>
            <a:chOff x="555498" y="476250"/>
            <a:chExt cx="4412101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555498" y="476250"/>
              <a:ext cx="4412101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3150" b="1" dirty="0">
                  <a:solidFill>
                    <a:schemeClr val="dk1"/>
                  </a:solidFill>
                  <a:latin typeface="Inter"/>
                  <a:ea typeface="Inter"/>
                  <a:cs typeface="Inter"/>
                </a:rPr>
                <a:t>Bài Toán và Mục Tiêu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571500" y="1000125"/>
              <a:ext cx="11430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1" name="business-problem"/>
          <p:cNvGrpSpPr/>
          <p:nvPr/>
        </p:nvGrpSpPr>
        <p:grpSpPr>
          <a:xfrm>
            <a:off x="571500" y="1524000"/>
            <a:ext cx="11049000" cy="1143000"/>
            <a:chOff x="571500" y="1524000"/>
            <a:chExt cx="11049000" cy="1143000"/>
          </a:xfrm>
        </p:grpSpPr>
        <p:sp>
          <p:nvSpPr>
            <p:cNvPr id="5" name="Rectangle 5"/>
            <p:cNvSpPr/>
            <p:nvPr/>
          </p:nvSpPr>
          <p:spPr>
            <a:xfrm>
              <a:off x="571500" y="1524000"/>
              <a:ext cx="11049000" cy="1143000"/>
            </a:xfrm>
            <a:prstGeom prst="roundRect">
              <a:avLst>
                <a:gd name="adj" fmla="val 10000"/>
              </a:avLst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8" name="Group 8"/>
            <p:cNvGrpSpPr/>
            <p:nvPr/>
          </p:nvGrpSpPr>
          <p:grpSpPr>
            <a:xfrm>
              <a:off x="779294" y="1781314"/>
              <a:ext cx="310688" cy="308538"/>
              <a:chOff x="779294" y="1781314"/>
              <a:chExt cx="310688" cy="308538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869156" y="1869281"/>
                <a:ext cx="128588" cy="128588"/>
              </a:xfrm>
              <a:custGeom>
                <a:avLst/>
                <a:gdLst/>
                <a:ahLst/>
                <a:cxnLst/>
                <a:rect l="l" t="t" r="r" b="b"/>
                <a:pathLst>
                  <a:path w="128588" h="128588">
                    <a:moveTo>
                      <a:pt x="128588" y="64294"/>
                    </a:moveTo>
                    <a:cubicBezTo>
                      <a:pt x="128588" y="99802"/>
                      <a:pt x="99802" y="128588"/>
                      <a:pt x="64294" y="128588"/>
                    </a:cubicBezTo>
                    <a:cubicBezTo>
                      <a:pt x="28785" y="128588"/>
                      <a:pt x="0" y="99802"/>
                      <a:pt x="0" y="64294"/>
                    </a:cubicBezTo>
                    <a:cubicBezTo>
                      <a:pt x="0" y="28785"/>
                      <a:pt x="28785" y="0"/>
                      <a:pt x="64294" y="0"/>
                    </a:cubicBezTo>
                    <a:cubicBezTo>
                      <a:pt x="99802" y="0"/>
                      <a:pt x="128588" y="28785"/>
                      <a:pt x="128588" y="64294"/>
                    </a:cubicBezTo>
                    <a:close/>
                  </a:path>
                </a:pathLst>
              </a:custGeom>
              <a:solidFill>
                <a:schemeClr val="accent1">
                  <a:alpha val="20000"/>
                </a:schemeClr>
              </a:solidFill>
              <a:ln>
                <a:noFill/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779294" y="1781314"/>
                <a:ext cx="310688" cy="308538"/>
              </a:xfrm>
              <a:custGeom>
                <a:avLst/>
                <a:gdLst/>
                <a:ahLst/>
                <a:cxnLst/>
                <a:rect l="l" t="t" r="r" b="b"/>
                <a:pathLst>
                  <a:path w="310688" h="308538">
                    <a:moveTo>
                      <a:pt x="279890" y="92200"/>
                    </a:moveTo>
                    <a:cubicBezTo>
                      <a:pt x="310688" y="156613"/>
                      <a:pt x="287855" y="233884"/>
                      <a:pt x="226992" y="271211"/>
                    </a:cubicBezTo>
                    <a:cubicBezTo>
                      <a:pt x="166129" y="308538"/>
                      <a:pt x="86903" y="293860"/>
                      <a:pt x="43452" y="237207"/>
                    </a:cubicBezTo>
                    <a:cubicBezTo>
                      <a:pt x="0" y="180554"/>
                      <a:pt x="6363" y="100232"/>
                      <a:pt x="58192" y="51127"/>
                    </a:cubicBezTo>
                    <a:cubicBezTo>
                      <a:pt x="110021" y="2021"/>
                      <a:pt x="190570" y="0"/>
                      <a:pt x="244797" y="46444"/>
                    </a:cubicBezTo>
                    <a:lnTo>
                      <a:pt x="275162" y="16065"/>
                    </a:lnTo>
                    <a:cubicBezTo>
                      <a:pt x="279349" y="11878"/>
                      <a:pt x="286138" y="11878"/>
                      <a:pt x="290325" y="16065"/>
                    </a:cubicBezTo>
                    <a:cubicBezTo>
                      <a:pt x="294512" y="20252"/>
                      <a:pt x="294512" y="27041"/>
                      <a:pt x="290325" y="31228"/>
                    </a:cubicBezTo>
                    <a:lnTo>
                      <a:pt x="161737" y="159815"/>
                    </a:lnTo>
                    <a:cubicBezTo>
                      <a:pt x="157550" y="164002"/>
                      <a:pt x="150762" y="164002"/>
                      <a:pt x="146574" y="159815"/>
                    </a:cubicBezTo>
                    <a:cubicBezTo>
                      <a:pt x="142387" y="155628"/>
                      <a:pt x="142387" y="148840"/>
                      <a:pt x="146574" y="144653"/>
                    </a:cubicBezTo>
                    <a:lnTo>
                      <a:pt x="183704" y="107523"/>
                    </a:lnTo>
                    <a:cubicBezTo>
                      <a:pt x="162988" y="93822"/>
                      <a:pt x="135572" y="96155"/>
                      <a:pt x="117468" y="113158"/>
                    </a:cubicBezTo>
                    <a:cubicBezTo>
                      <a:pt x="99365" y="130162"/>
                      <a:pt x="95320" y="157378"/>
                      <a:pt x="107697" y="178911"/>
                    </a:cubicBezTo>
                    <a:cubicBezTo>
                      <a:pt x="120074" y="200445"/>
                      <a:pt x="145627" y="210649"/>
                      <a:pt x="169432" y="203564"/>
                    </a:cubicBezTo>
                    <a:cubicBezTo>
                      <a:pt x="193237" y="196479"/>
                      <a:pt x="209052" y="173963"/>
                      <a:pt x="207640" y="149167"/>
                    </a:cubicBezTo>
                    <a:cubicBezTo>
                      <a:pt x="207307" y="143248"/>
                      <a:pt x="211835" y="138181"/>
                      <a:pt x="217753" y="137848"/>
                    </a:cubicBezTo>
                    <a:cubicBezTo>
                      <a:pt x="223671" y="137515"/>
                      <a:pt x="228739" y="142043"/>
                      <a:pt x="229071" y="147961"/>
                    </a:cubicBezTo>
                    <a:cubicBezTo>
                      <a:pt x="231084" y="183081"/>
                      <a:pt x="208419" y="214882"/>
                      <a:pt x="174565" y="224440"/>
                    </a:cubicBezTo>
                    <a:cubicBezTo>
                      <a:pt x="140710" y="233998"/>
                      <a:pt x="104761" y="218744"/>
                      <a:pt x="88110" y="187756"/>
                    </a:cubicBezTo>
                    <a:cubicBezTo>
                      <a:pt x="71459" y="156769"/>
                      <a:pt x="78580" y="118372"/>
                      <a:pt x="105235" y="95416"/>
                    </a:cubicBezTo>
                    <a:cubicBezTo>
                      <a:pt x="131891" y="72460"/>
                      <a:pt x="170918" y="71111"/>
                      <a:pt x="199094" y="92173"/>
                    </a:cubicBezTo>
                    <a:lnTo>
                      <a:pt x="229567" y="61700"/>
                    </a:lnTo>
                    <a:cubicBezTo>
                      <a:pt x="183323" y="23306"/>
                      <a:pt x="115580" y="25918"/>
                      <a:pt x="72430" y="67761"/>
                    </a:cubicBezTo>
                    <a:cubicBezTo>
                      <a:pt x="29281" y="109603"/>
                      <a:pt x="24586" y="177234"/>
                      <a:pt x="61540" y="224637"/>
                    </a:cubicBezTo>
                    <a:cubicBezTo>
                      <a:pt x="98494" y="272040"/>
                      <a:pt x="165227" y="283988"/>
                      <a:pt x="216332" y="252351"/>
                    </a:cubicBezTo>
                    <a:cubicBezTo>
                      <a:pt x="267438" y="220714"/>
                      <a:pt x="286500" y="155656"/>
                      <a:pt x="260549" y="101442"/>
                    </a:cubicBezTo>
                    <a:cubicBezTo>
                      <a:pt x="257996" y="96101"/>
                      <a:pt x="260257" y="89702"/>
                      <a:pt x="265598" y="87150"/>
                    </a:cubicBezTo>
                    <a:cubicBezTo>
                      <a:pt x="270939" y="84598"/>
                      <a:pt x="277338" y="86859"/>
                      <a:pt x="279890" y="9220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</p:grpSp>
        <p:sp>
          <p:nvSpPr>
            <p:cNvPr id="9" name="TextBox 9"/>
            <p:cNvSpPr txBox="1"/>
            <p:nvPr/>
          </p:nvSpPr>
          <p:spPr>
            <a:xfrm>
              <a:off x="1279017" y="1739900"/>
              <a:ext cx="159989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1350" b="1" dirty="0">
                  <a:solidFill>
                    <a:schemeClr val="dk1"/>
                  </a:solidFill>
                  <a:latin typeface="Inter"/>
                  <a:ea typeface="Inter"/>
                  <a:cs typeface="Inter"/>
                </a:rPr>
                <a:t>Business Problem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278255" y="1987550"/>
              <a:ext cx="5530215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vi" sz="1500" dirty="0">
                  <a:solidFill>
                    <a:schemeClr val="dk1"/>
                  </a:solidFill>
                  <a:latin typeface="Inter"/>
                  <a:ea typeface="Inter"/>
                  <a:cs typeface="Inter"/>
                </a:rPr>
                <a:t xml:space="preserve">Nhà phân phối cần hiểu </a:t>
              </a:r>
              <a:r>
                <a:rPr lang="vi" sz="1500" b="1" dirty="0">
                  <a:solidFill>
                    <a:schemeClr val="accent1"/>
                  </a:solidFill>
                  <a:latin typeface="Inter"/>
                  <a:ea typeface="Inter"/>
                  <a:cs typeface="Inter"/>
                </a:rPr>
                <a:t>kiểu cơ cấu chi tiêu</a:t>
              </a:r>
              <a:br>
                <a:rPr lang="vi" sz="1500" b="1" dirty="0">
                  <a:solidFill>
                    <a:schemeClr val="accent1"/>
                  </a:solidFill>
                  <a:latin typeface="Inter"/>
                  <a:ea typeface="Inter"/>
                  <a:cs typeface="Inter"/>
                </a:rPr>
              </a:br>
              <a:r>
                <a:rPr lang="vi" sz="1500" dirty="0">
                  <a:solidFill>
                    <a:schemeClr val="dk1"/>
                  </a:solidFill>
                  <a:latin typeface="Inter"/>
                  <a:ea typeface="Inter"/>
                  <a:cs typeface="Inter"/>
                </a:rPr>
                <a:t>của khách hàng bán sỉ để hỗ trợ thiết kế danh mục và dịch vụ</a:t>
              </a:r>
            </a:p>
          </p:txBody>
        </p:sp>
      </p:grpSp>
      <p:grpSp>
        <p:nvGrpSpPr>
          <p:cNvPr id="16" name="research-question"/>
          <p:cNvGrpSpPr/>
          <p:nvPr/>
        </p:nvGrpSpPr>
        <p:grpSpPr>
          <a:xfrm>
            <a:off x="571500" y="2952750"/>
            <a:ext cx="11049000" cy="958152"/>
            <a:chOff x="571500" y="2952750"/>
            <a:chExt cx="11049000" cy="958152"/>
          </a:xfrm>
        </p:grpSpPr>
        <p:sp>
          <p:nvSpPr>
            <p:cNvPr id="12" name="Rectangle 12"/>
            <p:cNvSpPr/>
            <p:nvPr/>
          </p:nvSpPr>
          <p:spPr>
            <a:xfrm>
              <a:off x="571500" y="2952750"/>
              <a:ext cx="11049000" cy="952500"/>
            </a:xfrm>
            <a:prstGeom prst="roundRect">
              <a:avLst>
                <a:gd name="adj" fmla="val 12000"/>
              </a:avLst>
            </a:prstGeom>
            <a:solidFill>
              <a:srgbClr val="DBEAFE"/>
            </a:solidFill>
            <a:ln w="19050">
              <a:solidFill>
                <a:schemeClr val="accent1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50392" y="3121025"/>
              <a:ext cx="17528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1350" b="1" dirty="0">
                  <a:solidFill>
                    <a:srgbClr val="1E40AF"/>
                  </a:solidFill>
                  <a:latin typeface="Inter"/>
                  <a:ea typeface="Inter"/>
                  <a:cs typeface="Inter"/>
                </a:rPr>
                <a:t>Research Question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50011" y="3394075"/>
              <a:ext cx="599304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1420" i="1" dirty="0">
                  <a:solidFill>
                    <a:srgbClr val="1E3A8A"/>
                  </a:solidFill>
                  <a:latin typeface="Inter"/>
                  <a:ea typeface="Inter"/>
                  <a:cs typeface="Inter"/>
                </a:rPr>
                <a:t>"Sau log-transform và chuẩn hóa, K-means tạo ra các phân khúc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50011" y="3632200"/>
              <a:ext cx="348403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1420" i="1" dirty="0">
                  <a:solidFill>
                    <a:srgbClr val="1E3A8A"/>
                  </a:solidFill>
                  <a:latin typeface="Inter"/>
                  <a:ea typeface="Inter"/>
                  <a:cs typeface="Inter"/>
                </a:rPr>
                <a:t>ổn định và có ý nghĩa kinh doanh nào?"</a:t>
              </a:r>
            </a:p>
          </p:txBody>
        </p:sp>
      </p:grpSp>
      <p:grpSp>
        <p:nvGrpSpPr>
          <p:cNvPr id="30" name="objectives"/>
          <p:cNvGrpSpPr/>
          <p:nvPr/>
        </p:nvGrpSpPr>
        <p:grpSpPr>
          <a:xfrm>
            <a:off x="563880" y="4251325"/>
            <a:ext cx="3892864" cy="1419733"/>
            <a:chOff x="563880" y="4251325"/>
            <a:chExt cx="3892864" cy="1419733"/>
          </a:xfrm>
        </p:grpSpPr>
        <p:sp>
          <p:nvSpPr>
            <p:cNvPr id="17" name="TextBox 17"/>
            <p:cNvSpPr txBox="1"/>
            <p:nvPr/>
          </p:nvSpPr>
          <p:spPr>
            <a:xfrm>
              <a:off x="563880" y="4251325"/>
              <a:ext cx="112401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1500" b="1" dirty="0">
                  <a:solidFill>
                    <a:schemeClr val="dk1"/>
                  </a:solidFill>
                  <a:latin typeface="Inter"/>
                  <a:ea typeface="Inter"/>
                  <a:cs typeface="Inter"/>
                </a:rPr>
                <a:t>Objectives</a:t>
              </a:r>
            </a:p>
          </p:txBody>
        </p:sp>
        <p:grpSp>
          <p:nvGrpSpPr>
            <p:cNvPr id="20" name="Group 20"/>
            <p:cNvGrpSpPr/>
            <p:nvPr/>
          </p:nvGrpSpPr>
          <p:grpSpPr>
            <a:xfrm>
              <a:off x="592931" y="4641056"/>
              <a:ext cx="185738" cy="185738"/>
              <a:chOff x="592931" y="4641056"/>
              <a:chExt cx="185738" cy="185738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600075" y="4648200"/>
                <a:ext cx="17145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71450">
                    <a:moveTo>
                      <a:pt x="171450" y="85725"/>
                    </a:moveTo>
                    <a:cubicBezTo>
                      <a:pt x="171450" y="133070"/>
                      <a:pt x="133070" y="171450"/>
                      <a:pt x="85725" y="171450"/>
                    </a:cubicBezTo>
                    <a:cubicBezTo>
                      <a:pt x="38380" y="171450"/>
                      <a:pt x="0" y="133070"/>
                      <a:pt x="0" y="85725"/>
                    </a:cubicBezTo>
                    <a:cubicBezTo>
                      <a:pt x="0" y="38380"/>
                      <a:pt x="38380" y="0"/>
                      <a:pt x="85725" y="0"/>
                    </a:cubicBezTo>
                    <a:cubicBezTo>
                      <a:pt x="133070" y="0"/>
                      <a:pt x="171450" y="38380"/>
                      <a:pt x="171450" y="85725"/>
                    </a:cubicBezTo>
                    <a:close/>
                  </a:path>
                </a:pathLst>
              </a:custGeom>
              <a:solidFill>
                <a:schemeClr val="accent2">
                  <a:alpha val="20000"/>
                </a:schemeClr>
              </a:solidFill>
              <a:ln>
                <a:noFill/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592931" y="4641056"/>
                <a:ext cx="185738" cy="185738"/>
              </a:xfrm>
              <a:custGeom>
                <a:avLst/>
                <a:gdLst/>
                <a:ahLst/>
                <a:cxnLst/>
                <a:rect l="l" t="t" r="r" b="b"/>
                <a:pathLst>
                  <a:path w="185738" h="185738">
                    <a:moveTo>
                      <a:pt x="133642" y="66383"/>
                    </a:moveTo>
                    <a:cubicBezTo>
                      <a:pt x="134983" y="67723"/>
                      <a:pt x="135737" y="69541"/>
                      <a:pt x="135737" y="71438"/>
                    </a:cubicBezTo>
                    <a:cubicBezTo>
                      <a:pt x="135737" y="73334"/>
                      <a:pt x="134983" y="75152"/>
                      <a:pt x="133642" y="76492"/>
                    </a:cubicBezTo>
                    <a:lnTo>
                      <a:pt x="83635" y="126498"/>
                    </a:lnTo>
                    <a:cubicBezTo>
                      <a:pt x="82296" y="127839"/>
                      <a:pt x="80477" y="128593"/>
                      <a:pt x="78581" y="128593"/>
                    </a:cubicBezTo>
                    <a:cubicBezTo>
                      <a:pt x="76685" y="128593"/>
                      <a:pt x="74867" y="127839"/>
                      <a:pt x="73527" y="126498"/>
                    </a:cubicBezTo>
                    <a:lnTo>
                      <a:pt x="52096" y="105067"/>
                    </a:lnTo>
                    <a:cubicBezTo>
                      <a:pt x="49304" y="102275"/>
                      <a:pt x="49304" y="97750"/>
                      <a:pt x="52096" y="94958"/>
                    </a:cubicBezTo>
                    <a:cubicBezTo>
                      <a:pt x="54887" y="92167"/>
                      <a:pt x="59413" y="92167"/>
                      <a:pt x="62204" y="94958"/>
                    </a:cubicBezTo>
                    <a:lnTo>
                      <a:pt x="78581" y="111344"/>
                    </a:lnTo>
                    <a:lnTo>
                      <a:pt x="123533" y="66383"/>
                    </a:lnTo>
                    <a:cubicBezTo>
                      <a:pt x="124873" y="65042"/>
                      <a:pt x="126691" y="64288"/>
                      <a:pt x="128588" y="64288"/>
                    </a:cubicBezTo>
                    <a:cubicBezTo>
                      <a:pt x="130484" y="64288"/>
                      <a:pt x="132302" y="65042"/>
                      <a:pt x="133642" y="66383"/>
                    </a:cubicBezTo>
                    <a:close/>
                    <a:moveTo>
                      <a:pt x="185738" y="92869"/>
                    </a:moveTo>
                    <a:cubicBezTo>
                      <a:pt x="185738" y="144159"/>
                      <a:pt x="144159" y="185738"/>
                      <a:pt x="92869" y="185738"/>
                    </a:cubicBezTo>
                    <a:cubicBezTo>
                      <a:pt x="41579" y="185738"/>
                      <a:pt x="0" y="144159"/>
                      <a:pt x="0" y="92869"/>
                    </a:cubicBezTo>
                    <a:cubicBezTo>
                      <a:pt x="0" y="41579"/>
                      <a:pt x="41579" y="0"/>
                      <a:pt x="92869" y="0"/>
                    </a:cubicBezTo>
                    <a:cubicBezTo>
                      <a:pt x="144136" y="54"/>
                      <a:pt x="185683" y="41601"/>
                      <a:pt x="185738" y="92869"/>
                    </a:cubicBezTo>
                    <a:close/>
                    <a:moveTo>
                      <a:pt x="171450" y="92869"/>
                    </a:moveTo>
                    <a:cubicBezTo>
                      <a:pt x="171450" y="49470"/>
                      <a:pt x="136268" y="14288"/>
                      <a:pt x="92869" y="14288"/>
                    </a:cubicBezTo>
                    <a:cubicBezTo>
                      <a:pt x="49470" y="14288"/>
                      <a:pt x="14288" y="49470"/>
                      <a:pt x="14288" y="92869"/>
                    </a:cubicBezTo>
                    <a:cubicBezTo>
                      <a:pt x="14288" y="136268"/>
                      <a:pt x="49470" y="171450"/>
                      <a:pt x="92869" y="171450"/>
                    </a:cubicBezTo>
                    <a:cubicBezTo>
                      <a:pt x="136248" y="171401"/>
                      <a:pt x="171401" y="136248"/>
                      <a:pt x="171450" y="92869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</p:grpSp>
        <p:sp>
          <p:nvSpPr>
            <p:cNvPr id="21" name="TextBox 21"/>
            <p:cNvSpPr txBox="1"/>
            <p:nvPr/>
          </p:nvSpPr>
          <p:spPr>
            <a:xfrm>
              <a:off x="898017" y="4645025"/>
              <a:ext cx="35587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1350" dirty="0">
                  <a:solidFill>
                    <a:schemeClr val="dk1"/>
                  </a:solidFill>
                  <a:latin typeface="Inter"/>
                  <a:ea typeface="Inter"/>
                  <a:cs typeface="Inter"/>
                </a:rPr>
                <a:t>Áp dụng K-Means phân khúc theo chi tiêu</a:t>
              </a:r>
            </a:p>
          </p:txBody>
        </p:sp>
        <p:grpSp>
          <p:nvGrpSpPr>
            <p:cNvPr id="24" name="Group 24"/>
            <p:cNvGrpSpPr/>
            <p:nvPr/>
          </p:nvGrpSpPr>
          <p:grpSpPr>
            <a:xfrm>
              <a:off x="592931" y="5022056"/>
              <a:ext cx="185738" cy="185738"/>
              <a:chOff x="592931" y="5022056"/>
              <a:chExt cx="185738" cy="185738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600075" y="5029200"/>
                <a:ext cx="17145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71450">
                    <a:moveTo>
                      <a:pt x="171450" y="85725"/>
                    </a:moveTo>
                    <a:cubicBezTo>
                      <a:pt x="171450" y="133070"/>
                      <a:pt x="133070" y="171450"/>
                      <a:pt x="85725" y="171450"/>
                    </a:cubicBezTo>
                    <a:cubicBezTo>
                      <a:pt x="38380" y="171450"/>
                      <a:pt x="0" y="133070"/>
                      <a:pt x="0" y="85725"/>
                    </a:cubicBezTo>
                    <a:cubicBezTo>
                      <a:pt x="0" y="38380"/>
                      <a:pt x="38380" y="0"/>
                      <a:pt x="85725" y="0"/>
                    </a:cubicBezTo>
                    <a:cubicBezTo>
                      <a:pt x="133070" y="0"/>
                      <a:pt x="171450" y="38380"/>
                      <a:pt x="171450" y="85725"/>
                    </a:cubicBezTo>
                    <a:close/>
                  </a:path>
                </a:pathLst>
              </a:custGeom>
              <a:solidFill>
                <a:schemeClr val="accent2">
                  <a:alpha val="20000"/>
                </a:schemeClr>
              </a:solidFill>
              <a:ln>
                <a:noFill/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592931" y="5022056"/>
                <a:ext cx="185738" cy="185738"/>
              </a:xfrm>
              <a:custGeom>
                <a:avLst/>
                <a:gdLst/>
                <a:ahLst/>
                <a:cxnLst/>
                <a:rect l="l" t="t" r="r" b="b"/>
                <a:pathLst>
                  <a:path w="185738" h="185738">
                    <a:moveTo>
                      <a:pt x="133642" y="66383"/>
                    </a:moveTo>
                    <a:cubicBezTo>
                      <a:pt x="134983" y="67723"/>
                      <a:pt x="135737" y="69541"/>
                      <a:pt x="135737" y="71438"/>
                    </a:cubicBezTo>
                    <a:cubicBezTo>
                      <a:pt x="135737" y="73334"/>
                      <a:pt x="134983" y="75152"/>
                      <a:pt x="133642" y="76492"/>
                    </a:cubicBezTo>
                    <a:lnTo>
                      <a:pt x="83635" y="126498"/>
                    </a:lnTo>
                    <a:cubicBezTo>
                      <a:pt x="82296" y="127839"/>
                      <a:pt x="80477" y="128593"/>
                      <a:pt x="78581" y="128593"/>
                    </a:cubicBezTo>
                    <a:cubicBezTo>
                      <a:pt x="76685" y="128593"/>
                      <a:pt x="74867" y="127839"/>
                      <a:pt x="73527" y="126498"/>
                    </a:cubicBezTo>
                    <a:lnTo>
                      <a:pt x="52096" y="105067"/>
                    </a:lnTo>
                    <a:cubicBezTo>
                      <a:pt x="49304" y="102275"/>
                      <a:pt x="49304" y="97750"/>
                      <a:pt x="52096" y="94958"/>
                    </a:cubicBezTo>
                    <a:cubicBezTo>
                      <a:pt x="54887" y="92167"/>
                      <a:pt x="59413" y="92167"/>
                      <a:pt x="62204" y="94958"/>
                    </a:cubicBezTo>
                    <a:lnTo>
                      <a:pt x="78581" y="111344"/>
                    </a:lnTo>
                    <a:lnTo>
                      <a:pt x="123533" y="66383"/>
                    </a:lnTo>
                    <a:cubicBezTo>
                      <a:pt x="124873" y="65042"/>
                      <a:pt x="126691" y="64288"/>
                      <a:pt x="128588" y="64288"/>
                    </a:cubicBezTo>
                    <a:cubicBezTo>
                      <a:pt x="130484" y="64288"/>
                      <a:pt x="132302" y="65042"/>
                      <a:pt x="133642" y="66383"/>
                    </a:cubicBezTo>
                    <a:close/>
                    <a:moveTo>
                      <a:pt x="185738" y="92869"/>
                    </a:moveTo>
                    <a:cubicBezTo>
                      <a:pt x="185738" y="144159"/>
                      <a:pt x="144159" y="185738"/>
                      <a:pt x="92869" y="185738"/>
                    </a:cubicBezTo>
                    <a:cubicBezTo>
                      <a:pt x="41579" y="185738"/>
                      <a:pt x="0" y="144159"/>
                      <a:pt x="0" y="92869"/>
                    </a:cubicBezTo>
                    <a:cubicBezTo>
                      <a:pt x="0" y="41579"/>
                      <a:pt x="41579" y="0"/>
                      <a:pt x="92869" y="0"/>
                    </a:cubicBezTo>
                    <a:cubicBezTo>
                      <a:pt x="144136" y="54"/>
                      <a:pt x="185683" y="41601"/>
                      <a:pt x="185738" y="92869"/>
                    </a:cubicBezTo>
                    <a:close/>
                    <a:moveTo>
                      <a:pt x="171450" y="92869"/>
                    </a:moveTo>
                    <a:cubicBezTo>
                      <a:pt x="171450" y="49470"/>
                      <a:pt x="136268" y="14288"/>
                      <a:pt x="92869" y="14288"/>
                    </a:cubicBezTo>
                    <a:cubicBezTo>
                      <a:pt x="49470" y="14288"/>
                      <a:pt x="14288" y="49470"/>
                      <a:pt x="14288" y="92869"/>
                    </a:cubicBezTo>
                    <a:cubicBezTo>
                      <a:pt x="14288" y="136268"/>
                      <a:pt x="49470" y="171450"/>
                      <a:pt x="92869" y="171450"/>
                    </a:cubicBezTo>
                    <a:cubicBezTo>
                      <a:pt x="136248" y="171401"/>
                      <a:pt x="171401" y="136248"/>
                      <a:pt x="171450" y="92869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</p:grpSp>
        <p:sp>
          <p:nvSpPr>
            <p:cNvPr id="25" name="TextBox 25"/>
            <p:cNvSpPr txBox="1"/>
            <p:nvPr/>
          </p:nvSpPr>
          <p:spPr>
            <a:xfrm>
              <a:off x="898017" y="5026025"/>
              <a:ext cx="351834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1350" dirty="0">
                  <a:solidFill>
                    <a:schemeClr val="dk1"/>
                  </a:solidFill>
                  <a:latin typeface="Inter"/>
                  <a:ea typeface="Inter"/>
                  <a:cs typeface="Inter"/>
                </a:rPr>
                <a:t>Phân tích cơ cấu chi tiêu từng phân khúc</a:t>
              </a:r>
            </a:p>
          </p:txBody>
        </p:sp>
        <p:grpSp>
          <p:nvGrpSpPr>
            <p:cNvPr id="28" name="Group 28"/>
            <p:cNvGrpSpPr/>
            <p:nvPr/>
          </p:nvGrpSpPr>
          <p:grpSpPr>
            <a:xfrm>
              <a:off x="592931" y="5403056"/>
              <a:ext cx="185738" cy="185738"/>
              <a:chOff x="592931" y="5403056"/>
              <a:chExt cx="185738" cy="185738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600075" y="5410200"/>
                <a:ext cx="17145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71450">
                    <a:moveTo>
                      <a:pt x="171450" y="85725"/>
                    </a:moveTo>
                    <a:cubicBezTo>
                      <a:pt x="171450" y="133070"/>
                      <a:pt x="133070" y="171450"/>
                      <a:pt x="85725" y="171450"/>
                    </a:cubicBezTo>
                    <a:cubicBezTo>
                      <a:pt x="38380" y="171450"/>
                      <a:pt x="0" y="133070"/>
                      <a:pt x="0" y="85725"/>
                    </a:cubicBezTo>
                    <a:cubicBezTo>
                      <a:pt x="0" y="38380"/>
                      <a:pt x="38380" y="0"/>
                      <a:pt x="85725" y="0"/>
                    </a:cubicBezTo>
                    <a:cubicBezTo>
                      <a:pt x="133070" y="0"/>
                      <a:pt x="171450" y="38380"/>
                      <a:pt x="171450" y="85725"/>
                    </a:cubicBezTo>
                    <a:close/>
                  </a:path>
                </a:pathLst>
              </a:custGeom>
              <a:solidFill>
                <a:schemeClr val="accent2">
                  <a:alpha val="20000"/>
                </a:schemeClr>
              </a:solidFill>
              <a:ln>
                <a:noFill/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592931" y="5403056"/>
                <a:ext cx="185738" cy="185738"/>
              </a:xfrm>
              <a:custGeom>
                <a:avLst/>
                <a:gdLst/>
                <a:ahLst/>
                <a:cxnLst/>
                <a:rect l="l" t="t" r="r" b="b"/>
                <a:pathLst>
                  <a:path w="185738" h="185738">
                    <a:moveTo>
                      <a:pt x="133642" y="66383"/>
                    </a:moveTo>
                    <a:cubicBezTo>
                      <a:pt x="134983" y="67723"/>
                      <a:pt x="135737" y="69541"/>
                      <a:pt x="135737" y="71438"/>
                    </a:cubicBezTo>
                    <a:cubicBezTo>
                      <a:pt x="135737" y="73334"/>
                      <a:pt x="134983" y="75152"/>
                      <a:pt x="133642" y="76492"/>
                    </a:cubicBezTo>
                    <a:lnTo>
                      <a:pt x="83635" y="126498"/>
                    </a:lnTo>
                    <a:cubicBezTo>
                      <a:pt x="82296" y="127839"/>
                      <a:pt x="80477" y="128593"/>
                      <a:pt x="78581" y="128593"/>
                    </a:cubicBezTo>
                    <a:cubicBezTo>
                      <a:pt x="76685" y="128593"/>
                      <a:pt x="74867" y="127839"/>
                      <a:pt x="73527" y="126498"/>
                    </a:cubicBezTo>
                    <a:lnTo>
                      <a:pt x="52096" y="105067"/>
                    </a:lnTo>
                    <a:cubicBezTo>
                      <a:pt x="49304" y="102275"/>
                      <a:pt x="49304" y="97750"/>
                      <a:pt x="52096" y="94958"/>
                    </a:cubicBezTo>
                    <a:cubicBezTo>
                      <a:pt x="54887" y="92167"/>
                      <a:pt x="59413" y="92167"/>
                      <a:pt x="62204" y="94958"/>
                    </a:cubicBezTo>
                    <a:lnTo>
                      <a:pt x="78581" y="111344"/>
                    </a:lnTo>
                    <a:lnTo>
                      <a:pt x="123533" y="66383"/>
                    </a:lnTo>
                    <a:cubicBezTo>
                      <a:pt x="124873" y="65042"/>
                      <a:pt x="126691" y="64288"/>
                      <a:pt x="128588" y="64288"/>
                    </a:cubicBezTo>
                    <a:cubicBezTo>
                      <a:pt x="130484" y="64288"/>
                      <a:pt x="132302" y="65042"/>
                      <a:pt x="133642" y="66383"/>
                    </a:cubicBezTo>
                    <a:close/>
                    <a:moveTo>
                      <a:pt x="185738" y="92869"/>
                    </a:moveTo>
                    <a:cubicBezTo>
                      <a:pt x="185738" y="144159"/>
                      <a:pt x="144159" y="185738"/>
                      <a:pt x="92869" y="185738"/>
                    </a:cubicBezTo>
                    <a:cubicBezTo>
                      <a:pt x="41579" y="185738"/>
                      <a:pt x="0" y="144159"/>
                      <a:pt x="0" y="92869"/>
                    </a:cubicBezTo>
                    <a:cubicBezTo>
                      <a:pt x="0" y="41579"/>
                      <a:pt x="41579" y="0"/>
                      <a:pt x="92869" y="0"/>
                    </a:cubicBezTo>
                    <a:cubicBezTo>
                      <a:pt x="144136" y="54"/>
                      <a:pt x="185683" y="41601"/>
                      <a:pt x="185738" y="92869"/>
                    </a:cubicBezTo>
                    <a:close/>
                    <a:moveTo>
                      <a:pt x="171450" y="92869"/>
                    </a:moveTo>
                    <a:cubicBezTo>
                      <a:pt x="171450" y="49470"/>
                      <a:pt x="136268" y="14288"/>
                      <a:pt x="92869" y="14288"/>
                    </a:cubicBezTo>
                    <a:cubicBezTo>
                      <a:pt x="49470" y="14288"/>
                      <a:pt x="14288" y="49470"/>
                      <a:pt x="14288" y="92869"/>
                    </a:cubicBezTo>
                    <a:cubicBezTo>
                      <a:pt x="14288" y="136268"/>
                      <a:pt x="49470" y="171450"/>
                      <a:pt x="92869" y="171450"/>
                    </a:cubicBezTo>
                    <a:cubicBezTo>
                      <a:pt x="136248" y="171401"/>
                      <a:pt x="171401" y="136248"/>
                      <a:pt x="171450" y="92869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898017" y="5407025"/>
              <a:ext cx="32097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1350" dirty="0">
                  <a:solidFill>
                    <a:schemeClr val="dk1"/>
                  </a:solidFill>
                  <a:latin typeface="Inter"/>
                  <a:ea typeface="Inter"/>
                  <a:cs typeface="Inter"/>
                </a:rPr>
                <a:t>Đóng gói model thành web app với API</a:t>
              </a:r>
            </a:p>
          </p:txBody>
        </p:sp>
      </p:grpSp>
      <p:grpSp>
        <p:nvGrpSpPr>
          <p:cNvPr id="37" name="ethical-note"/>
          <p:cNvGrpSpPr/>
          <p:nvPr/>
        </p:nvGrpSpPr>
        <p:grpSpPr>
          <a:xfrm>
            <a:off x="6286500" y="4191000"/>
            <a:ext cx="5334000" cy="2095500"/>
            <a:chOff x="6286500" y="4191000"/>
            <a:chExt cx="5334000" cy="2095500"/>
          </a:xfrm>
        </p:grpSpPr>
        <p:sp>
          <p:nvSpPr>
            <p:cNvPr id="31" name="Rectangle 31"/>
            <p:cNvSpPr/>
            <p:nvPr/>
          </p:nvSpPr>
          <p:spPr>
            <a:xfrm>
              <a:off x="6286500" y="4191000"/>
              <a:ext cx="5334000" cy="2095500"/>
            </a:xfrm>
            <a:prstGeom prst="roundRect">
              <a:avLst>
                <a:gd name="adj" fmla="val 5455"/>
              </a:avLst>
            </a:prstGeom>
            <a:solidFill>
              <a:srgbClr val="FEF3C7"/>
            </a:solidFill>
            <a:ln w="19050">
              <a:solidFill>
                <a:srgbClr val="F59E0B"/>
              </a:solidFill>
            </a:ln>
          </p:spPr>
        </p:sp>
        <p:grpSp>
          <p:nvGrpSpPr>
            <p:cNvPr id="34" name="Group 34"/>
            <p:cNvGrpSpPr/>
            <p:nvPr/>
          </p:nvGrpSpPr>
          <p:grpSpPr>
            <a:xfrm>
              <a:off x="6494763" y="4457699"/>
              <a:ext cx="269267" cy="238235"/>
              <a:chOff x="6494763" y="4457699"/>
              <a:chExt cx="269267" cy="238235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6500812" y="4463915"/>
                <a:ext cx="257175" cy="222385"/>
              </a:xfrm>
              <a:custGeom>
                <a:avLst/>
                <a:gdLst/>
                <a:ahLst/>
                <a:cxnLst/>
                <a:rect l="l" t="t" r="r" b="b"/>
                <a:pathLst>
                  <a:path w="257175" h="222385">
                    <a:moveTo>
                      <a:pt x="232720" y="222385"/>
                    </a:moveTo>
                    <a:lnTo>
                      <a:pt x="24455" y="222385"/>
                    </a:lnTo>
                    <a:cubicBezTo>
                      <a:pt x="9430" y="222385"/>
                      <a:pt x="0" y="206657"/>
                      <a:pt x="7299" y="193917"/>
                    </a:cubicBezTo>
                    <a:lnTo>
                      <a:pt x="111431" y="13097"/>
                    </a:lnTo>
                    <a:cubicBezTo>
                      <a:pt x="118932" y="0"/>
                      <a:pt x="138243" y="0"/>
                      <a:pt x="145744" y="13097"/>
                    </a:cubicBezTo>
                    <a:lnTo>
                      <a:pt x="249876" y="193917"/>
                    </a:lnTo>
                    <a:cubicBezTo>
                      <a:pt x="257175" y="206657"/>
                      <a:pt x="247745" y="222385"/>
                      <a:pt x="232720" y="222385"/>
                    </a:cubicBezTo>
                    <a:close/>
                  </a:path>
                </a:pathLst>
              </a:custGeom>
              <a:solidFill>
                <a:srgbClr val="D97706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6494763" y="4457699"/>
                <a:ext cx="269267" cy="238235"/>
              </a:xfrm>
              <a:custGeom>
                <a:avLst/>
                <a:gdLst/>
                <a:ahLst/>
                <a:cxnLst/>
                <a:rect l="l" t="t" r="r" b="b"/>
                <a:pathLst>
                  <a:path w="269267" h="238235">
                    <a:moveTo>
                      <a:pt x="264177" y="195370"/>
                    </a:moveTo>
                    <a:lnTo>
                      <a:pt x="160057" y="14550"/>
                    </a:lnTo>
                    <a:lnTo>
                      <a:pt x="160057" y="14550"/>
                    </a:lnTo>
                    <a:cubicBezTo>
                      <a:pt x="154763" y="5536"/>
                      <a:pt x="145091" y="0"/>
                      <a:pt x="134637" y="0"/>
                    </a:cubicBezTo>
                    <a:cubicBezTo>
                      <a:pt x="124183" y="0"/>
                      <a:pt x="114511" y="5536"/>
                      <a:pt x="109217" y="14550"/>
                    </a:cubicBezTo>
                    <a:lnTo>
                      <a:pt x="5097" y="195370"/>
                    </a:lnTo>
                    <a:cubicBezTo>
                      <a:pt x="0" y="204094"/>
                      <a:pt x="0" y="214888"/>
                      <a:pt x="5097" y="223612"/>
                    </a:cubicBezTo>
                    <a:cubicBezTo>
                      <a:pt x="10327" y="232686"/>
                      <a:pt x="20044" y="238235"/>
                      <a:pt x="30517" y="238126"/>
                    </a:cubicBezTo>
                    <a:lnTo>
                      <a:pt x="238757" y="238126"/>
                    </a:lnTo>
                    <a:cubicBezTo>
                      <a:pt x="249222" y="238226"/>
                      <a:pt x="258928" y="232679"/>
                      <a:pt x="264153" y="223612"/>
                    </a:cubicBezTo>
                    <a:cubicBezTo>
                      <a:pt x="269258" y="214892"/>
                      <a:pt x="269267" y="204099"/>
                      <a:pt x="264177" y="195370"/>
                    </a:cubicBezTo>
                    <a:close/>
                    <a:moveTo>
                      <a:pt x="247663" y="214075"/>
                    </a:moveTo>
                    <a:cubicBezTo>
                      <a:pt x="245815" y="217228"/>
                      <a:pt x="242411" y="219139"/>
                      <a:pt x="238757" y="219076"/>
                    </a:cubicBezTo>
                    <a:lnTo>
                      <a:pt x="30517" y="219076"/>
                    </a:lnTo>
                    <a:cubicBezTo>
                      <a:pt x="26863" y="219139"/>
                      <a:pt x="23459" y="217228"/>
                      <a:pt x="21611" y="214075"/>
                    </a:cubicBezTo>
                    <a:cubicBezTo>
                      <a:pt x="19936" y="211240"/>
                      <a:pt x="19936" y="207719"/>
                      <a:pt x="21611" y="204884"/>
                    </a:cubicBezTo>
                    <a:lnTo>
                      <a:pt x="125731" y="24063"/>
                    </a:lnTo>
                    <a:cubicBezTo>
                      <a:pt x="127615" y="20929"/>
                      <a:pt x="131004" y="19011"/>
                      <a:pt x="134661" y="19011"/>
                    </a:cubicBezTo>
                    <a:cubicBezTo>
                      <a:pt x="138318" y="19011"/>
                      <a:pt x="141707" y="20929"/>
                      <a:pt x="143591" y="24063"/>
                    </a:cubicBezTo>
                    <a:lnTo>
                      <a:pt x="247711" y="204884"/>
                    </a:lnTo>
                    <a:cubicBezTo>
                      <a:pt x="249371" y="207727"/>
                      <a:pt x="249352" y="211249"/>
                      <a:pt x="247663" y="214075"/>
                    </a:cubicBezTo>
                    <a:close/>
                    <a:moveTo>
                      <a:pt x="125112" y="142876"/>
                    </a:moveTo>
                    <a:lnTo>
                      <a:pt x="125112" y="95251"/>
                    </a:lnTo>
                    <a:cubicBezTo>
                      <a:pt x="125112" y="89990"/>
                      <a:pt x="129377" y="85726"/>
                      <a:pt x="134637" y="85726"/>
                    </a:cubicBezTo>
                    <a:cubicBezTo>
                      <a:pt x="139898" y="85726"/>
                      <a:pt x="144162" y="89990"/>
                      <a:pt x="144162" y="95251"/>
                    </a:cubicBezTo>
                    <a:lnTo>
                      <a:pt x="144162" y="142876"/>
                    </a:lnTo>
                    <a:cubicBezTo>
                      <a:pt x="144162" y="148136"/>
                      <a:pt x="139898" y="152401"/>
                      <a:pt x="134637" y="152401"/>
                    </a:cubicBezTo>
                    <a:cubicBezTo>
                      <a:pt x="129377" y="152401"/>
                      <a:pt x="125112" y="148136"/>
                      <a:pt x="125112" y="142876"/>
                    </a:cubicBezTo>
                    <a:close/>
                    <a:moveTo>
                      <a:pt x="148925" y="185738"/>
                    </a:moveTo>
                    <a:cubicBezTo>
                      <a:pt x="148925" y="193629"/>
                      <a:pt x="142528" y="200026"/>
                      <a:pt x="134637" y="200026"/>
                    </a:cubicBezTo>
                    <a:cubicBezTo>
                      <a:pt x="126746" y="200026"/>
                      <a:pt x="120350" y="193629"/>
                      <a:pt x="120350" y="185738"/>
                    </a:cubicBezTo>
                    <a:cubicBezTo>
                      <a:pt x="120350" y="177848"/>
                      <a:pt x="126746" y="171451"/>
                      <a:pt x="134637" y="171451"/>
                    </a:cubicBezTo>
                    <a:cubicBezTo>
                      <a:pt x="142528" y="171451"/>
                      <a:pt x="148925" y="177848"/>
                      <a:pt x="148925" y="185738"/>
                    </a:cubicBezTo>
                    <a:close/>
                  </a:path>
                </a:pathLst>
              </a:custGeom>
              <a:solidFill>
                <a:srgbClr val="D97706"/>
              </a:solidFill>
              <a:ln>
                <a:noFill/>
              </a:ln>
            </p:spPr>
          </p:sp>
        </p:grpSp>
        <p:sp>
          <p:nvSpPr>
            <p:cNvPr id="35" name="TextBox 35"/>
            <p:cNvSpPr txBox="1"/>
            <p:nvPr/>
          </p:nvSpPr>
          <p:spPr>
            <a:xfrm>
              <a:off x="6946392" y="4502150"/>
              <a:ext cx="9546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1350" b="1" dirty="0">
                  <a:solidFill>
                    <a:srgbClr val="92400E"/>
                  </a:solidFill>
                  <a:latin typeface="Inter"/>
                  <a:ea typeface="Inter"/>
                  <a:cs typeface="Inter"/>
                </a:rPr>
                <a:t>Important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470523" y="4822825"/>
              <a:ext cx="2500122" cy="48844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75"/>
                </a:lnSpc>
              </a:pPr>
              <a:r>
                <a:rPr lang="vi" sz="1280" dirty="0">
                  <a:solidFill>
                    <a:srgbClr val="78350F"/>
                  </a:solidFill>
                  <a:latin typeface="Inter"/>
                  <a:ea typeface="Inter"/>
                  <a:cs typeface="Inter"/>
                </a:rPr>
                <a:t>Cụm CHỈ mô tả hành vi chi tiêu,</a:t>
              </a:r>
              <a:br>
                <a:rPr lang="vi" sz="1280" dirty="0">
                  <a:solidFill>
                    <a:srgbClr val="78350F"/>
                  </a:solidFill>
                  <a:latin typeface="Inter"/>
                  <a:ea typeface="Inter"/>
                  <a:cs typeface="Inter"/>
                </a:rPr>
              </a:br>
              <a:r>
                <a:rPr lang="vi" sz="1280" dirty="0">
                  <a:solidFill>
                    <a:srgbClr val="78350F"/>
                  </a:solidFill>
                  <a:latin typeface="Inter"/>
                  <a:ea typeface="Inter"/>
                  <a:cs typeface="Inter"/>
                </a:rPr>
                <a:t>KHÔNG đánh giá giá trị con người</a:t>
              </a:r>
            </a:p>
          </p:txBody>
        </p:sp>
      </p:grpSp>
      <p:grpSp>
        <p:nvGrpSpPr>
          <p:cNvPr id="40" name="footer"/>
          <p:cNvGrpSpPr/>
          <p:nvPr/>
        </p:nvGrpSpPr>
        <p:grpSpPr>
          <a:xfrm>
            <a:off x="566166" y="6540500"/>
            <a:ext cx="11059668" cy="205359"/>
            <a:chOff x="566166" y="6540500"/>
            <a:chExt cx="11059668" cy="205359"/>
          </a:xfrm>
        </p:grpSpPr>
        <p:sp>
          <p:nvSpPr>
            <p:cNvPr id="38" name="TextBox 38"/>
            <p:cNvSpPr txBox="1"/>
            <p:nvPr/>
          </p:nvSpPr>
          <p:spPr>
            <a:xfrm>
              <a:off x="566166" y="6540500"/>
              <a:ext cx="309716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1050" dirty="0">
                  <a:solidFill>
                    <a:srgbClr val="9CA3AF"/>
                  </a:solidFill>
                  <a:latin typeface="Inter"/>
                  <a:ea typeface="Inter"/>
                  <a:cs typeface="Inter"/>
                </a:rPr>
                <a:t>Project 22: K-Means Customer Segmentation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219383" y="6540500"/>
              <a:ext cx="4064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vi" sz="1050" dirty="0">
                  <a:solidFill>
                    <a:srgbClr val="9CA3AF"/>
                  </a:solidFill>
                  <a:latin typeface="Inter"/>
                  <a:ea typeface="Inter"/>
                  <a:cs typeface="Inter"/>
                </a:rPr>
                <a:t>2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8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er"/>
          <p:cNvGrpSpPr/>
          <p:nvPr/>
        </p:nvGrpSpPr>
        <p:grpSpPr>
          <a:xfrm>
            <a:off x="555498" y="476250"/>
            <a:ext cx="7012156" cy="616077"/>
            <a:chOff x="555498" y="476250"/>
            <a:chExt cx="7012156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555498" y="476250"/>
              <a:ext cx="701215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3150" b="1" dirty="0">
                  <a:solidFill>
                    <a:schemeClr val="dk1"/>
                  </a:solidFill>
                  <a:latin typeface="Inter"/>
                  <a:ea typeface="Inter"/>
                  <a:cs typeface="Inter"/>
                </a:rPr>
                <a:t>Dữ Liệu UCI Wholesale Customers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571500" y="1000125"/>
              <a:ext cx="11430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6" name="source-info"/>
          <p:cNvGrpSpPr/>
          <p:nvPr/>
        </p:nvGrpSpPr>
        <p:grpSpPr>
          <a:xfrm>
            <a:off x="571500" y="1524000"/>
            <a:ext cx="5334000" cy="2667000"/>
            <a:chOff x="571500" y="1524000"/>
            <a:chExt cx="5334000" cy="2667000"/>
          </a:xfrm>
        </p:grpSpPr>
        <p:sp>
          <p:nvSpPr>
            <p:cNvPr id="5" name="Rectangle 5"/>
            <p:cNvSpPr/>
            <p:nvPr/>
          </p:nvSpPr>
          <p:spPr>
            <a:xfrm>
              <a:off x="571500" y="1524000"/>
              <a:ext cx="5334000" cy="2667000"/>
            </a:xfrm>
            <a:prstGeom prst="roundRect">
              <a:avLst>
                <a:gd name="adj" fmla="val 428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49630" y="1727200"/>
              <a:ext cx="72152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1500" b="1" dirty="0">
                  <a:solidFill>
                    <a:schemeClr val="dk1"/>
                  </a:solidFill>
                  <a:latin typeface="Inter"/>
                  <a:ea typeface="Inter"/>
                  <a:cs typeface="Inter"/>
                </a:rPr>
                <a:t>Source</a:t>
              </a:r>
            </a:p>
          </p:txBody>
        </p:sp>
        <p:grpSp>
          <p:nvGrpSpPr>
            <p:cNvPr id="9" name="Group 9"/>
            <p:cNvGrpSpPr/>
            <p:nvPr/>
          </p:nvGrpSpPr>
          <p:grpSpPr>
            <a:xfrm>
              <a:off x="890588" y="2120503"/>
              <a:ext cx="200025" cy="216694"/>
              <a:chOff x="890588" y="2120503"/>
              <a:chExt cx="200025" cy="216694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898922" y="2128838"/>
                <a:ext cx="183356" cy="100012"/>
              </a:xfrm>
              <a:custGeom>
                <a:avLst/>
                <a:gdLst/>
                <a:ahLst/>
                <a:cxnLst/>
                <a:rect l="l" t="t" r="r" b="b"/>
                <a:pathLst>
                  <a:path w="183356" h="100012">
                    <a:moveTo>
                      <a:pt x="183356" y="50006"/>
                    </a:moveTo>
                    <a:cubicBezTo>
                      <a:pt x="183356" y="77624"/>
                      <a:pt x="142309" y="100012"/>
                      <a:pt x="91678" y="100012"/>
                    </a:cubicBezTo>
                    <a:cubicBezTo>
                      <a:pt x="41047" y="100012"/>
                      <a:pt x="0" y="77624"/>
                      <a:pt x="0" y="50006"/>
                    </a:cubicBezTo>
                    <a:cubicBezTo>
                      <a:pt x="0" y="22388"/>
                      <a:pt x="41047" y="0"/>
                      <a:pt x="91678" y="0"/>
                    </a:cubicBezTo>
                    <a:cubicBezTo>
                      <a:pt x="142309" y="0"/>
                      <a:pt x="183356" y="22388"/>
                      <a:pt x="183356" y="50006"/>
                    </a:cubicBezTo>
                    <a:close/>
                  </a:path>
                </a:pathLst>
              </a:custGeom>
              <a:solidFill>
                <a:schemeClr val="accent1">
                  <a:alpha val="20000"/>
                </a:schemeClr>
              </a:solidFill>
              <a:ln>
                <a:noFill/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890588" y="2120503"/>
                <a:ext cx="200025" cy="216694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216694">
                    <a:moveTo>
                      <a:pt x="100012" y="0"/>
                    </a:moveTo>
                    <a:cubicBezTo>
                      <a:pt x="43933" y="0"/>
                      <a:pt x="0" y="25628"/>
                      <a:pt x="0" y="58341"/>
                    </a:cubicBezTo>
                    <a:lnTo>
                      <a:pt x="0" y="158353"/>
                    </a:lnTo>
                    <a:cubicBezTo>
                      <a:pt x="0" y="191066"/>
                      <a:pt x="43933" y="216694"/>
                      <a:pt x="100012" y="216694"/>
                    </a:cubicBezTo>
                    <a:cubicBezTo>
                      <a:pt x="156092" y="216694"/>
                      <a:pt x="200025" y="191066"/>
                      <a:pt x="200025" y="158353"/>
                    </a:cubicBezTo>
                    <a:lnTo>
                      <a:pt x="200025" y="58341"/>
                    </a:lnTo>
                    <a:cubicBezTo>
                      <a:pt x="200025" y="25628"/>
                      <a:pt x="156092" y="0"/>
                      <a:pt x="100012" y="0"/>
                    </a:cubicBezTo>
                    <a:close/>
                    <a:moveTo>
                      <a:pt x="183356" y="108347"/>
                    </a:moveTo>
                    <a:cubicBezTo>
                      <a:pt x="183356" y="118369"/>
                      <a:pt x="175147" y="128589"/>
                      <a:pt x="160843" y="136392"/>
                    </a:cubicBezTo>
                    <a:cubicBezTo>
                      <a:pt x="144737" y="145174"/>
                      <a:pt x="123130" y="150019"/>
                      <a:pt x="100012" y="150019"/>
                    </a:cubicBezTo>
                    <a:cubicBezTo>
                      <a:pt x="76895" y="150019"/>
                      <a:pt x="55288" y="145174"/>
                      <a:pt x="39182" y="136392"/>
                    </a:cubicBezTo>
                    <a:cubicBezTo>
                      <a:pt x="24878" y="128589"/>
                      <a:pt x="16669" y="118369"/>
                      <a:pt x="16669" y="108347"/>
                    </a:cubicBezTo>
                    <a:lnTo>
                      <a:pt x="16669" y="91011"/>
                    </a:lnTo>
                    <a:cubicBezTo>
                      <a:pt x="34442" y="106638"/>
                      <a:pt x="64831" y="116681"/>
                      <a:pt x="100012" y="116681"/>
                    </a:cubicBezTo>
                    <a:cubicBezTo>
                      <a:pt x="135194" y="116681"/>
                      <a:pt x="165583" y="106597"/>
                      <a:pt x="183356" y="91011"/>
                    </a:cubicBezTo>
                    <a:close/>
                    <a:moveTo>
                      <a:pt x="39182" y="30295"/>
                    </a:moveTo>
                    <a:cubicBezTo>
                      <a:pt x="55288" y="21513"/>
                      <a:pt x="76895" y="16669"/>
                      <a:pt x="100012" y="16669"/>
                    </a:cubicBezTo>
                    <a:cubicBezTo>
                      <a:pt x="123130" y="16669"/>
                      <a:pt x="144737" y="21513"/>
                      <a:pt x="160843" y="30295"/>
                    </a:cubicBezTo>
                    <a:cubicBezTo>
                      <a:pt x="175147" y="38099"/>
                      <a:pt x="183356" y="48319"/>
                      <a:pt x="183356" y="58341"/>
                    </a:cubicBezTo>
                    <a:cubicBezTo>
                      <a:pt x="183356" y="68363"/>
                      <a:pt x="175147" y="78583"/>
                      <a:pt x="160843" y="86386"/>
                    </a:cubicBezTo>
                    <a:cubicBezTo>
                      <a:pt x="144737" y="95168"/>
                      <a:pt x="123130" y="100012"/>
                      <a:pt x="100012" y="100012"/>
                    </a:cubicBezTo>
                    <a:cubicBezTo>
                      <a:pt x="76895" y="100012"/>
                      <a:pt x="55288" y="95168"/>
                      <a:pt x="39182" y="86386"/>
                    </a:cubicBezTo>
                    <a:cubicBezTo>
                      <a:pt x="24878" y="78583"/>
                      <a:pt x="16669" y="68363"/>
                      <a:pt x="16669" y="58341"/>
                    </a:cubicBezTo>
                    <a:cubicBezTo>
                      <a:pt x="16669" y="48319"/>
                      <a:pt x="24878" y="38099"/>
                      <a:pt x="39182" y="30295"/>
                    </a:cubicBezTo>
                    <a:close/>
                    <a:moveTo>
                      <a:pt x="160843" y="186398"/>
                    </a:moveTo>
                    <a:cubicBezTo>
                      <a:pt x="144737" y="195181"/>
                      <a:pt x="123130" y="200025"/>
                      <a:pt x="100012" y="200025"/>
                    </a:cubicBezTo>
                    <a:cubicBezTo>
                      <a:pt x="76895" y="200025"/>
                      <a:pt x="55288" y="195181"/>
                      <a:pt x="39182" y="186398"/>
                    </a:cubicBezTo>
                    <a:cubicBezTo>
                      <a:pt x="24878" y="178595"/>
                      <a:pt x="16669" y="168375"/>
                      <a:pt x="16669" y="158353"/>
                    </a:cubicBezTo>
                    <a:lnTo>
                      <a:pt x="16669" y="141018"/>
                    </a:lnTo>
                    <a:cubicBezTo>
                      <a:pt x="34442" y="156645"/>
                      <a:pt x="64831" y="166688"/>
                      <a:pt x="100012" y="166688"/>
                    </a:cubicBezTo>
                    <a:cubicBezTo>
                      <a:pt x="135194" y="166688"/>
                      <a:pt x="165583" y="156603"/>
                      <a:pt x="183356" y="141018"/>
                    </a:cubicBezTo>
                    <a:lnTo>
                      <a:pt x="183356" y="158353"/>
                    </a:lnTo>
                    <a:cubicBezTo>
                      <a:pt x="183356" y="168375"/>
                      <a:pt x="175147" y="178595"/>
                      <a:pt x="160843" y="186398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</p:grpSp>
        <p:sp>
          <p:nvSpPr>
            <p:cNvPr id="10" name="TextBox 10"/>
            <p:cNvSpPr txBox="1"/>
            <p:nvPr/>
          </p:nvSpPr>
          <p:spPr>
            <a:xfrm>
              <a:off x="1231773" y="2162175"/>
              <a:ext cx="2716211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1280" dirty="0">
                  <a:solidFill>
                    <a:schemeClr val="dk1"/>
                  </a:solidFill>
                  <a:latin typeface="Inter"/>
                  <a:ea typeface="Inter"/>
                  <a:cs typeface="Inter"/>
                </a:rPr>
                <a:t>UCI Machine Learning Repository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51154" y="2562225"/>
              <a:ext cx="18385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1200" dirty="0">
                  <a:solidFill>
                    <a:schemeClr val="accent5"/>
                  </a:solidFill>
                  <a:latin typeface="Inter"/>
                  <a:ea typeface="Inter"/>
                  <a:cs typeface="Inter"/>
                </a:rPr>
                <a:t>DOI: 10.24432/C5030X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51154" y="2800350"/>
              <a:ext cx="14869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1200" dirty="0">
                  <a:solidFill>
                    <a:schemeClr val="accent5"/>
                  </a:solidFill>
                  <a:latin typeface="Inter"/>
                  <a:ea typeface="Inter"/>
                  <a:cs typeface="Inter"/>
                </a:rPr>
                <a:t>License: CC BY 4.0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51154" y="3038475"/>
              <a:ext cx="16752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1200" dirty="0">
                  <a:solidFill>
                    <a:schemeClr val="accent5"/>
                  </a:solidFill>
                  <a:latin typeface="Inter"/>
                  <a:ea typeface="Inter"/>
                  <a:cs typeface="Inter"/>
                </a:rPr>
                <a:t xml:space="preserve">Size: </a:t>
              </a:r>
              <a:r>
                <a:rPr lang="vi" sz="1200" b="1" dirty="0">
                  <a:solidFill>
                    <a:schemeClr val="accent1"/>
                  </a:solidFill>
                  <a:latin typeface="Inter"/>
                  <a:ea typeface="Inter"/>
                  <a:cs typeface="Inter"/>
                </a:rPr>
                <a:t>440 customers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51154" y="3324225"/>
              <a:ext cx="252010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1200" dirty="0">
                  <a:solidFill>
                    <a:schemeClr val="accent5"/>
                  </a:solidFill>
                  <a:latin typeface="Inter"/>
                  <a:ea typeface="Inter"/>
                  <a:cs typeface="Inter"/>
                </a:rPr>
                <a:t xml:space="preserve">Features: </a:t>
              </a:r>
              <a:r>
                <a:rPr lang="vi" sz="1200" b="1" dirty="0">
                  <a:solidFill>
                    <a:schemeClr val="accent2"/>
                  </a:solidFill>
                  <a:latin typeface="Inter"/>
                  <a:ea typeface="Inter"/>
                  <a:cs typeface="Inter"/>
                </a:rPr>
                <a:t>6 spending variables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51154" y="3609975"/>
              <a:ext cx="28276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1200" dirty="0">
                  <a:solidFill>
                    <a:schemeClr val="accent5"/>
                  </a:solidFill>
                  <a:latin typeface="Inter"/>
                  <a:ea typeface="Inter"/>
                  <a:cs typeface="Inter"/>
                </a:rPr>
                <a:t>Unit: Annual monetary units (m.u.)</a:t>
              </a:r>
            </a:p>
          </p:txBody>
        </p:sp>
      </p:grpSp>
      <p:grpSp>
        <p:nvGrpSpPr>
          <p:cNvPr id="57" name="features"/>
          <p:cNvGrpSpPr/>
          <p:nvPr/>
        </p:nvGrpSpPr>
        <p:grpSpPr>
          <a:xfrm>
            <a:off x="6286500" y="1524000"/>
            <a:ext cx="5334000" cy="4572000"/>
            <a:chOff x="6286500" y="1524000"/>
            <a:chExt cx="5334000" cy="4572000"/>
          </a:xfrm>
        </p:grpSpPr>
        <p:sp>
          <p:nvSpPr>
            <p:cNvPr id="17" name="Rectangle 17"/>
            <p:cNvSpPr/>
            <p:nvPr/>
          </p:nvSpPr>
          <p:spPr>
            <a:xfrm>
              <a:off x="6286500" y="1524000"/>
              <a:ext cx="5334000" cy="4572000"/>
            </a:xfrm>
            <a:prstGeom prst="roundRect">
              <a:avLst>
                <a:gd name="adj" fmla="val 2500"/>
              </a:avLst>
            </a:prstGeom>
            <a:solidFill>
              <a:srgbClr val="EFF6FF"/>
            </a:solidFill>
            <a:ln w="19050">
              <a:solidFill>
                <a:schemeClr val="accent1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564630" y="1727200"/>
              <a:ext cx="33773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1500" b="1" dirty="0">
                  <a:solidFill>
                    <a:srgbClr val="1E40AF"/>
                  </a:solidFill>
                  <a:latin typeface="Inter"/>
                  <a:ea typeface="Inter"/>
                  <a:cs typeface="Inter"/>
                </a:rPr>
                <a:t>6 Primary Features (Clustering)</a:t>
              </a:r>
            </a:p>
          </p:txBody>
        </p:sp>
        <p:grpSp>
          <p:nvGrpSpPr>
            <p:cNvPr id="55" name="feature-list"/>
            <p:cNvGrpSpPr/>
            <p:nvPr/>
          </p:nvGrpSpPr>
          <p:grpSpPr>
            <a:xfrm>
              <a:off x="6572250" y="2095500"/>
              <a:ext cx="4762500" cy="3333750"/>
              <a:chOff x="6572250" y="2095500"/>
              <a:chExt cx="4762500" cy="3333750"/>
            </a:xfrm>
          </p:grpSpPr>
          <p:sp>
            <p:nvSpPr>
              <p:cNvPr id="19" name="Rectangle 19"/>
              <p:cNvSpPr/>
              <p:nvPr/>
            </p:nvSpPr>
            <p:spPr>
              <a:xfrm>
                <a:off x="6572250" y="2095500"/>
                <a:ext cx="4762500" cy="476250"/>
              </a:xfrm>
              <a:prstGeom prst="roundRect">
                <a:avLst>
                  <a:gd name="adj" fmla="val 16000"/>
                </a:avLst>
              </a:prstGeom>
              <a:solidFill>
                <a:schemeClr val="lt1"/>
              </a:solidFill>
              <a:ln>
                <a:noFill/>
              </a:ln>
            </p:spPr>
          </p:sp>
          <p:grpSp>
            <p:nvGrpSpPr>
              <p:cNvPr id="22" name="Group 22"/>
              <p:cNvGrpSpPr/>
              <p:nvPr/>
            </p:nvGrpSpPr>
            <p:grpSpPr>
              <a:xfrm>
                <a:off x="6690717" y="2248495"/>
                <a:ext cx="201947" cy="170259"/>
                <a:chOff x="6690717" y="2248495"/>
                <a:chExt cx="201947" cy="170259"/>
              </a:xfrm>
            </p:grpSpPr>
            <p:sp>
              <p:nvSpPr>
                <p:cNvPr id="20" name="Freeform 20"/>
                <p:cNvSpPr/>
                <p:nvPr/>
              </p:nvSpPr>
              <p:spPr>
                <a:xfrm>
                  <a:off x="6698456" y="2256234"/>
                  <a:ext cx="185737" cy="1547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5737" h="154780">
                      <a:moveTo>
                        <a:pt x="185737" y="15478"/>
                      </a:moveTo>
                      <a:lnTo>
                        <a:pt x="185737" y="154780"/>
                      </a:lnTo>
                      <a:lnTo>
                        <a:pt x="0" y="154780"/>
                      </a:lnTo>
                      <a:lnTo>
                        <a:pt x="0" y="0"/>
                      </a:lnTo>
                      <a:lnTo>
                        <a:pt x="170259" y="0"/>
                      </a:lnTo>
                      <a:cubicBezTo>
                        <a:pt x="178807" y="0"/>
                        <a:pt x="185737" y="6930"/>
                        <a:pt x="185737" y="15478"/>
                      </a:cubicBezTo>
                      <a:close/>
                    </a:path>
                  </a:pathLst>
                </a:custGeom>
                <a:solidFill>
                  <a:schemeClr val="accent2">
                    <a:alpha val="20000"/>
                  </a:schemeClr>
                </a:solidFill>
                <a:ln>
                  <a:noFill/>
                </a:ln>
              </p:spPr>
            </p:sp>
            <p:sp>
              <p:nvSpPr>
                <p:cNvPr id="21" name="Freeform 21"/>
                <p:cNvSpPr/>
                <p:nvPr/>
              </p:nvSpPr>
              <p:spPr>
                <a:xfrm>
                  <a:off x="6690717" y="2248495"/>
                  <a:ext cx="201947" cy="1702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947" h="170259">
                      <a:moveTo>
                        <a:pt x="201215" y="162520"/>
                      </a:moveTo>
                      <a:cubicBezTo>
                        <a:pt x="201215" y="166794"/>
                        <a:pt x="197750" y="170259"/>
                        <a:pt x="193476" y="170259"/>
                      </a:cubicBezTo>
                      <a:lnTo>
                        <a:pt x="7739" y="170259"/>
                      </a:lnTo>
                      <a:cubicBezTo>
                        <a:pt x="3465" y="170259"/>
                        <a:pt x="0" y="166794"/>
                        <a:pt x="0" y="162520"/>
                      </a:cubicBezTo>
                      <a:lnTo>
                        <a:pt x="0" y="7739"/>
                      </a:lnTo>
                      <a:cubicBezTo>
                        <a:pt x="0" y="3465"/>
                        <a:pt x="3465" y="0"/>
                        <a:pt x="7739" y="0"/>
                      </a:cubicBezTo>
                      <a:cubicBezTo>
                        <a:pt x="12013" y="0"/>
                        <a:pt x="15478" y="3465"/>
                        <a:pt x="15478" y="7739"/>
                      </a:cubicBezTo>
                      <a:lnTo>
                        <a:pt x="15478" y="99030"/>
                      </a:lnTo>
                      <a:lnTo>
                        <a:pt x="64553" y="56108"/>
                      </a:lnTo>
                      <a:cubicBezTo>
                        <a:pt x="67305" y="53699"/>
                        <a:pt x="71369" y="53545"/>
                        <a:pt x="74295" y="55740"/>
                      </a:cubicBezTo>
                      <a:lnTo>
                        <a:pt x="131186" y="98411"/>
                      </a:lnTo>
                      <a:lnTo>
                        <a:pt x="188378" y="48369"/>
                      </a:lnTo>
                      <a:cubicBezTo>
                        <a:pt x="190421" y="46346"/>
                        <a:pt x="193417" y="45623"/>
                        <a:pt x="196158" y="46491"/>
                      </a:cubicBezTo>
                      <a:cubicBezTo>
                        <a:pt x="198899" y="47359"/>
                        <a:pt x="200933" y="49674"/>
                        <a:pt x="201440" y="52504"/>
                      </a:cubicBezTo>
                      <a:cubicBezTo>
                        <a:pt x="201947" y="55334"/>
                        <a:pt x="200843" y="58212"/>
                        <a:pt x="198574" y="59977"/>
                      </a:cubicBezTo>
                      <a:lnTo>
                        <a:pt x="136661" y="114151"/>
                      </a:lnTo>
                      <a:cubicBezTo>
                        <a:pt x="133909" y="116560"/>
                        <a:pt x="129846" y="116713"/>
                        <a:pt x="126920" y="114518"/>
                      </a:cubicBezTo>
                      <a:lnTo>
                        <a:pt x="70028" y="71867"/>
                      </a:lnTo>
                      <a:lnTo>
                        <a:pt x="15478" y="119597"/>
                      </a:lnTo>
                      <a:lnTo>
                        <a:pt x="15478" y="154780"/>
                      </a:lnTo>
                      <a:lnTo>
                        <a:pt x="193476" y="154780"/>
                      </a:lnTo>
                      <a:cubicBezTo>
                        <a:pt x="197750" y="154780"/>
                        <a:pt x="201215" y="158245"/>
                        <a:pt x="201215" y="16252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</p:sp>
          </p:grpSp>
          <p:sp>
            <p:nvSpPr>
              <p:cNvPr id="23" name="TextBox 23"/>
              <p:cNvSpPr txBox="1"/>
              <p:nvPr/>
            </p:nvSpPr>
            <p:spPr>
              <a:xfrm>
                <a:off x="7042023" y="2228850"/>
                <a:ext cx="516142" cy="2503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" sz="1280" b="1" dirty="0">
                    <a:solidFill>
                      <a:schemeClr val="dk1"/>
                    </a:solidFill>
                    <a:latin typeface="Inter"/>
                    <a:ea typeface="Inter"/>
                    <a:cs typeface="Inter"/>
                  </a:rPr>
                  <a:t>Fresh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7665810" y="2241550"/>
                <a:ext cx="1388655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vi" sz="1120" dirty="0">
                    <a:solidFill>
                      <a:schemeClr val="accent5"/>
                    </a:solidFill>
                    <a:latin typeface="Inter"/>
                    <a:ea typeface="Inter"/>
                    <a:cs typeface="Inter"/>
                  </a:rPr>
                  <a:t>Sản phẩm tươi sống</a:t>
                </a:r>
              </a:p>
            </p:txBody>
          </p:sp>
          <p:sp>
            <p:nvSpPr>
              <p:cNvPr id="25" name="Rectangle 25"/>
              <p:cNvSpPr/>
              <p:nvPr/>
            </p:nvSpPr>
            <p:spPr>
              <a:xfrm>
                <a:off x="6572250" y="2667000"/>
                <a:ext cx="4762500" cy="476250"/>
              </a:xfrm>
              <a:prstGeom prst="roundRect">
                <a:avLst>
                  <a:gd name="adj" fmla="val 16000"/>
                </a:avLst>
              </a:prstGeom>
              <a:solidFill>
                <a:schemeClr val="lt1"/>
              </a:solidFill>
              <a:ln>
                <a:noFill/>
              </a:ln>
            </p:spPr>
          </p:sp>
          <p:grpSp>
            <p:nvGrpSpPr>
              <p:cNvPr id="28" name="Group 28"/>
              <p:cNvGrpSpPr/>
              <p:nvPr/>
            </p:nvGrpSpPr>
            <p:grpSpPr>
              <a:xfrm>
                <a:off x="6690717" y="2819995"/>
                <a:ext cx="201947" cy="170259"/>
                <a:chOff x="6690717" y="2819995"/>
                <a:chExt cx="201947" cy="170259"/>
              </a:xfrm>
            </p:grpSpPr>
            <p:sp>
              <p:nvSpPr>
                <p:cNvPr id="26" name="Freeform 26"/>
                <p:cNvSpPr/>
                <p:nvPr/>
              </p:nvSpPr>
              <p:spPr>
                <a:xfrm>
                  <a:off x="6698456" y="2827734"/>
                  <a:ext cx="185737" cy="1547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5737" h="154780">
                      <a:moveTo>
                        <a:pt x="185737" y="15478"/>
                      </a:moveTo>
                      <a:lnTo>
                        <a:pt x="185737" y="154780"/>
                      </a:lnTo>
                      <a:lnTo>
                        <a:pt x="0" y="154780"/>
                      </a:lnTo>
                      <a:lnTo>
                        <a:pt x="0" y="0"/>
                      </a:lnTo>
                      <a:lnTo>
                        <a:pt x="170259" y="0"/>
                      </a:lnTo>
                      <a:cubicBezTo>
                        <a:pt x="178807" y="0"/>
                        <a:pt x="185737" y="6930"/>
                        <a:pt x="185737" y="15478"/>
                      </a:cubicBezTo>
                      <a:close/>
                    </a:path>
                  </a:pathLst>
                </a:custGeom>
                <a:solidFill>
                  <a:schemeClr val="accent2">
                    <a:alpha val="20000"/>
                  </a:schemeClr>
                </a:solidFill>
                <a:ln>
                  <a:noFill/>
                </a:ln>
              </p:spPr>
            </p:sp>
            <p:sp>
              <p:nvSpPr>
                <p:cNvPr id="27" name="Freeform 27"/>
                <p:cNvSpPr/>
                <p:nvPr/>
              </p:nvSpPr>
              <p:spPr>
                <a:xfrm>
                  <a:off x="6690717" y="2819995"/>
                  <a:ext cx="201947" cy="1702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947" h="170259">
                      <a:moveTo>
                        <a:pt x="201215" y="162520"/>
                      </a:moveTo>
                      <a:cubicBezTo>
                        <a:pt x="201215" y="166794"/>
                        <a:pt x="197750" y="170259"/>
                        <a:pt x="193476" y="170259"/>
                      </a:cubicBezTo>
                      <a:lnTo>
                        <a:pt x="7739" y="170259"/>
                      </a:lnTo>
                      <a:cubicBezTo>
                        <a:pt x="3465" y="170259"/>
                        <a:pt x="0" y="166794"/>
                        <a:pt x="0" y="162520"/>
                      </a:cubicBezTo>
                      <a:lnTo>
                        <a:pt x="0" y="7739"/>
                      </a:lnTo>
                      <a:cubicBezTo>
                        <a:pt x="0" y="3465"/>
                        <a:pt x="3465" y="0"/>
                        <a:pt x="7739" y="0"/>
                      </a:cubicBezTo>
                      <a:cubicBezTo>
                        <a:pt x="12013" y="0"/>
                        <a:pt x="15478" y="3465"/>
                        <a:pt x="15478" y="7739"/>
                      </a:cubicBezTo>
                      <a:lnTo>
                        <a:pt x="15478" y="99030"/>
                      </a:lnTo>
                      <a:lnTo>
                        <a:pt x="64553" y="56108"/>
                      </a:lnTo>
                      <a:cubicBezTo>
                        <a:pt x="67305" y="53699"/>
                        <a:pt x="71369" y="53545"/>
                        <a:pt x="74295" y="55740"/>
                      </a:cubicBezTo>
                      <a:lnTo>
                        <a:pt x="131186" y="98411"/>
                      </a:lnTo>
                      <a:lnTo>
                        <a:pt x="188378" y="48369"/>
                      </a:lnTo>
                      <a:cubicBezTo>
                        <a:pt x="190421" y="46346"/>
                        <a:pt x="193417" y="45623"/>
                        <a:pt x="196158" y="46491"/>
                      </a:cubicBezTo>
                      <a:cubicBezTo>
                        <a:pt x="198899" y="47359"/>
                        <a:pt x="200933" y="49674"/>
                        <a:pt x="201440" y="52504"/>
                      </a:cubicBezTo>
                      <a:cubicBezTo>
                        <a:pt x="201947" y="55334"/>
                        <a:pt x="200843" y="58212"/>
                        <a:pt x="198574" y="59977"/>
                      </a:cubicBezTo>
                      <a:lnTo>
                        <a:pt x="136661" y="114151"/>
                      </a:lnTo>
                      <a:cubicBezTo>
                        <a:pt x="133909" y="116560"/>
                        <a:pt x="129846" y="116713"/>
                        <a:pt x="126920" y="114518"/>
                      </a:cubicBezTo>
                      <a:lnTo>
                        <a:pt x="70028" y="71867"/>
                      </a:lnTo>
                      <a:lnTo>
                        <a:pt x="15478" y="119597"/>
                      </a:lnTo>
                      <a:lnTo>
                        <a:pt x="15478" y="154780"/>
                      </a:lnTo>
                      <a:lnTo>
                        <a:pt x="193476" y="154780"/>
                      </a:lnTo>
                      <a:cubicBezTo>
                        <a:pt x="197750" y="154780"/>
                        <a:pt x="201215" y="158245"/>
                        <a:pt x="201215" y="16252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</p:sp>
          </p:grpSp>
          <p:sp>
            <p:nvSpPr>
              <p:cNvPr id="29" name="TextBox 29"/>
              <p:cNvSpPr txBox="1"/>
              <p:nvPr/>
            </p:nvSpPr>
            <p:spPr>
              <a:xfrm>
                <a:off x="7042023" y="2800350"/>
                <a:ext cx="361584" cy="2503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" sz="1280" b="1" dirty="0">
                    <a:solidFill>
                      <a:schemeClr val="dk1"/>
                    </a:solidFill>
                    <a:latin typeface="Inter"/>
                    <a:ea typeface="Inter"/>
                    <a:cs typeface="Inter"/>
                  </a:rPr>
                  <a:t>Milk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371431" y="2813050"/>
                <a:ext cx="1683034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vi" sz="1120" dirty="0">
                    <a:solidFill>
                      <a:schemeClr val="accent5"/>
                    </a:solidFill>
                    <a:latin typeface="Inter"/>
                    <a:ea typeface="Inter"/>
                    <a:cs typeface="Inter"/>
                  </a:rPr>
                  <a:t>Sữa và sản phẩm từ sữa</a:t>
                </a:r>
              </a:p>
            </p:txBody>
          </p:sp>
          <p:sp>
            <p:nvSpPr>
              <p:cNvPr id="31" name="Rectangle 31"/>
              <p:cNvSpPr/>
              <p:nvPr/>
            </p:nvSpPr>
            <p:spPr>
              <a:xfrm>
                <a:off x="6572250" y="3238500"/>
                <a:ext cx="4762500" cy="476250"/>
              </a:xfrm>
              <a:prstGeom prst="roundRect">
                <a:avLst>
                  <a:gd name="adj" fmla="val 16000"/>
                </a:avLst>
              </a:prstGeom>
              <a:solidFill>
                <a:schemeClr val="lt1"/>
              </a:solidFill>
              <a:ln>
                <a:noFill/>
              </a:ln>
            </p:spPr>
          </p:sp>
          <p:grpSp>
            <p:nvGrpSpPr>
              <p:cNvPr id="34" name="Group 34"/>
              <p:cNvGrpSpPr/>
              <p:nvPr/>
            </p:nvGrpSpPr>
            <p:grpSpPr>
              <a:xfrm>
                <a:off x="6690717" y="3391495"/>
                <a:ext cx="201947" cy="170259"/>
                <a:chOff x="6690717" y="3391495"/>
                <a:chExt cx="201947" cy="170259"/>
              </a:xfrm>
            </p:grpSpPr>
            <p:sp>
              <p:nvSpPr>
                <p:cNvPr id="32" name="Freeform 32"/>
                <p:cNvSpPr/>
                <p:nvPr/>
              </p:nvSpPr>
              <p:spPr>
                <a:xfrm>
                  <a:off x="6698456" y="3399234"/>
                  <a:ext cx="185737" cy="1547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5737" h="154780">
                      <a:moveTo>
                        <a:pt x="185737" y="15478"/>
                      </a:moveTo>
                      <a:lnTo>
                        <a:pt x="185737" y="154780"/>
                      </a:lnTo>
                      <a:lnTo>
                        <a:pt x="0" y="154780"/>
                      </a:lnTo>
                      <a:lnTo>
                        <a:pt x="0" y="0"/>
                      </a:lnTo>
                      <a:lnTo>
                        <a:pt x="170259" y="0"/>
                      </a:lnTo>
                      <a:cubicBezTo>
                        <a:pt x="178807" y="0"/>
                        <a:pt x="185737" y="6930"/>
                        <a:pt x="185737" y="15478"/>
                      </a:cubicBezTo>
                      <a:close/>
                    </a:path>
                  </a:pathLst>
                </a:custGeom>
                <a:solidFill>
                  <a:schemeClr val="accent2">
                    <a:alpha val="20000"/>
                  </a:schemeClr>
                </a:solidFill>
                <a:ln>
                  <a:noFill/>
                </a:ln>
              </p:spPr>
            </p:sp>
            <p:sp>
              <p:nvSpPr>
                <p:cNvPr id="33" name="Freeform 33"/>
                <p:cNvSpPr/>
                <p:nvPr/>
              </p:nvSpPr>
              <p:spPr>
                <a:xfrm>
                  <a:off x="6690717" y="3391495"/>
                  <a:ext cx="201947" cy="1702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947" h="170259">
                      <a:moveTo>
                        <a:pt x="201215" y="162520"/>
                      </a:moveTo>
                      <a:cubicBezTo>
                        <a:pt x="201215" y="166794"/>
                        <a:pt x="197750" y="170259"/>
                        <a:pt x="193476" y="170259"/>
                      </a:cubicBezTo>
                      <a:lnTo>
                        <a:pt x="7739" y="170259"/>
                      </a:lnTo>
                      <a:cubicBezTo>
                        <a:pt x="3465" y="170259"/>
                        <a:pt x="0" y="166794"/>
                        <a:pt x="0" y="162520"/>
                      </a:cubicBezTo>
                      <a:lnTo>
                        <a:pt x="0" y="7739"/>
                      </a:lnTo>
                      <a:cubicBezTo>
                        <a:pt x="0" y="3465"/>
                        <a:pt x="3465" y="0"/>
                        <a:pt x="7739" y="0"/>
                      </a:cubicBezTo>
                      <a:cubicBezTo>
                        <a:pt x="12013" y="0"/>
                        <a:pt x="15478" y="3465"/>
                        <a:pt x="15478" y="7739"/>
                      </a:cubicBezTo>
                      <a:lnTo>
                        <a:pt x="15478" y="99030"/>
                      </a:lnTo>
                      <a:lnTo>
                        <a:pt x="64553" y="56108"/>
                      </a:lnTo>
                      <a:cubicBezTo>
                        <a:pt x="67305" y="53699"/>
                        <a:pt x="71369" y="53545"/>
                        <a:pt x="74295" y="55740"/>
                      </a:cubicBezTo>
                      <a:lnTo>
                        <a:pt x="131186" y="98411"/>
                      </a:lnTo>
                      <a:lnTo>
                        <a:pt x="188378" y="48369"/>
                      </a:lnTo>
                      <a:cubicBezTo>
                        <a:pt x="190421" y="46346"/>
                        <a:pt x="193417" y="45623"/>
                        <a:pt x="196158" y="46491"/>
                      </a:cubicBezTo>
                      <a:cubicBezTo>
                        <a:pt x="198899" y="47359"/>
                        <a:pt x="200933" y="49674"/>
                        <a:pt x="201440" y="52504"/>
                      </a:cubicBezTo>
                      <a:cubicBezTo>
                        <a:pt x="201947" y="55334"/>
                        <a:pt x="200843" y="58212"/>
                        <a:pt x="198574" y="59977"/>
                      </a:cubicBezTo>
                      <a:lnTo>
                        <a:pt x="136661" y="114151"/>
                      </a:lnTo>
                      <a:cubicBezTo>
                        <a:pt x="133909" y="116560"/>
                        <a:pt x="129846" y="116713"/>
                        <a:pt x="126920" y="114518"/>
                      </a:cubicBezTo>
                      <a:lnTo>
                        <a:pt x="70028" y="71867"/>
                      </a:lnTo>
                      <a:lnTo>
                        <a:pt x="15478" y="119597"/>
                      </a:lnTo>
                      <a:lnTo>
                        <a:pt x="15478" y="154780"/>
                      </a:lnTo>
                      <a:lnTo>
                        <a:pt x="193476" y="154780"/>
                      </a:lnTo>
                      <a:cubicBezTo>
                        <a:pt x="197750" y="154780"/>
                        <a:pt x="201215" y="158245"/>
                        <a:pt x="201215" y="16252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</p:sp>
          </p:grpSp>
          <p:sp>
            <p:nvSpPr>
              <p:cNvPr id="35" name="TextBox 35"/>
              <p:cNvSpPr txBox="1"/>
              <p:nvPr/>
            </p:nvSpPr>
            <p:spPr>
              <a:xfrm>
                <a:off x="7042023" y="3371850"/>
                <a:ext cx="715164" cy="2503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" sz="1280" b="1" dirty="0">
                    <a:solidFill>
                      <a:schemeClr val="dk1"/>
                    </a:solidFill>
                    <a:latin typeface="Inter"/>
                    <a:ea typeface="Inter"/>
                    <a:cs typeface="Inter"/>
                  </a:rPr>
                  <a:t>Grocery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8118105" y="3384550"/>
                <a:ext cx="936360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vi" sz="1120" dirty="0">
                    <a:solidFill>
                      <a:schemeClr val="accent5"/>
                    </a:solidFill>
                    <a:latin typeface="Inter"/>
                    <a:ea typeface="Inter"/>
                    <a:cs typeface="Inter"/>
                  </a:rPr>
                  <a:t>Hàng tạp hóa</a:t>
                </a:r>
              </a:p>
            </p:txBody>
          </p:sp>
          <p:sp>
            <p:nvSpPr>
              <p:cNvPr id="37" name="Rectangle 37"/>
              <p:cNvSpPr/>
              <p:nvPr/>
            </p:nvSpPr>
            <p:spPr>
              <a:xfrm>
                <a:off x="6572250" y="3810000"/>
                <a:ext cx="4762500" cy="476250"/>
              </a:xfrm>
              <a:prstGeom prst="roundRect">
                <a:avLst>
                  <a:gd name="adj" fmla="val 16000"/>
                </a:avLst>
              </a:prstGeom>
              <a:solidFill>
                <a:schemeClr val="lt1"/>
              </a:solidFill>
              <a:ln>
                <a:noFill/>
              </a:ln>
            </p:spPr>
          </p:sp>
          <p:grpSp>
            <p:nvGrpSpPr>
              <p:cNvPr id="40" name="Group 40"/>
              <p:cNvGrpSpPr/>
              <p:nvPr/>
            </p:nvGrpSpPr>
            <p:grpSpPr>
              <a:xfrm>
                <a:off x="6690717" y="3962995"/>
                <a:ext cx="201947" cy="170259"/>
                <a:chOff x="6690717" y="3962995"/>
                <a:chExt cx="201947" cy="170259"/>
              </a:xfrm>
            </p:grpSpPr>
            <p:sp>
              <p:nvSpPr>
                <p:cNvPr id="38" name="Freeform 38"/>
                <p:cNvSpPr/>
                <p:nvPr/>
              </p:nvSpPr>
              <p:spPr>
                <a:xfrm>
                  <a:off x="6698456" y="3970734"/>
                  <a:ext cx="185737" cy="1547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5737" h="154780">
                      <a:moveTo>
                        <a:pt x="185737" y="15478"/>
                      </a:moveTo>
                      <a:lnTo>
                        <a:pt x="185737" y="154780"/>
                      </a:lnTo>
                      <a:lnTo>
                        <a:pt x="0" y="154780"/>
                      </a:lnTo>
                      <a:lnTo>
                        <a:pt x="0" y="0"/>
                      </a:lnTo>
                      <a:lnTo>
                        <a:pt x="170259" y="0"/>
                      </a:lnTo>
                      <a:cubicBezTo>
                        <a:pt x="178807" y="0"/>
                        <a:pt x="185737" y="6930"/>
                        <a:pt x="185737" y="15478"/>
                      </a:cubicBezTo>
                      <a:close/>
                    </a:path>
                  </a:pathLst>
                </a:custGeom>
                <a:solidFill>
                  <a:schemeClr val="accent2">
                    <a:alpha val="20000"/>
                  </a:schemeClr>
                </a:solidFill>
                <a:ln>
                  <a:noFill/>
                </a:ln>
              </p:spPr>
            </p:sp>
            <p:sp>
              <p:nvSpPr>
                <p:cNvPr id="39" name="Freeform 39"/>
                <p:cNvSpPr/>
                <p:nvPr/>
              </p:nvSpPr>
              <p:spPr>
                <a:xfrm>
                  <a:off x="6690717" y="3962995"/>
                  <a:ext cx="201947" cy="1702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947" h="170259">
                      <a:moveTo>
                        <a:pt x="201215" y="162520"/>
                      </a:moveTo>
                      <a:cubicBezTo>
                        <a:pt x="201215" y="166794"/>
                        <a:pt x="197750" y="170259"/>
                        <a:pt x="193476" y="170259"/>
                      </a:cubicBezTo>
                      <a:lnTo>
                        <a:pt x="7739" y="170259"/>
                      </a:lnTo>
                      <a:cubicBezTo>
                        <a:pt x="3465" y="170259"/>
                        <a:pt x="0" y="166794"/>
                        <a:pt x="0" y="162520"/>
                      </a:cubicBezTo>
                      <a:lnTo>
                        <a:pt x="0" y="7739"/>
                      </a:lnTo>
                      <a:cubicBezTo>
                        <a:pt x="0" y="3465"/>
                        <a:pt x="3465" y="0"/>
                        <a:pt x="7739" y="0"/>
                      </a:cubicBezTo>
                      <a:cubicBezTo>
                        <a:pt x="12013" y="0"/>
                        <a:pt x="15478" y="3465"/>
                        <a:pt x="15478" y="7739"/>
                      </a:cubicBezTo>
                      <a:lnTo>
                        <a:pt x="15478" y="99030"/>
                      </a:lnTo>
                      <a:lnTo>
                        <a:pt x="64553" y="56108"/>
                      </a:lnTo>
                      <a:cubicBezTo>
                        <a:pt x="67305" y="53699"/>
                        <a:pt x="71369" y="53545"/>
                        <a:pt x="74295" y="55740"/>
                      </a:cubicBezTo>
                      <a:lnTo>
                        <a:pt x="131186" y="98411"/>
                      </a:lnTo>
                      <a:lnTo>
                        <a:pt x="188378" y="48369"/>
                      </a:lnTo>
                      <a:cubicBezTo>
                        <a:pt x="190421" y="46346"/>
                        <a:pt x="193417" y="45623"/>
                        <a:pt x="196158" y="46491"/>
                      </a:cubicBezTo>
                      <a:cubicBezTo>
                        <a:pt x="198899" y="47359"/>
                        <a:pt x="200933" y="49674"/>
                        <a:pt x="201440" y="52504"/>
                      </a:cubicBezTo>
                      <a:cubicBezTo>
                        <a:pt x="201947" y="55334"/>
                        <a:pt x="200843" y="58212"/>
                        <a:pt x="198574" y="59977"/>
                      </a:cubicBezTo>
                      <a:lnTo>
                        <a:pt x="136661" y="114151"/>
                      </a:lnTo>
                      <a:cubicBezTo>
                        <a:pt x="133909" y="116560"/>
                        <a:pt x="129846" y="116713"/>
                        <a:pt x="126920" y="114518"/>
                      </a:cubicBezTo>
                      <a:lnTo>
                        <a:pt x="70028" y="71867"/>
                      </a:lnTo>
                      <a:lnTo>
                        <a:pt x="15478" y="119597"/>
                      </a:lnTo>
                      <a:lnTo>
                        <a:pt x="15478" y="154780"/>
                      </a:lnTo>
                      <a:lnTo>
                        <a:pt x="193476" y="154780"/>
                      </a:lnTo>
                      <a:cubicBezTo>
                        <a:pt x="197750" y="154780"/>
                        <a:pt x="201215" y="158245"/>
                        <a:pt x="201215" y="16252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</p:sp>
          </p:grpSp>
          <p:sp>
            <p:nvSpPr>
              <p:cNvPr id="41" name="TextBox 41"/>
              <p:cNvSpPr txBox="1"/>
              <p:nvPr/>
            </p:nvSpPr>
            <p:spPr>
              <a:xfrm>
                <a:off x="7042023" y="3943350"/>
                <a:ext cx="615653" cy="2503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" sz="1280" b="1" dirty="0">
                    <a:solidFill>
                      <a:schemeClr val="dk1"/>
                    </a:solidFill>
                    <a:latin typeface="Inter"/>
                    <a:ea typeface="Inter"/>
                    <a:cs typeface="Inter"/>
                  </a:rPr>
                  <a:t>Frozen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7582915" y="3956050"/>
                <a:ext cx="1471550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vi" sz="1120" dirty="0">
                    <a:solidFill>
                      <a:schemeClr val="accent5"/>
                    </a:solidFill>
                    <a:latin typeface="Inter"/>
                    <a:ea typeface="Inter"/>
                    <a:cs typeface="Inter"/>
                  </a:rPr>
                  <a:t>Thực phẩm đông lạnh</a:t>
                </a:r>
              </a:p>
            </p:txBody>
          </p:sp>
          <p:sp>
            <p:nvSpPr>
              <p:cNvPr id="43" name="Rectangle 43"/>
              <p:cNvSpPr/>
              <p:nvPr/>
            </p:nvSpPr>
            <p:spPr>
              <a:xfrm>
                <a:off x="6572250" y="4381500"/>
                <a:ext cx="4762500" cy="476250"/>
              </a:xfrm>
              <a:prstGeom prst="roundRect">
                <a:avLst>
                  <a:gd name="adj" fmla="val 16000"/>
                </a:avLst>
              </a:prstGeom>
              <a:solidFill>
                <a:schemeClr val="lt1"/>
              </a:solidFill>
              <a:ln>
                <a:noFill/>
              </a:ln>
            </p:spPr>
          </p:sp>
          <p:grpSp>
            <p:nvGrpSpPr>
              <p:cNvPr id="46" name="Group 46"/>
              <p:cNvGrpSpPr/>
              <p:nvPr/>
            </p:nvGrpSpPr>
            <p:grpSpPr>
              <a:xfrm>
                <a:off x="6690717" y="4534495"/>
                <a:ext cx="201947" cy="170259"/>
                <a:chOff x="6690717" y="4534495"/>
                <a:chExt cx="201947" cy="170259"/>
              </a:xfrm>
            </p:grpSpPr>
            <p:sp>
              <p:nvSpPr>
                <p:cNvPr id="44" name="Freeform 44"/>
                <p:cNvSpPr/>
                <p:nvPr/>
              </p:nvSpPr>
              <p:spPr>
                <a:xfrm>
                  <a:off x="6698456" y="4542234"/>
                  <a:ext cx="185737" cy="1547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5737" h="154780">
                      <a:moveTo>
                        <a:pt x="185737" y="15478"/>
                      </a:moveTo>
                      <a:lnTo>
                        <a:pt x="185737" y="154780"/>
                      </a:lnTo>
                      <a:lnTo>
                        <a:pt x="0" y="154780"/>
                      </a:lnTo>
                      <a:lnTo>
                        <a:pt x="0" y="0"/>
                      </a:lnTo>
                      <a:lnTo>
                        <a:pt x="170259" y="0"/>
                      </a:lnTo>
                      <a:cubicBezTo>
                        <a:pt x="178807" y="0"/>
                        <a:pt x="185737" y="6930"/>
                        <a:pt x="185737" y="15478"/>
                      </a:cubicBezTo>
                      <a:close/>
                    </a:path>
                  </a:pathLst>
                </a:custGeom>
                <a:solidFill>
                  <a:schemeClr val="accent2">
                    <a:alpha val="20000"/>
                  </a:schemeClr>
                </a:solidFill>
                <a:ln>
                  <a:noFill/>
                </a:ln>
              </p:spPr>
            </p:sp>
            <p:sp>
              <p:nvSpPr>
                <p:cNvPr id="45" name="Freeform 45"/>
                <p:cNvSpPr/>
                <p:nvPr/>
              </p:nvSpPr>
              <p:spPr>
                <a:xfrm>
                  <a:off x="6690717" y="4534495"/>
                  <a:ext cx="201947" cy="1702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947" h="170259">
                      <a:moveTo>
                        <a:pt x="201215" y="162520"/>
                      </a:moveTo>
                      <a:cubicBezTo>
                        <a:pt x="201215" y="166794"/>
                        <a:pt x="197750" y="170259"/>
                        <a:pt x="193476" y="170259"/>
                      </a:cubicBezTo>
                      <a:lnTo>
                        <a:pt x="7739" y="170259"/>
                      </a:lnTo>
                      <a:cubicBezTo>
                        <a:pt x="3465" y="170259"/>
                        <a:pt x="0" y="166794"/>
                        <a:pt x="0" y="162520"/>
                      </a:cubicBezTo>
                      <a:lnTo>
                        <a:pt x="0" y="7739"/>
                      </a:lnTo>
                      <a:cubicBezTo>
                        <a:pt x="0" y="3465"/>
                        <a:pt x="3465" y="0"/>
                        <a:pt x="7739" y="0"/>
                      </a:cubicBezTo>
                      <a:cubicBezTo>
                        <a:pt x="12013" y="0"/>
                        <a:pt x="15478" y="3465"/>
                        <a:pt x="15478" y="7739"/>
                      </a:cubicBezTo>
                      <a:lnTo>
                        <a:pt x="15478" y="99030"/>
                      </a:lnTo>
                      <a:lnTo>
                        <a:pt x="64553" y="56108"/>
                      </a:lnTo>
                      <a:cubicBezTo>
                        <a:pt x="67305" y="53699"/>
                        <a:pt x="71369" y="53545"/>
                        <a:pt x="74295" y="55740"/>
                      </a:cubicBezTo>
                      <a:lnTo>
                        <a:pt x="131186" y="98411"/>
                      </a:lnTo>
                      <a:lnTo>
                        <a:pt x="188378" y="48369"/>
                      </a:lnTo>
                      <a:cubicBezTo>
                        <a:pt x="190421" y="46346"/>
                        <a:pt x="193417" y="45623"/>
                        <a:pt x="196158" y="46491"/>
                      </a:cubicBezTo>
                      <a:cubicBezTo>
                        <a:pt x="198899" y="47359"/>
                        <a:pt x="200933" y="49674"/>
                        <a:pt x="201440" y="52504"/>
                      </a:cubicBezTo>
                      <a:cubicBezTo>
                        <a:pt x="201947" y="55334"/>
                        <a:pt x="200843" y="58212"/>
                        <a:pt x="198574" y="59977"/>
                      </a:cubicBezTo>
                      <a:lnTo>
                        <a:pt x="136661" y="114151"/>
                      </a:lnTo>
                      <a:cubicBezTo>
                        <a:pt x="133909" y="116560"/>
                        <a:pt x="129846" y="116713"/>
                        <a:pt x="126920" y="114518"/>
                      </a:cubicBezTo>
                      <a:lnTo>
                        <a:pt x="70028" y="71867"/>
                      </a:lnTo>
                      <a:lnTo>
                        <a:pt x="15478" y="119597"/>
                      </a:lnTo>
                      <a:lnTo>
                        <a:pt x="15478" y="154780"/>
                      </a:lnTo>
                      <a:lnTo>
                        <a:pt x="193476" y="154780"/>
                      </a:lnTo>
                      <a:cubicBezTo>
                        <a:pt x="197750" y="154780"/>
                        <a:pt x="201215" y="158245"/>
                        <a:pt x="201215" y="16252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</p:sp>
          </p:grpSp>
          <p:sp>
            <p:nvSpPr>
              <p:cNvPr id="47" name="TextBox 47"/>
              <p:cNvSpPr txBox="1"/>
              <p:nvPr/>
            </p:nvSpPr>
            <p:spPr>
              <a:xfrm>
                <a:off x="7042023" y="4514850"/>
                <a:ext cx="1617148" cy="2503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" sz="1280" b="1" dirty="0">
                    <a:solidFill>
                      <a:schemeClr val="dk1"/>
                    </a:solidFill>
                    <a:latin typeface="Inter"/>
                    <a:ea typeface="Inter"/>
                    <a:cs typeface="Inter"/>
                  </a:rPr>
                  <a:t>Detergents_Paper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7567784" y="4527550"/>
                <a:ext cx="1486681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vi" sz="1120" dirty="0">
                    <a:solidFill>
                      <a:schemeClr val="accent5"/>
                    </a:solidFill>
                    <a:latin typeface="Inter"/>
                    <a:ea typeface="Inter"/>
                    <a:cs typeface="Inter"/>
                  </a:rPr>
                  <a:t>Chất tẩy rửa và giấy</a:t>
                </a:r>
              </a:p>
            </p:txBody>
          </p:sp>
          <p:sp>
            <p:nvSpPr>
              <p:cNvPr id="49" name="Rectangle 49"/>
              <p:cNvSpPr/>
              <p:nvPr/>
            </p:nvSpPr>
            <p:spPr>
              <a:xfrm>
                <a:off x="6572250" y="4953000"/>
                <a:ext cx="4762500" cy="476250"/>
              </a:xfrm>
              <a:prstGeom prst="roundRect">
                <a:avLst>
                  <a:gd name="adj" fmla="val 16000"/>
                </a:avLst>
              </a:prstGeom>
              <a:solidFill>
                <a:schemeClr val="lt1"/>
              </a:solidFill>
              <a:ln>
                <a:noFill/>
              </a:ln>
            </p:spPr>
          </p:sp>
          <p:grpSp>
            <p:nvGrpSpPr>
              <p:cNvPr id="52" name="Group 52"/>
              <p:cNvGrpSpPr/>
              <p:nvPr/>
            </p:nvGrpSpPr>
            <p:grpSpPr>
              <a:xfrm>
                <a:off x="6690717" y="5105995"/>
                <a:ext cx="201947" cy="170259"/>
                <a:chOff x="6690717" y="5105995"/>
                <a:chExt cx="201947" cy="170259"/>
              </a:xfrm>
            </p:grpSpPr>
            <p:sp>
              <p:nvSpPr>
                <p:cNvPr id="50" name="Freeform 50"/>
                <p:cNvSpPr/>
                <p:nvPr/>
              </p:nvSpPr>
              <p:spPr>
                <a:xfrm>
                  <a:off x="6698456" y="5113734"/>
                  <a:ext cx="185737" cy="1547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5737" h="154780">
                      <a:moveTo>
                        <a:pt x="185737" y="15478"/>
                      </a:moveTo>
                      <a:lnTo>
                        <a:pt x="185737" y="154780"/>
                      </a:lnTo>
                      <a:lnTo>
                        <a:pt x="0" y="154780"/>
                      </a:lnTo>
                      <a:lnTo>
                        <a:pt x="0" y="0"/>
                      </a:lnTo>
                      <a:lnTo>
                        <a:pt x="170259" y="0"/>
                      </a:lnTo>
                      <a:cubicBezTo>
                        <a:pt x="178807" y="0"/>
                        <a:pt x="185737" y="6930"/>
                        <a:pt x="185737" y="15478"/>
                      </a:cubicBezTo>
                      <a:close/>
                    </a:path>
                  </a:pathLst>
                </a:custGeom>
                <a:solidFill>
                  <a:schemeClr val="accent2">
                    <a:alpha val="20000"/>
                  </a:schemeClr>
                </a:solidFill>
                <a:ln>
                  <a:noFill/>
                </a:ln>
              </p:spPr>
            </p:sp>
            <p:sp>
              <p:nvSpPr>
                <p:cNvPr id="51" name="Freeform 51"/>
                <p:cNvSpPr/>
                <p:nvPr/>
              </p:nvSpPr>
              <p:spPr>
                <a:xfrm>
                  <a:off x="6690717" y="5105995"/>
                  <a:ext cx="201947" cy="1702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947" h="170259">
                      <a:moveTo>
                        <a:pt x="201215" y="162520"/>
                      </a:moveTo>
                      <a:cubicBezTo>
                        <a:pt x="201215" y="166794"/>
                        <a:pt x="197750" y="170259"/>
                        <a:pt x="193476" y="170259"/>
                      </a:cubicBezTo>
                      <a:lnTo>
                        <a:pt x="7739" y="170259"/>
                      </a:lnTo>
                      <a:cubicBezTo>
                        <a:pt x="3465" y="170259"/>
                        <a:pt x="0" y="166794"/>
                        <a:pt x="0" y="162520"/>
                      </a:cubicBezTo>
                      <a:lnTo>
                        <a:pt x="0" y="7739"/>
                      </a:lnTo>
                      <a:cubicBezTo>
                        <a:pt x="0" y="3465"/>
                        <a:pt x="3465" y="0"/>
                        <a:pt x="7739" y="0"/>
                      </a:cubicBezTo>
                      <a:cubicBezTo>
                        <a:pt x="12013" y="0"/>
                        <a:pt x="15478" y="3465"/>
                        <a:pt x="15478" y="7739"/>
                      </a:cubicBezTo>
                      <a:lnTo>
                        <a:pt x="15478" y="99030"/>
                      </a:lnTo>
                      <a:lnTo>
                        <a:pt x="64553" y="56108"/>
                      </a:lnTo>
                      <a:cubicBezTo>
                        <a:pt x="67305" y="53699"/>
                        <a:pt x="71369" y="53545"/>
                        <a:pt x="74295" y="55740"/>
                      </a:cubicBezTo>
                      <a:lnTo>
                        <a:pt x="131186" y="98411"/>
                      </a:lnTo>
                      <a:lnTo>
                        <a:pt x="188378" y="48369"/>
                      </a:lnTo>
                      <a:cubicBezTo>
                        <a:pt x="190421" y="46346"/>
                        <a:pt x="193417" y="45623"/>
                        <a:pt x="196158" y="46491"/>
                      </a:cubicBezTo>
                      <a:cubicBezTo>
                        <a:pt x="198899" y="47359"/>
                        <a:pt x="200933" y="49674"/>
                        <a:pt x="201440" y="52504"/>
                      </a:cubicBezTo>
                      <a:cubicBezTo>
                        <a:pt x="201947" y="55334"/>
                        <a:pt x="200843" y="58212"/>
                        <a:pt x="198574" y="59977"/>
                      </a:cubicBezTo>
                      <a:lnTo>
                        <a:pt x="136661" y="114151"/>
                      </a:lnTo>
                      <a:cubicBezTo>
                        <a:pt x="133909" y="116560"/>
                        <a:pt x="129846" y="116713"/>
                        <a:pt x="126920" y="114518"/>
                      </a:cubicBezTo>
                      <a:lnTo>
                        <a:pt x="70028" y="71867"/>
                      </a:lnTo>
                      <a:lnTo>
                        <a:pt x="15478" y="119597"/>
                      </a:lnTo>
                      <a:lnTo>
                        <a:pt x="15478" y="154780"/>
                      </a:lnTo>
                      <a:lnTo>
                        <a:pt x="193476" y="154780"/>
                      </a:lnTo>
                      <a:cubicBezTo>
                        <a:pt x="197750" y="154780"/>
                        <a:pt x="201215" y="158245"/>
                        <a:pt x="201215" y="16252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</p:sp>
          </p:grpSp>
          <p:sp>
            <p:nvSpPr>
              <p:cNvPr id="53" name="TextBox 53"/>
              <p:cNvSpPr txBox="1"/>
              <p:nvPr/>
            </p:nvSpPr>
            <p:spPr>
              <a:xfrm>
                <a:off x="7042023" y="5086350"/>
                <a:ext cx="922721" cy="2503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" sz="1280" b="1" dirty="0">
                    <a:solidFill>
                      <a:schemeClr val="dk1"/>
                    </a:solidFill>
                    <a:latin typeface="Inter"/>
                    <a:ea typeface="Inter"/>
                    <a:cs typeface="Inter"/>
                  </a:rPr>
                  <a:t>Delicassen</a:t>
                </a: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7786548" y="5099050"/>
                <a:ext cx="1267917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vi" sz="1120" dirty="0">
                    <a:solidFill>
                      <a:schemeClr val="accent5"/>
                    </a:solidFill>
                    <a:latin typeface="Inter"/>
                    <a:ea typeface="Inter"/>
                    <a:cs typeface="Inter"/>
                  </a:rPr>
                  <a:t>Thực phẩm ăn liền</a:t>
                </a:r>
              </a:p>
            </p:txBody>
          </p:sp>
        </p:grpSp>
        <p:sp>
          <p:nvSpPr>
            <p:cNvPr id="56" name="TextBox 56"/>
            <p:cNvSpPr txBox="1"/>
            <p:nvPr/>
          </p:nvSpPr>
          <p:spPr>
            <a:xfrm>
              <a:off x="6566535" y="5622925"/>
              <a:ext cx="37048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1120" i="1" dirty="0">
                  <a:solidFill>
                    <a:srgbClr val="9CA3AF"/>
                  </a:solidFill>
                  <a:latin typeface="Inter"/>
                  <a:ea typeface="Inter"/>
                  <a:cs typeface="Inter"/>
                </a:rPr>
                <a:t>Channel &amp; Region: Chỉ dùng profiling SAU clustering</a:t>
              </a:r>
            </a:p>
          </p:txBody>
        </p:sp>
      </p:grpSp>
      <p:grpSp>
        <p:nvGrpSpPr>
          <p:cNvPr id="62" name="note"/>
          <p:cNvGrpSpPr/>
          <p:nvPr/>
        </p:nvGrpSpPr>
        <p:grpSpPr>
          <a:xfrm>
            <a:off x="571500" y="4476750"/>
            <a:ext cx="5334000" cy="1143000"/>
            <a:chOff x="571500" y="4476750"/>
            <a:chExt cx="5334000" cy="1143000"/>
          </a:xfrm>
        </p:grpSpPr>
        <p:sp>
          <p:nvSpPr>
            <p:cNvPr id="58" name="Rectangle 58"/>
            <p:cNvSpPr/>
            <p:nvPr/>
          </p:nvSpPr>
          <p:spPr>
            <a:xfrm>
              <a:off x="571500" y="4476750"/>
              <a:ext cx="5334000" cy="1143000"/>
            </a:xfrm>
            <a:prstGeom prst="roundRect">
              <a:avLst>
                <a:gd name="adj" fmla="val 10000"/>
              </a:avLst>
            </a:prstGeom>
            <a:solidFill>
              <a:srgbClr val="FEF2F2"/>
            </a:solidFill>
            <a:ln w="19050">
              <a:solidFill>
                <a:srgbClr val="EF4444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850773" y="4705350"/>
              <a:ext cx="2430622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1280" b="1" dirty="0">
                  <a:solidFill>
                    <a:srgbClr val="991B1B"/>
                  </a:solidFill>
                  <a:latin typeface="Inter"/>
                  <a:ea typeface="Inter"/>
                  <a:cs typeface="Inter"/>
                </a:rPr>
                <a:t>Không dùng để fit K-Means: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51154" y="4991100"/>
              <a:ext cx="21383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rgbClr val="7F1D1D"/>
                </a:buClr>
                <a:buSzTx/>
                <a:buFontTx/>
                <a:buChar char="•"/>
              </a:pPr>
              <a:r>
                <a:rPr lang="vi" sz="1200" dirty="0">
                  <a:solidFill>
                    <a:srgbClr val="7F1D1D"/>
                  </a:solidFill>
                  <a:latin typeface="Inter"/>
                  <a:ea typeface="Inter"/>
                  <a:cs typeface="Inter"/>
                </a:rPr>
                <a:t>Channel (Horeca / Retail)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851154" y="5229225"/>
              <a:ext cx="27926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rgbClr val="7F1D1D"/>
                </a:buClr>
                <a:buSzTx/>
                <a:buFontTx/>
                <a:buChar char="•"/>
              </a:pPr>
              <a:r>
                <a:rPr lang="vi" sz="1200" dirty="0">
                  <a:solidFill>
                    <a:srgbClr val="7F1D1D"/>
                  </a:solidFill>
                  <a:latin typeface="Inter"/>
                  <a:ea typeface="Inter"/>
                  <a:cs typeface="Inter"/>
                </a:rPr>
                <a:t>Region (Lisbon / Oporto / Other)</a:t>
              </a:r>
            </a:p>
          </p:txBody>
        </p:sp>
      </p:grpSp>
      <p:grpSp>
        <p:nvGrpSpPr>
          <p:cNvPr id="65" name="footer"/>
          <p:cNvGrpSpPr/>
          <p:nvPr/>
        </p:nvGrpSpPr>
        <p:grpSpPr>
          <a:xfrm>
            <a:off x="566166" y="6540500"/>
            <a:ext cx="11059668" cy="205359"/>
            <a:chOff x="566166" y="6540500"/>
            <a:chExt cx="11059668" cy="205359"/>
          </a:xfrm>
        </p:grpSpPr>
        <p:sp>
          <p:nvSpPr>
            <p:cNvPr id="63" name="TextBox 63"/>
            <p:cNvSpPr txBox="1"/>
            <p:nvPr/>
          </p:nvSpPr>
          <p:spPr>
            <a:xfrm>
              <a:off x="566166" y="6540500"/>
              <a:ext cx="309716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1050" dirty="0">
                  <a:solidFill>
                    <a:srgbClr val="9CA3AF"/>
                  </a:solidFill>
                  <a:latin typeface="Inter"/>
                  <a:ea typeface="Inter"/>
                  <a:cs typeface="Inter"/>
                </a:rPr>
                <a:t>Project 22: K-Means Customer Segmentation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1219383" y="6540500"/>
              <a:ext cx="4064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vi" sz="1050" dirty="0">
                  <a:solidFill>
                    <a:srgbClr val="9CA3AF"/>
                  </a:solidFill>
                  <a:latin typeface="Inter"/>
                  <a:ea typeface="Inter"/>
                  <a:cs typeface="Inter"/>
                </a:rPr>
                <a:t>3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8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er"/>
          <p:cNvGrpSpPr/>
          <p:nvPr/>
        </p:nvGrpSpPr>
        <p:grpSpPr>
          <a:xfrm>
            <a:off x="555498" y="476250"/>
            <a:ext cx="10249781" cy="616077"/>
            <a:chOff x="555498" y="476250"/>
            <a:chExt cx="10249781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555498" y="476250"/>
              <a:ext cx="10249781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3150" b="1" dirty="0">
                  <a:solidFill>
                    <a:schemeClr val="dk1"/>
                  </a:solidFill>
                  <a:latin typeface="Inter"/>
                  <a:ea typeface="Inter"/>
                  <a:cs typeface="Inter"/>
                </a:rPr>
                <a:t>Pipeline Machine Learning &amp; Tránh Data Leakage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571500" y="1000125"/>
              <a:ext cx="11430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1" name="critical-rule"/>
          <p:cNvGrpSpPr/>
          <p:nvPr/>
        </p:nvGrpSpPr>
        <p:grpSpPr>
          <a:xfrm>
            <a:off x="571500" y="1524000"/>
            <a:ext cx="11049000" cy="857250"/>
            <a:chOff x="571500" y="1524000"/>
            <a:chExt cx="11049000" cy="857250"/>
          </a:xfrm>
        </p:grpSpPr>
        <p:sp>
          <p:nvSpPr>
            <p:cNvPr id="5" name="Rectangle 5"/>
            <p:cNvSpPr/>
            <p:nvPr/>
          </p:nvSpPr>
          <p:spPr>
            <a:xfrm>
              <a:off x="571500" y="1524000"/>
              <a:ext cx="11049000" cy="857250"/>
            </a:xfrm>
            <a:prstGeom prst="roundRect">
              <a:avLst>
                <a:gd name="adj" fmla="val 13333"/>
              </a:avLst>
            </a:prstGeom>
            <a:solidFill>
              <a:srgbClr val="DCFCE7"/>
            </a:solidFill>
            <a:ln w="28575">
              <a:solidFill>
                <a:schemeClr val="accent2"/>
              </a:solidFill>
            </a:ln>
          </p:spPr>
        </p:sp>
        <p:grpSp>
          <p:nvGrpSpPr>
            <p:cNvPr id="8" name="Group 8"/>
            <p:cNvGrpSpPr/>
            <p:nvPr/>
          </p:nvGrpSpPr>
          <p:grpSpPr>
            <a:xfrm>
              <a:off x="784204" y="1797843"/>
              <a:ext cx="336583" cy="297793"/>
              <a:chOff x="784204" y="1797843"/>
              <a:chExt cx="336583" cy="297793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791766" y="1805613"/>
                <a:ext cx="321469" cy="277981"/>
              </a:xfrm>
              <a:custGeom>
                <a:avLst/>
                <a:gdLst/>
                <a:ahLst/>
                <a:cxnLst/>
                <a:rect l="l" t="t" r="r" b="b"/>
                <a:pathLst>
                  <a:path w="321469" h="277981">
                    <a:moveTo>
                      <a:pt x="290899" y="277981"/>
                    </a:moveTo>
                    <a:lnTo>
                      <a:pt x="30569" y="277981"/>
                    </a:lnTo>
                    <a:cubicBezTo>
                      <a:pt x="11787" y="277981"/>
                      <a:pt x="0" y="258321"/>
                      <a:pt x="9123" y="242396"/>
                    </a:cubicBezTo>
                    <a:lnTo>
                      <a:pt x="139288" y="16371"/>
                    </a:lnTo>
                    <a:cubicBezTo>
                      <a:pt x="148664" y="0"/>
                      <a:pt x="172804" y="0"/>
                      <a:pt x="182181" y="16371"/>
                    </a:cubicBezTo>
                    <a:lnTo>
                      <a:pt x="312346" y="242396"/>
                    </a:lnTo>
                    <a:cubicBezTo>
                      <a:pt x="321469" y="258321"/>
                      <a:pt x="309682" y="277981"/>
                      <a:pt x="290899" y="277981"/>
                    </a:cubicBezTo>
                    <a:close/>
                  </a:path>
                </a:pathLst>
              </a:custGeom>
              <a:solidFill>
                <a:srgbClr val="059669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784204" y="1797843"/>
                <a:ext cx="336583" cy="297793"/>
              </a:xfrm>
              <a:custGeom>
                <a:avLst/>
                <a:gdLst/>
                <a:ahLst/>
                <a:cxnLst/>
                <a:rect l="l" t="t" r="r" b="b"/>
                <a:pathLst>
                  <a:path w="336583" h="297793">
                    <a:moveTo>
                      <a:pt x="330221" y="244213"/>
                    </a:moveTo>
                    <a:lnTo>
                      <a:pt x="200071" y="18188"/>
                    </a:lnTo>
                    <a:lnTo>
                      <a:pt x="200071" y="18188"/>
                    </a:lnTo>
                    <a:cubicBezTo>
                      <a:pt x="193453" y="6920"/>
                      <a:pt x="181363" y="0"/>
                      <a:pt x="168296" y="0"/>
                    </a:cubicBezTo>
                    <a:cubicBezTo>
                      <a:pt x="155229" y="0"/>
                      <a:pt x="143139" y="6920"/>
                      <a:pt x="136521" y="18188"/>
                    </a:cubicBezTo>
                    <a:lnTo>
                      <a:pt x="6371" y="244213"/>
                    </a:lnTo>
                    <a:cubicBezTo>
                      <a:pt x="0" y="255118"/>
                      <a:pt x="0" y="268610"/>
                      <a:pt x="6371" y="279515"/>
                    </a:cubicBezTo>
                    <a:cubicBezTo>
                      <a:pt x="12908" y="290858"/>
                      <a:pt x="25055" y="297793"/>
                      <a:pt x="38146" y="297657"/>
                    </a:cubicBezTo>
                    <a:lnTo>
                      <a:pt x="298446" y="297657"/>
                    </a:lnTo>
                    <a:cubicBezTo>
                      <a:pt x="311527" y="297782"/>
                      <a:pt x="323660" y="290849"/>
                      <a:pt x="330192" y="279515"/>
                    </a:cubicBezTo>
                    <a:cubicBezTo>
                      <a:pt x="336572" y="268616"/>
                      <a:pt x="336583" y="255123"/>
                      <a:pt x="330221" y="244213"/>
                    </a:cubicBezTo>
                    <a:close/>
                    <a:moveTo>
                      <a:pt x="309579" y="267594"/>
                    </a:moveTo>
                    <a:cubicBezTo>
                      <a:pt x="307269" y="271535"/>
                      <a:pt x="303014" y="273924"/>
                      <a:pt x="298446" y="273845"/>
                    </a:cubicBezTo>
                    <a:lnTo>
                      <a:pt x="38146" y="273845"/>
                    </a:lnTo>
                    <a:cubicBezTo>
                      <a:pt x="33579" y="273924"/>
                      <a:pt x="29324" y="271535"/>
                      <a:pt x="27014" y="267594"/>
                    </a:cubicBezTo>
                    <a:cubicBezTo>
                      <a:pt x="24921" y="264050"/>
                      <a:pt x="24921" y="259648"/>
                      <a:pt x="27014" y="256104"/>
                    </a:cubicBezTo>
                    <a:lnTo>
                      <a:pt x="157164" y="30079"/>
                    </a:lnTo>
                    <a:cubicBezTo>
                      <a:pt x="159518" y="26161"/>
                      <a:pt x="163755" y="23764"/>
                      <a:pt x="168326" y="23764"/>
                    </a:cubicBezTo>
                    <a:cubicBezTo>
                      <a:pt x="172897" y="23764"/>
                      <a:pt x="177134" y="26161"/>
                      <a:pt x="179488" y="30079"/>
                    </a:cubicBezTo>
                    <a:lnTo>
                      <a:pt x="309638" y="256104"/>
                    </a:lnTo>
                    <a:cubicBezTo>
                      <a:pt x="311713" y="259659"/>
                      <a:pt x="311690" y="264061"/>
                      <a:pt x="309579" y="267594"/>
                    </a:cubicBezTo>
                    <a:close/>
                    <a:moveTo>
                      <a:pt x="156390" y="178595"/>
                    </a:moveTo>
                    <a:lnTo>
                      <a:pt x="156390" y="119063"/>
                    </a:lnTo>
                    <a:cubicBezTo>
                      <a:pt x="156390" y="112488"/>
                      <a:pt x="161721" y="107157"/>
                      <a:pt x="168296" y="107157"/>
                    </a:cubicBezTo>
                    <a:cubicBezTo>
                      <a:pt x="174872" y="107157"/>
                      <a:pt x="180203" y="112488"/>
                      <a:pt x="180203" y="119063"/>
                    </a:cubicBezTo>
                    <a:lnTo>
                      <a:pt x="180203" y="178595"/>
                    </a:lnTo>
                    <a:cubicBezTo>
                      <a:pt x="180203" y="185170"/>
                      <a:pt x="174872" y="190501"/>
                      <a:pt x="168296" y="190501"/>
                    </a:cubicBezTo>
                    <a:cubicBezTo>
                      <a:pt x="161721" y="190501"/>
                      <a:pt x="156390" y="185170"/>
                      <a:pt x="156390" y="178595"/>
                    </a:cubicBezTo>
                    <a:close/>
                    <a:moveTo>
                      <a:pt x="186156" y="232173"/>
                    </a:moveTo>
                    <a:cubicBezTo>
                      <a:pt x="186156" y="242036"/>
                      <a:pt x="178160" y="250032"/>
                      <a:pt x="168296" y="250032"/>
                    </a:cubicBezTo>
                    <a:cubicBezTo>
                      <a:pt x="158433" y="250032"/>
                      <a:pt x="150437" y="242036"/>
                      <a:pt x="150437" y="232173"/>
                    </a:cubicBezTo>
                    <a:cubicBezTo>
                      <a:pt x="150437" y="222309"/>
                      <a:pt x="158433" y="214313"/>
                      <a:pt x="168296" y="214313"/>
                    </a:cubicBezTo>
                    <a:cubicBezTo>
                      <a:pt x="178160" y="214313"/>
                      <a:pt x="186156" y="222309"/>
                      <a:pt x="186156" y="232173"/>
                    </a:cubicBezTo>
                    <a:close/>
                  </a:path>
                </a:pathLst>
              </a:custGeom>
              <a:solidFill>
                <a:srgbClr val="059669"/>
              </a:solidFill>
              <a:ln>
                <a:noFill/>
              </a:ln>
            </p:spPr>
          </p:sp>
        </p:grpSp>
        <p:sp>
          <p:nvSpPr>
            <p:cNvPr id="9" name="TextBox 9"/>
            <p:cNvSpPr txBox="1"/>
            <p:nvPr/>
          </p:nvSpPr>
          <p:spPr>
            <a:xfrm>
              <a:off x="1325880" y="1727200"/>
              <a:ext cx="127799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1500" b="1" dirty="0">
                  <a:solidFill>
                    <a:srgbClr val="065F46"/>
                  </a:solidFill>
                  <a:latin typeface="Inter"/>
                  <a:ea typeface="Inter"/>
                  <a:cs typeface="Inter"/>
                </a:rPr>
                <a:t>Critical Rule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325118" y="1987550"/>
              <a:ext cx="724785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1650" dirty="0">
                  <a:solidFill>
                    <a:srgbClr val="064E3B"/>
                  </a:solidFill>
                  <a:latin typeface="Inter"/>
                  <a:ea typeface="Inter"/>
                  <a:cs typeface="Inter"/>
                </a:rPr>
                <a:t xml:space="preserve">Split train/validation/test </a:t>
              </a:r>
              <a:r>
                <a:rPr lang="vi" sz="1650" b="1" dirty="0">
                  <a:solidFill>
                    <a:srgbClr val="059669"/>
                  </a:solidFill>
                  <a:latin typeface="Inter"/>
                  <a:ea typeface="Inter"/>
                  <a:cs typeface="Inter"/>
                </a:rPr>
                <a:t>TRƯỚC</a:t>
              </a:r>
              <a:r>
                <a:rPr lang="vi" sz="1650" dirty="0">
                  <a:solidFill>
                    <a:srgbClr val="064E3B"/>
                  </a:solidFill>
                  <a:latin typeface="Inter"/>
                  <a:ea typeface="Inter"/>
                  <a:cs typeface="Inter"/>
                </a:rPr>
                <a:t xml:space="preserve"> mọi preprocessing học từ dữ liệu</a:t>
              </a:r>
            </a:p>
          </p:txBody>
        </p:sp>
      </p:grpSp>
      <p:grpSp>
        <p:nvGrpSpPr>
          <p:cNvPr id="46" name="pipeline-flow"/>
          <p:cNvGrpSpPr/>
          <p:nvPr/>
        </p:nvGrpSpPr>
        <p:grpSpPr>
          <a:xfrm>
            <a:off x="571500" y="2667000"/>
            <a:ext cx="11049000" cy="2095500"/>
            <a:chOff x="571500" y="2667000"/>
            <a:chExt cx="11049000" cy="2095500"/>
          </a:xfrm>
        </p:grpSpPr>
        <p:sp>
          <p:nvSpPr>
            <p:cNvPr id="12" name="Rectangle 12"/>
            <p:cNvSpPr/>
            <p:nvPr/>
          </p:nvSpPr>
          <p:spPr>
            <a:xfrm>
              <a:off x="571500" y="2667000"/>
              <a:ext cx="1524000" cy="762000"/>
            </a:xfrm>
            <a:prstGeom prst="roundRect">
              <a:avLst>
                <a:gd name="adj" fmla="val 10000"/>
              </a:avLst>
            </a:prstGeom>
            <a:solidFill>
              <a:schemeClr val="lt2"/>
            </a:solidFill>
            <a:ln w="19050">
              <a:solidFill>
                <a:schemeClr val="accent6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99778" y="2847975"/>
              <a:ext cx="10674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" sz="1200" b="1" dirty="0">
                  <a:solidFill>
                    <a:schemeClr val="dk1"/>
                  </a:solidFill>
                  <a:latin typeface="Inter"/>
                  <a:ea typeface="Inter"/>
                  <a:cs typeface="Inter"/>
                </a:rPr>
                <a:t>Raw UCI Data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26370" y="3111500"/>
              <a:ext cx="101426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" sz="1050" dirty="0">
                  <a:solidFill>
                    <a:schemeClr val="accent5"/>
                  </a:solidFill>
                  <a:latin typeface="Inter"/>
                  <a:ea typeface="Inter"/>
                  <a:cs typeface="Inter"/>
                </a:rPr>
                <a:t>440 customers</a:t>
              </a:r>
            </a:p>
          </p:txBody>
        </p:sp>
        <p:sp>
          <p:nvSpPr>
            <p:cNvPr id="15" name="Freeform 15"/>
            <p:cNvSpPr/>
            <p:nvPr/>
          </p:nvSpPr>
          <p:spPr>
            <a:xfrm>
              <a:off x="2095500" y="3048000"/>
              <a:ext cx="285750" cy="9525"/>
            </a:xfrm>
            <a:custGeom>
              <a:avLst/>
              <a:gdLst/>
              <a:ahLst/>
              <a:cxnLst/>
              <a:rect l="l" t="t" r="r" b="b"/>
              <a:pathLst>
                <a:path w="285750" h="9525">
                  <a:moveTo>
                    <a:pt x="0" y="0"/>
                  </a:moveTo>
                  <a:lnTo>
                    <a:pt x="285750" y="0"/>
                  </a:lnTo>
                </a:path>
              </a:pathLst>
            </a:custGeom>
            <a:solidFill>
              <a:srgbClr val="000000"/>
            </a:solidFill>
            <a:ln w="28575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16" name="Rectangle 16"/>
            <p:cNvSpPr/>
            <p:nvPr/>
          </p:nvSpPr>
          <p:spPr>
            <a:xfrm>
              <a:off x="2381250" y="2667000"/>
              <a:ext cx="1714500" cy="762000"/>
            </a:xfrm>
            <a:prstGeom prst="roundRect">
              <a:avLst>
                <a:gd name="adj" fmla="val 10000"/>
              </a:avLst>
            </a:prstGeom>
            <a:solidFill>
              <a:srgbClr val="DBEAFE"/>
            </a:solidFill>
            <a:ln w="38100">
              <a:solidFill>
                <a:schemeClr val="accent1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979610" y="2787650"/>
              <a:ext cx="51777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" sz="1350" b="1" dirty="0">
                  <a:solidFill>
                    <a:srgbClr val="1E40AF"/>
                  </a:solidFill>
                  <a:latin typeface="Inter"/>
                  <a:ea typeface="Inter"/>
                  <a:cs typeface="Inter"/>
                </a:rPr>
                <a:t>SPLIT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639492" y="3063875"/>
              <a:ext cx="11980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" sz="1050" dirty="0">
                  <a:solidFill>
                    <a:srgbClr val="1E3A8A"/>
                  </a:solidFill>
                  <a:latin typeface="Inter"/>
                  <a:ea typeface="Inter"/>
                  <a:cs typeface="Inter"/>
                </a:rPr>
                <a:t>264 train / 88 val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625357" y="3254375"/>
              <a:ext cx="122628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" sz="1050" dirty="0">
                  <a:solidFill>
                    <a:srgbClr val="1E3A8A"/>
                  </a:solidFill>
                  <a:latin typeface="Inter"/>
                  <a:ea typeface="Inter"/>
                  <a:cs typeface="Inter"/>
                </a:rPr>
                <a:t>88 test (seed 42)</a:t>
              </a:r>
            </a:p>
          </p:txBody>
        </p:sp>
        <p:sp>
          <p:nvSpPr>
            <p:cNvPr id="20" name="Freeform 20"/>
            <p:cNvSpPr/>
            <p:nvPr/>
          </p:nvSpPr>
          <p:spPr>
            <a:xfrm>
              <a:off x="4095750" y="3048000"/>
              <a:ext cx="285750" cy="9525"/>
            </a:xfrm>
            <a:custGeom>
              <a:avLst/>
              <a:gdLst/>
              <a:ahLst/>
              <a:cxnLst/>
              <a:rect l="l" t="t" r="r" b="b"/>
              <a:pathLst>
                <a:path w="285750" h="9525">
                  <a:moveTo>
                    <a:pt x="0" y="0"/>
                  </a:moveTo>
                  <a:lnTo>
                    <a:pt x="285750" y="0"/>
                  </a:lnTo>
                </a:path>
              </a:pathLst>
            </a:custGeom>
            <a:solidFill>
              <a:srgbClr val="000000"/>
            </a:solidFill>
            <a:ln w="28575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21" name="Rectangle 21"/>
            <p:cNvSpPr/>
            <p:nvPr/>
          </p:nvSpPr>
          <p:spPr>
            <a:xfrm>
              <a:off x="4381500" y="2667000"/>
              <a:ext cx="1905000" cy="762000"/>
            </a:xfrm>
            <a:prstGeom prst="roundRect">
              <a:avLst>
                <a:gd name="adj" fmla="val 10000"/>
              </a:avLst>
            </a:prstGeom>
            <a:solidFill>
              <a:schemeClr val="lt2"/>
            </a:solidFill>
            <a:ln w="19050">
              <a:solidFill>
                <a:schemeClr val="accent6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4593372" y="2800350"/>
              <a:ext cx="14812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" sz="1200" b="1" dirty="0">
                  <a:solidFill>
                    <a:schemeClr val="dk1"/>
                  </a:solidFill>
                  <a:latin typeface="Inter"/>
                  <a:ea typeface="Inter"/>
                  <a:cs typeface="Inter"/>
                </a:rPr>
                <a:t>Fit Preprocessing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539234" y="3063875"/>
              <a:ext cx="158953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" sz="1050" dirty="0">
                  <a:solidFill>
                    <a:schemeClr val="accent5"/>
                  </a:solidFill>
                  <a:latin typeface="Inter"/>
                  <a:ea typeface="Inter"/>
                  <a:cs typeface="Inter"/>
                </a:rPr>
                <a:t>log1p + StandardScaler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837617" y="3267075"/>
              <a:ext cx="99276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" sz="980" dirty="0">
                  <a:solidFill>
                    <a:schemeClr val="accent2"/>
                  </a:solidFill>
                  <a:latin typeface="Inter"/>
                  <a:ea typeface="Inter"/>
                  <a:cs typeface="Inter"/>
                </a:rPr>
                <a:t>on train only ✓</a:t>
              </a:r>
            </a:p>
          </p:txBody>
        </p:sp>
        <p:sp>
          <p:nvSpPr>
            <p:cNvPr id="25" name="Freeform 25"/>
            <p:cNvSpPr/>
            <p:nvPr/>
          </p:nvSpPr>
          <p:spPr>
            <a:xfrm>
              <a:off x="6286500" y="3048000"/>
              <a:ext cx="285750" cy="9525"/>
            </a:xfrm>
            <a:custGeom>
              <a:avLst/>
              <a:gdLst/>
              <a:ahLst/>
              <a:cxnLst/>
              <a:rect l="l" t="t" r="r" b="b"/>
              <a:pathLst>
                <a:path w="285750" h="9525">
                  <a:moveTo>
                    <a:pt x="0" y="0"/>
                  </a:moveTo>
                  <a:lnTo>
                    <a:pt x="285750" y="0"/>
                  </a:lnTo>
                </a:path>
              </a:pathLst>
            </a:custGeom>
            <a:solidFill>
              <a:srgbClr val="000000"/>
            </a:solidFill>
            <a:ln w="28575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572250" y="2667000"/>
              <a:ext cx="1714500" cy="762000"/>
            </a:xfrm>
            <a:prstGeom prst="roundRect">
              <a:avLst>
                <a:gd name="adj" fmla="val 10000"/>
              </a:avLst>
            </a:prstGeom>
            <a:solidFill>
              <a:schemeClr val="lt2"/>
            </a:solidFill>
            <a:ln w="19050">
              <a:solidFill>
                <a:schemeClr val="accent6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073440" y="2800350"/>
              <a:ext cx="7121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" sz="1200" b="1" dirty="0">
                  <a:solidFill>
                    <a:schemeClr val="dk1"/>
                  </a:solidFill>
                  <a:latin typeface="Inter"/>
                  <a:ea typeface="Inter"/>
                  <a:cs typeface="Inter"/>
                </a:rPr>
                <a:t>K-Means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026143" y="3063875"/>
              <a:ext cx="80671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" sz="1050" dirty="0">
                  <a:solidFill>
                    <a:schemeClr val="accent5"/>
                  </a:solidFill>
                  <a:latin typeface="Inter"/>
                  <a:ea typeface="Inter"/>
                  <a:cs typeface="Inter"/>
                </a:rPr>
                <a:t>Fit on train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712984" y="3254375"/>
              <a:ext cx="143303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" sz="1050" dirty="0">
                  <a:solidFill>
                    <a:schemeClr val="accent5"/>
                  </a:solidFill>
                  <a:latin typeface="Inter"/>
                  <a:ea typeface="Inter"/>
                  <a:cs typeface="Inter"/>
                </a:rPr>
                <a:t>K=2..8, seed 42..51</a:t>
              </a:r>
            </a:p>
          </p:txBody>
        </p:sp>
        <p:sp>
          <p:nvSpPr>
            <p:cNvPr id="30" name="Freeform 30"/>
            <p:cNvSpPr/>
            <p:nvPr/>
          </p:nvSpPr>
          <p:spPr>
            <a:xfrm>
              <a:off x="8286750" y="3048000"/>
              <a:ext cx="285750" cy="9525"/>
            </a:xfrm>
            <a:custGeom>
              <a:avLst/>
              <a:gdLst/>
              <a:ahLst/>
              <a:cxnLst/>
              <a:rect l="l" t="t" r="r" b="b"/>
              <a:pathLst>
                <a:path w="285750" h="9525">
                  <a:moveTo>
                    <a:pt x="0" y="0"/>
                  </a:moveTo>
                  <a:lnTo>
                    <a:pt x="285750" y="0"/>
                  </a:lnTo>
                </a:path>
              </a:pathLst>
            </a:custGeom>
            <a:solidFill>
              <a:srgbClr val="000000"/>
            </a:solidFill>
            <a:ln w="28575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31" name="Rectangle 31"/>
            <p:cNvSpPr/>
            <p:nvPr/>
          </p:nvSpPr>
          <p:spPr>
            <a:xfrm>
              <a:off x="8572500" y="2667000"/>
              <a:ext cx="1524000" cy="762000"/>
            </a:xfrm>
            <a:prstGeom prst="roundRect">
              <a:avLst>
                <a:gd name="adj" fmla="val 10000"/>
              </a:avLst>
            </a:prstGeom>
            <a:solidFill>
              <a:schemeClr val="lt2"/>
            </a:solidFill>
            <a:ln w="19050">
              <a:solidFill>
                <a:schemeClr val="accent6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923273" y="2800350"/>
              <a:ext cx="82245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" sz="1200" b="1" dirty="0">
                  <a:solidFill>
                    <a:schemeClr val="dk1"/>
                  </a:solidFill>
                  <a:latin typeface="Inter"/>
                  <a:ea typeface="Inter"/>
                  <a:cs typeface="Inter"/>
                </a:rPr>
                <a:t>Validation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031119" y="3063875"/>
              <a:ext cx="60676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" sz="1050" dirty="0">
                  <a:solidFill>
                    <a:schemeClr val="accent5"/>
                  </a:solidFill>
                  <a:latin typeface="Inter"/>
                  <a:ea typeface="Inter"/>
                  <a:cs typeface="Inter"/>
                </a:rPr>
                <a:t>Choose K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053532" y="3254375"/>
              <a:ext cx="56193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" sz="1050" dirty="0">
                  <a:solidFill>
                    <a:schemeClr val="accent5"/>
                  </a:solidFill>
                  <a:latin typeface="Inter"/>
                  <a:ea typeface="Inter"/>
                  <a:cs typeface="Inter"/>
                </a:rPr>
                <a:t>&amp; config</a:t>
              </a:r>
            </a:p>
          </p:txBody>
        </p:sp>
        <p:sp>
          <p:nvSpPr>
            <p:cNvPr id="35" name="Freeform 35"/>
            <p:cNvSpPr/>
            <p:nvPr/>
          </p:nvSpPr>
          <p:spPr>
            <a:xfrm>
              <a:off x="10096500" y="3048000"/>
              <a:ext cx="285750" cy="9525"/>
            </a:xfrm>
            <a:custGeom>
              <a:avLst/>
              <a:gdLst/>
              <a:ahLst/>
              <a:cxnLst/>
              <a:rect l="l" t="t" r="r" b="b"/>
              <a:pathLst>
                <a:path w="285750" h="9525">
                  <a:moveTo>
                    <a:pt x="0" y="0"/>
                  </a:moveTo>
                  <a:lnTo>
                    <a:pt x="285750" y="0"/>
                  </a:lnTo>
                </a:path>
              </a:pathLst>
            </a:custGeom>
            <a:solidFill>
              <a:srgbClr val="000000"/>
            </a:solidFill>
            <a:ln w="28575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36" name="Rectangle 36"/>
            <p:cNvSpPr/>
            <p:nvPr/>
          </p:nvSpPr>
          <p:spPr>
            <a:xfrm>
              <a:off x="10382250" y="2667000"/>
              <a:ext cx="1238250" cy="762000"/>
            </a:xfrm>
            <a:prstGeom prst="roundRect">
              <a:avLst>
                <a:gd name="adj" fmla="val 10000"/>
              </a:avLst>
            </a:prstGeom>
            <a:solidFill>
              <a:srgbClr val="FEF2F2"/>
            </a:solidFill>
            <a:ln w="28575">
              <a:solidFill>
                <a:srgbClr val="EF4444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0806055" y="2800350"/>
              <a:ext cx="39063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" sz="1200" b="1" dirty="0">
                  <a:solidFill>
                    <a:srgbClr val="991B1B"/>
                  </a:solidFill>
                  <a:latin typeface="Inter"/>
                  <a:ea typeface="Inter"/>
                  <a:cs typeface="Inter"/>
                </a:rPr>
                <a:t>Test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0816819" y="3063875"/>
              <a:ext cx="36911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" sz="1050" dirty="0">
                  <a:solidFill>
                    <a:srgbClr val="7F1D1D"/>
                  </a:solidFill>
                  <a:latin typeface="Inter"/>
                  <a:ea typeface="Inter"/>
                  <a:cs typeface="Inter"/>
                </a:rPr>
                <a:t>ONCE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608548" y="3267075"/>
              <a:ext cx="78565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" sz="980" dirty="0">
                  <a:solidFill>
                    <a:srgbClr val="7F1D1D"/>
                  </a:solidFill>
                  <a:latin typeface="Inter"/>
                  <a:ea typeface="Inter"/>
                  <a:cs typeface="Inter"/>
                </a:rPr>
                <a:t>Final report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571500" y="3810000"/>
              <a:ext cx="11049000" cy="952500"/>
            </a:xfrm>
            <a:prstGeom prst="roundRect">
              <a:avLst>
                <a:gd name="adj" fmla="val 12000"/>
              </a:avLst>
            </a:prstGeom>
            <a:solidFill>
              <a:srgbClr val="F0FDF4"/>
            </a:solidFill>
            <a:ln>
              <a:noFill/>
            </a:ln>
          </p:spPr>
        </p:sp>
        <p:grpSp>
          <p:nvGrpSpPr>
            <p:cNvPr id="43" name="Group 43"/>
            <p:cNvGrpSpPr/>
            <p:nvPr/>
          </p:nvGrpSpPr>
          <p:grpSpPr>
            <a:xfrm>
              <a:off x="794147" y="4080272"/>
              <a:ext cx="278606" cy="278606"/>
              <a:chOff x="794147" y="4080272"/>
              <a:chExt cx="278606" cy="278606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804862" y="4090988"/>
                <a:ext cx="257175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257175" h="257175">
                    <a:moveTo>
                      <a:pt x="257175" y="128588"/>
                    </a:moveTo>
                    <a:cubicBezTo>
                      <a:pt x="257175" y="199604"/>
                      <a:pt x="199604" y="257175"/>
                      <a:pt x="128588" y="257175"/>
                    </a:cubicBezTo>
                    <a:cubicBezTo>
                      <a:pt x="57571" y="257175"/>
                      <a:pt x="0" y="199604"/>
                      <a:pt x="0" y="128588"/>
                    </a:cubicBezTo>
                    <a:cubicBezTo>
                      <a:pt x="0" y="57571"/>
                      <a:pt x="57571" y="0"/>
                      <a:pt x="128588" y="0"/>
                    </a:cubicBezTo>
                    <a:cubicBezTo>
                      <a:pt x="199604" y="0"/>
                      <a:pt x="257175" y="57571"/>
                      <a:pt x="257175" y="128588"/>
                    </a:cubicBezTo>
                    <a:close/>
                  </a:path>
                </a:pathLst>
              </a:custGeom>
              <a:solidFill>
                <a:schemeClr val="accent2">
                  <a:alpha val="20000"/>
                </a:schemeClr>
              </a:solidFill>
              <a:ln>
                <a:noFill/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794147" y="4080272"/>
                <a:ext cx="278606" cy="278606"/>
              </a:xfrm>
              <a:custGeom>
                <a:avLst/>
                <a:gdLst/>
                <a:ahLst/>
                <a:cxnLst/>
                <a:rect l="l" t="t" r="r" b="b"/>
                <a:pathLst>
                  <a:path w="278606" h="278606">
                    <a:moveTo>
                      <a:pt x="200463" y="99575"/>
                    </a:moveTo>
                    <a:cubicBezTo>
                      <a:pt x="202475" y="101585"/>
                      <a:pt x="203605" y="104312"/>
                      <a:pt x="203605" y="107156"/>
                    </a:cubicBezTo>
                    <a:cubicBezTo>
                      <a:pt x="203605" y="110000"/>
                      <a:pt x="202475" y="112728"/>
                      <a:pt x="200463" y="114738"/>
                    </a:cubicBezTo>
                    <a:lnTo>
                      <a:pt x="125453" y="189747"/>
                    </a:lnTo>
                    <a:cubicBezTo>
                      <a:pt x="123443" y="191759"/>
                      <a:pt x="120716" y="192890"/>
                      <a:pt x="117872" y="192890"/>
                    </a:cubicBezTo>
                    <a:cubicBezTo>
                      <a:pt x="115028" y="192890"/>
                      <a:pt x="112300" y="191759"/>
                      <a:pt x="110291" y="189747"/>
                    </a:cubicBezTo>
                    <a:lnTo>
                      <a:pt x="78144" y="157600"/>
                    </a:lnTo>
                    <a:cubicBezTo>
                      <a:pt x="73957" y="153413"/>
                      <a:pt x="73957" y="146624"/>
                      <a:pt x="78144" y="142437"/>
                    </a:cubicBezTo>
                    <a:cubicBezTo>
                      <a:pt x="82331" y="138250"/>
                      <a:pt x="89119" y="138250"/>
                      <a:pt x="93306" y="142437"/>
                    </a:cubicBezTo>
                    <a:lnTo>
                      <a:pt x="117872" y="167016"/>
                    </a:lnTo>
                    <a:lnTo>
                      <a:pt x="185300" y="99575"/>
                    </a:lnTo>
                    <a:cubicBezTo>
                      <a:pt x="187310" y="97563"/>
                      <a:pt x="190037" y="96432"/>
                      <a:pt x="192881" y="96432"/>
                    </a:cubicBezTo>
                    <a:cubicBezTo>
                      <a:pt x="195725" y="96432"/>
                      <a:pt x="198453" y="97563"/>
                      <a:pt x="200463" y="99575"/>
                    </a:cubicBezTo>
                    <a:close/>
                    <a:moveTo>
                      <a:pt x="278606" y="139303"/>
                    </a:moveTo>
                    <a:cubicBezTo>
                      <a:pt x="278606" y="216238"/>
                      <a:pt x="216238" y="278606"/>
                      <a:pt x="139303" y="278606"/>
                    </a:cubicBezTo>
                    <a:cubicBezTo>
                      <a:pt x="62368" y="278606"/>
                      <a:pt x="0" y="216238"/>
                      <a:pt x="0" y="139303"/>
                    </a:cubicBezTo>
                    <a:cubicBezTo>
                      <a:pt x="0" y="62368"/>
                      <a:pt x="62368" y="0"/>
                      <a:pt x="139303" y="0"/>
                    </a:cubicBezTo>
                    <a:cubicBezTo>
                      <a:pt x="216204" y="81"/>
                      <a:pt x="278525" y="62402"/>
                      <a:pt x="278606" y="139303"/>
                    </a:cubicBezTo>
                    <a:close/>
                    <a:moveTo>
                      <a:pt x="257175" y="139303"/>
                    </a:moveTo>
                    <a:cubicBezTo>
                      <a:pt x="257175" y="74204"/>
                      <a:pt x="204402" y="21431"/>
                      <a:pt x="139303" y="21431"/>
                    </a:cubicBezTo>
                    <a:cubicBezTo>
                      <a:pt x="74204" y="21431"/>
                      <a:pt x="21431" y="74204"/>
                      <a:pt x="21431" y="139303"/>
                    </a:cubicBezTo>
                    <a:cubicBezTo>
                      <a:pt x="21431" y="204402"/>
                      <a:pt x="74204" y="257175"/>
                      <a:pt x="139303" y="257175"/>
                    </a:cubicBezTo>
                    <a:cubicBezTo>
                      <a:pt x="204371" y="257101"/>
                      <a:pt x="257101" y="204371"/>
                      <a:pt x="257175" y="139303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</p:grpSp>
        <p:sp>
          <p:nvSpPr>
            <p:cNvPr id="44" name="TextBox 44"/>
            <p:cNvSpPr txBox="1"/>
            <p:nvPr/>
          </p:nvSpPr>
          <p:spPr>
            <a:xfrm>
              <a:off x="1231392" y="4073525"/>
              <a:ext cx="6012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1350" b="1" dirty="0">
                  <a:solidFill>
                    <a:srgbClr val="065F46"/>
                  </a:solidFill>
                  <a:latin typeface="Inter"/>
                  <a:ea typeface="Inter"/>
                  <a:cs typeface="Inter"/>
                </a:rPr>
                <a:t>Result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231773" y="4371975"/>
              <a:ext cx="5718615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1280" dirty="0">
                  <a:solidFill>
                    <a:srgbClr val="064E3B"/>
                  </a:solidFill>
                  <a:latin typeface="Inter"/>
                  <a:ea typeface="Inter"/>
                  <a:cs typeface="Inter"/>
                </a:rPr>
                <a:t>Test độc lập, không dùng để chọn K hay tham số → Clean evaluation ✓</a:t>
              </a:r>
            </a:p>
          </p:txBody>
        </p:sp>
      </p:grpSp>
      <p:grpSp>
        <p:nvGrpSpPr>
          <p:cNvPr id="50" name="key-points"/>
          <p:cNvGrpSpPr/>
          <p:nvPr/>
        </p:nvGrpSpPr>
        <p:grpSpPr>
          <a:xfrm>
            <a:off x="564642" y="5121275"/>
            <a:ext cx="6375356" cy="818896"/>
            <a:chOff x="564642" y="5121275"/>
            <a:chExt cx="6375356" cy="818896"/>
          </a:xfrm>
        </p:grpSpPr>
        <p:sp>
          <p:nvSpPr>
            <p:cNvPr id="47" name="TextBox 47"/>
            <p:cNvSpPr txBox="1"/>
            <p:nvPr/>
          </p:nvSpPr>
          <p:spPr>
            <a:xfrm>
              <a:off x="564642" y="5121275"/>
              <a:ext cx="10861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1350" b="1" dirty="0">
                  <a:solidFill>
                    <a:schemeClr val="dk1"/>
                  </a:solidFill>
                  <a:latin typeface="Inter"/>
                  <a:ea typeface="Inter"/>
                  <a:cs typeface="Inter"/>
                </a:rPr>
                <a:t>Key Points: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565404" y="5419725"/>
              <a:ext cx="42586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dk1"/>
                </a:buClr>
                <a:buSzTx/>
                <a:buFontTx/>
                <a:buChar char="•"/>
              </a:pPr>
              <a:r>
                <a:rPr lang="vi" sz="1200" dirty="0">
                  <a:solidFill>
                    <a:schemeClr val="dk1"/>
                  </a:solidFill>
                  <a:latin typeface="Inter"/>
                  <a:ea typeface="Inter"/>
                  <a:cs typeface="Inter"/>
                </a:rPr>
                <a:t>Split ratio: 60% / 20% / 20% (264 / 88 / 88 samples)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565404" y="5705475"/>
              <a:ext cx="637459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dk1"/>
                </a:buClr>
                <a:buSzTx/>
                <a:buFontTx/>
                <a:buChar char="•"/>
              </a:pPr>
              <a:r>
                <a:rPr lang="vi" sz="1200" dirty="0">
                  <a:solidFill>
                    <a:schemeClr val="dk1"/>
                  </a:solidFill>
                  <a:latin typeface="Inter"/>
                  <a:ea typeface="Inter"/>
                  <a:cs typeface="Inter"/>
                </a:rPr>
                <a:t>All preprocessing parameters learned from train only, then applied to val/test</a:t>
              </a:r>
            </a:p>
          </p:txBody>
        </p:sp>
      </p:grpSp>
      <p:grpSp>
        <p:nvGrpSpPr>
          <p:cNvPr id="53" name="footer"/>
          <p:cNvGrpSpPr/>
          <p:nvPr/>
        </p:nvGrpSpPr>
        <p:grpSpPr>
          <a:xfrm>
            <a:off x="566166" y="6540500"/>
            <a:ext cx="11059668" cy="205359"/>
            <a:chOff x="566166" y="6540500"/>
            <a:chExt cx="11059668" cy="205359"/>
          </a:xfrm>
        </p:grpSpPr>
        <p:sp>
          <p:nvSpPr>
            <p:cNvPr id="51" name="TextBox 51"/>
            <p:cNvSpPr txBox="1"/>
            <p:nvPr/>
          </p:nvSpPr>
          <p:spPr>
            <a:xfrm>
              <a:off x="566166" y="6540500"/>
              <a:ext cx="309716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1050" dirty="0">
                  <a:solidFill>
                    <a:srgbClr val="9CA3AF"/>
                  </a:solidFill>
                  <a:latin typeface="Inter"/>
                  <a:ea typeface="Inter"/>
                  <a:cs typeface="Inter"/>
                </a:rPr>
                <a:t>Project 22: K-Means Customer Segmentation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219383" y="6540500"/>
              <a:ext cx="4064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vi" sz="1050" dirty="0">
                  <a:solidFill>
                    <a:srgbClr val="9CA3AF"/>
                  </a:solidFill>
                  <a:latin typeface="Inter"/>
                  <a:ea typeface="Inter"/>
                  <a:cs typeface="Inter"/>
                </a:rPr>
                <a:t>4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8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45998" y="381000"/>
            <a:ext cx="3802395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" sz="3150" b="1" dirty="0">
                <a:solidFill>
                  <a:schemeClr val="dk1"/>
                </a:solidFill>
                <a:latin typeface="Inter"/>
                <a:ea typeface="Inter"/>
                <a:cs typeface="Inter"/>
              </a:rPr>
              <a:t>So sánh Tiền xử lý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52856" y="879475"/>
            <a:ext cx="3664339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" sz="1800" dirty="0">
                <a:solidFill>
                  <a:schemeClr val="accent5"/>
                </a:solidFill>
                <a:latin typeface="Inter"/>
                <a:ea typeface="Inter"/>
                <a:cs typeface="Inter"/>
              </a:rPr>
              <a:t>Raw vs Log1p + StandardScaler</a:t>
            </a:r>
          </a:p>
        </p:txBody>
      </p:sp>
      <p:sp>
        <p:nvSpPr>
          <p:cNvPr id="4" name="Rectangle 4"/>
          <p:cNvSpPr/>
          <p:nvPr/>
        </p:nvSpPr>
        <p:spPr>
          <a:xfrm>
            <a:off x="762000" y="1190625"/>
            <a:ext cx="1143000" cy="3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1"/>
          </a:gradFill>
          <a:ln>
            <a:noFill/>
          </a:ln>
        </p:spPr>
      </p:sp>
      <p:grpSp>
        <p:nvGrpSpPr>
          <p:cNvPr id="21" name="Group 21"/>
          <p:cNvGrpSpPr/>
          <p:nvPr/>
        </p:nvGrpSpPr>
        <p:grpSpPr>
          <a:xfrm>
            <a:off x="685800" y="1447800"/>
            <a:ext cx="5029200" cy="4552950"/>
            <a:chOff x="685800" y="1447800"/>
            <a:chExt cx="5029200" cy="4552950"/>
          </a:xfrm>
        </p:grpSpPr>
        <p:sp>
          <p:nvSpPr>
            <p:cNvPr id="5" name="Ellipse 5"/>
            <p:cNvSpPr/>
            <p:nvPr/>
          </p:nvSpPr>
          <p:spPr>
            <a:xfrm>
              <a:off x="685800" y="1447800"/>
              <a:ext cx="533400" cy="533400"/>
            </a:xfrm>
            <a:prstGeom prst="ellipse">
              <a:avLst/>
            </a:prstGeom>
            <a:solidFill>
              <a:srgbClr val="FEE2E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420368" y="1558925"/>
              <a:ext cx="202968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1650" b="1" dirty="0">
                  <a:solidFill>
                    <a:srgbClr val="DC2626"/>
                  </a:solidFill>
                  <a:latin typeface="Inter"/>
                  <a:ea typeface="Inter"/>
                  <a:cs typeface="Inter"/>
                </a:rPr>
                <a:t>Raw data - Vấn đề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762000" y="2000250"/>
              <a:ext cx="4953000" cy="4000500"/>
            </a:xfrm>
            <a:prstGeom prst="roundRect">
              <a:avLst>
                <a:gd name="adj" fmla="val 2857"/>
              </a:avLst>
            </a:prstGeom>
            <a:solidFill>
              <a:srgbClr val="FEF2F2"/>
            </a:solidFill>
            <a:ln w="19050">
              <a:solidFill>
                <a:srgbClr val="DC2626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93267" y="2216150"/>
              <a:ext cx="17476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1350" b="1" dirty="0">
                  <a:solidFill>
                    <a:schemeClr val="dk1"/>
                  </a:solidFill>
                  <a:latin typeface="Inter"/>
                  <a:ea typeface="Inter"/>
                  <a:cs typeface="Inter"/>
                </a:rPr>
                <a:t>Skewness cực cao: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94029" y="2514600"/>
              <a:ext cx="153887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rgbClr val="4B5563"/>
                </a:buClr>
                <a:buSzTx/>
                <a:buFontTx/>
                <a:buChar char="•"/>
              </a:pPr>
              <a:r>
                <a:rPr lang="vi" sz="1200" dirty="0">
                  <a:solidFill>
                    <a:srgbClr val="4B5563"/>
                  </a:solidFill>
                  <a:latin typeface="Inter"/>
                  <a:ea typeface="Inter"/>
                  <a:cs typeface="Inter"/>
                </a:rPr>
                <a:t>Delicassen: 12.12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94029" y="2752725"/>
              <a:ext cx="95269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rgbClr val="4B5563"/>
                </a:buClr>
                <a:buSzTx/>
                <a:buFontTx/>
                <a:buChar char="•"/>
              </a:pPr>
              <a:r>
                <a:rPr lang="vi" sz="1200" dirty="0">
                  <a:solidFill>
                    <a:srgbClr val="4B5563"/>
                  </a:solidFill>
                  <a:latin typeface="Inter"/>
                  <a:ea typeface="Inter"/>
                  <a:cs typeface="Inter"/>
                </a:rPr>
                <a:t>Milk: 4.28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94029" y="2990850"/>
              <a:ext cx="11772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rgbClr val="4B5563"/>
                </a:buClr>
                <a:buSzTx/>
                <a:buFontTx/>
                <a:buChar char="•"/>
              </a:pPr>
              <a:r>
                <a:rPr lang="vi" sz="1200" dirty="0">
                  <a:solidFill>
                    <a:srgbClr val="4B5563"/>
                  </a:solidFill>
                  <a:latin typeface="Inter"/>
                  <a:ea typeface="Inter"/>
                  <a:cs typeface="Inter"/>
                </a:rPr>
                <a:t>Frozen: 3.53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94029" y="3228975"/>
              <a:ext cx="126539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rgbClr val="4B5563"/>
                </a:buClr>
                <a:buSzTx/>
                <a:buFontTx/>
                <a:buChar char="•"/>
              </a:pPr>
              <a:r>
                <a:rPr lang="vi" sz="1200" dirty="0">
                  <a:solidFill>
                    <a:srgbClr val="4B5563"/>
                  </a:solidFill>
                  <a:latin typeface="Inter"/>
                  <a:ea typeface="Inter"/>
                  <a:cs typeface="Inter"/>
                </a:rPr>
                <a:t>Grocery: 2.76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93267" y="3644900"/>
              <a:ext cx="134676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1350" b="1" dirty="0">
                  <a:solidFill>
                    <a:schemeClr val="dk1"/>
                  </a:solidFill>
                  <a:latin typeface="Inter"/>
                  <a:ea typeface="Inter"/>
                  <a:cs typeface="Inter"/>
                </a:rPr>
                <a:t>Range rất lớn: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94029" y="3943350"/>
              <a:ext cx="163659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rgbClr val="4B5563"/>
                </a:buClr>
                <a:buSzTx/>
                <a:buFontTx/>
                <a:buChar char="•"/>
              </a:pPr>
              <a:r>
                <a:rPr lang="vi" sz="1200" dirty="0">
                  <a:solidFill>
                    <a:srgbClr val="4B5563"/>
                  </a:solidFill>
                  <a:latin typeface="Inter"/>
                  <a:ea typeface="Inter"/>
                  <a:cs typeface="Inter"/>
                </a:rPr>
                <a:t>Fresh: 3 → 112,151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94029" y="4181475"/>
              <a:ext cx="150152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rgbClr val="4B5563"/>
                </a:buClr>
                <a:buSzTx/>
                <a:buFontTx/>
                <a:buChar char="•"/>
              </a:pPr>
              <a:r>
                <a:rPr lang="vi" sz="1200" dirty="0">
                  <a:solidFill>
                    <a:srgbClr val="4B5563"/>
                  </a:solidFill>
                  <a:latin typeface="Inter"/>
                  <a:ea typeface="Inter"/>
                  <a:cs typeface="Inter"/>
                </a:rPr>
                <a:t>Milk: 55 → 73,498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94029" y="4419600"/>
              <a:ext cx="17213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rgbClr val="4B5563"/>
                </a:buClr>
                <a:buSzTx/>
                <a:buFontTx/>
                <a:buChar char="•"/>
              </a:pPr>
              <a:r>
                <a:rPr lang="vi" sz="1200" dirty="0">
                  <a:solidFill>
                    <a:srgbClr val="4B5563"/>
                  </a:solidFill>
                  <a:latin typeface="Inter"/>
                  <a:ea typeface="Inter"/>
                  <a:cs typeface="Inter"/>
                </a:rPr>
                <a:t>Grocery: 3 → 59,598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93267" y="4835525"/>
              <a:ext cx="7084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1350" b="1" dirty="0">
                  <a:solidFill>
                    <a:schemeClr val="dk1"/>
                  </a:solidFill>
                  <a:latin typeface="Inter"/>
                  <a:ea typeface="Inter"/>
                  <a:cs typeface="Inter"/>
                </a:rPr>
                <a:t>Hệ quả: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94029" y="5133975"/>
              <a:ext cx="265897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1200" dirty="0">
                  <a:solidFill>
                    <a:srgbClr val="DC2626"/>
                  </a:solidFill>
                  <a:latin typeface="Inter"/>
                  <a:ea typeface="Inter"/>
                  <a:cs typeface="Inter"/>
                </a:rPr>
                <a:t>✗ Distance metrics bị chi phối bởi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136904" y="5324475"/>
              <a:ext cx="171648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1200" dirty="0">
                  <a:solidFill>
                    <a:srgbClr val="DC2626"/>
                  </a:solidFill>
                  <a:latin typeface="Inter"/>
                  <a:ea typeface="Inter"/>
                  <a:cs typeface="Inter"/>
                </a:rPr>
                <a:t>features có range lớn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94029" y="5562600"/>
              <a:ext cx="18823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1200" dirty="0">
                  <a:solidFill>
                    <a:srgbClr val="DC2626"/>
                  </a:solidFill>
                  <a:latin typeface="Inter"/>
                  <a:ea typeface="Inter"/>
                  <a:cs typeface="Inter"/>
                </a:rPr>
                <a:t>✗ KMeans không ổn định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6400800" y="1447800"/>
            <a:ext cx="5029200" cy="4552950"/>
            <a:chOff x="6400800" y="1447800"/>
            <a:chExt cx="5029200" cy="4552950"/>
          </a:xfrm>
        </p:grpSpPr>
        <p:sp>
          <p:nvSpPr>
            <p:cNvPr id="22" name="Ellipse 22"/>
            <p:cNvSpPr/>
            <p:nvPr/>
          </p:nvSpPr>
          <p:spPr>
            <a:xfrm>
              <a:off x="6400800" y="1447800"/>
              <a:ext cx="533400" cy="533400"/>
            </a:xfrm>
            <a:prstGeom prst="ellipse">
              <a:avLst/>
            </a:prstGeom>
            <a:solidFill>
              <a:srgbClr val="D1FAE5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135368" y="1558925"/>
              <a:ext cx="196268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1650" b="1" dirty="0">
                  <a:solidFill>
                    <a:srgbClr val="059669"/>
                  </a:solidFill>
                  <a:latin typeface="Inter"/>
                  <a:ea typeface="Inter"/>
                  <a:cs typeface="Inter"/>
                </a:rPr>
                <a:t>Log1p + Scaler ✓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6477000" y="2000250"/>
              <a:ext cx="4953000" cy="4000500"/>
            </a:xfrm>
            <a:prstGeom prst="roundRect">
              <a:avLst>
                <a:gd name="adj" fmla="val 2857"/>
              </a:avLst>
            </a:prstGeom>
            <a:solidFill>
              <a:srgbClr val="F0FDF4"/>
            </a:solidFill>
            <a:ln w="19050">
              <a:solidFill>
                <a:srgbClr val="059669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708267" y="2216150"/>
              <a:ext cx="198615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1350" b="1" dirty="0">
                  <a:solidFill>
                    <a:schemeClr val="dk1"/>
                  </a:solidFill>
                  <a:latin typeface="Inter"/>
                  <a:ea typeface="Inter"/>
                  <a:cs typeface="Inter"/>
                </a:rPr>
                <a:t>Giảm skewness mạnh: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709029" y="2514600"/>
              <a:ext cx="21724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rgbClr val="4B5563"/>
                </a:buClr>
                <a:buSzTx/>
                <a:buFontTx/>
                <a:buChar char="•"/>
              </a:pPr>
              <a:r>
                <a:rPr lang="vi" sz="1200" dirty="0">
                  <a:solidFill>
                    <a:srgbClr val="4B5563"/>
                  </a:solidFill>
                  <a:latin typeface="Inter"/>
                  <a:ea typeface="Inter"/>
                  <a:cs typeface="Inter"/>
                </a:rPr>
                <a:t>Delicassen: 12.12 → -0.90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709029" y="2752725"/>
              <a:ext cx="15916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rgbClr val="4B5563"/>
                </a:buClr>
                <a:buSzTx/>
                <a:buFontTx/>
                <a:buChar char="•"/>
              </a:pPr>
              <a:r>
                <a:rPr lang="vi" sz="1200" dirty="0">
                  <a:solidFill>
                    <a:srgbClr val="4B5563"/>
                  </a:solidFill>
                  <a:latin typeface="Inter"/>
                  <a:ea typeface="Inter"/>
                  <a:cs typeface="Inter"/>
                </a:rPr>
                <a:t>Milk: 4.28 → -0.17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709029" y="2990850"/>
              <a:ext cx="181317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rgbClr val="4B5563"/>
                </a:buClr>
                <a:buSzTx/>
                <a:buFontTx/>
                <a:buChar char="•"/>
              </a:pPr>
              <a:r>
                <a:rPr lang="vi" sz="1200" dirty="0">
                  <a:solidFill>
                    <a:srgbClr val="4B5563"/>
                  </a:solidFill>
                  <a:latin typeface="Inter"/>
                  <a:ea typeface="Inter"/>
                  <a:cs typeface="Inter"/>
                </a:rPr>
                <a:t>Frozen: 3.53 → -0.46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709029" y="3228975"/>
              <a:ext cx="190051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rgbClr val="4B5563"/>
                </a:buClr>
                <a:buSzTx/>
                <a:buFontTx/>
                <a:buChar char="•"/>
              </a:pPr>
              <a:r>
                <a:rPr lang="vi" sz="1200" dirty="0">
                  <a:solidFill>
                    <a:srgbClr val="4B5563"/>
                  </a:solidFill>
                  <a:latin typeface="Inter"/>
                  <a:ea typeface="Inter"/>
                  <a:cs typeface="Inter"/>
                </a:rPr>
                <a:t>Grocery: 2.76 → -0.94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708267" y="3644900"/>
              <a:ext cx="15565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1350" b="1" dirty="0">
                  <a:solidFill>
                    <a:schemeClr val="dk1"/>
                  </a:solidFill>
                  <a:latin typeface="Inter"/>
                  <a:ea typeface="Inter"/>
                  <a:cs typeface="Inter"/>
                </a:rPr>
                <a:t>Chuẩn hóa scale: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709029" y="3943350"/>
              <a:ext cx="268515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rgbClr val="4B5563"/>
                </a:buClr>
                <a:buSzTx/>
                <a:buFontTx/>
                <a:buChar char="•"/>
              </a:pPr>
              <a:r>
                <a:rPr lang="vi" sz="1200" dirty="0">
                  <a:solidFill>
                    <a:srgbClr val="4B5563"/>
                  </a:solidFill>
                  <a:latin typeface="Inter"/>
                  <a:ea typeface="Inter"/>
                  <a:cs typeface="Inter"/>
                </a:rPr>
                <a:t>Tất cả features: mean=0, std=1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709029" y="4181475"/>
              <a:ext cx="229555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rgbClr val="4B5563"/>
                </a:buClr>
                <a:buSzTx/>
                <a:buFontTx/>
                <a:buChar char="•"/>
              </a:pPr>
              <a:r>
                <a:rPr lang="vi" sz="1200" dirty="0">
                  <a:solidFill>
                    <a:srgbClr val="4B5563"/>
                  </a:solidFill>
                  <a:latin typeface="Inter"/>
                  <a:ea typeface="Inter"/>
                  <a:cs typeface="Inter"/>
                </a:rPr>
                <a:t>Distance metrics có ý nghĩa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709029" y="4419600"/>
              <a:ext cx="24734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rgbClr val="4B5563"/>
                </a:buClr>
                <a:buSzTx/>
                <a:buFontTx/>
                <a:buChar char="•"/>
              </a:pPr>
              <a:r>
                <a:rPr lang="vi" sz="1200" dirty="0">
                  <a:solidFill>
                    <a:srgbClr val="4B5563"/>
                  </a:solidFill>
                  <a:latin typeface="Inter"/>
                  <a:ea typeface="Inter"/>
                  <a:cs typeface="Inter"/>
                </a:rPr>
                <a:t>Features đóng góp ngang nhau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708267" y="4835525"/>
              <a:ext cx="81310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1350" b="1" dirty="0">
                  <a:solidFill>
                    <a:schemeClr val="dk1"/>
                  </a:solidFill>
                  <a:latin typeface="Inter"/>
                  <a:ea typeface="Inter"/>
                  <a:cs typeface="Inter"/>
                </a:rPr>
                <a:t>Kết quả: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709029" y="5133975"/>
              <a:ext cx="326157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1200" dirty="0">
                  <a:solidFill>
                    <a:srgbClr val="059669"/>
                  </a:solidFill>
                  <a:latin typeface="Inter"/>
                  <a:ea typeface="Inter"/>
                  <a:cs typeface="Inter"/>
                </a:rPr>
                <a:t>✓ ARI mean = 0.997 (K=2, seed stability)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709029" y="5372100"/>
              <a:ext cx="248271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1200" dirty="0">
                  <a:solidFill>
                    <a:srgbClr val="059669"/>
                  </a:solidFill>
                  <a:latin typeface="Inter"/>
                  <a:ea typeface="Inter"/>
                  <a:cs typeface="Inter"/>
                </a:rPr>
                <a:t>✓ Silhouette validation = 0.307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709029" y="5610225"/>
              <a:ext cx="252202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1200" dirty="0">
                  <a:solidFill>
                    <a:srgbClr val="059669"/>
                  </a:solidFill>
                  <a:latin typeface="Inter"/>
                  <a:ea typeface="Inter"/>
                  <a:cs typeface="Inter"/>
                </a:rPr>
                <a:t>✓ Cluster ổn định, dễ interpret</a:t>
              </a:r>
            </a:p>
          </p:txBody>
        </p:sp>
      </p:grpSp>
      <p:sp>
        <p:nvSpPr>
          <p:cNvPr id="39" name="TextBox 39"/>
          <p:cNvSpPr txBox="1"/>
          <p:nvPr/>
        </p:nvSpPr>
        <p:spPr>
          <a:xfrm>
            <a:off x="756666" y="6350000"/>
            <a:ext cx="455291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" sz="1050" dirty="0">
                <a:solidFill>
                  <a:srgbClr val="9CA3AF"/>
                </a:solidFill>
                <a:latin typeface="Inter"/>
                <a:ea typeface="Inter"/>
                <a:cs typeface="Inter"/>
              </a:rPr>
              <a:t>Quyết định D011: Chọn log1p + StandardScaler cho toàn bộ pipeline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1028883" y="6350000"/>
            <a:ext cx="40645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vi" sz="1050" dirty="0">
                <a:solidFill>
                  <a:srgbClr val="9CA3AF"/>
                </a:solidFill>
                <a:latin typeface="Inter"/>
                <a:ea typeface="Inter"/>
                <a:cs typeface="Inter"/>
              </a:rPr>
              <a:t>5 / 15</a:t>
            </a:r>
          </a:p>
        </p:txBody>
      </p:sp>
    </p:spTree>
  </p:cSld>
  <p:clrMapOvr>
    <a:masterClrMapping/>
  </p:clrMapOvr>
  <p:transition xmlns:p14="http://schemas.microsoft.com/office/powerpoint/2010/main" p14:dur="8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45998" y="381000"/>
            <a:ext cx="2955951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" sz="3150" b="1" dirty="0">
                <a:solidFill>
                  <a:schemeClr val="dk1"/>
                </a:solidFill>
                <a:latin typeface="Inter"/>
                <a:ea typeface="Inter"/>
                <a:cs typeface="Inter"/>
              </a:rPr>
              <a:t>Elbow Method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52856" y="879475"/>
            <a:ext cx="5669683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" sz="1800" dirty="0">
                <a:solidFill>
                  <a:schemeClr val="accent5"/>
                </a:solidFill>
                <a:latin typeface="Inter"/>
                <a:ea typeface="Inter"/>
                <a:cs typeface="Inter"/>
              </a:rPr>
              <a:t>Validation Inertia vs K (log1p + StandardScaler)</a:t>
            </a:r>
          </a:p>
        </p:txBody>
      </p:sp>
      <p:sp>
        <p:nvSpPr>
          <p:cNvPr id="4" name="Rectangle 4"/>
          <p:cNvSpPr/>
          <p:nvPr/>
        </p:nvSpPr>
        <p:spPr>
          <a:xfrm>
            <a:off x="762000" y="1190625"/>
            <a:ext cx="1143000" cy="3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1"/>
          </a:gradFill>
          <a:ln>
            <a:noFill/>
          </a:ln>
        </p:spPr>
      </p:sp>
      <p:grpSp>
        <p:nvGrpSpPr>
          <p:cNvPr id="32" name="Group 32"/>
          <p:cNvGrpSpPr/>
          <p:nvPr/>
        </p:nvGrpSpPr>
        <p:grpSpPr>
          <a:xfrm>
            <a:off x="-138573" y="1730375"/>
            <a:ext cx="10425573" cy="4559808"/>
            <a:chOff x="-138573" y="1730375"/>
            <a:chExt cx="10425573" cy="4559808"/>
          </a:xfrm>
        </p:grpSpPr>
        <p:sp>
          <p:nvSpPr>
            <p:cNvPr id="5" name="Rectangle 5"/>
            <p:cNvSpPr/>
            <p:nvPr/>
          </p:nvSpPr>
          <p:spPr>
            <a:xfrm>
              <a:off x="1714500" y="1905000"/>
              <a:ext cx="8572500" cy="3048000"/>
            </a:xfrm>
            <a:prstGeom prst="roundRect">
              <a:avLst>
                <a:gd name="adj" fmla="val 3750"/>
              </a:avLst>
            </a:prstGeom>
            <a:solidFill>
              <a:srgbClr val="F9FAFB"/>
            </a:solidFill>
            <a:ln w="19050">
              <a:solidFill>
                <a:schemeClr val="accent6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1714500" y="2667000"/>
              <a:ext cx="8572500" cy="9525"/>
            </a:xfrm>
            <a:custGeom>
              <a:avLst/>
              <a:gdLst/>
              <a:ahLst/>
              <a:cxnLst/>
              <a:rect l="l" t="t" r="r" b="b"/>
              <a:pathLst>
                <a:path w="8572500" h="9525">
                  <a:moveTo>
                    <a:pt x="0" y="0"/>
                  </a:moveTo>
                  <a:lnTo>
                    <a:pt x="8572500" y="0"/>
                  </a:lnTo>
                </a:path>
              </a:pathLst>
            </a:custGeom>
            <a:noFill/>
            <a:ln w="9525">
              <a:solidFill>
                <a:srgbClr val="D1D5DB">
                  <a:alpha val="50000"/>
                </a:srgbClr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1714500" y="3429000"/>
              <a:ext cx="8572500" cy="9525"/>
            </a:xfrm>
            <a:custGeom>
              <a:avLst/>
              <a:gdLst/>
              <a:ahLst/>
              <a:cxnLst/>
              <a:rect l="l" t="t" r="r" b="b"/>
              <a:pathLst>
                <a:path w="8572500" h="9525">
                  <a:moveTo>
                    <a:pt x="0" y="0"/>
                  </a:moveTo>
                  <a:lnTo>
                    <a:pt x="8572500" y="0"/>
                  </a:lnTo>
                </a:path>
              </a:pathLst>
            </a:custGeom>
            <a:noFill/>
            <a:ln w="9525">
              <a:solidFill>
                <a:srgbClr val="D1D5DB">
                  <a:alpha val="50000"/>
                </a:srgbClr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1714500" y="4191000"/>
              <a:ext cx="8572500" cy="9525"/>
            </a:xfrm>
            <a:custGeom>
              <a:avLst/>
              <a:gdLst/>
              <a:ahLst/>
              <a:cxnLst/>
              <a:rect l="l" t="t" r="r" b="b"/>
              <a:pathLst>
                <a:path w="8572500" h="9525">
                  <a:moveTo>
                    <a:pt x="0" y="0"/>
                  </a:moveTo>
                  <a:lnTo>
                    <a:pt x="8572500" y="0"/>
                  </a:lnTo>
                </a:path>
              </a:pathLst>
            </a:custGeom>
            <a:noFill/>
            <a:ln w="9525">
              <a:solidFill>
                <a:srgbClr val="D1D5DB">
                  <a:alpha val="50000"/>
                </a:srgbClr>
              </a:solidFill>
            </a:ln>
          </p:spPr>
        </p:sp>
        <p:sp>
          <p:nvSpPr>
            <p:cNvPr id="9" name="Polyline 9"/>
            <p:cNvSpPr/>
            <p:nvPr/>
          </p:nvSpPr>
          <p:spPr>
            <a:xfrm>
              <a:off x="2190750" y="2095500"/>
              <a:ext cx="7315200" cy="2381250"/>
            </a:xfrm>
            <a:custGeom>
              <a:avLst/>
              <a:gdLst/>
              <a:ahLst/>
              <a:cxnLst/>
              <a:rect l="l" t="t" r="r" b="b"/>
              <a:pathLst>
                <a:path w="7315200" h="2381250">
                  <a:moveTo>
                    <a:pt x="0" y="0"/>
                  </a:moveTo>
                  <a:lnTo>
                    <a:pt x="1219200" y="571500"/>
                  </a:lnTo>
                  <a:lnTo>
                    <a:pt x="2438400" y="1143000"/>
                  </a:lnTo>
                  <a:lnTo>
                    <a:pt x="3657600" y="1476375"/>
                  </a:lnTo>
                  <a:lnTo>
                    <a:pt x="4876800" y="1905000"/>
                  </a:lnTo>
                  <a:lnTo>
                    <a:pt x="6096000" y="2143125"/>
                  </a:lnTo>
                  <a:lnTo>
                    <a:pt x="7315200" y="2381250"/>
                  </a:lnTo>
                </a:path>
              </a:pathLst>
            </a:custGeom>
            <a:noFill/>
            <a:ln w="38100">
              <a:solidFill>
                <a:schemeClr val="accent1"/>
              </a:solidFill>
            </a:ln>
          </p:spPr>
        </p:sp>
        <p:sp>
          <p:nvSpPr>
            <p:cNvPr id="10" name="Ellipse 10"/>
            <p:cNvSpPr/>
            <p:nvPr/>
          </p:nvSpPr>
          <p:spPr>
            <a:xfrm>
              <a:off x="2095500" y="2000250"/>
              <a:ext cx="190500" cy="190500"/>
            </a:xfrm>
            <a:prstGeom prst="ellipse">
              <a:avLst/>
            </a:prstGeom>
            <a:solidFill>
              <a:schemeClr val="accent2"/>
            </a:solidFill>
            <a:ln w="28575">
              <a:solidFill>
                <a:srgbClr val="FFFFFF"/>
              </a:solidFill>
            </a:ln>
          </p:spPr>
        </p:sp>
        <p:sp>
          <p:nvSpPr>
            <p:cNvPr id="11" name="Ellipse 11"/>
            <p:cNvSpPr/>
            <p:nvPr/>
          </p:nvSpPr>
          <p:spPr>
            <a:xfrm>
              <a:off x="3333750" y="2590800"/>
              <a:ext cx="152400" cy="15240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rgbClr val="FFFFFF"/>
              </a:solidFill>
            </a:ln>
          </p:spPr>
        </p:sp>
        <p:sp>
          <p:nvSpPr>
            <p:cNvPr id="12" name="Ellipse 12"/>
            <p:cNvSpPr/>
            <p:nvPr/>
          </p:nvSpPr>
          <p:spPr>
            <a:xfrm>
              <a:off x="4552950" y="3162300"/>
              <a:ext cx="152400" cy="15240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rgbClr val="FFFFFF"/>
              </a:solidFill>
            </a:ln>
          </p:spPr>
        </p:sp>
        <p:sp>
          <p:nvSpPr>
            <p:cNvPr id="13" name="Ellipse 13"/>
            <p:cNvSpPr/>
            <p:nvPr/>
          </p:nvSpPr>
          <p:spPr>
            <a:xfrm>
              <a:off x="5772150" y="3495675"/>
              <a:ext cx="152400" cy="15240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rgbClr val="FFFFFF"/>
              </a:solidFill>
            </a:ln>
          </p:spPr>
        </p:sp>
        <p:sp>
          <p:nvSpPr>
            <p:cNvPr id="14" name="Ellipse 14"/>
            <p:cNvSpPr/>
            <p:nvPr/>
          </p:nvSpPr>
          <p:spPr>
            <a:xfrm>
              <a:off x="6991350" y="3924300"/>
              <a:ext cx="152400" cy="15240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rgbClr val="FFFFFF"/>
              </a:solidFill>
            </a:ln>
          </p:spPr>
        </p:sp>
        <p:sp>
          <p:nvSpPr>
            <p:cNvPr id="15" name="Ellipse 15"/>
            <p:cNvSpPr/>
            <p:nvPr/>
          </p:nvSpPr>
          <p:spPr>
            <a:xfrm>
              <a:off x="8210550" y="4162425"/>
              <a:ext cx="152400" cy="15240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rgbClr val="FFFFFF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9429750" y="4400550"/>
              <a:ext cx="152400" cy="15240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rgbClr val="FFFFFF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043836" y="4705350"/>
              <a:ext cx="2938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" sz="1200" dirty="0">
                  <a:solidFill>
                    <a:srgbClr val="4B5563"/>
                  </a:solidFill>
                  <a:latin typeface="Inter"/>
                  <a:ea typeface="Inter"/>
                  <a:cs typeface="Inter"/>
                </a:rPr>
                <a:t>K=2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263036" y="4705350"/>
              <a:ext cx="2938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" sz="1200" dirty="0">
                  <a:solidFill>
                    <a:srgbClr val="4B5563"/>
                  </a:solidFill>
                  <a:latin typeface="Inter"/>
                  <a:ea typeface="Inter"/>
                  <a:cs typeface="Inter"/>
                </a:rPr>
                <a:t>K=3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482236" y="4705350"/>
              <a:ext cx="2938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" sz="1200" dirty="0">
                  <a:solidFill>
                    <a:srgbClr val="4B5563"/>
                  </a:solidFill>
                  <a:latin typeface="Inter"/>
                  <a:ea typeface="Inter"/>
                  <a:cs typeface="Inter"/>
                </a:rPr>
                <a:t>K=4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701436" y="4705350"/>
              <a:ext cx="2938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" sz="1200" dirty="0">
                  <a:solidFill>
                    <a:srgbClr val="4B5563"/>
                  </a:solidFill>
                  <a:latin typeface="Inter"/>
                  <a:ea typeface="Inter"/>
                  <a:cs typeface="Inter"/>
                </a:rPr>
                <a:t>K=5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920636" y="4705350"/>
              <a:ext cx="2938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" sz="1200" dirty="0">
                  <a:solidFill>
                    <a:srgbClr val="4B5563"/>
                  </a:solidFill>
                  <a:latin typeface="Inter"/>
                  <a:ea typeface="Inter"/>
                  <a:cs typeface="Inter"/>
                </a:rPr>
                <a:t>K=6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139836" y="4705350"/>
              <a:ext cx="2938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" sz="1200" dirty="0">
                  <a:solidFill>
                    <a:srgbClr val="4B5563"/>
                  </a:solidFill>
                  <a:latin typeface="Inter"/>
                  <a:ea typeface="Inter"/>
                  <a:cs typeface="Inter"/>
                </a:rPr>
                <a:t>K=7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359036" y="4705350"/>
              <a:ext cx="2938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" sz="1200" dirty="0">
                  <a:solidFill>
                    <a:srgbClr val="4B5563"/>
                  </a:solidFill>
                  <a:latin typeface="Inter"/>
                  <a:ea typeface="Inter"/>
                  <a:cs typeface="Inter"/>
                </a:rPr>
                <a:t>K=8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981340" y="1730375"/>
              <a:ext cx="4188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" sz="1050" b="1" dirty="0">
                  <a:solidFill>
                    <a:schemeClr val="accent2"/>
                  </a:solidFill>
                  <a:latin typeface="Inter"/>
                  <a:ea typeface="Inter"/>
                  <a:cs typeface="Inter"/>
                </a:rPr>
                <a:t>391.5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223597" y="2457450"/>
              <a:ext cx="37270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" sz="980" dirty="0">
                  <a:solidFill>
                    <a:schemeClr val="accent1"/>
                  </a:solidFill>
                  <a:latin typeface="Inter"/>
                  <a:ea typeface="Inter"/>
                  <a:cs typeface="Inter"/>
                </a:rPr>
                <a:t>341.1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442797" y="3028950"/>
              <a:ext cx="37270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" sz="980" dirty="0">
                  <a:solidFill>
                    <a:schemeClr val="accent1"/>
                  </a:solidFill>
                  <a:latin typeface="Inter"/>
                  <a:ea typeface="Inter"/>
                  <a:cs typeface="Inter"/>
                </a:rPr>
                <a:t>302.0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661997" y="3362325"/>
              <a:ext cx="37270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" sz="980" dirty="0">
                  <a:solidFill>
                    <a:schemeClr val="accent1"/>
                  </a:solidFill>
                  <a:latin typeface="Inter"/>
                  <a:ea typeface="Inter"/>
                  <a:cs typeface="Inter"/>
                </a:rPr>
                <a:t>286.6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881197" y="3790950"/>
              <a:ext cx="37270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" sz="980" dirty="0">
                  <a:solidFill>
                    <a:schemeClr val="accent1"/>
                  </a:solidFill>
                  <a:latin typeface="Inter"/>
                  <a:ea typeface="Inter"/>
                  <a:cs typeface="Inter"/>
                </a:rPr>
                <a:t>265.2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100397" y="4029075"/>
              <a:ext cx="37270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" sz="980" dirty="0">
                  <a:solidFill>
                    <a:schemeClr val="accent1"/>
                  </a:solidFill>
                  <a:latin typeface="Inter"/>
                  <a:ea typeface="Inter"/>
                  <a:cs typeface="Inter"/>
                </a:rPr>
                <a:t>253.9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319597" y="4267200"/>
              <a:ext cx="37270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" sz="980" dirty="0">
                  <a:solidFill>
                    <a:schemeClr val="accent1"/>
                  </a:solidFill>
                  <a:latin typeface="Inter"/>
                  <a:ea typeface="Inter"/>
                  <a:cs typeface="Inter"/>
                </a:rPr>
                <a:t>247.2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 rot="-5400000">
              <a:off x="-138573" y="6026150"/>
              <a:ext cx="6581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" sz="1350" b="1" dirty="0">
                  <a:solidFill>
                    <a:schemeClr val="dk1"/>
                  </a:solidFill>
                  <a:latin typeface="Inter"/>
                  <a:ea typeface="Inter"/>
                  <a:cs typeface="Inter"/>
                </a:rPr>
                <a:t>Inertia</a:t>
              </a:r>
            </a:p>
          </p:txBody>
        </p:sp>
      </p:grpSp>
      <p:sp>
        <p:nvSpPr>
          <p:cNvPr id="33" name="Rectangle 33"/>
          <p:cNvSpPr/>
          <p:nvPr/>
        </p:nvSpPr>
        <p:spPr>
          <a:xfrm>
            <a:off x="1714500" y="5238750"/>
            <a:ext cx="8572500" cy="762000"/>
          </a:xfrm>
          <a:prstGeom prst="roundRect">
            <a:avLst>
              <a:gd name="adj" fmla="val 15000"/>
            </a:avLst>
          </a:prstGeom>
          <a:solidFill>
            <a:srgbClr val="D1FAE5"/>
          </a:solidFill>
          <a:ln w="19050">
            <a:solidFill>
              <a:schemeClr val="accent2"/>
            </a:solidFill>
          </a:ln>
        </p:spPr>
      </p:sp>
      <p:sp>
        <p:nvSpPr>
          <p:cNvPr id="34" name="TextBox 34"/>
          <p:cNvSpPr txBox="1"/>
          <p:nvPr/>
        </p:nvSpPr>
        <p:spPr>
          <a:xfrm>
            <a:off x="1993392" y="5359400"/>
            <a:ext cx="111680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" sz="1350" b="1" dirty="0">
                <a:solidFill>
                  <a:srgbClr val="059669"/>
                </a:solidFill>
                <a:latin typeface="Inter"/>
                <a:ea typeface="Inter"/>
                <a:cs typeface="Inter"/>
              </a:rPr>
              <a:t>K=2 Optimal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994154" y="5657850"/>
            <a:ext cx="613326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" sz="1200" dirty="0">
                <a:solidFill>
                  <a:srgbClr val="047857"/>
                </a:solidFill>
                <a:latin typeface="Inter"/>
                <a:ea typeface="Inter"/>
                <a:cs typeface="Inter"/>
              </a:rPr>
              <a:t>Elbow rõ ràng: inertia giảm 12.9% từ K=2→3, sau đó chỉ giảm dần &lt; 5% mỗi bước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56666" y="6350000"/>
            <a:ext cx="398751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" sz="1050" dirty="0">
                <a:solidFill>
                  <a:srgbClr val="9CA3AF"/>
                </a:solidFill>
                <a:latin typeface="Inter"/>
                <a:ea typeface="Inter"/>
                <a:cs typeface="Inter"/>
              </a:rPr>
              <a:t>Data: reports/data/experiments/selection_evidence.csv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1028883" y="6350000"/>
            <a:ext cx="40645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vi" sz="1050" dirty="0">
                <a:solidFill>
                  <a:srgbClr val="9CA3AF"/>
                </a:solidFill>
                <a:latin typeface="Inter"/>
                <a:ea typeface="Inter"/>
                <a:cs typeface="Inter"/>
              </a:rPr>
              <a:t>6 / 15</a:t>
            </a:r>
          </a:p>
        </p:txBody>
      </p:sp>
    </p:spTree>
  </p:cSld>
  <p:clrMapOvr>
    <a:masterClrMapping/>
  </p:clrMapOvr>
  <p:transition xmlns:p14="http://schemas.microsoft.com/office/powerpoint/2010/main" p14:dur="8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45998" y="381000"/>
            <a:ext cx="4154119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" sz="3150" b="1" dirty="0">
                <a:solidFill>
                  <a:schemeClr val="dk1"/>
                </a:solidFill>
                <a:latin typeface="Inter"/>
                <a:ea typeface="Inter"/>
                <a:cs typeface="Inter"/>
              </a:rPr>
              <a:t>Silhouette Analysis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52856" y="879475"/>
            <a:ext cx="424001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" sz="1800" dirty="0">
                <a:solidFill>
                  <a:schemeClr val="accent5"/>
                </a:solidFill>
                <a:latin typeface="Inter"/>
                <a:ea typeface="Inter"/>
                <a:cs typeface="Inter"/>
              </a:rPr>
              <a:t>Train vs Validation Silhouette Score</a:t>
            </a:r>
          </a:p>
        </p:txBody>
      </p:sp>
      <p:sp>
        <p:nvSpPr>
          <p:cNvPr id="4" name="Rectangle 4"/>
          <p:cNvSpPr/>
          <p:nvPr/>
        </p:nvSpPr>
        <p:spPr>
          <a:xfrm>
            <a:off x="762000" y="1190625"/>
            <a:ext cx="1143000" cy="3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1"/>
          </a:gradFill>
          <a:ln>
            <a:noFill/>
          </a:ln>
        </p:spPr>
      </p:sp>
      <p:grpSp>
        <p:nvGrpSpPr>
          <p:cNvPr id="37" name="Group 37"/>
          <p:cNvGrpSpPr/>
          <p:nvPr/>
        </p:nvGrpSpPr>
        <p:grpSpPr>
          <a:xfrm>
            <a:off x="826694" y="2206625"/>
            <a:ext cx="11079556" cy="2447671"/>
            <a:chOff x="826694" y="2206625"/>
            <a:chExt cx="11079556" cy="2447671"/>
          </a:xfrm>
        </p:grpSpPr>
        <p:sp>
          <p:nvSpPr>
            <p:cNvPr id="5" name="Rectangle 5"/>
            <p:cNvSpPr/>
            <p:nvPr/>
          </p:nvSpPr>
          <p:spPr>
            <a:xfrm>
              <a:off x="1428750" y="2857500"/>
              <a:ext cx="666750" cy="1428750"/>
            </a:xfrm>
            <a:prstGeom prst="roundRect">
              <a:avLst>
                <a:gd name="adj" fmla="val 8571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552715" y="2587625"/>
              <a:ext cx="4188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" sz="1050" b="1" dirty="0">
                  <a:solidFill>
                    <a:schemeClr val="accent1"/>
                  </a:solidFill>
                  <a:latin typeface="Inter"/>
                  <a:ea typeface="Inter"/>
                  <a:cs typeface="Inter"/>
                </a:rPr>
                <a:t>0.276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2286000" y="2476500"/>
              <a:ext cx="666750" cy="1809750"/>
            </a:xfrm>
            <a:prstGeom prst="roundRect">
              <a:avLst>
                <a:gd name="adj" fmla="val 8571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2409965" y="2206625"/>
              <a:ext cx="4188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" sz="1050" b="1" dirty="0">
                  <a:solidFill>
                    <a:schemeClr val="accent2"/>
                  </a:solidFill>
                  <a:latin typeface="Inter"/>
                  <a:ea typeface="Inter"/>
                  <a:cs typeface="Inter"/>
                </a:rPr>
                <a:t>0.307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043836" y="4419600"/>
              <a:ext cx="2938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" sz="1200" dirty="0">
                  <a:solidFill>
                    <a:schemeClr val="dk1"/>
                  </a:solidFill>
                  <a:latin typeface="Inter"/>
                  <a:ea typeface="Inter"/>
                  <a:cs typeface="Inter"/>
                </a:rPr>
                <a:t>K=2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3333750" y="3143250"/>
              <a:ext cx="666750" cy="1143000"/>
            </a:xfrm>
            <a:prstGeom prst="roundRect">
              <a:avLst>
                <a:gd name="adj" fmla="val 8571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3467433" y="2873375"/>
              <a:ext cx="399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" sz="1050" dirty="0">
                  <a:solidFill>
                    <a:schemeClr val="accent1"/>
                  </a:solidFill>
                  <a:latin typeface="Inter"/>
                  <a:ea typeface="Inter"/>
                  <a:cs typeface="Inter"/>
                </a:rPr>
                <a:t>0.205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4191000" y="2952750"/>
              <a:ext cx="666750" cy="1333500"/>
            </a:xfrm>
            <a:prstGeom prst="roundRect">
              <a:avLst>
                <a:gd name="adj" fmla="val 8571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4324683" y="2682875"/>
              <a:ext cx="399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" sz="1050" dirty="0">
                  <a:solidFill>
                    <a:schemeClr val="accent2"/>
                  </a:solidFill>
                  <a:latin typeface="Inter"/>
                  <a:ea typeface="Inter"/>
                  <a:cs typeface="Inter"/>
                </a:rPr>
                <a:t>0.217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948836" y="4419600"/>
              <a:ext cx="2938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" sz="1200" dirty="0">
                  <a:solidFill>
                    <a:schemeClr val="dk1"/>
                  </a:solidFill>
                  <a:latin typeface="Inter"/>
                  <a:ea typeface="Inter"/>
                  <a:cs typeface="Inter"/>
                </a:rPr>
                <a:t>K=3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238750" y="3190875"/>
              <a:ext cx="666750" cy="1095375"/>
            </a:xfrm>
            <a:prstGeom prst="roundRect">
              <a:avLst>
                <a:gd name="adj" fmla="val 8571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372433" y="2921000"/>
              <a:ext cx="399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" sz="1050" dirty="0">
                  <a:solidFill>
                    <a:schemeClr val="accent1"/>
                  </a:solidFill>
                  <a:latin typeface="Inter"/>
                  <a:ea typeface="Inter"/>
                  <a:cs typeface="Inter"/>
                </a:rPr>
                <a:t>0.206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6096000" y="3524250"/>
              <a:ext cx="666750" cy="762000"/>
            </a:xfrm>
            <a:prstGeom prst="roundRect">
              <a:avLst>
                <a:gd name="adj" fmla="val 8571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229683" y="3254375"/>
              <a:ext cx="399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" sz="1050" dirty="0">
                  <a:solidFill>
                    <a:schemeClr val="accent2"/>
                  </a:solidFill>
                  <a:latin typeface="Inter"/>
                  <a:ea typeface="Inter"/>
                  <a:cs typeface="Inter"/>
                </a:rPr>
                <a:t>0.154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853836" y="4419600"/>
              <a:ext cx="2938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" sz="1200" dirty="0">
                  <a:solidFill>
                    <a:schemeClr val="dk1"/>
                  </a:solidFill>
                  <a:latin typeface="Inter"/>
                  <a:ea typeface="Inter"/>
                  <a:cs typeface="Inter"/>
                </a:rPr>
                <a:t>K=4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7143750" y="3286125"/>
              <a:ext cx="666750" cy="1000125"/>
            </a:xfrm>
            <a:prstGeom prst="roundRect">
              <a:avLst>
                <a:gd name="adj" fmla="val 8571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277433" y="3016250"/>
              <a:ext cx="399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" sz="1050" dirty="0">
                  <a:solidFill>
                    <a:schemeClr val="accent1"/>
                  </a:solidFill>
                  <a:latin typeface="Inter"/>
                  <a:ea typeface="Inter"/>
                  <a:cs typeface="Inter"/>
                </a:rPr>
                <a:t>0.198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8001000" y="3524250"/>
              <a:ext cx="666750" cy="762000"/>
            </a:xfrm>
            <a:prstGeom prst="roundRect">
              <a:avLst>
                <a:gd name="adj" fmla="val 8571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134683" y="3254375"/>
              <a:ext cx="399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" sz="1050" dirty="0">
                  <a:solidFill>
                    <a:schemeClr val="accent2"/>
                  </a:solidFill>
                  <a:latin typeface="Inter"/>
                  <a:ea typeface="Inter"/>
                  <a:cs typeface="Inter"/>
                </a:rPr>
                <a:t>0.162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758836" y="4419600"/>
              <a:ext cx="2938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" sz="1200" dirty="0">
                  <a:solidFill>
                    <a:schemeClr val="dk1"/>
                  </a:solidFill>
                  <a:latin typeface="Inter"/>
                  <a:ea typeface="Inter"/>
                  <a:cs typeface="Inter"/>
                </a:rPr>
                <a:t>K=5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9048750" y="3314700"/>
              <a:ext cx="523875" cy="971550"/>
            </a:xfrm>
            <a:prstGeom prst="roundRect">
              <a:avLst>
                <a:gd name="adj" fmla="val 10909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129097" y="3076575"/>
              <a:ext cx="37270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" sz="980" dirty="0">
                  <a:solidFill>
                    <a:schemeClr val="accent1"/>
                  </a:solidFill>
                  <a:latin typeface="Inter"/>
                  <a:ea typeface="Inter"/>
                  <a:cs typeface="Inter"/>
                </a:rPr>
                <a:t>0.193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9715500" y="3543300"/>
              <a:ext cx="523875" cy="742950"/>
            </a:xfrm>
            <a:prstGeom prst="roundRect">
              <a:avLst>
                <a:gd name="adj" fmla="val 10909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795847" y="3314700"/>
              <a:ext cx="37270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" sz="980" dirty="0">
                  <a:solidFill>
                    <a:schemeClr val="accent2"/>
                  </a:solidFill>
                  <a:latin typeface="Inter"/>
                  <a:ea typeface="Inter"/>
                  <a:cs typeface="Inter"/>
                </a:rPr>
                <a:t>0.160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368805" y="4432300"/>
              <a:ext cx="2742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" sz="1120" dirty="0">
                  <a:solidFill>
                    <a:schemeClr val="dk1"/>
                  </a:solidFill>
                  <a:latin typeface="Inter"/>
                  <a:ea typeface="Inter"/>
                  <a:cs typeface="Inter"/>
                </a:rPr>
                <a:t>K=6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10477500" y="3352800"/>
              <a:ext cx="523875" cy="933450"/>
            </a:xfrm>
            <a:prstGeom prst="roundRect">
              <a:avLst>
                <a:gd name="adj" fmla="val 10909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11144250" y="3600450"/>
              <a:ext cx="523875" cy="685800"/>
            </a:xfrm>
            <a:prstGeom prst="roundRect">
              <a:avLst>
                <a:gd name="adj" fmla="val 10909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0797555" y="4432300"/>
              <a:ext cx="2742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" sz="1120" dirty="0">
                  <a:solidFill>
                    <a:schemeClr val="dk1"/>
                  </a:solidFill>
                  <a:latin typeface="Inter"/>
                  <a:ea typeface="Inter"/>
                  <a:cs typeface="Inter"/>
                </a:rPr>
                <a:t>K=7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1333500" y="4286250"/>
              <a:ext cx="10572750" cy="9525"/>
            </a:xfrm>
            <a:custGeom>
              <a:avLst/>
              <a:gdLst/>
              <a:ahLst/>
              <a:cxnLst/>
              <a:rect l="l" t="t" r="r" b="b"/>
              <a:pathLst>
                <a:path w="10572750" h="9525">
                  <a:moveTo>
                    <a:pt x="0" y="0"/>
                  </a:moveTo>
                  <a:lnTo>
                    <a:pt x="10572750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826694" y="2349500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vi" sz="1050" dirty="0">
                  <a:solidFill>
                    <a:srgbClr val="4B5563"/>
                  </a:solidFill>
                  <a:latin typeface="Inter"/>
                  <a:ea typeface="Inter"/>
                  <a:cs typeface="Inter"/>
                </a:rPr>
                <a:t>0.30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26694" y="3302000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vi" sz="1050" dirty="0">
                  <a:solidFill>
                    <a:srgbClr val="4B5563"/>
                  </a:solidFill>
                  <a:latin typeface="Inter"/>
                  <a:ea typeface="Inter"/>
                  <a:cs typeface="Inter"/>
                </a:rPr>
                <a:t>0.20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26694" y="4206875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vi" sz="1050" dirty="0">
                  <a:solidFill>
                    <a:srgbClr val="4B5563"/>
                  </a:solidFill>
                  <a:latin typeface="Inter"/>
                  <a:ea typeface="Inter"/>
                  <a:cs typeface="Inter"/>
                </a:rPr>
                <a:t>0.00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9048750" y="2190750"/>
            <a:ext cx="2397023" cy="285750"/>
            <a:chOff x="9048750" y="2190750"/>
            <a:chExt cx="2397023" cy="285750"/>
          </a:xfrm>
        </p:grpSpPr>
        <p:sp>
          <p:nvSpPr>
            <p:cNvPr id="38" name="Rectangle 38"/>
            <p:cNvSpPr/>
            <p:nvPr/>
          </p:nvSpPr>
          <p:spPr>
            <a:xfrm>
              <a:off x="9048750" y="2190750"/>
              <a:ext cx="381000" cy="285750"/>
            </a:xfrm>
            <a:prstGeom prst="roundRect">
              <a:avLst>
                <a:gd name="adj" fmla="val 13333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9518904" y="2228850"/>
              <a:ext cx="4206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1200" dirty="0">
                  <a:solidFill>
                    <a:schemeClr val="dk1"/>
                  </a:solidFill>
                  <a:latin typeface="Inter"/>
                  <a:ea typeface="Inter"/>
                  <a:cs typeface="Inter"/>
                </a:rPr>
                <a:t>Train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10191750" y="2190750"/>
              <a:ext cx="381000" cy="285750"/>
            </a:xfrm>
            <a:prstGeom prst="roundRect">
              <a:avLst>
                <a:gd name="adj" fmla="val 13333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10661904" y="2228850"/>
              <a:ext cx="78386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1200" dirty="0">
                  <a:solidFill>
                    <a:schemeClr val="dk1"/>
                  </a:solidFill>
                  <a:latin typeface="Inter"/>
                  <a:ea typeface="Inter"/>
                  <a:cs typeface="Inter"/>
                </a:rPr>
                <a:t>Validation</a:t>
              </a:r>
            </a:p>
          </p:txBody>
        </p:sp>
      </p:grpSp>
      <p:sp>
        <p:nvSpPr>
          <p:cNvPr id="43" name="Rectangle 43"/>
          <p:cNvSpPr/>
          <p:nvPr/>
        </p:nvSpPr>
        <p:spPr>
          <a:xfrm>
            <a:off x="762000" y="4953000"/>
            <a:ext cx="10668000" cy="1143000"/>
          </a:xfrm>
          <a:prstGeom prst="roundRect">
            <a:avLst>
              <a:gd name="adj" fmla="val 10000"/>
            </a:avLst>
          </a:prstGeom>
          <a:solidFill>
            <a:srgbClr val="DBEAFE"/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1040892" y="5121275"/>
            <a:ext cx="86974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" sz="1350" b="1" dirty="0">
                <a:solidFill>
                  <a:srgbClr val="1E40AF"/>
                </a:solidFill>
                <a:latin typeface="Inter"/>
                <a:ea typeface="Inter"/>
                <a:cs typeface="Inter"/>
              </a:rPr>
              <a:t>Kết luận: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041654" y="5419725"/>
            <a:ext cx="676944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129540" indent="-129540">
              <a:buClr>
                <a:srgbClr val="1E3A8A"/>
              </a:buClr>
              <a:buSzTx/>
              <a:buFontTx/>
              <a:buChar char="•"/>
            </a:pPr>
            <a:r>
              <a:rPr lang="vi" sz="1200" dirty="0">
                <a:solidFill>
                  <a:srgbClr val="1E3A8A"/>
                </a:solidFill>
                <a:latin typeface="Inter"/>
                <a:ea typeface="Inter"/>
                <a:cs typeface="Inter"/>
              </a:rPr>
              <a:t>K=2: Silhouette validation cao nhất (0.307), train-val gap thấp → generalization tốt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041654" y="5657850"/>
            <a:ext cx="363494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129540" indent="-129540">
              <a:buClr>
                <a:srgbClr val="1E3A8A"/>
              </a:buClr>
              <a:buSzTx/>
              <a:buFontTx/>
              <a:buChar char="•"/>
            </a:pPr>
            <a:r>
              <a:rPr lang="vi" sz="1200" dirty="0">
                <a:solidFill>
                  <a:srgbClr val="1E3A8A"/>
                </a:solidFill>
                <a:latin typeface="Inter"/>
                <a:ea typeface="Inter"/>
                <a:cs typeface="Inter"/>
              </a:rPr>
              <a:t>K≥3: Score giảm mạnh, overfitting risk tăng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041654" y="5895975"/>
            <a:ext cx="512713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" sz="1200" b="1" dirty="0">
                <a:solidFill>
                  <a:srgbClr val="059669"/>
                </a:solidFill>
                <a:latin typeface="Inter"/>
                <a:ea typeface="Inter"/>
                <a:cs typeface="Inter"/>
              </a:rPr>
              <a:t>→ Kết hợp Elbow + Silhouette + ARI stability (0.997): Chọn K=2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756666" y="6350000"/>
            <a:ext cx="404123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" sz="1050" dirty="0">
                <a:solidFill>
                  <a:srgbClr val="9CA3AF"/>
                </a:solidFill>
                <a:latin typeface="Inter"/>
                <a:ea typeface="Inter"/>
                <a:cs typeface="Inter"/>
              </a:rPr>
              <a:t>Quyết định: K=2, log1p+StandardScaler, random_state=42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1028883" y="6350000"/>
            <a:ext cx="40645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vi" sz="1050" dirty="0">
                <a:solidFill>
                  <a:srgbClr val="9CA3AF"/>
                </a:solidFill>
                <a:latin typeface="Inter"/>
                <a:ea typeface="Inter"/>
                <a:cs typeface="Inter"/>
              </a:rPr>
              <a:t>7 / 15</a:t>
            </a:r>
          </a:p>
        </p:txBody>
      </p:sp>
    </p:spTree>
  </p:cSld>
  <p:clrMapOvr>
    <a:masterClrMapping/>
  </p:clrMapOvr>
  <p:transition xmlns:p14="http://schemas.microsoft.com/office/powerpoint/2010/main" p14:dur="8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er"/>
          <p:cNvGrpSpPr/>
          <p:nvPr/>
        </p:nvGrpSpPr>
        <p:grpSpPr>
          <a:xfrm>
            <a:off x="555498" y="476250"/>
            <a:ext cx="7218382" cy="616077"/>
            <a:chOff x="555498" y="476250"/>
            <a:chExt cx="7218382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555498" y="476250"/>
              <a:ext cx="721838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3150" b="1" dirty="0">
                  <a:solidFill>
                    <a:schemeClr val="dk1"/>
                  </a:solidFill>
                  <a:latin typeface="Inter"/>
                  <a:ea typeface="Inter"/>
                  <a:cs typeface="Inter"/>
                </a:rPr>
                <a:t xml:space="preserve">Model Cuối Cùng — D011 </a:t>
              </a:r>
              <a:r>
                <a:rPr lang="vi" sz="3150" b="1" dirty="0">
                  <a:solidFill>
                    <a:srgbClr val="EF4444"/>
                  </a:solidFill>
                  <a:latin typeface="Inter"/>
                  <a:ea typeface="Inter"/>
                  <a:cs typeface="Inter"/>
                </a:rPr>
                <a:t>(FROZEN)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571500" y="1000125"/>
              <a:ext cx="11430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7" name="frozen-badge"/>
          <p:cNvGrpSpPr/>
          <p:nvPr/>
        </p:nvGrpSpPr>
        <p:grpSpPr>
          <a:xfrm>
            <a:off x="10001250" y="523875"/>
            <a:ext cx="1619250" cy="476250"/>
            <a:chOff x="10001250" y="523875"/>
            <a:chExt cx="1619250" cy="476250"/>
          </a:xfrm>
        </p:grpSpPr>
        <p:sp>
          <p:nvSpPr>
            <p:cNvPr id="5" name="Rectangle 5"/>
            <p:cNvSpPr/>
            <p:nvPr/>
          </p:nvSpPr>
          <p:spPr>
            <a:xfrm>
              <a:off x="10001250" y="523875"/>
              <a:ext cx="1619250" cy="476250"/>
            </a:xfrm>
            <a:prstGeom prst="roundRect">
              <a:avLst>
                <a:gd name="adj" fmla="val 50000"/>
              </a:avLst>
            </a:prstGeom>
            <a:solidFill>
              <a:srgbClr val="DCFCE7"/>
            </a:solidFill>
            <a:ln w="28575">
              <a:solidFill>
                <a:schemeClr val="accent2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0265588" y="650875"/>
              <a:ext cx="109057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" sz="1500" b="1" dirty="0">
                  <a:solidFill>
                    <a:srgbClr val="065F46"/>
                  </a:solidFill>
                  <a:latin typeface="Inter"/>
                  <a:ea typeface="Inter"/>
                  <a:cs typeface="Inter"/>
                </a:rPr>
                <a:t>✓ FROZEN</a:t>
              </a:r>
            </a:p>
          </p:txBody>
        </p:sp>
      </p:grpSp>
      <p:grpSp>
        <p:nvGrpSpPr>
          <p:cNvPr id="27" name="configuration"/>
          <p:cNvGrpSpPr/>
          <p:nvPr/>
        </p:nvGrpSpPr>
        <p:grpSpPr>
          <a:xfrm>
            <a:off x="571500" y="1524000"/>
            <a:ext cx="5334000" cy="3429000"/>
            <a:chOff x="571500" y="1524000"/>
            <a:chExt cx="5334000" cy="3429000"/>
          </a:xfrm>
        </p:grpSpPr>
        <p:sp>
          <p:nvSpPr>
            <p:cNvPr id="8" name="Rectangle 8"/>
            <p:cNvSpPr/>
            <p:nvPr/>
          </p:nvSpPr>
          <p:spPr>
            <a:xfrm>
              <a:off x="571500" y="1524000"/>
              <a:ext cx="5334000" cy="3429000"/>
            </a:xfrm>
            <a:prstGeom prst="roundRect">
              <a:avLst>
                <a:gd name="adj" fmla="val 4444"/>
              </a:avLst>
            </a:prstGeom>
            <a:solidFill>
              <a:schemeClr val="lt1"/>
            </a:solidFill>
            <a:ln w="19050">
              <a:solidFill>
                <a:schemeClr val="accent6"/>
              </a:solidFill>
            </a:ln>
            <a:effectLst>
              <a:outerShdw blurRad="152400" dist="57150" dir="5400000" algn="ctr" rotWithShape="0">
                <a:srgbClr val="000000">
                  <a:alpha val="7500"/>
                </a:srgbClr>
              </a:outerShdw>
            </a:effectLst>
          </p:spPr>
        </p:sp>
        <p:sp>
          <p:nvSpPr>
            <p:cNvPr id="9" name="Rectangle 9"/>
            <p:cNvSpPr/>
            <p:nvPr/>
          </p:nvSpPr>
          <p:spPr>
            <a:xfrm>
              <a:off x="571500" y="1524000"/>
              <a:ext cx="5334000" cy="571500"/>
            </a:xfrm>
            <a:prstGeom prst="roundRect">
              <a:avLst>
                <a:gd name="adj" fmla="val 26667"/>
              </a:avLst>
            </a:prstGeom>
            <a:solidFill>
              <a:srgbClr val="EFF6FF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8868" y="1701800"/>
              <a:ext cx="157449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1650" b="1" dirty="0">
                  <a:solidFill>
                    <a:srgbClr val="1E40AF"/>
                  </a:solidFill>
                  <a:latin typeface="Inter"/>
                  <a:ea typeface="Inter"/>
                  <a:cs typeface="Inter"/>
                </a:rPr>
                <a:t>Configuration</a:t>
              </a:r>
            </a:p>
          </p:txBody>
        </p:sp>
        <p:grpSp>
          <p:nvGrpSpPr>
            <p:cNvPr id="26" name="config-details"/>
            <p:cNvGrpSpPr/>
            <p:nvPr/>
          </p:nvGrpSpPr>
          <p:grpSpPr>
            <a:xfrm>
              <a:off x="851154" y="2276475"/>
              <a:ext cx="4510019" cy="2564384"/>
              <a:chOff x="851154" y="2276475"/>
              <a:chExt cx="4510019" cy="2564384"/>
            </a:xfrm>
          </p:grpSpPr>
          <p:sp>
            <p:nvSpPr>
              <p:cNvPr id="11" name="TextBox 11"/>
              <p:cNvSpPr txBox="1"/>
              <p:nvPr/>
            </p:nvSpPr>
            <p:spPr>
              <a:xfrm>
                <a:off x="851154" y="2276475"/>
                <a:ext cx="122093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" sz="1200" dirty="0">
                    <a:solidFill>
                      <a:schemeClr val="accent5"/>
                    </a:solidFill>
                    <a:latin typeface="Inter"/>
                    <a:ea typeface="Inter"/>
                    <a:cs typeface="Inter"/>
                  </a:rPr>
                  <a:t>Preprocessing: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3327273" y="2276475"/>
                <a:ext cx="2033900" cy="2503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" sz="1280" b="1" dirty="0">
                    <a:solidFill>
                      <a:schemeClr val="dk1"/>
                    </a:solidFill>
                    <a:latin typeface="Inter"/>
                    <a:ea typeface="Inter"/>
                    <a:cs typeface="Inter"/>
                  </a:rPr>
                  <a:t>log1p + StandardScaler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851154" y="2609850"/>
                <a:ext cx="199949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" sz="1200" dirty="0">
                    <a:solidFill>
                      <a:schemeClr val="accent5"/>
                    </a:solidFill>
                    <a:latin typeface="Inter"/>
                    <a:ea typeface="Inter"/>
                    <a:cs typeface="Inter"/>
                  </a:rPr>
                  <a:t>K: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3327273" y="2609850"/>
                <a:ext cx="917600" cy="2503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" sz="1280" b="1" dirty="0">
                    <a:solidFill>
                      <a:schemeClr val="accent1"/>
                    </a:solidFill>
                    <a:latin typeface="Inter"/>
                    <a:ea typeface="Inter"/>
                    <a:cs typeface="Inter"/>
                  </a:rPr>
                  <a:t>2 clusters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851154" y="2943225"/>
                <a:ext cx="85750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" sz="1200" dirty="0">
                    <a:solidFill>
                      <a:schemeClr val="accent5"/>
                    </a:solidFill>
                    <a:latin typeface="Inter"/>
                    <a:ea typeface="Inter"/>
                    <a:cs typeface="Inter"/>
                  </a:rPr>
                  <a:t>Algorithm: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3327273" y="2943225"/>
                <a:ext cx="420045" cy="2503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" sz="1280" b="1" dirty="0">
                    <a:solidFill>
                      <a:schemeClr val="dk1"/>
                    </a:solidFill>
                    <a:latin typeface="Inter"/>
                    <a:ea typeface="Inter"/>
                    <a:cs typeface="Inter"/>
                  </a:rPr>
                  <a:t>lloyd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851154" y="3276600"/>
                <a:ext cx="55336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" sz="1200" dirty="0">
                    <a:solidFill>
                      <a:schemeClr val="accent5"/>
                    </a:solidFill>
                    <a:latin typeface="Inter"/>
                    <a:ea typeface="Inter"/>
                    <a:cs typeface="Inter"/>
                  </a:rPr>
                  <a:t>n_init: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3327273" y="3276600"/>
                <a:ext cx="211976" cy="2503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" sz="1280" b="1" dirty="0">
                    <a:solidFill>
                      <a:schemeClr val="dk1"/>
                    </a:solidFill>
                    <a:latin typeface="Inter"/>
                    <a:ea typeface="Inter"/>
                    <a:cs typeface="Inter"/>
                  </a:rPr>
                  <a:t>10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851154" y="3609975"/>
                <a:ext cx="80375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" sz="1200" dirty="0">
                    <a:solidFill>
                      <a:schemeClr val="accent5"/>
                    </a:solidFill>
                    <a:latin typeface="Inter"/>
                    <a:ea typeface="Inter"/>
                    <a:cs typeface="Inter"/>
                  </a:rPr>
                  <a:t>max_iter: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3327273" y="3609975"/>
                <a:ext cx="311487" cy="2503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" sz="1280" b="1" dirty="0">
                    <a:solidFill>
                      <a:schemeClr val="dk1"/>
                    </a:solidFill>
                    <a:latin typeface="Inter"/>
                    <a:ea typeface="Inter"/>
                    <a:cs typeface="Inter"/>
                  </a:rPr>
                  <a:t>300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851154" y="3943350"/>
                <a:ext cx="116505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" sz="1200" dirty="0">
                    <a:solidFill>
                      <a:schemeClr val="accent5"/>
                    </a:solidFill>
                    <a:latin typeface="Inter"/>
                    <a:ea typeface="Inter"/>
                    <a:cs typeface="Inter"/>
                  </a:rPr>
                  <a:t>Random state: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3327273" y="3943350"/>
                <a:ext cx="211976" cy="2503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" sz="1280" b="1" dirty="0">
                    <a:solidFill>
                      <a:schemeClr val="dk1"/>
                    </a:solidFill>
                    <a:latin typeface="Inter"/>
                    <a:ea typeface="Inter"/>
                    <a:cs typeface="Inter"/>
                  </a:rPr>
                  <a:t>42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851154" y="4324350"/>
                <a:ext cx="1140219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" sz="1200" dirty="0">
                    <a:solidFill>
                      <a:schemeClr val="accent5"/>
                    </a:solidFill>
                    <a:latin typeface="Inter"/>
                    <a:ea typeface="Inter"/>
                    <a:cs typeface="Inter"/>
                  </a:rPr>
                  <a:t>Decision date: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3327273" y="4324350"/>
                <a:ext cx="1008065" cy="2503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" sz="1280" b="1" dirty="0">
                    <a:solidFill>
                      <a:srgbClr val="EF4444"/>
                    </a:solidFill>
                    <a:latin typeface="Inter"/>
                    <a:ea typeface="Inter"/>
                    <a:cs typeface="Inter"/>
                  </a:rPr>
                  <a:t>2026-10-08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51916" y="4635500"/>
                <a:ext cx="159659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" sz="1050" i="1" dirty="0">
                    <a:solidFill>
                      <a:srgbClr val="9CA3AF"/>
                    </a:solidFill>
                    <a:latin typeface="Inter"/>
                    <a:ea typeface="Inter"/>
                    <a:cs typeface="Inter"/>
                  </a:rPr>
                  <a:t>(BEFORE opening test)</a:t>
                </a:r>
              </a:p>
            </p:txBody>
          </p:sp>
        </p:grpSp>
      </p:grpSp>
      <p:grpSp>
        <p:nvGrpSpPr>
          <p:cNvPr id="48" name="rationale"/>
          <p:cNvGrpSpPr/>
          <p:nvPr/>
        </p:nvGrpSpPr>
        <p:grpSpPr>
          <a:xfrm>
            <a:off x="6286500" y="1524000"/>
            <a:ext cx="5334000" cy="2190750"/>
            <a:chOff x="6286500" y="1524000"/>
            <a:chExt cx="5334000" cy="2190750"/>
          </a:xfrm>
        </p:grpSpPr>
        <p:sp>
          <p:nvSpPr>
            <p:cNvPr id="28" name="Rectangle 28"/>
            <p:cNvSpPr/>
            <p:nvPr/>
          </p:nvSpPr>
          <p:spPr>
            <a:xfrm>
              <a:off x="6286500" y="1524000"/>
              <a:ext cx="5334000" cy="2190750"/>
            </a:xfrm>
            <a:prstGeom prst="roundRect">
              <a:avLst>
                <a:gd name="adj" fmla="val 6957"/>
              </a:avLst>
            </a:prstGeom>
            <a:solidFill>
              <a:schemeClr val="lt1"/>
            </a:solidFill>
            <a:ln w="19050">
              <a:solidFill>
                <a:schemeClr val="accent6"/>
              </a:solidFill>
            </a:ln>
            <a:effectLst>
              <a:outerShdw blurRad="152400" dist="57150" dir="5400000" algn="ctr" rotWithShape="0">
                <a:srgbClr val="000000">
                  <a:alpha val="7500"/>
                </a:srgbClr>
              </a:outerShdw>
            </a:effectLst>
          </p:spPr>
        </p:sp>
        <p:sp>
          <p:nvSpPr>
            <p:cNvPr id="29" name="Rectangle 29"/>
            <p:cNvSpPr/>
            <p:nvPr/>
          </p:nvSpPr>
          <p:spPr>
            <a:xfrm>
              <a:off x="6286500" y="1524000"/>
              <a:ext cx="5334000" cy="571500"/>
            </a:xfrm>
            <a:prstGeom prst="roundRect">
              <a:avLst>
                <a:gd name="adj" fmla="val 26667"/>
              </a:avLst>
            </a:prstGeom>
            <a:solidFill>
              <a:srgbClr val="DCFCE7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563868" y="1701800"/>
              <a:ext cx="106116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1650" b="1" dirty="0">
                  <a:solidFill>
                    <a:srgbClr val="065F46"/>
                  </a:solidFill>
                  <a:latin typeface="Inter"/>
                  <a:ea typeface="Inter"/>
                  <a:cs typeface="Inter"/>
                </a:rPr>
                <a:t>Rationale</a:t>
              </a:r>
            </a:p>
          </p:txBody>
        </p:sp>
        <p:grpSp>
          <p:nvGrpSpPr>
            <p:cNvPr id="47" name="rationale-points"/>
            <p:cNvGrpSpPr/>
            <p:nvPr/>
          </p:nvGrpSpPr>
          <p:grpSpPr>
            <a:xfrm>
              <a:off x="6593681" y="2259806"/>
              <a:ext cx="3039294" cy="1251490"/>
              <a:chOff x="6593681" y="2259806"/>
              <a:chExt cx="3039294" cy="1251490"/>
            </a:xfrm>
          </p:grpSpPr>
          <p:grpSp>
            <p:nvGrpSpPr>
              <p:cNvPr id="33" name="Group 33"/>
              <p:cNvGrpSpPr/>
              <p:nvPr/>
            </p:nvGrpSpPr>
            <p:grpSpPr>
              <a:xfrm>
                <a:off x="6593681" y="2259806"/>
                <a:ext cx="185738" cy="185738"/>
                <a:chOff x="6593681" y="2259806"/>
                <a:chExt cx="185738" cy="185738"/>
              </a:xfrm>
            </p:grpSpPr>
            <p:sp>
              <p:nvSpPr>
                <p:cNvPr id="31" name="Freeform 31"/>
                <p:cNvSpPr/>
                <p:nvPr/>
              </p:nvSpPr>
              <p:spPr>
                <a:xfrm>
                  <a:off x="6600825" y="2266950"/>
                  <a:ext cx="171450" cy="1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171450">
                      <a:moveTo>
                        <a:pt x="171450" y="85725"/>
                      </a:moveTo>
                      <a:cubicBezTo>
                        <a:pt x="171450" y="133070"/>
                        <a:pt x="133070" y="171450"/>
                        <a:pt x="85725" y="171450"/>
                      </a:cubicBezTo>
                      <a:cubicBezTo>
                        <a:pt x="38380" y="171450"/>
                        <a:pt x="0" y="133070"/>
                        <a:pt x="0" y="85725"/>
                      </a:cubicBezTo>
                      <a:cubicBezTo>
                        <a:pt x="0" y="38380"/>
                        <a:pt x="38380" y="0"/>
                        <a:pt x="85725" y="0"/>
                      </a:cubicBezTo>
                      <a:cubicBezTo>
                        <a:pt x="133070" y="0"/>
                        <a:pt x="171450" y="38380"/>
                        <a:pt x="171450" y="85725"/>
                      </a:cubicBezTo>
                      <a:close/>
                    </a:path>
                  </a:pathLst>
                </a:custGeom>
                <a:solidFill>
                  <a:schemeClr val="accent2">
                    <a:alpha val="20000"/>
                  </a:schemeClr>
                </a:solidFill>
                <a:ln>
                  <a:noFill/>
                </a:ln>
              </p:spPr>
            </p:sp>
            <p:sp>
              <p:nvSpPr>
                <p:cNvPr id="32" name="Freeform 32"/>
                <p:cNvSpPr/>
                <p:nvPr/>
              </p:nvSpPr>
              <p:spPr>
                <a:xfrm>
                  <a:off x="6593681" y="2259806"/>
                  <a:ext cx="185738" cy="1857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5738" h="185738">
                      <a:moveTo>
                        <a:pt x="133642" y="66383"/>
                      </a:moveTo>
                      <a:cubicBezTo>
                        <a:pt x="134983" y="67723"/>
                        <a:pt x="135737" y="69541"/>
                        <a:pt x="135737" y="71438"/>
                      </a:cubicBezTo>
                      <a:cubicBezTo>
                        <a:pt x="135737" y="73334"/>
                        <a:pt x="134983" y="75152"/>
                        <a:pt x="133642" y="76492"/>
                      </a:cubicBezTo>
                      <a:lnTo>
                        <a:pt x="83635" y="126498"/>
                      </a:lnTo>
                      <a:cubicBezTo>
                        <a:pt x="82296" y="127839"/>
                        <a:pt x="80477" y="128593"/>
                        <a:pt x="78581" y="128593"/>
                      </a:cubicBezTo>
                      <a:cubicBezTo>
                        <a:pt x="76685" y="128593"/>
                        <a:pt x="74867" y="127839"/>
                        <a:pt x="73527" y="126498"/>
                      </a:cubicBezTo>
                      <a:lnTo>
                        <a:pt x="52096" y="105067"/>
                      </a:lnTo>
                      <a:cubicBezTo>
                        <a:pt x="49304" y="102275"/>
                        <a:pt x="49304" y="97750"/>
                        <a:pt x="52096" y="94958"/>
                      </a:cubicBezTo>
                      <a:cubicBezTo>
                        <a:pt x="54887" y="92167"/>
                        <a:pt x="59413" y="92167"/>
                        <a:pt x="62204" y="94958"/>
                      </a:cubicBezTo>
                      <a:lnTo>
                        <a:pt x="78581" y="111344"/>
                      </a:lnTo>
                      <a:lnTo>
                        <a:pt x="123533" y="66383"/>
                      </a:lnTo>
                      <a:cubicBezTo>
                        <a:pt x="124873" y="65042"/>
                        <a:pt x="126691" y="64288"/>
                        <a:pt x="128588" y="64288"/>
                      </a:cubicBezTo>
                      <a:cubicBezTo>
                        <a:pt x="130484" y="64288"/>
                        <a:pt x="132302" y="65042"/>
                        <a:pt x="133642" y="66383"/>
                      </a:cubicBezTo>
                      <a:close/>
                      <a:moveTo>
                        <a:pt x="185738" y="92869"/>
                      </a:moveTo>
                      <a:cubicBezTo>
                        <a:pt x="185738" y="144159"/>
                        <a:pt x="144159" y="185738"/>
                        <a:pt x="92869" y="185738"/>
                      </a:cubicBezTo>
                      <a:cubicBezTo>
                        <a:pt x="41579" y="185738"/>
                        <a:pt x="0" y="144159"/>
                        <a:pt x="0" y="92869"/>
                      </a:cubicBezTo>
                      <a:cubicBezTo>
                        <a:pt x="0" y="41579"/>
                        <a:pt x="41579" y="0"/>
                        <a:pt x="92869" y="0"/>
                      </a:cubicBezTo>
                      <a:cubicBezTo>
                        <a:pt x="144136" y="54"/>
                        <a:pt x="185683" y="41601"/>
                        <a:pt x="185738" y="92869"/>
                      </a:cubicBezTo>
                      <a:close/>
                      <a:moveTo>
                        <a:pt x="171450" y="92869"/>
                      </a:moveTo>
                      <a:cubicBezTo>
                        <a:pt x="171450" y="49470"/>
                        <a:pt x="136268" y="14288"/>
                        <a:pt x="92869" y="14288"/>
                      </a:cubicBezTo>
                      <a:cubicBezTo>
                        <a:pt x="49470" y="14288"/>
                        <a:pt x="14288" y="49470"/>
                        <a:pt x="14288" y="92869"/>
                      </a:cubicBezTo>
                      <a:cubicBezTo>
                        <a:pt x="14288" y="136268"/>
                        <a:pt x="49470" y="171450"/>
                        <a:pt x="92869" y="171450"/>
                      </a:cubicBezTo>
                      <a:cubicBezTo>
                        <a:pt x="136248" y="171401"/>
                        <a:pt x="171401" y="136248"/>
                        <a:pt x="171450" y="92869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</p:sp>
          </p:grpSp>
          <p:sp>
            <p:nvSpPr>
              <p:cNvPr id="34" name="TextBox 34"/>
              <p:cNvSpPr txBox="1"/>
              <p:nvPr/>
            </p:nvSpPr>
            <p:spPr>
              <a:xfrm>
                <a:off x="6899529" y="2276475"/>
                <a:ext cx="233775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" sz="1200" dirty="0">
                    <a:solidFill>
                      <a:schemeClr val="dk1"/>
                    </a:solidFill>
                    <a:latin typeface="Inter"/>
                    <a:ea typeface="Inter"/>
                    <a:cs typeface="Inter"/>
                  </a:rPr>
                  <a:t xml:space="preserve">Validation silhouette: </a:t>
                </a:r>
                <a:r>
                  <a:rPr lang="vi" sz="1200" b="1" dirty="0">
                    <a:solidFill>
                      <a:schemeClr val="accent2"/>
                    </a:solidFill>
                    <a:latin typeface="Inter"/>
                    <a:ea typeface="Inter"/>
                    <a:cs typeface="Inter"/>
                  </a:rPr>
                  <a:t>0.3066</a:t>
                </a:r>
              </a:p>
            </p:txBody>
          </p:sp>
          <p:grpSp>
            <p:nvGrpSpPr>
              <p:cNvPr id="37" name="Group 37"/>
              <p:cNvGrpSpPr/>
              <p:nvPr/>
            </p:nvGrpSpPr>
            <p:grpSpPr>
              <a:xfrm>
                <a:off x="6593681" y="2593181"/>
                <a:ext cx="185738" cy="185738"/>
                <a:chOff x="6593681" y="2593181"/>
                <a:chExt cx="185738" cy="185738"/>
              </a:xfrm>
            </p:grpSpPr>
            <p:sp>
              <p:nvSpPr>
                <p:cNvPr id="35" name="Freeform 35"/>
                <p:cNvSpPr/>
                <p:nvPr/>
              </p:nvSpPr>
              <p:spPr>
                <a:xfrm>
                  <a:off x="6600825" y="2600325"/>
                  <a:ext cx="171450" cy="1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171450">
                      <a:moveTo>
                        <a:pt x="171450" y="85725"/>
                      </a:moveTo>
                      <a:cubicBezTo>
                        <a:pt x="171450" y="133070"/>
                        <a:pt x="133070" y="171450"/>
                        <a:pt x="85725" y="171450"/>
                      </a:cubicBezTo>
                      <a:cubicBezTo>
                        <a:pt x="38380" y="171450"/>
                        <a:pt x="0" y="133070"/>
                        <a:pt x="0" y="85725"/>
                      </a:cubicBezTo>
                      <a:cubicBezTo>
                        <a:pt x="0" y="38380"/>
                        <a:pt x="38380" y="0"/>
                        <a:pt x="85725" y="0"/>
                      </a:cubicBezTo>
                      <a:cubicBezTo>
                        <a:pt x="133070" y="0"/>
                        <a:pt x="171450" y="38380"/>
                        <a:pt x="171450" y="85725"/>
                      </a:cubicBezTo>
                      <a:close/>
                    </a:path>
                  </a:pathLst>
                </a:custGeom>
                <a:solidFill>
                  <a:schemeClr val="accent2">
                    <a:alpha val="20000"/>
                  </a:schemeClr>
                </a:solidFill>
                <a:ln>
                  <a:noFill/>
                </a:ln>
              </p:spPr>
            </p:sp>
            <p:sp>
              <p:nvSpPr>
                <p:cNvPr id="36" name="Freeform 36"/>
                <p:cNvSpPr/>
                <p:nvPr/>
              </p:nvSpPr>
              <p:spPr>
                <a:xfrm>
                  <a:off x="6593681" y="2593181"/>
                  <a:ext cx="185738" cy="1857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5738" h="185738">
                      <a:moveTo>
                        <a:pt x="133642" y="66383"/>
                      </a:moveTo>
                      <a:cubicBezTo>
                        <a:pt x="134983" y="67723"/>
                        <a:pt x="135737" y="69541"/>
                        <a:pt x="135737" y="71438"/>
                      </a:cubicBezTo>
                      <a:cubicBezTo>
                        <a:pt x="135737" y="73334"/>
                        <a:pt x="134983" y="75152"/>
                        <a:pt x="133642" y="76492"/>
                      </a:cubicBezTo>
                      <a:lnTo>
                        <a:pt x="83635" y="126498"/>
                      </a:lnTo>
                      <a:cubicBezTo>
                        <a:pt x="82296" y="127839"/>
                        <a:pt x="80477" y="128593"/>
                        <a:pt x="78581" y="128593"/>
                      </a:cubicBezTo>
                      <a:cubicBezTo>
                        <a:pt x="76685" y="128593"/>
                        <a:pt x="74867" y="127839"/>
                        <a:pt x="73527" y="126498"/>
                      </a:cubicBezTo>
                      <a:lnTo>
                        <a:pt x="52096" y="105067"/>
                      </a:lnTo>
                      <a:cubicBezTo>
                        <a:pt x="49304" y="102275"/>
                        <a:pt x="49304" y="97750"/>
                        <a:pt x="52096" y="94958"/>
                      </a:cubicBezTo>
                      <a:cubicBezTo>
                        <a:pt x="54887" y="92167"/>
                        <a:pt x="59413" y="92167"/>
                        <a:pt x="62204" y="94958"/>
                      </a:cubicBezTo>
                      <a:lnTo>
                        <a:pt x="78581" y="111344"/>
                      </a:lnTo>
                      <a:lnTo>
                        <a:pt x="123533" y="66383"/>
                      </a:lnTo>
                      <a:cubicBezTo>
                        <a:pt x="124873" y="65042"/>
                        <a:pt x="126691" y="64288"/>
                        <a:pt x="128588" y="64288"/>
                      </a:cubicBezTo>
                      <a:cubicBezTo>
                        <a:pt x="130484" y="64288"/>
                        <a:pt x="132302" y="65042"/>
                        <a:pt x="133642" y="66383"/>
                      </a:cubicBezTo>
                      <a:close/>
                      <a:moveTo>
                        <a:pt x="185738" y="92869"/>
                      </a:moveTo>
                      <a:cubicBezTo>
                        <a:pt x="185738" y="144159"/>
                        <a:pt x="144159" y="185738"/>
                        <a:pt x="92869" y="185738"/>
                      </a:cubicBezTo>
                      <a:cubicBezTo>
                        <a:pt x="41579" y="185738"/>
                        <a:pt x="0" y="144159"/>
                        <a:pt x="0" y="92869"/>
                      </a:cubicBezTo>
                      <a:cubicBezTo>
                        <a:pt x="0" y="41579"/>
                        <a:pt x="41579" y="0"/>
                        <a:pt x="92869" y="0"/>
                      </a:cubicBezTo>
                      <a:cubicBezTo>
                        <a:pt x="144136" y="54"/>
                        <a:pt x="185683" y="41601"/>
                        <a:pt x="185738" y="92869"/>
                      </a:cubicBezTo>
                      <a:close/>
                      <a:moveTo>
                        <a:pt x="171450" y="92869"/>
                      </a:moveTo>
                      <a:cubicBezTo>
                        <a:pt x="171450" y="49470"/>
                        <a:pt x="136268" y="14288"/>
                        <a:pt x="92869" y="14288"/>
                      </a:cubicBezTo>
                      <a:cubicBezTo>
                        <a:pt x="49470" y="14288"/>
                        <a:pt x="14288" y="49470"/>
                        <a:pt x="14288" y="92869"/>
                      </a:cubicBezTo>
                      <a:cubicBezTo>
                        <a:pt x="14288" y="136268"/>
                        <a:pt x="49470" y="171450"/>
                        <a:pt x="92869" y="171450"/>
                      </a:cubicBezTo>
                      <a:cubicBezTo>
                        <a:pt x="136248" y="171401"/>
                        <a:pt x="171401" y="136248"/>
                        <a:pt x="171450" y="92869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</p:sp>
          </p:grpSp>
          <p:sp>
            <p:nvSpPr>
              <p:cNvPr id="38" name="TextBox 38"/>
              <p:cNvSpPr txBox="1"/>
              <p:nvPr/>
            </p:nvSpPr>
            <p:spPr>
              <a:xfrm>
                <a:off x="6899529" y="2609850"/>
                <a:ext cx="263221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" sz="1200" dirty="0">
                    <a:solidFill>
                      <a:schemeClr val="dk1"/>
                    </a:solidFill>
                    <a:latin typeface="Inter"/>
                    <a:ea typeface="Inter"/>
                    <a:cs typeface="Inter"/>
                  </a:rPr>
                  <a:t xml:space="preserve">Seed ARI: </a:t>
                </a:r>
                <a:r>
                  <a:rPr lang="vi" sz="1200" b="1" dirty="0">
                    <a:solidFill>
                      <a:schemeClr val="accent2"/>
                    </a:solidFill>
                    <a:latin typeface="Inter"/>
                    <a:ea typeface="Inter"/>
                    <a:cs typeface="Inter"/>
                  </a:rPr>
                  <a:t>0.9970</a:t>
                </a:r>
                <a:r>
                  <a:rPr lang="vi" sz="1200" dirty="0">
                    <a:solidFill>
                      <a:schemeClr val="dk1"/>
                    </a:solidFill>
                    <a:latin typeface="Inter"/>
                    <a:ea typeface="Inter"/>
                    <a:cs typeface="Inter"/>
                  </a:rPr>
                  <a:t xml:space="preserve"> (high stability)</a:t>
                </a:r>
              </a:p>
            </p:txBody>
          </p:sp>
          <p:grpSp>
            <p:nvGrpSpPr>
              <p:cNvPr id="41" name="Group 41"/>
              <p:cNvGrpSpPr/>
              <p:nvPr/>
            </p:nvGrpSpPr>
            <p:grpSpPr>
              <a:xfrm>
                <a:off x="6593681" y="2926556"/>
                <a:ext cx="185738" cy="185738"/>
                <a:chOff x="6593681" y="2926556"/>
                <a:chExt cx="185738" cy="185738"/>
              </a:xfrm>
            </p:grpSpPr>
            <p:sp>
              <p:nvSpPr>
                <p:cNvPr id="39" name="Freeform 39"/>
                <p:cNvSpPr/>
                <p:nvPr/>
              </p:nvSpPr>
              <p:spPr>
                <a:xfrm>
                  <a:off x="6600825" y="2933700"/>
                  <a:ext cx="171450" cy="1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171450">
                      <a:moveTo>
                        <a:pt x="171450" y="85725"/>
                      </a:moveTo>
                      <a:cubicBezTo>
                        <a:pt x="171450" y="133070"/>
                        <a:pt x="133070" y="171450"/>
                        <a:pt x="85725" y="171450"/>
                      </a:cubicBezTo>
                      <a:cubicBezTo>
                        <a:pt x="38380" y="171450"/>
                        <a:pt x="0" y="133070"/>
                        <a:pt x="0" y="85725"/>
                      </a:cubicBezTo>
                      <a:cubicBezTo>
                        <a:pt x="0" y="38380"/>
                        <a:pt x="38380" y="0"/>
                        <a:pt x="85725" y="0"/>
                      </a:cubicBezTo>
                      <a:cubicBezTo>
                        <a:pt x="133070" y="0"/>
                        <a:pt x="171450" y="38380"/>
                        <a:pt x="171450" y="85725"/>
                      </a:cubicBezTo>
                      <a:close/>
                    </a:path>
                  </a:pathLst>
                </a:custGeom>
                <a:solidFill>
                  <a:schemeClr val="accent2">
                    <a:alpha val="20000"/>
                  </a:schemeClr>
                </a:solidFill>
                <a:ln>
                  <a:noFill/>
                </a:ln>
              </p:spPr>
            </p:sp>
            <p:sp>
              <p:nvSpPr>
                <p:cNvPr id="40" name="Freeform 40"/>
                <p:cNvSpPr/>
                <p:nvPr/>
              </p:nvSpPr>
              <p:spPr>
                <a:xfrm>
                  <a:off x="6593681" y="2926556"/>
                  <a:ext cx="185738" cy="1857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5738" h="185738">
                      <a:moveTo>
                        <a:pt x="133642" y="66383"/>
                      </a:moveTo>
                      <a:cubicBezTo>
                        <a:pt x="134983" y="67723"/>
                        <a:pt x="135737" y="69541"/>
                        <a:pt x="135737" y="71438"/>
                      </a:cubicBezTo>
                      <a:cubicBezTo>
                        <a:pt x="135737" y="73334"/>
                        <a:pt x="134983" y="75152"/>
                        <a:pt x="133642" y="76492"/>
                      </a:cubicBezTo>
                      <a:lnTo>
                        <a:pt x="83635" y="126498"/>
                      </a:lnTo>
                      <a:cubicBezTo>
                        <a:pt x="82296" y="127839"/>
                        <a:pt x="80477" y="128593"/>
                        <a:pt x="78581" y="128593"/>
                      </a:cubicBezTo>
                      <a:cubicBezTo>
                        <a:pt x="76685" y="128593"/>
                        <a:pt x="74867" y="127839"/>
                        <a:pt x="73527" y="126498"/>
                      </a:cubicBezTo>
                      <a:lnTo>
                        <a:pt x="52096" y="105067"/>
                      </a:lnTo>
                      <a:cubicBezTo>
                        <a:pt x="49304" y="102275"/>
                        <a:pt x="49304" y="97750"/>
                        <a:pt x="52096" y="94958"/>
                      </a:cubicBezTo>
                      <a:cubicBezTo>
                        <a:pt x="54887" y="92167"/>
                        <a:pt x="59413" y="92167"/>
                        <a:pt x="62204" y="94958"/>
                      </a:cubicBezTo>
                      <a:lnTo>
                        <a:pt x="78581" y="111344"/>
                      </a:lnTo>
                      <a:lnTo>
                        <a:pt x="123533" y="66383"/>
                      </a:lnTo>
                      <a:cubicBezTo>
                        <a:pt x="124873" y="65042"/>
                        <a:pt x="126691" y="64288"/>
                        <a:pt x="128588" y="64288"/>
                      </a:cubicBezTo>
                      <a:cubicBezTo>
                        <a:pt x="130484" y="64288"/>
                        <a:pt x="132302" y="65042"/>
                        <a:pt x="133642" y="66383"/>
                      </a:cubicBezTo>
                      <a:close/>
                      <a:moveTo>
                        <a:pt x="185738" y="92869"/>
                      </a:moveTo>
                      <a:cubicBezTo>
                        <a:pt x="185738" y="144159"/>
                        <a:pt x="144159" y="185738"/>
                        <a:pt x="92869" y="185738"/>
                      </a:cubicBezTo>
                      <a:cubicBezTo>
                        <a:pt x="41579" y="185738"/>
                        <a:pt x="0" y="144159"/>
                        <a:pt x="0" y="92869"/>
                      </a:cubicBezTo>
                      <a:cubicBezTo>
                        <a:pt x="0" y="41579"/>
                        <a:pt x="41579" y="0"/>
                        <a:pt x="92869" y="0"/>
                      </a:cubicBezTo>
                      <a:cubicBezTo>
                        <a:pt x="144136" y="54"/>
                        <a:pt x="185683" y="41601"/>
                        <a:pt x="185738" y="92869"/>
                      </a:cubicBezTo>
                      <a:close/>
                      <a:moveTo>
                        <a:pt x="171450" y="92869"/>
                      </a:moveTo>
                      <a:cubicBezTo>
                        <a:pt x="171450" y="49470"/>
                        <a:pt x="136268" y="14288"/>
                        <a:pt x="92869" y="14288"/>
                      </a:cubicBezTo>
                      <a:cubicBezTo>
                        <a:pt x="49470" y="14288"/>
                        <a:pt x="14288" y="49470"/>
                        <a:pt x="14288" y="92869"/>
                      </a:cubicBezTo>
                      <a:cubicBezTo>
                        <a:pt x="14288" y="136268"/>
                        <a:pt x="49470" y="171450"/>
                        <a:pt x="92869" y="171450"/>
                      </a:cubicBezTo>
                      <a:cubicBezTo>
                        <a:pt x="136248" y="171401"/>
                        <a:pt x="171401" y="136248"/>
                        <a:pt x="171450" y="92869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</p:sp>
          </p:grpSp>
          <p:sp>
            <p:nvSpPr>
              <p:cNvPr id="42" name="TextBox 42"/>
              <p:cNvSpPr txBox="1"/>
              <p:nvPr/>
            </p:nvSpPr>
            <p:spPr>
              <a:xfrm>
                <a:off x="6899529" y="2943225"/>
                <a:ext cx="273344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" sz="1200" dirty="0">
                    <a:solidFill>
                      <a:schemeClr val="dk1"/>
                    </a:solidFill>
                    <a:latin typeface="Inter"/>
                    <a:ea typeface="Inter"/>
                    <a:cs typeface="Inter"/>
                  </a:rPr>
                  <a:t>Balanced sizes (min share 44.70%)</a:t>
                </a:r>
              </a:p>
            </p:txBody>
          </p:sp>
          <p:grpSp>
            <p:nvGrpSpPr>
              <p:cNvPr id="45" name="Group 45"/>
              <p:cNvGrpSpPr/>
              <p:nvPr/>
            </p:nvGrpSpPr>
            <p:grpSpPr>
              <a:xfrm>
                <a:off x="6593681" y="3259931"/>
                <a:ext cx="185738" cy="185738"/>
                <a:chOff x="6593681" y="3259931"/>
                <a:chExt cx="185738" cy="185738"/>
              </a:xfrm>
            </p:grpSpPr>
            <p:sp>
              <p:nvSpPr>
                <p:cNvPr id="43" name="Freeform 43"/>
                <p:cNvSpPr/>
                <p:nvPr/>
              </p:nvSpPr>
              <p:spPr>
                <a:xfrm>
                  <a:off x="6600825" y="3267075"/>
                  <a:ext cx="171450" cy="1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171450">
                      <a:moveTo>
                        <a:pt x="171450" y="85725"/>
                      </a:moveTo>
                      <a:cubicBezTo>
                        <a:pt x="171450" y="133070"/>
                        <a:pt x="133070" y="171450"/>
                        <a:pt x="85725" y="171450"/>
                      </a:cubicBezTo>
                      <a:cubicBezTo>
                        <a:pt x="38380" y="171450"/>
                        <a:pt x="0" y="133070"/>
                        <a:pt x="0" y="85725"/>
                      </a:cubicBezTo>
                      <a:cubicBezTo>
                        <a:pt x="0" y="38380"/>
                        <a:pt x="38380" y="0"/>
                        <a:pt x="85725" y="0"/>
                      </a:cubicBezTo>
                      <a:cubicBezTo>
                        <a:pt x="133070" y="0"/>
                        <a:pt x="171450" y="38380"/>
                        <a:pt x="171450" y="85725"/>
                      </a:cubicBezTo>
                      <a:close/>
                    </a:path>
                  </a:pathLst>
                </a:custGeom>
                <a:solidFill>
                  <a:schemeClr val="accent2">
                    <a:alpha val="20000"/>
                  </a:schemeClr>
                </a:solidFill>
                <a:ln>
                  <a:noFill/>
                </a:ln>
              </p:spPr>
            </p:sp>
            <p:sp>
              <p:nvSpPr>
                <p:cNvPr id="44" name="Freeform 44"/>
                <p:cNvSpPr/>
                <p:nvPr/>
              </p:nvSpPr>
              <p:spPr>
                <a:xfrm>
                  <a:off x="6593681" y="3259931"/>
                  <a:ext cx="185738" cy="1857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5738" h="185738">
                      <a:moveTo>
                        <a:pt x="133642" y="66383"/>
                      </a:moveTo>
                      <a:cubicBezTo>
                        <a:pt x="134983" y="67723"/>
                        <a:pt x="135737" y="69541"/>
                        <a:pt x="135737" y="71438"/>
                      </a:cubicBezTo>
                      <a:cubicBezTo>
                        <a:pt x="135737" y="73334"/>
                        <a:pt x="134983" y="75152"/>
                        <a:pt x="133642" y="76492"/>
                      </a:cubicBezTo>
                      <a:lnTo>
                        <a:pt x="83635" y="126498"/>
                      </a:lnTo>
                      <a:cubicBezTo>
                        <a:pt x="82296" y="127839"/>
                        <a:pt x="80477" y="128593"/>
                        <a:pt x="78581" y="128593"/>
                      </a:cubicBezTo>
                      <a:cubicBezTo>
                        <a:pt x="76685" y="128593"/>
                        <a:pt x="74867" y="127839"/>
                        <a:pt x="73527" y="126498"/>
                      </a:cubicBezTo>
                      <a:lnTo>
                        <a:pt x="52096" y="105067"/>
                      </a:lnTo>
                      <a:cubicBezTo>
                        <a:pt x="49304" y="102275"/>
                        <a:pt x="49304" y="97750"/>
                        <a:pt x="52096" y="94958"/>
                      </a:cubicBezTo>
                      <a:cubicBezTo>
                        <a:pt x="54887" y="92167"/>
                        <a:pt x="59413" y="92167"/>
                        <a:pt x="62204" y="94958"/>
                      </a:cubicBezTo>
                      <a:lnTo>
                        <a:pt x="78581" y="111344"/>
                      </a:lnTo>
                      <a:lnTo>
                        <a:pt x="123533" y="66383"/>
                      </a:lnTo>
                      <a:cubicBezTo>
                        <a:pt x="124873" y="65042"/>
                        <a:pt x="126691" y="64288"/>
                        <a:pt x="128588" y="64288"/>
                      </a:cubicBezTo>
                      <a:cubicBezTo>
                        <a:pt x="130484" y="64288"/>
                        <a:pt x="132302" y="65042"/>
                        <a:pt x="133642" y="66383"/>
                      </a:cubicBezTo>
                      <a:close/>
                      <a:moveTo>
                        <a:pt x="185738" y="92869"/>
                      </a:moveTo>
                      <a:cubicBezTo>
                        <a:pt x="185738" y="144159"/>
                        <a:pt x="144159" y="185738"/>
                        <a:pt x="92869" y="185738"/>
                      </a:cubicBezTo>
                      <a:cubicBezTo>
                        <a:pt x="41579" y="185738"/>
                        <a:pt x="0" y="144159"/>
                        <a:pt x="0" y="92869"/>
                      </a:cubicBezTo>
                      <a:cubicBezTo>
                        <a:pt x="0" y="41579"/>
                        <a:pt x="41579" y="0"/>
                        <a:pt x="92869" y="0"/>
                      </a:cubicBezTo>
                      <a:cubicBezTo>
                        <a:pt x="144136" y="54"/>
                        <a:pt x="185683" y="41601"/>
                        <a:pt x="185738" y="92869"/>
                      </a:cubicBezTo>
                      <a:close/>
                      <a:moveTo>
                        <a:pt x="171450" y="92869"/>
                      </a:moveTo>
                      <a:cubicBezTo>
                        <a:pt x="171450" y="49470"/>
                        <a:pt x="136268" y="14288"/>
                        <a:pt x="92869" y="14288"/>
                      </a:cubicBezTo>
                      <a:cubicBezTo>
                        <a:pt x="49470" y="14288"/>
                        <a:pt x="14288" y="49470"/>
                        <a:pt x="14288" y="92869"/>
                      </a:cubicBezTo>
                      <a:cubicBezTo>
                        <a:pt x="14288" y="136268"/>
                        <a:pt x="49470" y="171450"/>
                        <a:pt x="92869" y="171450"/>
                      </a:cubicBezTo>
                      <a:cubicBezTo>
                        <a:pt x="136248" y="171401"/>
                        <a:pt x="171401" y="136248"/>
                        <a:pt x="171450" y="92869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</p:sp>
          </p:grpSp>
          <p:sp>
            <p:nvSpPr>
              <p:cNvPr id="46" name="TextBox 46"/>
              <p:cNvSpPr txBox="1"/>
              <p:nvPr/>
            </p:nvSpPr>
            <p:spPr>
              <a:xfrm>
                <a:off x="6899529" y="3276600"/>
                <a:ext cx="2633053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" sz="1200" dirty="0">
                    <a:solidFill>
                      <a:schemeClr val="dk1"/>
                    </a:solidFill>
                    <a:latin typeface="Inter"/>
                    <a:ea typeface="Inter"/>
                    <a:cs typeface="Inter"/>
                  </a:rPr>
                  <a:t>Refit ARI: 0.8893 vs K3's 0.3343</a:t>
                </a:r>
              </a:p>
            </p:txBody>
          </p:sp>
        </p:grpSp>
      </p:grpSp>
      <p:grpSp>
        <p:nvGrpSpPr>
          <p:cNvPr id="53" name="final-test"/>
          <p:cNvGrpSpPr/>
          <p:nvPr/>
        </p:nvGrpSpPr>
        <p:grpSpPr>
          <a:xfrm>
            <a:off x="6286500" y="4000500"/>
            <a:ext cx="5334000" cy="955167"/>
            <a:chOff x="6286500" y="4000500"/>
            <a:chExt cx="5334000" cy="955167"/>
          </a:xfrm>
        </p:grpSpPr>
        <p:sp>
          <p:nvSpPr>
            <p:cNvPr id="49" name="Rectangle 49"/>
            <p:cNvSpPr/>
            <p:nvPr/>
          </p:nvSpPr>
          <p:spPr>
            <a:xfrm>
              <a:off x="6286500" y="4000500"/>
              <a:ext cx="5334000" cy="952500"/>
            </a:xfrm>
            <a:prstGeom prst="roundRect">
              <a:avLst>
                <a:gd name="adj" fmla="val 16000"/>
              </a:avLst>
            </a:prstGeom>
            <a:solidFill>
              <a:srgbClr val="FEF2F2"/>
            </a:solidFill>
            <a:ln w="28575">
              <a:solidFill>
                <a:srgbClr val="EF4444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564630" y="4156075"/>
              <a:ext cx="403240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1500" b="1" dirty="0">
                  <a:solidFill>
                    <a:srgbClr val="991B1B"/>
                  </a:solidFill>
                  <a:latin typeface="Inter"/>
                  <a:ea typeface="Inter"/>
                  <a:cs typeface="Inter"/>
                </a:rPr>
                <a:t>Final Test (88 samples, ONE time only)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565773" y="4467225"/>
              <a:ext cx="1761937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38176" indent="-138176">
                <a:buClr>
                  <a:srgbClr val="7F1D1D"/>
                </a:buClr>
                <a:buSzTx/>
                <a:buFontTx/>
                <a:buChar char="•"/>
              </a:pPr>
              <a:r>
                <a:rPr lang="vi" sz="1280" dirty="0">
                  <a:solidFill>
                    <a:srgbClr val="7F1D1D"/>
                  </a:solidFill>
                  <a:latin typeface="Inter"/>
                  <a:ea typeface="Inter"/>
                  <a:cs typeface="Inter"/>
                </a:rPr>
                <a:t xml:space="preserve">Silhouette: </a:t>
              </a:r>
              <a:r>
                <a:rPr lang="vi" sz="1280" b="1" dirty="0">
                  <a:solidFill>
                    <a:srgbClr val="7F1D1D"/>
                  </a:solidFill>
                  <a:latin typeface="Inter"/>
                  <a:ea typeface="Inter"/>
                  <a:cs typeface="Inter"/>
                </a:rPr>
                <a:t>0.2389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565773" y="4705350"/>
              <a:ext cx="3192758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38176" indent="-138176">
                <a:buClr>
                  <a:srgbClr val="7F1D1D"/>
                </a:buClr>
                <a:buSzTx/>
                <a:buFontTx/>
                <a:buChar char="•"/>
              </a:pPr>
              <a:r>
                <a:rPr lang="vi" sz="1280" dirty="0">
                  <a:solidFill>
                    <a:srgbClr val="7F1D1D"/>
                  </a:solidFill>
                  <a:latin typeface="Inter"/>
                  <a:ea typeface="Inter"/>
                  <a:cs typeface="Inter"/>
                </a:rPr>
                <a:t xml:space="preserve">Cluster sizes: </a:t>
              </a:r>
              <a:r>
                <a:rPr lang="vi" sz="1280" b="1" dirty="0">
                  <a:solidFill>
                    <a:srgbClr val="7F1D1D"/>
                  </a:solidFill>
                  <a:latin typeface="Inter"/>
                  <a:ea typeface="Inter"/>
                  <a:cs typeface="Inter"/>
                </a:rPr>
                <a:t>45 / 43</a:t>
              </a:r>
              <a:r>
                <a:rPr lang="vi" sz="1280" dirty="0">
                  <a:solidFill>
                    <a:srgbClr val="7F1D1D"/>
                  </a:solidFill>
                  <a:latin typeface="Inter"/>
                  <a:ea typeface="Inter"/>
                  <a:cs typeface="Inter"/>
                </a:rPr>
                <a:t xml:space="preserve"> (balanced ✓)</a:t>
              </a:r>
            </a:p>
          </p:txBody>
        </p:sp>
      </p:grpSp>
      <p:grpSp>
        <p:nvGrpSpPr>
          <p:cNvPr id="57" name="takeaway"/>
          <p:cNvGrpSpPr/>
          <p:nvPr/>
        </p:nvGrpSpPr>
        <p:grpSpPr>
          <a:xfrm>
            <a:off x="571500" y="5238750"/>
            <a:ext cx="11049000" cy="762000"/>
            <a:chOff x="571500" y="5238750"/>
            <a:chExt cx="11049000" cy="762000"/>
          </a:xfrm>
        </p:grpSpPr>
        <p:sp>
          <p:nvSpPr>
            <p:cNvPr id="54" name="Rectangle 54"/>
            <p:cNvSpPr/>
            <p:nvPr/>
          </p:nvSpPr>
          <p:spPr>
            <a:xfrm>
              <a:off x="571500" y="5238750"/>
              <a:ext cx="11049000" cy="762000"/>
            </a:xfrm>
            <a:prstGeom prst="roundRect">
              <a:avLst>
                <a:gd name="adj" fmla="val 15000"/>
              </a:avLst>
            </a:prstGeom>
            <a:solidFill>
              <a:srgbClr val="EFF6FF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849630" y="5394325"/>
              <a:ext cx="621814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1500" b="1" dirty="0">
                  <a:solidFill>
                    <a:srgbClr val="1E40AF"/>
                  </a:solidFill>
                  <a:latin typeface="Inter"/>
                  <a:ea typeface="Inter"/>
                  <a:cs typeface="Inter"/>
                </a:rPr>
                <a:t>K=2 with log1p + StandardScaler is the official frozen model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50773" y="5705475"/>
              <a:ext cx="5076084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1280" dirty="0">
                  <a:solidFill>
                    <a:srgbClr val="1E3A8A"/>
                  </a:solidFill>
                  <a:latin typeface="Inter"/>
                  <a:ea typeface="Inter"/>
                  <a:cs typeface="Inter"/>
                </a:rPr>
                <a:t>Stable, interpretable, and ready for production deployment</a:t>
              </a:r>
            </a:p>
          </p:txBody>
        </p:sp>
      </p:grpSp>
      <p:grpSp>
        <p:nvGrpSpPr>
          <p:cNvPr id="60" name="footer"/>
          <p:cNvGrpSpPr/>
          <p:nvPr/>
        </p:nvGrpSpPr>
        <p:grpSpPr>
          <a:xfrm>
            <a:off x="566166" y="6540500"/>
            <a:ext cx="11059668" cy="205359"/>
            <a:chOff x="566166" y="6540500"/>
            <a:chExt cx="11059668" cy="205359"/>
          </a:xfrm>
        </p:grpSpPr>
        <p:sp>
          <p:nvSpPr>
            <p:cNvPr id="58" name="TextBox 58"/>
            <p:cNvSpPr txBox="1"/>
            <p:nvPr/>
          </p:nvSpPr>
          <p:spPr>
            <a:xfrm>
              <a:off x="566166" y="6540500"/>
              <a:ext cx="309716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1050" dirty="0">
                  <a:solidFill>
                    <a:srgbClr val="9CA3AF"/>
                  </a:solidFill>
                  <a:latin typeface="Inter"/>
                  <a:ea typeface="Inter"/>
                  <a:cs typeface="Inter"/>
                </a:rPr>
                <a:t>Project 22: K-Means Customer Segmentation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1219383" y="6540500"/>
              <a:ext cx="4064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vi" sz="1050" dirty="0">
                  <a:solidFill>
                    <a:srgbClr val="9CA3AF"/>
                  </a:solidFill>
                  <a:latin typeface="Inter"/>
                  <a:ea typeface="Inter"/>
                  <a:cs typeface="Inter"/>
                </a:rPr>
                <a:t>8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8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er"/>
          <p:cNvGrpSpPr/>
          <p:nvPr/>
        </p:nvGrpSpPr>
        <p:grpSpPr>
          <a:xfrm>
            <a:off x="555498" y="476250"/>
            <a:ext cx="8954999" cy="616077"/>
            <a:chOff x="555498" y="476250"/>
            <a:chExt cx="8954999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555498" y="476250"/>
              <a:ext cx="8954999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3150" b="1" dirty="0">
                  <a:solidFill>
                    <a:schemeClr val="dk1"/>
                  </a:solidFill>
                  <a:latin typeface="Inter"/>
                  <a:ea typeface="Inter"/>
                  <a:cs typeface="Inter"/>
                </a:rPr>
                <a:t>Hồ Sơ Hai Cụm (352 Development Samples)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571500" y="1000125"/>
              <a:ext cx="11430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1" name="radar-chart"/>
          <p:cNvGrpSpPr/>
          <p:nvPr/>
        </p:nvGrpSpPr>
        <p:grpSpPr>
          <a:xfrm>
            <a:off x="571500" y="1524000"/>
            <a:ext cx="5334000" cy="4381500"/>
            <a:chOff x="571500" y="1524000"/>
            <a:chExt cx="5334000" cy="4381500"/>
          </a:xfrm>
        </p:grpSpPr>
        <p:sp>
          <p:nvSpPr>
            <p:cNvPr id="5" name="Rectangle 5"/>
            <p:cNvSpPr/>
            <p:nvPr/>
          </p:nvSpPr>
          <p:spPr>
            <a:xfrm>
              <a:off x="571500" y="1524000"/>
              <a:ext cx="5334000" cy="4381500"/>
            </a:xfrm>
            <a:prstGeom prst="roundRect">
              <a:avLst>
                <a:gd name="adj" fmla="val 260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784643" y="1679575"/>
              <a:ext cx="290771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" sz="1500" b="1" dirty="0">
                  <a:solidFill>
                    <a:schemeClr val="dk1"/>
                  </a:solidFill>
                  <a:latin typeface="Inter"/>
                  <a:ea typeface="Inter"/>
                  <a:cs typeface="Inter"/>
                </a:rPr>
                <a:t>Spending Profile Comparison</a:t>
              </a:r>
            </a:p>
          </p:txBody>
        </p:sp>
        <p:grpSp>
          <p:nvGrpSpPr>
            <p:cNvPr id="25" name="radar-visual"/>
            <p:cNvGrpSpPr/>
            <p:nvPr/>
          </p:nvGrpSpPr>
          <p:grpSpPr>
            <a:xfrm>
              <a:off x="745368" y="1682750"/>
              <a:ext cx="4741373" cy="4110609"/>
              <a:chOff x="745368" y="1682750"/>
              <a:chExt cx="4741373" cy="4110609"/>
            </a:xfrm>
          </p:grpSpPr>
          <p:sp>
            <p:nvSpPr>
              <p:cNvPr id="7" name="Ellipse 7"/>
              <p:cNvSpPr/>
              <p:nvPr/>
            </p:nvSpPr>
            <p:spPr>
              <a:xfrm>
                <a:off x="1524000" y="2000250"/>
                <a:ext cx="3429000" cy="3429000"/>
              </a:xfrm>
              <a:prstGeom prst="ellipse">
                <a:avLst/>
              </a:prstGeom>
              <a:noFill/>
              <a:ln w="9525">
                <a:solidFill>
                  <a:schemeClr val="accent6"/>
                </a:solidFill>
              </a:ln>
            </p:spPr>
          </p:sp>
          <p:sp>
            <p:nvSpPr>
              <p:cNvPr id="8" name="Ellipse 8"/>
              <p:cNvSpPr/>
              <p:nvPr/>
            </p:nvSpPr>
            <p:spPr>
              <a:xfrm>
                <a:off x="1952625" y="2428875"/>
                <a:ext cx="2571750" cy="2571750"/>
              </a:xfrm>
              <a:prstGeom prst="ellipse">
                <a:avLst/>
              </a:prstGeom>
              <a:noFill/>
              <a:ln w="9525">
                <a:solidFill>
                  <a:schemeClr val="accent6"/>
                </a:solidFill>
              </a:ln>
            </p:spPr>
          </p:sp>
          <p:sp>
            <p:nvSpPr>
              <p:cNvPr id="9" name="Ellipse 9"/>
              <p:cNvSpPr/>
              <p:nvPr/>
            </p:nvSpPr>
            <p:spPr>
              <a:xfrm>
                <a:off x="2381250" y="2857500"/>
                <a:ext cx="1714500" cy="1714500"/>
              </a:xfrm>
              <a:prstGeom prst="ellipse">
                <a:avLst/>
              </a:prstGeom>
              <a:noFill/>
              <a:ln w="9525">
                <a:solidFill>
                  <a:schemeClr val="accent6"/>
                </a:solidFill>
              </a:ln>
            </p:spPr>
          </p:sp>
          <p:sp>
            <p:nvSpPr>
              <p:cNvPr id="10" name="Ellipse 10"/>
              <p:cNvSpPr/>
              <p:nvPr/>
            </p:nvSpPr>
            <p:spPr>
              <a:xfrm>
                <a:off x="2809875" y="3286125"/>
                <a:ext cx="857250" cy="857250"/>
              </a:xfrm>
              <a:prstGeom prst="ellipse">
                <a:avLst/>
              </a:prstGeom>
              <a:noFill/>
              <a:ln w="9525">
                <a:solidFill>
                  <a:schemeClr val="accent6"/>
                </a:solidFill>
              </a:ln>
            </p:spPr>
          </p:sp>
          <p:sp>
            <p:nvSpPr>
              <p:cNvPr id="11" name="Line 11"/>
              <p:cNvSpPr/>
              <p:nvPr/>
            </p:nvSpPr>
            <p:spPr>
              <a:xfrm>
                <a:off x="3238500" y="2000250"/>
                <a:ext cx="9525" cy="17145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714500">
                    <a:moveTo>
                      <a:pt x="0" y="1714500"/>
                    </a:moveTo>
                    <a:lnTo>
                      <a:pt x="0" y="0"/>
                    </a:lnTo>
                  </a:path>
                </a:pathLst>
              </a:custGeom>
              <a:noFill/>
              <a:ln w="9525">
                <a:solidFill>
                  <a:srgbClr val="9CA3AF"/>
                </a:solidFill>
              </a:ln>
            </p:spPr>
          </p:sp>
          <p:sp>
            <p:nvSpPr>
              <p:cNvPr id="12" name="Line 12"/>
              <p:cNvSpPr/>
              <p:nvPr/>
            </p:nvSpPr>
            <p:spPr>
              <a:xfrm>
                <a:off x="3238500" y="2857500"/>
                <a:ext cx="1485900" cy="857250"/>
              </a:xfrm>
              <a:custGeom>
                <a:avLst/>
                <a:gdLst/>
                <a:ahLst/>
                <a:cxnLst/>
                <a:rect l="l" t="t" r="r" b="b"/>
                <a:pathLst>
                  <a:path w="1485900" h="857250">
                    <a:moveTo>
                      <a:pt x="0" y="857250"/>
                    </a:moveTo>
                    <a:lnTo>
                      <a:pt x="1485900" y="0"/>
                    </a:lnTo>
                  </a:path>
                </a:pathLst>
              </a:custGeom>
              <a:noFill/>
              <a:ln w="9525">
                <a:solidFill>
                  <a:srgbClr val="9CA3AF"/>
                </a:solidFill>
              </a:ln>
            </p:spPr>
          </p:sp>
          <p:sp>
            <p:nvSpPr>
              <p:cNvPr id="13" name="Line 13"/>
              <p:cNvSpPr/>
              <p:nvPr/>
            </p:nvSpPr>
            <p:spPr>
              <a:xfrm>
                <a:off x="3238500" y="3714750"/>
                <a:ext cx="1485900" cy="857250"/>
              </a:xfrm>
              <a:custGeom>
                <a:avLst/>
                <a:gdLst/>
                <a:ahLst/>
                <a:cxnLst/>
                <a:rect l="l" t="t" r="r" b="b"/>
                <a:pathLst>
                  <a:path w="1485900" h="857250">
                    <a:moveTo>
                      <a:pt x="0" y="0"/>
                    </a:moveTo>
                    <a:lnTo>
                      <a:pt x="1485900" y="857250"/>
                    </a:lnTo>
                  </a:path>
                </a:pathLst>
              </a:custGeom>
              <a:noFill/>
              <a:ln w="9525">
                <a:solidFill>
                  <a:srgbClr val="9CA3AF"/>
                </a:solidFill>
              </a:ln>
            </p:spPr>
          </p:sp>
          <p:sp>
            <p:nvSpPr>
              <p:cNvPr id="14" name="Line 14"/>
              <p:cNvSpPr/>
              <p:nvPr/>
            </p:nvSpPr>
            <p:spPr>
              <a:xfrm>
                <a:off x="3238500" y="3714750"/>
                <a:ext cx="9525" cy="17145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714500">
                    <a:moveTo>
                      <a:pt x="0" y="0"/>
                    </a:moveTo>
                    <a:lnTo>
                      <a:pt x="0" y="1714500"/>
                    </a:lnTo>
                  </a:path>
                </a:pathLst>
              </a:custGeom>
              <a:noFill/>
              <a:ln w="9525">
                <a:solidFill>
                  <a:srgbClr val="9CA3AF"/>
                </a:solidFill>
              </a:ln>
            </p:spPr>
          </p:sp>
          <p:sp>
            <p:nvSpPr>
              <p:cNvPr id="15" name="Line 15"/>
              <p:cNvSpPr/>
              <p:nvPr/>
            </p:nvSpPr>
            <p:spPr>
              <a:xfrm>
                <a:off x="1752600" y="3714750"/>
                <a:ext cx="1485900" cy="857250"/>
              </a:xfrm>
              <a:custGeom>
                <a:avLst/>
                <a:gdLst/>
                <a:ahLst/>
                <a:cxnLst/>
                <a:rect l="l" t="t" r="r" b="b"/>
                <a:pathLst>
                  <a:path w="1485900" h="857250">
                    <a:moveTo>
                      <a:pt x="1485900" y="0"/>
                    </a:moveTo>
                    <a:lnTo>
                      <a:pt x="0" y="857250"/>
                    </a:lnTo>
                  </a:path>
                </a:pathLst>
              </a:custGeom>
              <a:noFill/>
              <a:ln w="9525">
                <a:solidFill>
                  <a:srgbClr val="9CA3AF"/>
                </a:solidFill>
              </a:ln>
            </p:spPr>
          </p:sp>
          <p:sp>
            <p:nvSpPr>
              <p:cNvPr id="16" name="Line 16"/>
              <p:cNvSpPr/>
              <p:nvPr/>
            </p:nvSpPr>
            <p:spPr>
              <a:xfrm>
                <a:off x="1752600" y="2857500"/>
                <a:ext cx="1485900" cy="857250"/>
              </a:xfrm>
              <a:custGeom>
                <a:avLst/>
                <a:gdLst/>
                <a:ahLst/>
                <a:cxnLst/>
                <a:rect l="l" t="t" r="r" b="b"/>
                <a:pathLst>
                  <a:path w="1485900" h="857250">
                    <a:moveTo>
                      <a:pt x="1485900" y="857250"/>
                    </a:moveTo>
                    <a:lnTo>
                      <a:pt x="0" y="0"/>
                    </a:lnTo>
                  </a:path>
                </a:pathLst>
              </a:custGeom>
              <a:noFill/>
              <a:ln w="9525">
                <a:solidFill>
                  <a:srgbClr val="9CA3AF"/>
                </a:solidFill>
              </a:ln>
            </p:spPr>
          </p:sp>
          <p:sp>
            <p:nvSpPr>
              <p:cNvPr id="17" name="Polygon 17"/>
              <p:cNvSpPr/>
              <p:nvPr/>
            </p:nvSpPr>
            <p:spPr>
              <a:xfrm>
                <a:off x="2095500" y="2381250"/>
                <a:ext cx="2286000" cy="2667000"/>
              </a:xfrm>
              <a:custGeom>
                <a:avLst/>
                <a:gdLst/>
                <a:ahLst/>
                <a:cxnLst/>
                <a:rect l="l" t="t" r="r" b="b"/>
                <a:pathLst>
                  <a:path w="2286000" h="2667000">
                    <a:moveTo>
                      <a:pt x="1143000" y="0"/>
                    </a:moveTo>
                    <a:lnTo>
                      <a:pt x="2286000" y="666750"/>
                    </a:lnTo>
                    <a:lnTo>
                      <a:pt x="2286000" y="2000250"/>
                    </a:lnTo>
                    <a:lnTo>
                      <a:pt x="1143000" y="2667000"/>
                    </a:lnTo>
                    <a:lnTo>
                      <a:pt x="0" y="2000250"/>
                    </a:lnTo>
                    <a:lnTo>
                      <a:pt x="0" y="666750"/>
                    </a:lnTo>
                    <a:close/>
                  </a:path>
                </a:pathLst>
              </a:custGeom>
              <a:solidFill>
                <a:schemeClr val="accent1">
                  <a:alpha val="20000"/>
                </a:schemeClr>
              </a:solidFill>
              <a:ln w="28575">
                <a:solidFill>
                  <a:schemeClr val="accent1"/>
                </a:solidFill>
              </a:ln>
            </p:spPr>
          </p:sp>
          <p:sp>
            <p:nvSpPr>
              <p:cNvPr id="18" name="Polygon 18"/>
              <p:cNvSpPr/>
              <p:nvPr/>
            </p:nvSpPr>
            <p:spPr>
              <a:xfrm>
                <a:off x="2524125" y="2857500"/>
                <a:ext cx="1428750" cy="1714500"/>
              </a:xfrm>
              <a:custGeom>
                <a:avLst/>
                <a:gdLst/>
                <a:ahLst/>
                <a:cxnLst/>
                <a:rect l="l" t="t" r="r" b="b"/>
                <a:pathLst>
                  <a:path w="1428750" h="1714500">
                    <a:moveTo>
                      <a:pt x="714375" y="0"/>
                    </a:moveTo>
                    <a:lnTo>
                      <a:pt x="1428750" y="428625"/>
                    </a:lnTo>
                    <a:lnTo>
                      <a:pt x="1428750" y="1285875"/>
                    </a:lnTo>
                    <a:lnTo>
                      <a:pt x="714375" y="1714500"/>
                    </a:lnTo>
                    <a:lnTo>
                      <a:pt x="0" y="1285875"/>
                    </a:lnTo>
                    <a:lnTo>
                      <a:pt x="0" y="428625"/>
                    </a:lnTo>
                    <a:close/>
                  </a:path>
                </a:pathLst>
              </a:custGeom>
              <a:solidFill>
                <a:schemeClr val="accent2">
                  <a:alpha val="20000"/>
                </a:schemeClr>
              </a:solidFill>
              <a:ln w="28575">
                <a:solidFill>
                  <a:schemeClr val="accent2"/>
                </a:solidFill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3026780" y="1682750"/>
                <a:ext cx="42344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vi" sz="1050" b="1" dirty="0">
                    <a:solidFill>
                      <a:schemeClr val="dk1"/>
                    </a:solidFill>
                    <a:latin typeface="Inter"/>
                    <a:ea typeface="Inter"/>
                    <a:cs typeface="Inter"/>
                  </a:rPr>
                  <a:t>Fresh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4900041" y="2730500"/>
                <a:ext cx="29665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" sz="1050" b="1" dirty="0">
                    <a:solidFill>
                      <a:schemeClr val="dk1"/>
                    </a:solidFill>
                    <a:latin typeface="Inter"/>
                    <a:ea typeface="Inter"/>
                    <a:cs typeface="Inter"/>
                  </a:rPr>
                  <a:t>Milk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4900041" y="4492625"/>
                <a:ext cx="58670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" sz="1050" b="1" dirty="0">
                    <a:solidFill>
                      <a:schemeClr val="dk1"/>
                    </a:solidFill>
                    <a:latin typeface="Inter"/>
                    <a:ea typeface="Inter"/>
                    <a:cs typeface="Inter"/>
                  </a:rPr>
                  <a:t>Grocery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2985965" y="5588000"/>
                <a:ext cx="50507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vi" sz="1050" b="1" dirty="0">
                    <a:solidFill>
                      <a:schemeClr val="dk1"/>
                    </a:solidFill>
                    <a:latin typeface="Inter"/>
                    <a:ea typeface="Inter"/>
                    <a:cs typeface="Inter"/>
                  </a:rPr>
                  <a:t>Frozen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745368" y="4492625"/>
                <a:ext cx="83159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vi" sz="1050" b="1" dirty="0">
                    <a:solidFill>
                      <a:schemeClr val="dk1"/>
                    </a:solidFill>
                    <a:latin typeface="Inter"/>
                    <a:ea typeface="Inter"/>
                    <a:cs typeface="Inter"/>
                  </a:rPr>
                  <a:t>Detergents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819998" y="2730500"/>
                <a:ext cx="75696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vi" sz="1050" b="1" dirty="0">
                    <a:solidFill>
                      <a:schemeClr val="dk1"/>
                    </a:solidFill>
                    <a:latin typeface="Inter"/>
                    <a:ea typeface="Inter"/>
                    <a:cs typeface="Inter"/>
                  </a:rPr>
                  <a:t>Delicassen</a:t>
                </a:r>
              </a:p>
            </p:txBody>
          </p:sp>
        </p:grpSp>
        <p:grpSp>
          <p:nvGrpSpPr>
            <p:cNvPr id="30" name="legend"/>
            <p:cNvGrpSpPr/>
            <p:nvPr/>
          </p:nvGrpSpPr>
          <p:grpSpPr>
            <a:xfrm>
              <a:off x="857250" y="2190750"/>
              <a:ext cx="2298649" cy="508953"/>
              <a:chOff x="857250" y="2190750"/>
              <a:chExt cx="2298649" cy="508953"/>
            </a:xfrm>
          </p:grpSpPr>
          <p:sp>
            <p:nvSpPr>
              <p:cNvPr id="26" name="Rectangle 26"/>
              <p:cNvSpPr/>
              <p:nvPr/>
            </p:nvSpPr>
            <p:spPr>
              <a:xfrm>
                <a:off x="857250" y="2190750"/>
                <a:ext cx="190500" cy="190500"/>
              </a:xfrm>
              <a:prstGeom prst="roundRect">
                <a:avLst>
                  <a:gd name="adj" fmla="val 20000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1137285" y="2193925"/>
                <a:ext cx="2018614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" sz="1120" dirty="0">
                    <a:solidFill>
                      <a:schemeClr val="dk1"/>
                    </a:solidFill>
                    <a:latin typeface="Inter"/>
                    <a:ea typeface="Inter"/>
                    <a:cs typeface="Inter"/>
                  </a:rPr>
                  <a:t>Cluster 0 (162 khách, 46%)</a:t>
                </a:r>
              </a:p>
            </p:txBody>
          </p:sp>
          <p:sp>
            <p:nvSpPr>
              <p:cNvPr id="28" name="Rectangle 28"/>
              <p:cNvSpPr/>
              <p:nvPr/>
            </p:nvSpPr>
            <p:spPr>
              <a:xfrm>
                <a:off x="857250" y="2476500"/>
                <a:ext cx="190500" cy="190500"/>
              </a:xfrm>
              <a:prstGeom prst="roundRect">
                <a:avLst>
                  <a:gd name="adj" fmla="val 20000"/>
                </a:avLst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1137285" y="2479675"/>
                <a:ext cx="2018614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" sz="1120" dirty="0">
                    <a:solidFill>
                      <a:schemeClr val="dk1"/>
                    </a:solidFill>
                    <a:latin typeface="Inter"/>
                    <a:ea typeface="Inter"/>
                    <a:cs typeface="Inter"/>
                  </a:rPr>
                  <a:t>Cluster 1 (190 khách, 54%)</a:t>
                </a:r>
              </a:p>
            </p:txBody>
          </p:sp>
        </p:grpSp>
      </p:grpSp>
      <p:grpSp>
        <p:nvGrpSpPr>
          <p:cNvPr id="43" name="cluster0-details"/>
          <p:cNvGrpSpPr/>
          <p:nvPr/>
        </p:nvGrpSpPr>
        <p:grpSpPr>
          <a:xfrm>
            <a:off x="6286500" y="1524000"/>
            <a:ext cx="5334000" cy="2190750"/>
            <a:chOff x="6286500" y="1524000"/>
            <a:chExt cx="5334000" cy="2190750"/>
          </a:xfrm>
        </p:grpSpPr>
        <p:sp>
          <p:nvSpPr>
            <p:cNvPr id="32" name="Rectangle 32"/>
            <p:cNvSpPr/>
            <p:nvPr/>
          </p:nvSpPr>
          <p:spPr>
            <a:xfrm>
              <a:off x="6286500" y="1524000"/>
              <a:ext cx="5334000" cy="2190750"/>
            </a:xfrm>
            <a:prstGeom prst="roundRect">
              <a:avLst>
                <a:gd name="adj" fmla="val 5217"/>
              </a:avLst>
            </a:prstGeom>
            <a:solidFill>
              <a:srgbClr val="EFF6FF"/>
            </a:solidFill>
            <a:ln w="19050">
              <a:solidFill>
                <a:schemeClr val="accent1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6286500" y="1524000"/>
              <a:ext cx="5334000" cy="476250"/>
            </a:xfrm>
            <a:prstGeom prst="roundRect">
              <a:avLst>
                <a:gd name="adj" fmla="val 24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564630" y="1660525"/>
              <a:ext cx="242156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1500" b="1" dirty="0">
                  <a:solidFill>
                    <a:srgbClr val="FFFFFF"/>
                  </a:solidFill>
                  <a:latin typeface="Inter"/>
                  <a:ea typeface="Inter"/>
                  <a:cs typeface="Inter"/>
                </a:rPr>
                <a:t>Cluster 0 — Chi Tiêu Cao</a:t>
              </a:r>
            </a:p>
          </p:txBody>
        </p:sp>
        <p:grpSp>
          <p:nvGrpSpPr>
            <p:cNvPr id="41" name="cluster0-values"/>
            <p:cNvGrpSpPr/>
            <p:nvPr/>
          </p:nvGrpSpPr>
          <p:grpSpPr>
            <a:xfrm>
              <a:off x="6566535" y="2146300"/>
              <a:ext cx="2678430" cy="696278"/>
              <a:chOff x="6566535" y="2146300"/>
              <a:chExt cx="2678430" cy="696278"/>
            </a:xfrm>
          </p:grpSpPr>
          <p:sp>
            <p:nvSpPr>
              <p:cNvPr id="35" name="TextBox 35"/>
              <p:cNvSpPr txBox="1"/>
              <p:nvPr/>
            </p:nvSpPr>
            <p:spPr>
              <a:xfrm>
                <a:off x="6566535" y="2146300"/>
                <a:ext cx="1597314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" sz="1120" dirty="0">
                    <a:solidFill>
                      <a:schemeClr val="dk1"/>
                    </a:solidFill>
                    <a:latin typeface="Inter"/>
                    <a:ea typeface="Inter"/>
                    <a:cs typeface="Inter"/>
                  </a:rPr>
                  <a:t xml:space="preserve">Fresh: </a:t>
                </a:r>
                <a:r>
                  <a:rPr lang="vi" sz="1120" b="1" dirty="0">
                    <a:solidFill>
                      <a:schemeClr val="accent1"/>
                    </a:solidFill>
                    <a:latin typeface="Inter"/>
                    <a:ea typeface="Inter"/>
                    <a:cs typeface="Inter"/>
                  </a:rPr>
                  <a:t>5,693.5 m.u.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6566535" y="2384425"/>
                <a:ext cx="1468878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" sz="1120" dirty="0">
                    <a:solidFill>
                      <a:schemeClr val="dk1"/>
                    </a:solidFill>
                    <a:latin typeface="Inter"/>
                    <a:ea typeface="Inter"/>
                    <a:cs typeface="Inter"/>
                  </a:rPr>
                  <a:t xml:space="preserve">Milk: </a:t>
                </a:r>
                <a:r>
                  <a:rPr lang="vi" sz="1120" b="1" dirty="0">
                    <a:solidFill>
                      <a:schemeClr val="accent1"/>
                    </a:solidFill>
                    <a:latin typeface="Inter"/>
                    <a:ea typeface="Inter"/>
                    <a:cs typeface="Inter"/>
                  </a:rPr>
                  <a:t>4,339.5 m.u.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6566535" y="2622550"/>
                <a:ext cx="1762751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" sz="1120" dirty="0">
                    <a:solidFill>
                      <a:schemeClr val="dk1"/>
                    </a:solidFill>
                    <a:latin typeface="Inter"/>
                    <a:ea typeface="Inter"/>
                    <a:cs typeface="Inter"/>
                  </a:rPr>
                  <a:t xml:space="preserve">Grocery: </a:t>
                </a:r>
                <a:r>
                  <a:rPr lang="vi" sz="1120" b="1" dirty="0">
                    <a:solidFill>
                      <a:schemeClr val="accent1"/>
                    </a:solidFill>
                    <a:latin typeface="Inter"/>
                    <a:ea typeface="Inter"/>
                    <a:cs typeface="Inter"/>
                  </a:rPr>
                  <a:t>4,621.5 m.u.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7992413" y="2146300"/>
                <a:ext cx="125255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vi" sz="1120" dirty="0">
                    <a:solidFill>
                      <a:schemeClr val="dk1"/>
                    </a:solidFill>
                    <a:latin typeface="Inter"/>
                    <a:ea typeface="Inter"/>
                    <a:cs typeface="Inter"/>
                  </a:rPr>
                  <a:t xml:space="preserve">Frozen: </a:t>
                </a:r>
                <a:r>
                  <a:rPr lang="vi" sz="1120" b="1" dirty="0">
                    <a:solidFill>
                      <a:schemeClr val="accent1"/>
                    </a:solidFill>
                    <a:latin typeface="Inter"/>
                    <a:ea typeface="Inter"/>
                    <a:cs typeface="Inter"/>
                  </a:rPr>
                  <a:t>1,945.5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7661193" y="2384425"/>
                <a:ext cx="158377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vi" sz="1120" dirty="0">
                    <a:solidFill>
                      <a:schemeClr val="dk1"/>
                    </a:solidFill>
                    <a:latin typeface="Inter"/>
                    <a:ea typeface="Inter"/>
                    <a:cs typeface="Inter"/>
                  </a:rPr>
                  <a:t xml:space="preserve">Detergents: </a:t>
                </a:r>
                <a:r>
                  <a:rPr lang="vi" sz="1120" b="1" dirty="0">
                    <a:solidFill>
                      <a:schemeClr val="accent1"/>
                    </a:solidFill>
                    <a:latin typeface="Inter"/>
                    <a:ea typeface="Inter"/>
                    <a:cs typeface="Inter"/>
                  </a:rPr>
                  <a:t>1,731.5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7911151" y="2622550"/>
                <a:ext cx="1333814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vi" sz="1120" dirty="0">
                    <a:solidFill>
                      <a:schemeClr val="dk1"/>
                    </a:solidFill>
                    <a:latin typeface="Inter"/>
                    <a:ea typeface="Inter"/>
                    <a:cs typeface="Inter"/>
                  </a:rPr>
                  <a:t xml:space="preserve">Delicassen: </a:t>
                </a:r>
                <a:r>
                  <a:rPr lang="vi" sz="1120" b="1" dirty="0">
                    <a:solidFill>
                      <a:schemeClr val="accent1"/>
                    </a:solidFill>
                    <a:latin typeface="Inter"/>
                    <a:ea typeface="Inter"/>
                    <a:cs typeface="Inter"/>
                  </a:rPr>
                  <a:t>910.0</a:t>
                </a:r>
              </a:p>
            </p:txBody>
          </p:sp>
        </p:grpSp>
        <p:sp>
          <p:nvSpPr>
            <p:cNvPr id="42" name="TextBox 42"/>
            <p:cNvSpPr txBox="1"/>
            <p:nvPr/>
          </p:nvSpPr>
          <p:spPr>
            <a:xfrm>
              <a:off x="6566535" y="3098800"/>
              <a:ext cx="30754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1120" i="1" dirty="0">
                  <a:solidFill>
                    <a:srgbClr val="1E40AF"/>
                  </a:solidFill>
                  <a:latin typeface="Inter"/>
                  <a:ea typeface="Inter"/>
                  <a:cs typeface="Inter"/>
                </a:rPr>
                <a:t>Pattern: Chi tiêu cao ở hầu hết nhóm hàng</a:t>
              </a:r>
            </a:p>
          </p:txBody>
        </p:sp>
      </p:grpSp>
      <p:grpSp>
        <p:nvGrpSpPr>
          <p:cNvPr id="55" name="cluster1-details"/>
          <p:cNvGrpSpPr/>
          <p:nvPr/>
        </p:nvGrpSpPr>
        <p:grpSpPr>
          <a:xfrm>
            <a:off x="6286500" y="4000500"/>
            <a:ext cx="5334000" cy="2190750"/>
            <a:chOff x="6286500" y="4000500"/>
            <a:chExt cx="5334000" cy="2190750"/>
          </a:xfrm>
        </p:grpSpPr>
        <p:sp>
          <p:nvSpPr>
            <p:cNvPr id="44" name="Rectangle 44"/>
            <p:cNvSpPr/>
            <p:nvPr/>
          </p:nvSpPr>
          <p:spPr>
            <a:xfrm>
              <a:off x="6286500" y="4000500"/>
              <a:ext cx="5334000" cy="2190750"/>
            </a:xfrm>
            <a:prstGeom prst="roundRect">
              <a:avLst>
                <a:gd name="adj" fmla="val 5217"/>
              </a:avLst>
            </a:prstGeom>
            <a:solidFill>
              <a:srgbClr val="F0FDF4"/>
            </a:solidFill>
            <a:ln w="19050">
              <a:solidFill>
                <a:schemeClr val="accent2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6286500" y="4000500"/>
              <a:ext cx="5334000" cy="476250"/>
            </a:xfrm>
            <a:prstGeom prst="roundRect">
              <a:avLst>
                <a:gd name="adj" fmla="val 24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564630" y="4137025"/>
              <a:ext cx="29054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1500" b="1" dirty="0">
                  <a:solidFill>
                    <a:srgbClr val="FFFFFF"/>
                  </a:solidFill>
                  <a:latin typeface="Inter"/>
                  <a:ea typeface="Inter"/>
                  <a:cs typeface="Inter"/>
                </a:rPr>
                <a:t>Cluster 1 — Chi Tiêu Vừa Phải</a:t>
              </a:r>
            </a:p>
          </p:txBody>
        </p:sp>
        <p:grpSp>
          <p:nvGrpSpPr>
            <p:cNvPr id="53" name="cluster1-values"/>
            <p:cNvGrpSpPr/>
            <p:nvPr/>
          </p:nvGrpSpPr>
          <p:grpSpPr>
            <a:xfrm>
              <a:off x="6566535" y="4622800"/>
              <a:ext cx="2678430" cy="696278"/>
              <a:chOff x="6566535" y="4622800"/>
              <a:chExt cx="2678430" cy="696278"/>
            </a:xfrm>
          </p:grpSpPr>
          <p:sp>
            <p:nvSpPr>
              <p:cNvPr id="47" name="TextBox 47"/>
              <p:cNvSpPr txBox="1"/>
              <p:nvPr/>
            </p:nvSpPr>
            <p:spPr>
              <a:xfrm>
                <a:off x="6566535" y="4622800"/>
                <a:ext cx="1597314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" sz="1120" dirty="0">
                    <a:solidFill>
                      <a:schemeClr val="dk1"/>
                    </a:solidFill>
                    <a:latin typeface="Inter"/>
                    <a:ea typeface="Inter"/>
                    <a:cs typeface="Inter"/>
                  </a:rPr>
                  <a:t xml:space="preserve">Fresh: </a:t>
                </a:r>
                <a:r>
                  <a:rPr lang="vi" sz="1120" b="1" dirty="0">
                    <a:solidFill>
                      <a:schemeClr val="accent2"/>
                    </a:solidFill>
                    <a:latin typeface="Inter"/>
                    <a:ea typeface="Inter"/>
                    <a:cs typeface="Inter"/>
                  </a:rPr>
                  <a:t>3,276.0 m.u.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6566535" y="4860925"/>
                <a:ext cx="1468878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" sz="1120" dirty="0">
                    <a:solidFill>
                      <a:schemeClr val="dk1"/>
                    </a:solidFill>
                    <a:latin typeface="Inter"/>
                    <a:ea typeface="Inter"/>
                    <a:cs typeface="Inter"/>
                  </a:rPr>
                  <a:t xml:space="preserve">Milk: </a:t>
                </a:r>
                <a:r>
                  <a:rPr lang="vi" sz="1120" b="1" dirty="0">
                    <a:solidFill>
                      <a:schemeClr val="accent2"/>
                    </a:solidFill>
                    <a:latin typeface="Inter"/>
                    <a:ea typeface="Inter"/>
                    <a:cs typeface="Inter"/>
                  </a:rPr>
                  <a:t>2,056.5 m.u.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6566535" y="5099050"/>
                <a:ext cx="1762751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" sz="1120" dirty="0">
                    <a:solidFill>
                      <a:schemeClr val="dk1"/>
                    </a:solidFill>
                    <a:latin typeface="Inter"/>
                    <a:ea typeface="Inter"/>
                    <a:cs typeface="Inter"/>
                  </a:rPr>
                  <a:t xml:space="preserve">Grocery: </a:t>
                </a:r>
                <a:r>
                  <a:rPr lang="vi" sz="1120" b="1" dirty="0">
                    <a:solidFill>
                      <a:schemeClr val="accent2"/>
                    </a:solidFill>
                    <a:latin typeface="Inter"/>
                    <a:ea typeface="Inter"/>
                    <a:cs typeface="Inter"/>
                  </a:rPr>
                  <a:t>1,841.0 m.u.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7992413" y="4622800"/>
                <a:ext cx="125255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vi" sz="1120" dirty="0">
                    <a:solidFill>
                      <a:schemeClr val="dk1"/>
                    </a:solidFill>
                    <a:latin typeface="Inter"/>
                    <a:ea typeface="Inter"/>
                    <a:cs typeface="Inter"/>
                  </a:rPr>
                  <a:t xml:space="preserve">Frozen: </a:t>
                </a:r>
                <a:r>
                  <a:rPr lang="vi" sz="1120" b="1" dirty="0">
                    <a:solidFill>
                      <a:schemeClr val="accent2"/>
                    </a:solidFill>
                    <a:latin typeface="Inter"/>
                    <a:ea typeface="Inter"/>
                    <a:cs typeface="Inter"/>
                  </a:rPr>
                  <a:t>1,051.0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7835337" y="4860925"/>
                <a:ext cx="1409628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vi" sz="1120" dirty="0">
                    <a:solidFill>
                      <a:schemeClr val="dk1"/>
                    </a:solidFill>
                    <a:latin typeface="Inter"/>
                    <a:ea typeface="Inter"/>
                    <a:cs typeface="Inter"/>
                  </a:rPr>
                  <a:t xml:space="preserve">Detergents: </a:t>
                </a:r>
                <a:r>
                  <a:rPr lang="vi" sz="1120" b="1" dirty="0">
                    <a:solidFill>
                      <a:schemeClr val="accent2"/>
                    </a:solidFill>
                    <a:latin typeface="Inter"/>
                    <a:ea typeface="Inter"/>
                    <a:cs typeface="Inter"/>
                  </a:rPr>
                  <a:t>296.5</a:t>
                </a: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7911151" y="5099050"/>
                <a:ext cx="1333814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vi" sz="1120" dirty="0">
                    <a:solidFill>
                      <a:schemeClr val="dk1"/>
                    </a:solidFill>
                    <a:latin typeface="Inter"/>
                    <a:ea typeface="Inter"/>
                    <a:cs typeface="Inter"/>
                  </a:rPr>
                  <a:t xml:space="preserve">Delicassen: </a:t>
                </a:r>
                <a:r>
                  <a:rPr lang="vi" sz="1120" b="1" dirty="0">
                    <a:solidFill>
                      <a:schemeClr val="accent2"/>
                    </a:solidFill>
                    <a:latin typeface="Inter"/>
                    <a:ea typeface="Inter"/>
                    <a:cs typeface="Inter"/>
                  </a:rPr>
                  <a:t>612.5</a:t>
                </a:r>
              </a:p>
            </p:txBody>
          </p:sp>
        </p:grpSp>
        <p:sp>
          <p:nvSpPr>
            <p:cNvPr id="54" name="TextBox 54"/>
            <p:cNvSpPr txBox="1"/>
            <p:nvPr/>
          </p:nvSpPr>
          <p:spPr>
            <a:xfrm>
              <a:off x="6566535" y="5575300"/>
              <a:ext cx="43902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1120" i="1" dirty="0">
                  <a:solidFill>
                    <a:srgbClr val="047857"/>
                  </a:solidFill>
                  <a:latin typeface="Inter"/>
                  <a:ea typeface="Inter"/>
                  <a:cs typeface="Inter"/>
                </a:rPr>
                <a:t>Pattern: Chi tiêu thấp hơn, đặc biệt rõ ở Detergents_Paper</a:t>
              </a:r>
            </a:p>
          </p:txBody>
        </p:sp>
      </p:grpSp>
      <p:grpSp>
        <p:nvGrpSpPr>
          <p:cNvPr id="58" name="footer"/>
          <p:cNvGrpSpPr/>
          <p:nvPr/>
        </p:nvGrpSpPr>
        <p:grpSpPr>
          <a:xfrm>
            <a:off x="566166" y="6540500"/>
            <a:ext cx="11059668" cy="205359"/>
            <a:chOff x="566166" y="6540500"/>
            <a:chExt cx="11059668" cy="205359"/>
          </a:xfrm>
        </p:grpSpPr>
        <p:sp>
          <p:nvSpPr>
            <p:cNvPr id="56" name="TextBox 56"/>
            <p:cNvSpPr txBox="1"/>
            <p:nvPr/>
          </p:nvSpPr>
          <p:spPr>
            <a:xfrm>
              <a:off x="566166" y="6540500"/>
              <a:ext cx="309716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1050" dirty="0">
                  <a:solidFill>
                    <a:srgbClr val="9CA3AF"/>
                  </a:solidFill>
                  <a:latin typeface="Inter"/>
                  <a:ea typeface="Inter"/>
                  <a:cs typeface="Inter"/>
                </a:rPr>
                <a:t>Project 22: K-Means Customer Segmentation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219383" y="6540500"/>
              <a:ext cx="4064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vi" sz="1050" dirty="0">
                  <a:solidFill>
                    <a:srgbClr val="9CA3AF"/>
                  </a:solidFill>
                  <a:latin typeface="Inter"/>
                  <a:ea typeface="Inter"/>
                  <a:cs typeface="Inter"/>
                </a:rPr>
                <a:t>9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8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45998" y="381000"/>
            <a:ext cx="5288055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" sz="3150" b="1" dirty="0">
                <a:solidFill>
                  <a:schemeClr val="dk1"/>
                </a:solidFill>
                <a:latin typeface="Inter"/>
                <a:ea typeface="Inter"/>
                <a:cs typeface="Inter"/>
              </a:rPr>
              <a:t>Phân bố Channel &amp; Region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52856" y="879475"/>
            <a:ext cx="556324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" sz="1800" dirty="0">
                <a:solidFill>
                  <a:schemeClr val="accent5"/>
                </a:solidFill>
                <a:latin typeface="Inter"/>
                <a:ea typeface="Inter"/>
                <a:cs typeface="Inter"/>
              </a:rPr>
              <a:t>Profiling theo biến phụ (không dùng clustering)</a:t>
            </a:r>
          </a:p>
        </p:txBody>
      </p:sp>
      <p:sp>
        <p:nvSpPr>
          <p:cNvPr id="4" name="Rectangle 4"/>
          <p:cNvSpPr/>
          <p:nvPr/>
        </p:nvSpPr>
        <p:spPr>
          <a:xfrm>
            <a:off x="762000" y="1190625"/>
            <a:ext cx="1143000" cy="3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1"/>
          </a:gradFill>
          <a:ln>
            <a:noFill/>
          </a:ln>
        </p:spPr>
      </p:sp>
      <p:grpSp>
        <p:nvGrpSpPr>
          <p:cNvPr id="24" name="Group 24"/>
          <p:cNvGrpSpPr/>
          <p:nvPr/>
        </p:nvGrpSpPr>
        <p:grpSpPr>
          <a:xfrm>
            <a:off x="753618" y="1463675"/>
            <a:ext cx="5151882" cy="3013075"/>
            <a:chOff x="753618" y="1463675"/>
            <a:chExt cx="5151882" cy="3013075"/>
          </a:xfrm>
        </p:grpSpPr>
        <p:sp>
          <p:nvSpPr>
            <p:cNvPr id="5" name="TextBox 5"/>
            <p:cNvSpPr txBox="1"/>
            <p:nvPr/>
          </p:nvSpPr>
          <p:spPr>
            <a:xfrm>
              <a:off x="753618" y="1463675"/>
              <a:ext cx="230429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1650" b="1" dirty="0">
                  <a:solidFill>
                    <a:schemeClr val="accent1"/>
                  </a:solidFill>
                  <a:latin typeface="Inter"/>
                  <a:ea typeface="Inter"/>
                  <a:cs typeface="Inter"/>
                </a:rPr>
                <a:t>Channel Distribution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762000" y="1809750"/>
              <a:ext cx="5143500" cy="476250"/>
            </a:xfrm>
            <a:prstGeom prst="roundRect">
              <a:avLst>
                <a:gd name="adj" fmla="val 16000"/>
              </a:avLst>
            </a:prstGeom>
            <a:solidFill>
              <a:srgbClr val="DBEAFE"/>
            </a:solidFill>
            <a:ln w="19050">
              <a:solidFill>
                <a:schemeClr val="accent1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2041626" y="1949450"/>
              <a:ext cx="8697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" sz="1350" b="1" dirty="0">
                  <a:solidFill>
                    <a:srgbClr val="1E40AF"/>
                  </a:solidFill>
                  <a:latin typeface="Inter"/>
                  <a:ea typeface="Inter"/>
                  <a:cs typeface="Inter"/>
                </a:rPr>
                <a:t>Cluster 0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4137126" y="1949450"/>
              <a:ext cx="8697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" sz="1350" b="1" dirty="0">
                  <a:solidFill>
                    <a:srgbClr val="1E40AF"/>
                  </a:solidFill>
                  <a:latin typeface="Inter"/>
                  <a:ea typeface="Inter"/>
                  <a:cs typeface="Inter"/>
                </a:rPr>
                <a:t>Cluster 1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762000" y="2286000"/>
              <a:ext cx="5143500" cy="666750"/>
            </a:xfrm>
            <a:prstGeom prst="roundRect">
              <a:avLst>
                <a:gd name="adj" fmla="val 8571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45642" y="2501900"/>
              <a:ext cx="12393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1350" dirty="0">
                  <a:solidFill>
                    <a:schemeClr val="dk1"/>
                  </a:solidFill>
                  <a:latin typeface="Inter"/>
                  <a:ea typeface="Inter"/>
                  <a:cs typeface="Inter"/>
                </a:rPr>
                <a:t>Horeca (Ch 1)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2190750" y="2428875"/>
              <a:ext cx="1047750" cy="333375"/>
            </a:xfrm>
            <a:prstGeom prst="roundRect">
              <a:avLst>
                <a:gd name="adj" fmla="val 17143"/>
              </a:avLst>
            </a:prstGeom>
            <a:solidFill>
              <a:srgbClr val="3B82F6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2339603" y="2514600"/>
              <a:ext cx="7500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" sz="1200" b="1" dirty="0">
                  <a:solidFill>
                    <a:srgbClr val="FFFFFF"/>
                  </a:solidFill>
                  <a:latin typeface="Inter"/>
                  <a:ea typeface="Inter"/>
                  <a:cs typeface="Inter"/>
                </a:rPr>
                <a:t>54 (33%)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3905250" y="2428875"/>
              <a:ext cx="1714500" cy="333375"/>
            </a:xfrm>
            <a:prstGeom prst="roundRect">
              <a:avLst>
                <a:gd name="adj" fmla="val 17143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4340832" y="2514600"/>
              <a:ext cx="8433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" sz="1200" b="1" dirty="0">
                  <a:solidFill>
                    <a:srgbClr val="FFFFFF"/>
                  </a:solidFill>
                  <a:latin typeface="Inter"/>
                  <a:ea typeface="Inter"/>
                  <a:cs typeface="Inter"/>
                </a:rPr>
                <a:t>186 (98%)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762000" y="2952750"/>
              <a:ext cx="5143500" cy="666750"/>
            </a:xfrm>
            <a:prstGeom prst="roundRect">
              <a:avLst>
                <a:gd name="adj" fmla="val 8571"/>
              </a:avLst>
            </a:prstGeom>
            <a:solidFill>
              <a:srgbClr val="F9FAFB"/>
            </a:solidFill>
            <a:ln w="9525">
              <a:solidFill>
                <a:schemeClr val="accent6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45642" y="3168650"/>
              <a:ext cx="114721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1350" dirty="0">
                  <a:solidFill>
                    <a:schemeClr val="dk1"/>
                  </a:solidFill>
                  <a:latin typeface="Inter"/>
                  <a:ea typeface="Inter"/>
                  <a:cs typeface="Inter"/>
                </a:rPr>
                <a:t>Retail (Ch 2)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2190750" y="3095625"/>
              <a:ext cx="1428750" cy="333375"/>
            </a:xfrm>
            <a:prstGeom prst="roundRect">
              <a:avLst>
                <a:gd name="adj" fmla="val 17143"/>
              </a:avLst>
            </a:prstGeom>
            <a:solidFill>
              <a:srgbClr val="3B82F6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2483457" y="3181350"/>
              <a:ext cx="8433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" sz="1200" b="1" dirty="0">
                  <a:solidFill>
                    <a:srgbClr val="FFFFFF"/>
                  </a:solidFill>
                  <a:latin typeface="Inter"/>
                  <a:ea typeface="Inter"/>
                  <a:cs typeface="Inter"/>
                </a:rPr>
                <a:t>108 (67%)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3905250" y="3095625"/>
              <a:ext cx="476250" cy="333375"/>
            </a:xfrm>
            <a:prstGeom prst="roundRect">
              <a:avLst>
                <a:gd name="adj" fmla="val 17143"/>
              </a:avLst>
            </a:prstGeom>
            <a:solidFill>
              <a:schemeClr val="accent2">
                <a:alpha val="60000"/>
              </a:schemeClr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3861645" y="3181350"/>
              <a:ext cx="56346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" sz="1200" b="1" dirty="0">
                  <a:solidFill>
                    <a:srgbClr val="FFFFFF"/>
                  </a:solidFill>
                  <a:latin typeface="Inter"/>
                  <a:ea typeface="Inter"/>
                  <a:cs typeface="Inter"/>
                </a:rPr>
                <a:t>4 (2%)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762000" y="3857625"/>
              <a:ext cx="5143500" cy="619125"/>
            </a:xfrm>
            <a:prstGeom prst="roundRect">
              <a:avLst>
                <a:gd name="adj" fmla="val 15385"/>
              </a:avLst>
            </a:prstGeom>
            <a:solidFill>
              <a:srgbClr val="EFF6FF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46404" y="3990975"/>
              <a:ext cx="481807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1200" b="1" dirty="0">
                  <a:solidFill>
                    <a:srgbClr val="1E40AF"/>
                  </a:solidFill>
                  <a:latin typeface="Inter"/>
                  <a:ea typeface="Inter"/>
                  <a:cs typeface="Inter"/>
                </a:rPr>
                <a:t>💡 Cluster 1 chủ yếu Horeca (98%), Cluster 0 cân bằng hơn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785" y="4222750"/>
              <a:ext cx="44493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1120" dirty="0">
                  <a:solidFill>
                    <a:srgbClr val="3B82F6"/>
                  </a:solidFill>
                  <a:latin typeface="Inter"/>
                  <a:ea typeface="Inter"/>
                  <a:cs typeface="Inter"/>
                </a:rPr>
                <a:t>Cluster phản ánh channel, dù không dùng channel làm feature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6278118" y="1463675"/>
            <a:ext cx="5151882" cy="3013075"/>
            <a:chOff x="6278118" y="1463675"/>
            <a:chExt cx="5151882" cy="3013075"/>
          </a:xfrm>
        </p:grpSpPr>
        <p:sp>
          <p:nvSpPr>
            <p:cNvPr id="25" name="TextBox 25"/>
            <p:cNvSpPr txBox="1"/>
            <p:nvPr/>
          </p:nvSpPr>
          <p:spPr>
            <a:xfrm>
              <a:off x="6278118" y="1463675"/>
              <a:ext cx="217596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1650" b="1" dirty="0">
                  <a:solidFill>
                    <a:schemeClr val="accent2"/>
                  </a:solidFill>
                  <a:latin typeface="Inter"/>
                  <a:ea typeface="Inter"/>
                  <a:cs typeface="Inter"/>
                </a:rPr>
                <a:t>Region Distribution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6286500" y="1809750"/>
              <a:ext cx="5143500" cy="476250"/>
            </a:xfrm>
            <a:prstGeom prst="roundRect">
              <a:avLst>
                <a:gd name="adj" fmla="val 16000"/>
              </a:avLst>
            </a:prstGeom>
            <a:solidFill>
              <a:srgbClr val="D1FAE5"/>
            </a:solidFill>
            <a:ln w="19050">
              <a:solidFill>
                <a:schemeClr val="accent2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566126" y="1949450"/>
              <a:ext cx="8697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" sz="1350" b="1" dirty="0">
                  <a:solidFill>
                    <a:srgbClr val="047857"/>
                  </a:solidFill>
                  <a:latin typeface="Inter"/>
                  <a:ea typeface="Inter"/>
                  <a:cs typeface="Inter"/>
                </a:rPr>
                <a:t>Cluster 0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661626" y="1949450"/>
              <a:ext cx="8697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" sz="1350" b="1" dirty="0">
                  <a:solidFill>
                    <a:srgbClr val="047857"/>
                  </a:solidFill>
                  <a:latin typeface="Inter"/>
                  <a:ea typeface="Inter"/>
                  <a:cs typeface="Inter"/>
                </a:rPr>
                <a:t>Cluster 1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6286500" y="2286000"/>
              <a:ext cx="5143500" cy="666750"/>
            </a:xfrm>
            <a:prstGeom prst="roundRect">
              <a:avLst>
                <a:gd name="adj" fmla="val 8571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470142" y="2501900"/>
              <a:ext cx="129267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1350" dirty="0">
                  <a:solidFill>
                    <a:schemeClr val="dk1"/>
                  </a:solidFill>
                  <a:latin typeface="Inter"/>
                  <a:ea typeface="Inter"/>
                  <a:cs typeface="Inter"/>
                </a:rPr>
                <a:t>Lisbon (Reg 3)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7715250" y="2428875"/>
              <a:ext cx="1238250" cy="333375"/>
            </a:xfrm>
            <a:prstGeom prst="roundRect">
              <a:avLst>
                <a:gd name="adj" fmla="val 17143"/>
              </a:avLst>
            </a:prstGeom>
            <a:solidFill>
              <a:srgbClr val="3B82F6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912707" y="2514600"/>
              <a:ext cx="8433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" sz="1200" b="1" dirty="0">
                  <a:solidFill>
                    <a:srgbClr val="FFFFFF"/>
                  </a:solidFill>
                  <a:latin typeface="Inter"/>
                  <a:ea typeface="Inter"/>
                  <a:cs typeface="Inter"/>
                </a:rPr>
                <a:t>120 (74%)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9429750" y="2428875"/>
              <a:ext cx="1428750" cy="333375"/>
            </a:xfrm>
            <a:prstGeom prst="roundRect">
              <a:avLst>
                <a:gd name="adj" fmla="val 17143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722457" y="2514600"/>
              <a:ext cx="8433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" sz="1200" b="1" dirty="0">
                  <a:solidFill>
                    <a:srgbClr val="FFFFFF"/>
                  </a:solidFill>
                  <a:latin typeface="Inter"/>
                  <a:ea typeface="Inter"/>
                  <a:cs typeface="Inter"/>
                </a:rPr>
                <a:t>128 (67%)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6286500" y="2952750"/>
              <a:ext cx="5143500" cy="666750"/>
            </a:xfrm>
            <a:prstGeom prst="roundRect">
              <a:avLst>
                <a:gd name="adj" fmla="val 8571"/>
              </a:avLst>
            </a:prstGeom>
            <a:solidFill>
              <a:srgbClr val="F9FAFB"/>
            </a:solidFill>
            <a:ln w="9525">
              <a:solidFill>
                <a:schemeClr val="accent6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470142" y="3168650"/>
              <a:ext cx="13754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1350" dirty="0">
                  <a:solidFill>
                    <a:schemeClr val="dk1"/>
                  </a:solidFill>
                  <a:latin typeface="Inter"/>
                  <a:ea typeface="Inter"/>
                  <a:cs typeface="Inter"/>
                </a:rPr>
                <a:t>Oporto (Reg 1)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7715250" y="3095625"/>
              <a:ext cx="857250" cy="333375"/>
            </a:xfrm>
            <a:prstGeom prst="roundRect">
              <a:avLst>
                <a:gd name="adj" fmla="val 17143"/>
              </a:avLst>
            </a:prstGeom>
            <a:solidFill>
              <a:srgbClr val="3B82F6">
                <a:alpha val="70000"/>
              </a:srgbClr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768853" y="3181350"/>
              <a:ext cx="7500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" sz="1200" b="1" dirty="0">
                  <a:solidFill>
                    <a:srgbClr val="FFFFFF"/>
                  </a:solidFill>
                  <a:latin typeface="Inter"/>
                  <a:ea typeface="Inter"/>
                  <a:cs typeface="Inter"/>
                </a:rPr>
                <a:t>30 (19%)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9429750" y="3095625"/>
              <a:ext cx="904875" cy="333375"/>
            </a:xfrm>
            <a:prstGeom prst="roundRect">
              <a:avLst>
                <a:gd name="adj" fmla="val 17143"/>
              </a:avLst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9511928" y="3181350"/>
              <a:ext cx="7500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" sz="1200" b="1" dirty="0">
                  <a:solidFill>
                    <a:srgbClr val="FFFFFF"/>
                  </a:solidFill>
                  <a:latin typeface="Inter"/>
                  <a:ea typeface="Inter"/>
                  <a:cs typeface="Inter"/>
                </a:rPr>
                <a:t>39 (21%)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286500" y="3857625"/>
              <a:ext cx="5143500" cy="619125"/>
            </a:xfrm>
            <a:prstGeom prst="roundRect">
              <a:avLst>
                <a:gd name="adj" fmla="val 15385"/>
              </a:avLst>
            </a:prstGeom>
            <a:solidFill>
              <a:srgbClr val="F0FDF4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470904" y="3990975"/>
              <a:ext cx="336853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1200" b="1" dirty="0">
                  <a:solidFill>
                    <a:srgbClr val="047857"/>
                  </a:solidFill>
                  <a:latin typeface="Inter"/>
                  <a:ea typeface="Inter"/>
                  <a:cs typeface="Inter"/>
                </a:rPr>
                <a:t>💡 Không có sự khác biệt rõ ràng về địa lý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471285" y="4222750"/>
              <a:ext cx="29567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1120" dirty="0">
                  <a:solidFill>
                    <a:srgbClr val="059669"/>
                  </a:solidFill>
                  <a:latin typeface="Inter"/>
                  <a:ea typeface="Inter"/>
                  <a:cs typeface="Inter"/>
                </a:rPr>
                <a:t>Region phân bố tương đồng giữa 2 cluster</a:t>
              </a:r>
            </a:p>
          </p:txBody>
        </p:sp>
      </p:grpSp>
      <p:sp>
        <p:nvSpPr>
          <p:cNvPr id="45" name="Rectangle 45"/>
          <p:cNvSpPr/>
          <p:nvPr/>
        </p:nvSpPr>
        <p:spPr>
          <a:xfrm>
            <a:off x="762000" y="4857750"/>
            <a:ext cx="10668000" cy="1238250"/>
          </a:xfrm>
          <a:prstGeom prst="roundRect">
            <a:avLst>
              <a:gd name="adj" fmla="val 9231"/>
            </a:avLst>
          </a:prstGeom>
          <a:solidFill>
            <a:srgbClr val="FFFBEB"/>
          </a:solidFill>
          <a:ln w="19050">
            <a:solidFill>
              <a:srgbClr val="F59E0B"/>
            </a:solidFill>
          </a:ln>
        </p:spPr>
      </p:sp>
      <p:sp>
        <p:nvSpPr>
          <p:cNvPr id="46" name="TextBox 46"/>
          <p:cNvSpPr txBox="1"/>
          <p:nvPr/>
        </p:nvSpPr>
        <p:spPr>
          <a:xfrm>
            <a:off x="1040130" y="5013325"/>
            <a:ext cx="94625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" sz="1500" b="1" dirty="0">
                <a:solidFill>
                  <a:srgbClr val="D97706"/>
                </a:solidFill>
                <a:latin typeface="Inter"/>
                <a:ea typeface="Inter"/>
                <a:cs typeface="Inter"/>
              </a:rPr>
              <a:t>Tóm tắt: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041273" y="5324475"/>
            <a:ext cx="8049792" cy="25031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138176" indent="-138176">
              <a:buClr>
                <a:srgbClr val="92400E"/>
              </a:buClr>
              <a:buSzTx/>
              <a:buFontTx/>
              <a:buChar char="•"/>
            </a:pPr>
            <a:r>
              <a:rPr lang="vi" sz="1280" dirty="0">
                <a:solidFill>
                  <a:srgbClr val="92400E"/>
                </a:solidFill>
                <a:latin typeface="Inter"/>
                <a:ea typeface="Inter"/>
                <a:cs typeface="Inter"/>
              </a:rPr>
              <a:t>Channel &amp; Region CHỈ dùng profiling sau khi phân cụm xong, KHÔNG dùng làm features clustering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041273" y="5610225"/>
            <a:ext cx="4541510" cy="25031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138176" indent="-138176">
              <a:buClr>
                <a:srgbClr val="92400E"/>
              </a:buClr>
              <a:buSzTx/>
              <a:buFontTx/>
              <a:buChar char="•"/>
            </a:pPr>
            <a:r>
              <a:rPr lang="vi" sz="1280" dirty="0">
                <a:solidFill>
                  <a:srgbClr val="92400E"/>
                </a:solidFill>
                <a:latin typeface="Inter"/>
                <a:ea typeface="Inter"/>
                <a:cs typeface="Inter"/>
              </a:rPr>
              <a:t>Cluster 0: Cân bằng Horeca/Retail, tập trung Lisbon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041273" y="5895975"/>
            <a:ext cx="4858072" cy="25031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138176" indent="-138176">
              <a:buClr>
                <a:srgbClr val="92400E"/>
              </a:buClr>
              <a:buSzTx/>
              <a:buFontTx/>
              <a:buChar char="•"/>
            </a:pPr>
            <a:r>
              <a:rPr lang="vi" sz="1280" dirty="0">
                <a:solidFill>
                  <a:srgbClr val="92400E"/>
                </a:solidFill>
                <a:latin typeface="Inter"/>
                <a:ea typeface="Inter"/>
                <a:cs typeface="Inter"/>
              </a:rPr>
              <a:t>Cluster 1: Chủ yếu Horeca (98%), cũng tập trung Lisbon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756666" y="6350000"/>
            <a:ext cx="417826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" sz="1050" dirty="0">
                <a:solidFill>
                  <a:srgbClr val="9CA3AF"/>
                </a:solidFill>
                <a:latin typeface="Inter"/>
                <a:ea typeface="Inter"/>
                <a:cs typeface="Inter"/>
              </a:rPr>
              <a:t>Data: final_profile/channel_profile.csv, region_profile.csv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0951140" y="6350000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vi" sz="1050" dirty="0">
                <a:solidFill>
                  <a:srgbClr val="9CA3AF"/>
                </a:solidFill>
                <a:latin typeface="Inter"/>
                <a:ea typeface="Inter"/>
                <a:cs typeface="Inter"/>
              </a:rPr>
              <a:t>10 / 15</a:t>
            </a:r>
          </a:p>
        </p:txBody>
      </p:sp>
    </p:spTree>
  </p:cSld>
  <p:clrMapOvr>
    <a:masterClrMapping/>
  </p:clrMapOvr>
  <p:transition xmlns:p14="http://schemas.microsoft.com/office/powerpoint/2010/main" p14:dur="8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er"/>
          <p:cNvGrpSpPr/>
          <p:nvPr/>
        </p:nvGrpSpPr>
        <p:grpSpPr>
          <a:xfrm>
            <a:off x="555498" y="476250"/>
            <a:ext cx="4054595" cy="616077"/>
            <a:chOff x="555498" y="476250"/>
            <a:chExt cx="4054595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555498" y="476250"/>
              <a:ext cx="405459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3150" b="1" dirty="0">
                  <a:solidFill>
                    <a:schemeClr val="dk1"/>
                  </a:solidFill>
                  <a:latin typeface="Inter"/>
                  <a:ea typeface="Inter"/>
                  <a:cs typeface="Inter"/>
                </a:rPr>
                <a:t>Kiến Trúc Hệ Thống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571500" y="1000125"/>
              <a:ext cx="11430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8" name="architecture"/>
          <p:cNvGrpSpPr/>
          <p:nvPr/>
        </p:nvGrpSpPr>
        <p:grpSpPr>
          <a:xfrm>
            <a:off x="571500" y="1524000"/>
            <a:ext cx="6930702" cy="4572000"/>
            <a:chOff x="571500" y="1524000"/>
            <a:chExt cx="6930702" cy="4572000"/>
          </a:xfrm>
        </p:grpSpPr>
        <p:grpSp>
          <p:nvGrpSpPr>
            <p:cNvPr id="13" name="frontend-layer"/>
            <p:cNvGrpSpPr/>
            <p:nvPr/>
          </p:nvGrpSpPr>
          <p:grpSpPr>
            <a:xfrm>
              <a:off x="571500" y="1524000"/>
              <a:ext cx="6858000" cy="1143000"/>
              <a:chOff x="571500" y="1524000"/>
              <a:chExt cx="6858000" cy="1143000"/>
            </a:xfrm>
          </p:grpSpPr>
          <p:sp>
            <p:nvSpPr>
              <p:cNvPr id="5" name="Rectangle 5"/>
              <p:cNvSpPr/>
              <p:nvPr/>
            </p:nvSpPr>
            <p:spPr>
              <a:xfrm>
                <a:off x="571500" y="1524000"/>
                <a:ext cx="6858000" cy="1143000"/>
              </a:xfrm>
              <a:prstGeom prst="roundRect">
                <a:avLst>
                  <a:gd name="adj" fmla="val 10000"/>
                </a:avLst>
              </a:prstGeom>
              <a:solidFill>
                <a:srgbClr val="EFF6FF"/>
              </a:solidFill>
              <a:ln w="19050">
                <a:solidFill>
                  <a:schemeClr val="accent1"/>
                </a:solidFill>
              </a:ln>
              <a:effectLst>
                <a:outerShdw blurRad="152400" dist="57150" dir="5400000" algn="ctr" rotWithShape="0">
                  <a:srgbClr val="000000">
                    <a:alpha val="7500"/>
                  </a:srgbClr>
                </a:outerShdw>
              </a:effectLst>
            </p:spPr>
          </p:sp>
          <p:grpSp>
            <p:nvGrpSpPr>
              <p:cNvPr id="8" name="Group 8"/>
              <p:cNvGrpSpPr/>
              <p:nvPr/>
            </p:nvGrpSpPr>
            <p:grpSpPr>
              <a:xfrm>
                <a:off x="772719" y="1852286"/>
                <a:ext cx="321462" cy="257503"/>
                <a:chOff x="772719" y="1852286"/>
                <a:chExt cx="321462" cy="257503"/>
              </a:xfrm>
            </p:grpSpPr>
            <p:sp>
              <p:nvSpPr>
                <p:cNvPr id="6" name="Freeform 6"/>
                <p:cNvSpPr/>
                <p:nvPr/>
              </p:nvSpPr>
              <p:spPr>
                <a:xfrm>
                  <a:off x="783431" y="1927622"/>
                  <a:ext cx="300038" cy="1071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0038" h="107156">
                      <a:moveTo>
                        <a:pt x="300038" y="53578"/>
                      </a:moveTo>
                      <a:lnTo>
                        <a:pt x="235744" y="107156"/>
                      </a:lnTo>
                      <a:lnTo>
                        <a:pt x="64294" y="107156"/>
                      </a:lnTo>
                      <a:lnTo>
                        <a:pt x="0" y="53578"/>
                      </a:lnTo>
                      <a:lnTo>
                        <a:pt x="64294" y="0"/>
                      </a:lnTo>
                      <a:lnTo>
                        <a:pt x="235744" y="0"/>
                      </a:lnTo>
                      <a:close/>
                    </a:path>
                  </a:pathLst>
                </a:custGeom>
                <a:solidFill>
                  <a:schemeClr val="accent1">
                    <a:alpha val="20000"/>
                  </a:schemeClr>
                </a:solidFill>
                <a:ln>
                  <a:noFill/>
                </a:ln>
              </p:spPr>
            </p:sp>
            <p:sp>
              <p:nvSpPr>
                <p:cNvPr id="7" name="Freeform 7"/>
                <p:cNvSpPr/>
                <p:nvPr/>
              </p:nvSpPr>
              <p:spPr>
                <a:xfrm>
                  <a:off x="772719" y="1852286"/>
                  <a:ext cx="321462" cy="2575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1462" h="257503">
                      <a:moveTo>
                        <a:pt x="81864" y="83574"/>
                      </a:moveTo>
                      <a:lnTo>
                        <a:pt x="27456" y="128914"/>
                      </a:lnTo>
                      <a:lnTo>
                        <a:pt x="81864" y="174255"/>
                      </a:lnTo>
                      <a:cubicBezTo>
                        <a:pt x="84892" y="176679"/>
                        <a:pt x="86374" y="180549"/>
                        <a:pt x="85738" y="184375"/>
                      </a:cubicBezTo>
                      <a:cubicBezTo>
                        <a:pt x="85103" y="188201"/>
                        <a:pt x="82450" y="191386"/>
                        <a:pt x="78802" y="192701"/>
                      </a:cubicBezTo>
                      <a:cubicBezTo>
                        <a:pt x="75153" y="194016"/>
                        <a:pt x="71079" y="193257"/>
                        <a:pt x="68148" y="190717"/>
                      </a:cubicBezTo>
                      <a:lnTo>
                        <a:pt x="3854" y="137139"/>
                      </a:lnTo>
                      <a:cubicBezTo>
                        <a:pt x="1412" y="135103"/>
                        <a:pt x="0" y="132087"/>
                        <a:pt x="0" y="128908"/>
                      </a:cubicBezTo>
                      <a:cubicBezTo>
                        <a:pt x="0" y="125728"/>
                        <a:pt x="1412" y="122713"/>
                        <a:pt x="3854" y="120677"/>
                      </a:cubicBezTo>
                      <a:lnTo>
                        <a:pt x="68148" y="67099"/>
                      </a:lnTo>
                      <a:cubicBezTo>
                        <a:pt x="72698" y="63311"/>
                        <a:pt x="79456" y="63929"/>
                        <a:pt x="83244" y="68478"/>
                      </a:cubicBezTo>
                      <a:cubicBezTo>
                        <a:pt x="87031" y="73028"/>
                        <a:pt x="86414" y="79786"/>
                        <a:pt x="81864" y="83574"/>
                      </a:cubicBezTo>
                      <a:close/>
                      <a:moveTo>
                        <a:pt x="317608" y="120677"/>
                      </a:moveTo>
                      <a:lnTo>
                        <a:pt x="253314" y="67099"/>
                      </a:lnTo>
                      <a:cubicBezTo>
                        <a:pt x="248765" y="63311"/>
                        <a:pt x="242006" y="63929"/>
                        <a:pt x="238219" y="68478"/>
                      </a:cubicBezTo>
                      <a:cubicBezTo>
                        <a:pt x="234431" y="73028"/>
                        <a:pt x="235049" y="79786"/>
                        <a:pt x="239598" y="83574"/>
                      </a:cubicBezTo>
                      <a:lnTo>
                        <a:pt x="294007" y="128914"/>
                      </a:lnTo>
                      <a:lnTo>
                        <a:pt x="239598" y="174255"/>
                      </a:lnTo>
                      <a:cubicBezTo>
                        <a:pt x="236570" y="176679"/>
                        <a:pt x="235089" y="180549"/>
                        <a:pt x="235724" y="184375"/>
                      </a:cubicBezTo>
                      <a:cubicBezTo>
                        <a:pt x="236359" y="188201"/>
                        <a:pt x="239012" y="191386"/>
                        <a:pt x="242661" y="192701"/>
                      </a:cubicBezTo>
                      <a:cubicBezTo>
                        <a:pt x="246309" y="194016"/>
                        <a:pt x="250384" y="193257"/>
                        <a:pt x="253314" y="190717"/>
                      </a:cubicBezTo>
                      <a:lnTo>
                        <a:pt x="317608" y="137139"/>
                      </a:lnTo>
                      <a:cubicBezTo>
                        <a:pt x="320050" y="135103"/>
                        <a:pt x="321462" y="132087"/>
                        <a:pt x="321462" y="128908"/>
                      </a:cubicBezTo>
                      <a:cubicBezTo>
                        <a:pt x="321462" y="125728"/>
                        <a:pt x="320050" y="122713"/>
                        <a:pt x="317608" y="120677"/>
                      </a:cubicBezTo>
                      <a:close/>
                      <a:moveTo>
                        <a:pt x="207250" y="970"/>
                      </a:moveTo>
                      <a:cubicBezTo>
                        <a:pt x="204579" y="0"/>
                        <a:pt x="201632" y="131"/>
                        <a:pt x="199057" y="1334"/>
                      </a:cubicBezTo>
                      <a:cubicBezTo>
                        <a:pt x="196482" y="2538"/>
                        <a:pt x="194491" y="4714"/>
                        <a:pt x="193521" y="7386"/>
                      </a:cubicBezTo>
                      <a:lnTo>
                        <a:pt x="107796" y="243130"/>
                      </a:lnTo>
                      <a:cubicBezTo>
                        <a:pt x="106822" y="245803"/>
                        <a:pt x="106951" y="248753"/>
                        <a:pt x="108154" y="251331"/>
                      </a:cubicBezTo>
                      <a:cubicBezTo>
                        <a:pt x="109358" y="253909"/>
                        <a:pt x="111537" y="255903"/>
                        <a:pt x="114212" y="256872"/>
                      </a:cubicBezTo>
                      <a:cubicBezTo>
                        <a:pt x="115386" y="257290"/>
                        <a:pt x="116623" y="257503"/>
                        <a:pt x="117869" y="257502"/>
                      </a:cubicBezTo>
                      <a:cubicBezTo>
                        <a:pt x="122377" y="257502"/>
                        <a:pt x="126403" y="254681"/>
                        <a:pt x="127941" y="250443"/>
                      </a:cubicBezTo>
                      <a:lnTo>
                        <a:pt x="213666" y="14699"/>
                      </a:lnTo>
                      <a:cubicBezTo>
                        <a:pt x="214636" y="12028"/>
                        <a:pt x="214505" y="9081"/>
                        <a:pt x="213302" y="6506"/>
                      </a:cubicBezTo>
                      <a:cubicBezTo>
                        <a:pt x="212099" y="3931"/>
                        <a:pt x="209922" y="1940"/>
                        <a:pt x="207250" y="97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</p:sp>
          </p:grpSp>
          <p:sp>
            <p:nvSpPr>
              <p:cNvPr id="9" name="TextBox 9"/>
              <p:cNvSpPr txBox="1"/>
              <p:nvPr/>
            </p:nvSpPr>
            <p:spPr>
              <a:xfrm>
                <a:off x="1230630" y="1822450"/>
                <a:ext cx="1843853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" sz="1500" b="1" dirty="0">
                    <a:solidFill>
                      <a:srgbClr val="1E40AF"/>
                    </a:solidFill>
                    <a:latin typeface="Inter"/>
                    <a:ea typeface="Inter"/>
                    <a:cs typeface="Inter"/>
                  </a:rPr>
                  <a:t>Frontend (React)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1232154" y="2133600"/>
                <a:ext cx="137744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" sz="1200" dirty="0">
                    <a:solidFill>
                      <a:srgbClr val="1E3A8A"/>
                    </a:solidFill>
                    <a:latin typeface="Inter"/>
                    <a:ea typeface="Inter"/>
                    <a:cs typeface="Inter"/>
                  </a:rPr>
                  <a:t>TypeScript + Vite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4185285" y="1860550"/>
                <a:ext cx="3231873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" sz="1120" dirty="0">
                    <a:solidFill>
                      <a:schemeClr val="dk1"/>
                    </a:solidFill>
                    <a:latin typeface="Inter"/>
                    <a:ea typeface="Inter"/>
                    <a:cs typeface="Inter"/>
                  </a:rPr>
                  <a:t>3 screens: Intro, Segmentation, Dashboard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4185285" y="2146300"/>
                <a:ext cx="217877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" sz="1120" dirty="0">
                    <a:solidFill>
                      <a:schemeClr val="dk1"/>
                    </a:solidFill>
                    <a:latin typeface="Inter"/>
                    <a:ea typeface="Inter"/>
                    <a:cs typeface="Inter"/>
                  </a:rPr>
                  <a:t>Visualization: PCA 2D, charts</a:t>
                </a:r>
              </a:p>
            </p:txBody>
          </p:sp>
        </p:grpSp>
        <p:sp>
          <p:nvSpPr>
            <p:cNvPr id="14" name="Freeform 14"/>
            <p:cNvSpPr/>
            <p:nvPr/>
          </p:nvSpPr>
          <p:spPr>
            <a:xfrm>
              <a:off x="4000500" y="2667000"/>
              <a:ext cx="9525" cy="285750"/>
            </a:xfrm>
            <a:custGeom>
              <a:avLst/>
              <a:gdLst/>
              <a:ahLst/>
              <a:cxnLst/>
              <a:rect l="l" t="t" r="r" b="b"/>
              <a:pathLst>
                <a:path w="9525" h="285750">
                  <a:moveTo>
                    <a:pt x="0" y="0"/>
                  </a:moveTo>
                  <a:lnTo>
                    <a:pt x="0" y="285750"/>
                  </a:lnTo>
                </a:path>
              </a:pathLst>
            </a:custGeom>
            <a:solidFill>
              <a:srgbClr val="000000"/>
            </a:solidFill>
            <a:ln w="38100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185666" y="2730500"/>
              <a:ext cx="58085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1050" dirty="0">
                  <a:solidFill>
                    <a:schemeClr val="accent5"/>
                  </a:solidFill>
                  <a:latin typeface="Inter"/>
                  <a:ea typeface="Inter"/>
                  <a:cs typeface="Inter"/>
                </a:rPr>
                <a:t>API calls</a:t>
              </a:r>
            </a:p>
          </p:txBody>
        </p:sp>
        <p:grpSp>
          <p:nvGrpSpPr>
            <p:cNvPr id="25" name="backend-layer"/>
            <p:cNvGrpSpPr/>
            <p:nvPr/>
          </p:nvGrpSpPr>
          <p:grpSpPr>
            <a:xfrm>
              <a:off x="571500" y="2952750"/>
              <a:ext cx="6930702" cy="1333500"/>
              <a:chOff x="571500" y="2952750"/>
              <a:chExt cx="6930702" cy="1333500"/>
            </a:xfrm>
          </p:grpSpPr>
          <p:sp>
            <p:nvSpPr>
              <p:cNvPr id="16" name="Rectangle 16"/>
              <p:cNvSpPr/>
              <p:nvPr/>
            </p:nvSpPr>
            <p:spPr>
              <a:xfrm>
                <a:off x="571500" y="2952750"/>
                <a:ext cx="6858000" cy="1333500"/>
              </a:xfrm>
              <a:prstGeom prst="roundRect">
                <a:avLst>
                  <a:gd name="adj" fmla="val 8571"/>
                </a:avLst>
              </a:prstGeom>
              <a:solidFill>
                <a:srgbClr val="DCFCE7"/>
              </a:solidFill>
              <a:ln w="19050">
                <a:solidFill>
                  <a:schemeClr val="accent2"/>
                </a:solidFill>
              </a:ln>
              <a:effectLst>
                <a:outerShdw blurRad="152400" dist="57150" dir="5400000" algn="ctr" rotWithShape="0">
                  <a:srgbClr val="000000">
                    <a:alpha val="7500"/>
                  </a:srgbClr>
                </a:outerShdw>
              </a:effectLst>
            </p:spPr>
          </p:sp>
          <p:grpSp>
            <p:nvGrpSpPr>
              <p:cNvPr id="19" name="Group 19"/>
              <p:cNvGrpSpPr/>
              <p:nvPr/>
            </p:nvGrpSpPr>
            <p:grpSpPr>
              <a:xfrm>
                <a:off x="792733" y="3307071"/>
                <a:ext cx="281506" cy="301008"/>
                <a:chOff x="792733" y="3307071"/>
                <a:chExt cx="281506" cy="301008"/>
              </a:xfrm>
            </p:grpSpPr>
            <p:sp>
              <p:nvSpPr>
                <p:cNvPr id="17" name="Freeform 17"/>
                <p:cNvSpPr/>
                <p:nvPr/>
              </p:nvSpPr>
              <p:spPr>
                <a:xfrm>
                  <a:off x="804862" y="3318272"/>
                  <a:ext cx="257175" cy="1500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7175" h="150019">
                      <a:moveTo>
                        <a:pt x="257175" y="75009"/>
                      </a:moveTo>
                      <a:lnTo>
                        <a:pt x="128588" y="150019"/>
                      </a:lnTo>
                      <a:lnTo>
                        <a:pt x="0" y="75009"/>
                      </a:lnTo>
                      <a:lnTo>
                        <a:pt x="128588" y="0"/>
                      </a:lnTo>
                      <a:close/>
                    </a:path>
                  </a:pathLst>
                </a:custGeom>
                <a:solidFill>
                  <a:schemeClr val="accent2">
                    <a:alpha val="20000"/>
                  </a:schemeClr>
                </a:solidFill>
                <a:ln>
                  <a:noFill/>
                </a:ln>
              </p:spPr>
            </p:sp>
            <p:sp>
              <p:nvSpPr>
                <p:cNvPr id="18" name="Freeform 18"/>
                <p:cNvSpPr/>
                <p:nvPr/>
              </p:nvSpPr>
              <p:spPr>
                <a:xfrm>
                  <a:off x="792733" y="3307071"/>
                  <a:ext cx="281506" cy="3010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1506" h="301008">
                      <a:moveTo>
                        <a:pt x="278560" y="209440"/>
                      </a:moveTo>
                      <a:cubicBezTo>
                        <a:pt x="281506" y="214553"/>
                        <a:pt x="279764" y="221087"/>
                        <a:pt x="274662" y="224053"/>
                      </a:cubicBezTo>
                      <a:lnTo>
                        <a:pt x="146074" y="299063"/>
                      </a:lnTo>
                      <a:cubicBezTo>
                        <a:pt x="142739" y="301008"/>
                        <a:pt x="138614" y="301008"/>
                        <a:pt x="135278" y="299063"/>
                      </a:cubicBezTo>
                      <a:lnTo>
                        <a:pt x="6691" y="224053"/>
                      </a:lnTo>
                      <a:cubicBezTo>
                        <a:pt x="1665" y="221033"/>
                        <a:pt x="0" y="214535"/>
                        <a:pt x="2954" y="209470"/>
                      </a:cubicBezTo>
                      <a:cubicBezTo>
                        <a:pt x="5908" y="204405"/>
                        <a:pt x="12384" y="202655"/>
                        <a:pt x="17487" y="205542"/>
                      </a:cubicBezTo>
                      <a:lnTo>
                        <a:pt x="140717" y="277404"/>
                      </a:lnTo>
                      <a:lnTo>
                        <a:pt x="263946" y="205542"/>
                      </a:lnTo>
                      <a:cubicBezTo>
                        <a:pt x="269060" y="202596"/>
                        <a:pt x="275593" y="204338"/>
                        <a:pt x="278560" y="209440"/>
                      </a:cubicBezTo>
                      <a:close/>
                      <a:moveTo>
                        <a:pt x="263946" y="141248"/>
                      </a:moveTo>
                      <a:lnTo>
                        <a:pt x="140717" y="213110"/>
                      </a:lnTo>
                      <a:lnTo>
                        <a:pt x="17487" y="141248"/>
                      </a:lnTo>
                      <a:cubicBezTo>
                        <a:pt x="12423" y="138727"/>
                        <a:pt x="6271" y="140576"/>
                        <a:pt x="3437" y="145472"/>
                      </a:cubicBezTo>
                      <a:cubicBezTo>
                        <a:pt x="603" y="150368"/>
                        <a:pt x="2063" y="156624"/>
                        <a:pt x="6771" y="159760"/>
                      </a:cubicBezTo>
                      <a:lnTo>
                        <a:pt x="135359" y="234769"/>
                      </a:lnTo>
                      <a:cubicBezTo>
                        <a:pt x="138695" y="236714"/>
                        <a:pt x="142819" y="236714"/>
                        <a:pt x="146155" y="234769"/>
                      </a:cubicBezTo>
                      <a:lnTo>
                        <a:pt x="274742" y="159760"/>
                      </a:lnTo>
                      <a:cubicBezTo>
                        <a:pt x="278103" y="157858"/>
                        <a:pt x="280181" y="154295"/>
                        <a:pt x="280181" y="150433"/>
                      </a:cubicBezTo>
                      <a:cubicBezTo>
                        <a:pt x="280181" y="146571"/>
                        <a:pt x="278103" y="143008"/>
                        <a:pt x="274742" y="141107"/>
                      </a:cubicBezTo>
                      <a:cubicBezTo>
                        <a:pt x="271381" y="139205"/>
                        <a:pt x="267256" y="139259"/>
                        <a:pt x="263946" y="141248"/>
                      </a:cubicBezTo>
                      <a:close/>
                      <a:moveTo>
                        <a:pt x="1414" y="86210"/>
                      </a:moveTo>
                      <a:cubicBezTo>
                        <a:pt x="1422" y="82391"/>
                        <a:pt x="3463" y="78864"/>
                        <a:pt x="6771" y="76955"/>
                      </a:cubicBezTo>
                      <a:lnTo>
                        <a:pt x="135359" y="1945"/>
                      </a:lnTo>
                      <a:cubicBezTo>
                        <a:pt x="138695" y="0"/>
                        <a:pt x="142819" y="0"/>
                        <a:pt x="146155" y="1945"/>
                      </a:cubicBezTo>
                      <a:lnTo>
                        <a:pt x="274742" y="76955"/>
                      </a:lnTo>
                      <a:cubicBezTo>
                        <a:pt x="278034" y="78875"/>
                        <a:pt x="280058" y="82399"/>
                        <a:pt x="280058" y="86210"/>
                      </a:cubicBezTo>
                      <a:cubicBezTo>
                        <a:pt x="280058" y="90021"/>
                        <a:pt x="278034" y="93545"/>
                        <a:pt x="274742" y="95466"/>
                      </a:cubicBezTo>
                      <a:lnTo>
                        <a:pt x="146155" y="170475"/>
                      </a:lnTo>
                      <a:cubicBezTo>
                        <a:pt x="142819" y="172420"/>
                        <a:pt x="138695" y="172420"/>
                        <a:pt x="135359" y="170475"/>
                      </a:cubicBezTo>
                      <a:lnTo>
                        <a:pt x="6771" y="95466"/>
                      </a:lnTo>
                      <a:cubicBezTo>
                        <a:pt x="3463" y="93556"/>
                        <a:pt x="1422" y="90030"/>
                        <a:pt x="1414" y="86210"/>
                      </a:cubicBezTo>
                      <a:close/>
                      <a:moveTo>
                        <a:pt x="33400" y="86210"/>
                      </a:moveTo>
                      <a:lnTo>
                        <a:pt x="140717" y="148816"/>
                      </a:lnTo>
                      <a:lnTo>
                        <a:pt x="248034" y="86210"/>
                      </a:lnTo>
                      <a:lnTo>
                        <a:pt x="140717" y="23604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</p:sp>
          </p:grpSp>
          <p:sp>
            <p:nvSpPr>
              <p:cNvPr id="20" name="TextBox 20"/>
              <p:cNvSpPr txBox="1"/>
              <p:nvPr/>
            </p:nvSpPr>
            <p:spPr>
              <a:xfrm>
                <a:off x="1230630" y="3298825"/>
                <a:ext cx="190801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" sz="1500" b="1" dirty="0">
                    <a:solidFill>
                      <a:srgbClr val="065F46"/>
                    </a:solidFill>
                    <a:latin typeface="Inter"/>
                    <a:ea typeface="Inter"/>
                    <a:cs typeface="Inter"/>
                  </a:rPr>
                  <a:t>Backend (Node.js)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1232154" y="3609975"/>
                <a:ext cx="164376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" sz="1200" dirty="0">
                    <a:solidFill>
                      <a:srgbClr val="047857"/>
                    </a:solidFill>
                    <a:latin typeface="Inter"/>
                    <a:ea typeface="Inter"/>
                    <a:cs typeface="Inter"/>
                  </a:rPr>
                  <a:t>Fastify + TypeScript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4185285" y="3146425"/>
                <a:ext cx="3163611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" sz="1120" dirty="0">
                    <a:solidFill>
                      <a:schemeClr val="dk1"/>
                    </a:solidFill>
                    <a:latin typeface="Inter"/>
                    <a:ea typeface="Inter"/>
                    <a:cs typeface="Inter"/>
                  </a:rPr>
                  <a:t>Load frozen model.json (SHA-256 verified)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4185285" y="3432175"/>
                <a:ext cx="2032353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" sz="1120" b="1" dirty="0">
                    <a:solidFill>
                      <a:schemeClr val="dk1"/>
                    </a:solidFill>
                    <a:latin typeface="Inter"/>
                    <a:ea typeface="Inter"/>
                    <a:cs typeface="Inter"/>
                  </a:rPr>
                  <a:t>NO retraining on requests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185285" y="3717925"/>
                <a:ext cx="3316917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" sz="1120" dirty="0">
                    <a:solidFill>
                      <a:schemeClr val="dk1"/>
                    </a:solidFill>
                    <a:latin typeface="Inter"/>
                    <a:ea typeface="Inter"/>
                    <a:cs typeface="Inter"/>
                  </a:rPr>
                  <a:t>API: /health, /ready, /segment, /dashboard</a:t>
                </a:r>
              </a:p>
            </p:txBody>
          </p:sp>
        </p:grpSp>
        <p:sp>
          <p:nvSpPr>
            <p:cNvPr id="26" name="Freeform 26"/>
            <p:cNvSpPr/>
            <p:nvPr/>
          </p:nvSpPr>
          <p:spPr>
            <a:xfrm>
              <a:off x="4000500" y="4286250"/>
              <a:ext cx="9525" cy="285750"/>
            </a:xfrm>
            <a:custGeom>
              <a:avLst/>
              <a:gdLst/>
              <a:ahLst/>
              <a:cxnLst/>
              <a:rect l="l" t="t" r="r" b="b"/>
              <a:pathLst>
                <a:path w="9525" h="285750">
                  <a:moveTo>
                    <a:pt x="0" y="0"/>
                  </a:moveTo>
                  <a:lnTo>
                    <a:pt x="0" y="285750"/>
                  </a:lnTo>
                </a:path>
              </a:pathLst>
            </a:custGeom>
            <a:solidFill>
              <a:srgbClr val="000000"/>
            </a:solidFill>
            <a:ln w="38100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185666" y="4349750"/>
              <a:ext cx="67971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1050" dirty="0">
                  <a:solidFill>
                    <a:schemeClr val="accent5"/>
                  </a:solidFill>
                  <a:latin typeface="Inter"/>
                  <a:ea typeface="Inter"/>
                  <a:cs typeface="Inter"/>
                </a:rPr>
                <a:t>Load once</a:t>
              </a:r>
            </a:p>
          </p:txBody>
        </p:sp>
        <p:grpSp>
          <p:nvGrpSpPr>
            <p:cNvPr id="37" name="ml-layer"/>
            <p:cNvGrpSpPr/>
            <p:nvPr/>
          </p:nvGrpSpPr>
          <p:grpSpPr>
            <a:xfrm>
              <a:off x="571500" y="4572000"/>
              <a:ext cx="6858000" cy="1524000"/>
              <a:chOff x="571500" y="4572000"/>
              <a:chExt cx="6858000" cy="1524000"/>
            </a:xfrm>
          </p:grpSpPr>
          <p:sp>
            <p:nvSpPr>
              <p:cNvPr id="28" name="Rectangle 28"/>
              <p:cNvSpPr/>
              <p:nvPr/>
            </p:nvSpPr>
            <p:spPr>
              <a:xfrm>
                <a:off x="571500" y="4572000"/>
                <a:ext cx="6858000" cy="1524000"/>
              </a:xfrm>
              <a:prstGeom prst="roundRect">
                <a:avLst>
                  <a:gd name="adj" fmla="val 7500"/>
                </a:avLst>
              </a:prstGeom>
              <a:solidFill>
                <a:srgbClr val="FEF3C7"/>
              </a:solidFill>
              <a:ln w="19050">
                <a:solidFill>
                  <a:srgbClr val="F59E0B"/>
                </a:solidFill>
              </a:ln>
              <a:effectLst>
                <a:outerShdw blurRad="152400" dist="57150" dir="5400000" algn="ctr" rotWithShape="0">
                  <a:srgbClr val="000000">
                    <a:alpha val="7500"/>
                  </a:srgbClr>
                </a:outerShdw>
              </a:effectLst>
            </p:spPr>
          </p:sp>
          <p:grpSp>
            <p:nvGrpSpPr>
              <p:cNvPr id="31" name="Group 31"/>
              <p:cNvGrpSpPr/>
              <p:nvPr/>
            </p:nvGrpSpPr>
            <p:grpSpPr>
              <a:xfrm>
                <a:off x="823916" y="4994169"/>
                <a:ext cx="248837" cy="258847"/>
                <a:chOff x="823916" y="4994169"/>
                <a:chExt cx="248837" cy="258847"/>
              </a:xfrm>
            </p:grpSpPr>
            <p:sp>
              <p:nvSpPr>
                <p:cNvPr id="29" name="Freeform 29"/>
                <p:cNvSpPr/>
                <p:nvPr/>
              </p:nvSpPr>
              <p:spPr>
                <a:xfrm>
                  <a:off x="997744" y="5006578"/>
                  <a:ext cx="64294" cy="642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294" h="64294">
                      <a:moveTo>
                        <a:pt x="64294" y="32147"/>
                      </a:moveTo>
                      <a:cubicBezTo>
                        <a:pt x="64294" y="49901"/>
                        <a:pt x="49901" y="64294"/>
                        <a:pt x="32147" y="64294"/>
                      </a:cubicBezTo>
                      <a:cubicBezTo>
                        <a:pt x="14393" y="64294"/>
                        <a:pt x="0" y="49901"/>
                        <a:pt x="0" y="32147"/>
                      </a:cubicBezTo>
                      <a:cubicBezTo>
                        <a:pt x="0" y="14393"/>
                        <a:pt x="14393" y="0"/>
                        <a:pt x="32147" y="0"/>
                      </a:cubicBezTo>
                      <a:cubicBezTo>
                        <a:pt x="49901" y="0"/>
                        <a:pt x="64294" y="14393"/>
                        <a:pt x="64294" y="32147"/>
                      </a:cubicBezTo>
                      <a:close/>
                    </a:path>
                  </a:pathLst>
                </a:custGeom>
                <a:solidFill>
                  <a:srgbClr val="D97706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30" name="Freeform 30"/>
                <p:cNvSpPr/>
                <p:nvPr/>
              </p:nvSpPr>
              <p:spPr>
                <a:xfrm>
                  <a:off x="823916" y="4994169"/>
                  <a:ext cx="248837" cy="2588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8837" h="258847">
                      <a:moveTo>
                        <a:pt x="248837" y="44556"/>
                      </a:moveTo>
                      <a:cubicBezTo>
                        <a:pt x="248826" y="22285"/>
                        <a:pt x="231760" y="3732"/>
                        <a:pt x="209566" y="1866"/>
                      </a:cubicBezTo>
                      <a:cubicBezTo>
                        <a:pt x="187373" y="0"/>
                        <a:pt x="167448" y="15442"/>
                        <a:pt x="163718" y="37399"/>
                      </a:cubicBezTo>
                      <a:cubicBezTo>
                        <a:pt x="159988" y="59356"/>
                        <a:pt x="173695" y="80511"/>
                        <a:pt x="195259" y="86079"/>
                      </a:cubicBezTo>
                      <a:lnTo>
                        <a:pt x="195259" y="108850"/>
                      </a:lnTo>
                      <a:cubicBezTo>
                        <a:pt x="195259" y="114768"/>
                        <a:pt x="190462" y="119566"/>
                        <a:pt x="184544" y="119566"/>
                      </a:cubicBezTo>
                      <a:lnTo>
                        <a:pt x="66672" y="119566"/>
                      </a:lnTo>
                      <a:cubicBezTo>
                        <a:pt x="63021" y="119565"/>
                        <a:pt x="59396" y="120190"/>
                        <a:pt x="55956" y="121414"/>
                      </a:cubicBezTo>
                      <a:lnTo>
                        <a:pt x="55956" y="86079"/>
                      </a:lnTo>
                      <a:cubicBezTo>
                        <a:pt x="76855" y="80683"/>
                        <a:pt x="90481" y="60589"/>
                        <a:pt x="87761" y="39177"/>
                      </a:cubicBezTo>
                      <a:cubicBezTo>
                        <a:pt x="85042" y="17765"/>
                        <a:pt x="66825" y="1715"/>
                        <a:pt x="45241" y="1715"/>
                      </a:cubicBezTo>
                      <a:cubicBezTo>
                        <a:pt x="23656" y="1715"/>
                        <a:pt x="5439" y="17765"/>
                        <a:pt x="2720" y="39177"/>
                      </a:cubicBezTo>
                      <a:cubicBezTo>
                        <a:pt x="0" y="60589"/>
                        <a:pt x="13626" y="80683"/>
                        <a:pt x="34525" y="86079"/>
                      </a:cubicBezTo>
                      <a:lnTo>
                        <a:pt x="34525" y="174483"/>
                      </a:lnTo>
                      <a:cubicBezTo>
                        <a:pt x="13626" y="179879"/>
                        <a:pt x="0" y="199973"/>
                        <a:pt x="2720" y="221386"/>
                      </a:cubicBezTo>
                      <a:cubicBezTo>
                        <a:pt x="5439" y="242798"/>
                        <a:pt x="23656" y="258847"/>
                        <a:pt x="45241" y="258847"/>
                      </a:cubicBezTo>
                      <a:cubicBezTo>
                        <a:pt x="66825" y="258847"/>
                        <a:pt x="85042" y="242798"/>
                        <a:pt x="87761" y="221386"/>
                      </a:cubicBezTo>
                      <a:cubicBezTo>
                        <a:pt x="90481" y="199973"/>
                        <a:pt x="76855" y="179879"/>
                        <a:pt x="55956" y="174483"/>
                      </a:cubicBezTo>
                      <a:lnTo>
                        <a:pt x="55956" y="151713"/>
                      </a:lnTo>
                      <a:cubicBezTo>
                        <a:pt x="55956" y="145795"/>
                        <a:pt x="60754" y="140997"/>
                        <a:pt x="66672" y="140997"/>
                      </a:cubicBezTo>
                      <a:lnTo>
                        <a:pt x="184544" y="140997"/>
                      </a:lnTo>
                      <a:cubicBezTo>
                        <a:pt x="202298" y="140997"/>
                        <a:pt x="216691" y="126604"/>
                        <a:pt x="216691" y="108850"/>
                      </a:cubicBezTo>
                      <a:lnTo>
                        <a:pt x="216691" y="86079"/>
                      </a:lnTo>
                      <a:cubicBezTo>
                        <a:pt x="235606" y="81166"/>
                        <a:pt x="248819" y="64100"/>
                        <a:pt x="248837" y="44556"/>
                      </a:cubicBezTo>
                      <a:close/>
                      <a:moveTo>
                        <a:pt x="23809" y="44556"/>
                      </a:moveTo>
                      <a:cubicBezTo>
                        <a:pt x="23809" y="32720"/>
                        <a:pt x="33404" y="23125"/>
                        <a:pt x="45241" y="23125"/>
                      </a:cubicBezTo>
                      <a:cubicBezTo>
                        <a:pt x="57077" y="23125"/>
                        <a:pt x="66672" y="32720"/>
                        <a:pt x="66672" y="44556"/>
                      </a:cubicBezTo>
                      <a:cubicBezTo>
                        <a:pt x="66672" y="56392"/>
                        <a:pt x="57077" y="65988"/>
                        <a:pt x="45241" y="65988"/>
                      </a:cubicBezTo>
                      <a:cubicBezTo>
                        <a:pt x="33404" y="65988"/>
                        <a:pt x="23809" y="56392"/>
                        <a:pt x="23809" y="44556"/>
                      </a:cubicBezTo>
                      <a:close/>
                      <a:moveTo>
                        <a:pt x="66672" y="216006"/>
                      </a:moveTo>
                      <a:cubicBezTo>
                        <a:pt x="66672" y="227842"/>
                        <a:pt x="57077" y="237438"/>
                        <a:pt x="45241" y="237438"/>
                      </a:cubicBezTo>
                      <a:cubicBezTo>
                        <a:pt x="33404" y="237438"/>
                        <a:pt x="23809" y="227842"/>
                        <a:pt x="23809" y="216006"/>
                      </a:cubicBezTo>
                      <a:cubicBezTo>
                        <a:pt x="23809" y="204170"/>
                        <a:pt x="33404" y="194575"/>
                        <a:pt x="45241" y="194575"/>
                      </a:cubicBezTo>
                      <a:cubicBezTo>
                        <a:pt x="57077" y="194575"/>
                        <a:pt x="66672" y="204170"/>
                        <a:pt x="66672" y="216006"/>
                      </a:cubicBezTo>
                      <a:close/>
                      <a:moveTo>
                        <a:pt x="205975" y="65988"/>
                      </a:moveTo>
                      <a:cubicBezTo>
                        <a:pt x="194139" y="65988"/>
                        <a:pt x="184544" y="56392"/>
                        <a:pt x="184544" y="44556"/>
                      </a:cubicBezTo>
                      <a:cubicBezTo>
                        <a:pt x="184544" y="32720"/>
                        <a:pt x="194139" y="23125"/>
                        <a:pt x="205975" y="23125"/>
                      </a:cubicBezTo>
                      <a:cubicBezTo>
                        <a:pt x="217811" y="23125"/>
                        <a:pt x="227406" y="32720"/>
                        <a:pt x="227406" y="44556"/>
                      </a:cubicBezTo>
                      <a:cubicBezTo>
                        <a:pt x="227406" y="56392"/>
                        <a:pt x="217811" y="65988"/>
                        <a:pt x="205975" y="65988"/>
                      </a:cubicBezTo>
                      <a:close/>
                    </a:path>
                  </a:pathLst>
                </a:custGeom>
                <a:solidFill>
                  <a:srgbClr val="D97706"/>
                </a:solidFill>
                <a:ln>
                  <a:noFill/>
                </a:ln>
              </p:spPr>
            </p:sp>
          </p:grpSp>
          <p:sp>
            <p:nvSpPr>
              <p:cNvPr id="32" name="TextBox 32"/>
              <p:cNvSpPr txBox="1"/>
              <p:nvPr/>
            </p:nvSpPr>
            <p:spPr>
              <a:xfrm>
                <a:off x="1230630" y="4965700"/>
                <a:ext cx="2208514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" sz="1500" b="1" dirty="0">
                    <a:solidFill>
                      <a:srgbClr val="92400E"/>
                    </a:solidFill>
                    <a:latin typeface="Inter"/>
                    <a:ea typeface="Inter"/>
                    <a:cs typeface="Inter"/>
                  </a:rPr>
                  <a:t>ML Training (Python)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1232154" y="5276850"/>
                <a:ext cx="225297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" sz="1200" dirty="0">
                    <a:solidFill>
                      <a:srgbClr val="78350F"/>
                    </a:solidFill>
                    <a:latin typeface="Inter"/>
                    <a:ea typeface="Inter"/>
                    <a:cs typeface="Inter"/>
                  </a:rPr>
                  <a:t>scikit-learn, pandas, NumPy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185285" y="4813300"/>
                <a:ext cx="2512396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" sz="1120" dirty="0">
                    <a:solidFill>
                      <a:schemeClr val="dk1"/>
                    </a:solidFill>
                    <a:latin typeface="Inter"/>
                    <a:ea typeface="Inter"/>
                    <a:cs typeface="Inter"/>
                  </a:rPr>
                  <a:t>140 experiments → Model selection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4185285" y="5099050"/>
                <a:ext cx="2550243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" sz="1120" dirty="0">
                    <a:solidFill>
                      <a:schemeClr val="dk1"/>
                    </a:solidFill>
                    <a:latin typeface="Inter"/>
                    <a:ea typeface="Inter"/>
                    <a:cs typeface="Inter"/>
                  </a:rPr>
                  <a:t>D011: log1p + StandardScaler, K=2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4185285" y="5384800"/>
                <a:ext cx="1900434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" sz="1120" b="1" dirty="0">
                    <a:solidFill>
                      <a:schemeClr val="dk1"/>
                    </a:solidFill>
                    <a:latin typeface="Inter"/>
                    <a:ea typeface="Inter"/>
                    <a:cs typeface="Inter"/>
                  </a:rPr>
                  <a:t>Export frozen artifacts</a:t>
                </a:r>
              </a:p>
            </p:txBody>
          </p:sp>
        </p:grpSp>
      </p:grpSp>
      <p:grpSp>
        <p:nvGrpSpPr>
          <p:cNvPr id="50" name="testing"/>
          <p:cNvGrpSpPr/>
          <p:nvPr/>
        </p:nvGrpSpPr>
        <p:grpSpPr>
          <a:xfrm>
            <a:off x="7810500" y="1524000"/>
            <a:ext cx="3810000" cy="2190750"/>
            <a:chOff x="7810500" y="1524000"/>
            <a:chExt cx="3810000" cy="2190750"/>
          </a:xfrm>
        </p:grpSpPr>
        <p:sp>
          <p:nvSpPr>
            <p:cNvPr id="39" name="Rectangle 39"/>
            <p:cNvSpPr/>
            <p:nvPr/>
          </p:nvSpPr>
          <p:spPr>
            <a:xfrm>
              <a:off x="7810500" y="1524000"/>
              <a:ext cx="3810000" cy="2190750"/>
            </a:xfrm>
            <a:prstGeom prst="roundRect">
              <a:avLst>
                <a:gd name="adj" fmla="val 5217"/>
              </a:avLst>
            </a:prstGeom>
            <a:solidFill>
              <a:srgbClr val="F0FDF4"/>
            </a:solidFill>
            <a:ln w="19050">
              <a:solidFill>
                <a:schemeClr val="accent2"/>
              </a:solidFill>
            </a:ln>
          </p:spPr>
        </p:sp>
        <p:grpSp>
          <p:nvGrpSpPr>
            <p:cNvPr id="42" name="Group 42"/>
            <p:cNvGrpSpPr/>
            <p:nvPr/>
          </p:nvGrpSpPr>
          <p:grpSpPr>
            <a:xfrm>
              <a:off x="8029575" y="1790700"/>
              <a:ext cx="247650" cy="247650"/>
              <a:chOff x="8029575" y="1790700"/>
              <a:chExt cx="247650" cy="247650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8039100" y="1800225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228600" y="114300"/>
                    </a:moveTo>
                    <a:cubicBezTo>
                      <a:pt x="228600" y="177426"/>
                      <a:pt x="177426" y="228600"/>
                      <a:pt x="114300" y="228600"/>
                    </a:cubicBezTo>
                    <a:cubicBezTo>
                      <a:pt x="51174" y="228600"/>
                      <a:pt x="0" y="177426"/>
                      <a:pt x="0" y="114300"/>
                    </a:cubicBezTo>
                    <a:cubicBezTo>
                      <a:pt x="0" y="51174"/>
                      <a:pt x="51174" y="0"/>
                      <a:pt x="114300" y="0"/>
                    </a:cubicBezTo>
                    <a:cubicBezTo>
                      <a:pt x="177426" y="0"/>
                      <a:pt x="228600" y="51174"/>
                      <a:pt x="228600" y="114300"/>
                    </a:cubicBezTo>
                    <a:close/>
                  </a:path>
                </a:pathLst>
              </a:custGeom>
              <a:solidFill>
                <a:schemeClr val="accent2">
                  <a:alpha val="20000"/>
                </a:schemeClr>
              </a:solidFill>
              <a:ln>
                <a:noFill/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8029575" y="1790700"/>
                <a:ext cx="247650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47650" h="247650">
                    <a:moveTo>
                      <a:pt x="178189" y="88511"/>
                    </a:moveTo>
                    <a:cubicBezTo>
                      <a:pt x="179978" y="90298"/>
                      <a:pt x="180982" y="92722"/>
                      <a:pt x="180982" y="95250"/>
                    </a:cubicBezTo>
                    <a:cubicBezTo>
                      <a:pt x="180982" y="97778"/>
                      <a:pt x="179978" y="100202"/>
                      <a:pt x="178189" y="101989"/>
                    </a:cubicBezTo>
                    <a:lnTo>
                      <a:pt x="111514" y="168664"/>
                    </a:lnTo>
                    <a:cubicBezTo>
                      <a:pt x="109727" y="170453"/>
                      <a:pt x="107303" y="171457"/>
                      <a:pt x="104775" y="171457"/>
                    </a:cubicBezTo>
                    <a:cubicBezTo>
                      <a:pt x="102247" y="171457"/>
                      <a:pt x="99823" y="170453"/>
                      <a:pt x="98036" y="168664"/>
                    </a:cubicBezTo>
                    <a:lnTo>
                      <a:pt x="69461" y="140089"/>
                    </a:lnTo>
                    <a:cubicBezTo>
                      <a:pt x="65739" y="136367"/>
                      <a:pt x="65739" y="130333"/>
                      <a:pt x="69461" y="126611"/>
                    </a:cubicBezTo>
                    <a:cubicBezTo>
                      <a:pt x="73183" y="122889"/>
                      <a:pt x="79217" y="122889"/>
                      <a:pt x="82939" y="126611"/>
                    </a:cubicBezTo>
                    <a:lnTo>
                      <a:pt x="104775" y="148459"/>
                    </a:lnTo>
                    <a:lnTo>
                      <a:pt x="164711" y="88511"/>
                    </a:lnTo>
                    <a:cubicBezTo>
                      <a:pt x="166498" y="86722"/>
                      <a:pt x="168922" y="85718"/>
                      <a:pt x="171450" y="85718"/>
                    </a:cubicBezTo>
                    <a:cubicBezTo>
                      <a:pt x="173978" y="85718"/>
                      <a:pt x="176402" y="86722"/>
                      <a:pt x="178189" y="88511"/>
                    </a:cubicBezTo>
                    <a:close/>
                    <a:moveTo>
                      <a:pt x="247650" y="123825"/>
                    </a:moveTo>
                    <a:cubicBezTo>
                      <a:pt x="247650" y="192212"/>
                      <a:pt x="192212" y="247650"/>
                      <a:pt x="123825" y="247650"/>
                    </a:cubicBezTo>
                    <a:cubicBezTo>
                      <a:pt x="55438" y="247650"/>
                      <a:pt x="0" y="192212"/>
                      <a:pt x="0" y="123825"/>
                    </a:cubicBezTo>
                    <a:cubicBezTo>
                      <a:pt x="0" y="55438"/>
                      <a:pt x="55438" y="0"/>
                      <a:pt x="123825" y="0"/>
                    </a:cubicBezTo>
                    <a:cubicBezTo>
                      <a:pt x="192182" y="72"/>
                      <a:pt x="247578" y="55468"/>
                      <a:pt x="247650" y="123825"/>
                    </a:cubicBezTo>
                    <a:close/>
                    <a:moveTo>
                      <a:pt x="228600" y="123825"/>
                    </a:moveTo>
                    <a:cubicBezTo>
                      <a:pt x="228600" y="65959"/>
                      <a:pt x="181691" y="19050"/>
                      <a:pt x="123825" y="19050"/>
                    </a:cubicBezTo>
                    <a:cubicBezTo>
                      <a:pt x="65959" y="19050"/>
                      <a:pt x="19050" y="65959"/>
                      <a:pt x="19050" y="123825"/>
                    </a:cubicBezTo>
                    <a:cubicBezTo>
                      <a:pt x="19050" y="181691"/>
                      <a:pt x="65959" y="228600"/>
                      <a:pt x="123825" y="228600"/>
                    </a:cubicBezTo>
                    <a:cubicBezTo>
                      <a:pt x="181663" y="228534"/>
                      <a:pt x="228534" y="181663"/>
                      <a:pt x="228600" y="123825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</p:grpSp>
        <p:sp>
          <p:nvSpPr>
            <p:cNvPr id="43" name="TextBox 43"/>
            <p:cNvSpPr txBox="1"/>
            <p:nvPr/>
          </p:nvSpPr>
          <p:spPr>
            <a:xfrm>
              <a:off x="8422005" y="1822450"/>
              <a:ext cx="78470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1500" b="1" dirty="0">
                  <a:solidFill>
                    <a:srgbClr val="065F46"/>
                  </a:solidFill>
                  <a:latin typeface="Inter"/>
                  <a:ea typeface="Inter"/>
                  <a:cs typeface="Inter"/>
                </a:rPr>
                <a:t>Testing</a:t>
              </a:r>
            </a:p>
          </p:txBody>
        </p:sp>
        <p:grpSp>
          <p:nvGrpSpPr>
            <p:cNvPr id="49" name="test-results"/>
            <p:cNvGrpSpPr/>
            <p:nvPr/>
          </p:nvGrpSpPr>
          <p:grpSpPr>
            <a:xfrm>
              <a:off x="7995285" y="2193925"/>
              <a:ext cx="2137349" cy="1363028"/>
              <a:chOff x="7995285" y="2193925"/>
              <a:chExt cx="2137349" cy="1363028"/>
            </a:xfrm>
          </p:grpSpPr>
          <p:sp>
            <p:nvSpPr>
              <p:cNvPr id="44" name="TextBox 44"/>
              <p:cNvSpPr txBox="1"/>
              <p:nvPr/>
            </p:nvSpPr>
            <p:spPr>
              <a:xfrm>
                <a:off x="7995285" y="2193925"/>
                <a:ext cx="1806641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" sz="1120" dirty="0">
                    <a:solidFill>
                      <a:srgbClr val="064E3B"/>
                    </a:solidFill>
                    <a:latin typeface="Inter"/>
                    <a:ea typeface="Inter"/>
                    <a:cs typeface="Inter"/>
                  </a:rPr>
                  <a:t>✓ 64/64 E2E tests PASS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7995285" y="2479675"/>
                <a:ext cx="2097675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" sz="1120" dirty="0">
                    <a:solidFill>
                      <a:srgbClr val="064E3B"/>
                    </a:solidFill>
                    <a:latin typeface="Inter"/>
                    <a:ea typeface="Inter"/>
                    <a:cs typeface="Inter"/>
                  </a:rPr>
                  <a:t>✓ Gate 6: 19 native + 16 API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7995285" y="2765425"/>
                <a:ext cx="1804954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" sz="1120" dirty="0">
                    <a:solidFill>
                      <a:srgbClr val="064E3B"/>
                    </a:solidFill>
                    <a:latin typeface="Inter"/>
                    <a:ea typeface="Inter"/>
                    <a:cs typeface="Inter"/>
                  </a:rPr>
                  <a:t>✓ Gate 7: 40 Playwright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7995285" y="3051175"/>
                <a:ext cx="1599124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" sz="1120" dirty="0">
                    <a:solidFill>
                      <a:srgbClr val="064E3B"/>
                    </a:solidFill>
                    <a:latin typeface="Inter"/>
                    <a:ea typeface="Inter"/>
                    <a:cs typeface="Inter"/>
                  </a:rPr>
                  <a:t>✓ Gate 8: Windows CI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7995285" y="3336925"/>
                <a:ext cx="2137349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" sz="1120" dirty="0">
                    <a:solidFill>
                      <a:srgbClr val="064E3B"/>
                    </a:solidFill>
                    <a:latin typeface="Inter"/>
                    <a:ea typeface="Inter"/>
                    <a:cs typeface="Inter"/>
                  </a:rPr>
                  <a:t>✓ npm audit 0 vulnerabilities</a:t>
                </a:r>
              </a:p>
            </p:txBody>
          </p:sp>
        </p:grpSp>
      </p:grpSp>
      <p:grpSp>
        <p:nvGrpSpPr>
          <p:cNvPr id="60" name="key-points"/>
          <p:cNvGrpSpPr/>
          <p:nvPr/>
        </p:nvGrpSpPr>
        <p:grpSpPr>
          <a:xfrm>
            <a:off x="7810500" y="4000500"/>
            <a:ext cx="3810000" cy="2095500"/>
            <a:chOff x="7810500" y="4000500"/>
            <a:chExt cx="3810000" cy="2095500"/>
          </a:xfrm>
        </p:grpSpPr>
        <p:sp>
          <p:nvSpPr>
            <p:cNvPr id="51" name="Rectangle 51"/>
            <p:cNvSpPr/>
            <p:nvPr/>
          </p:nvSpPr>
          <p:spPr>
            <a:xfrm>
              <a:off x="7810500" y="4000500"/>
              <a:ext cx="3810000" cy="2095500"/>
            </a:xfrm>
            <a:prstGeom prst="roundRect">
              <a:avLst>
                <a:gd name="adj" fmla="val 545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994142" y="4168775"/>
              <a:ext cx="22547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1350" b="1" dirty="0">
                  <a:solidFill>
                    <a:schemeClr val="dk1"/>
                  </a:solidFill>
                  <a:latin typeface="Inter"/>
                  <a:ea typeface="Inter"/>
                  <a:cs typeface="Inter"/>
                </a:rPr>
                <a:t>Key Architecture Points</a:t>
              </a:r>
            </a:p>
          </p:txBody>
        </p:sp>
        <p:grpSp>
          <p:nvGrpSpPr>
            <p:cNvPr id="59" name="points"/>
            <p:cNvGrpSpPr/>
            <p:nvPr/>
          </p:nvGrpSpPr>
          <p:grpSpPr>
            <a:xfrm>
              <a:off x="7995285" y="4527550"/>
              <a:ext cx="2104581" cy="1505903"/>
              <a:chOff x="7995285" y="4527550"/>
              <a:chExt cx="2104581" cy="1505903"/>
            </a:xfrm>
          </p:grpSpPr>
          <p:sp>
            <p:nvSpPr>
              <p:cNvPr id="53" name="TextBox 53"/>
              <p:cNvSpPr txBox="1"/>
              <p:nvPr/>
            </p:nvSpPr>
            <p:spPr>
              <a:xfrm>
                <a:off x="7995285" y="4527550"/>
                <a:ext cx="1378061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" sz="1120" b="1" dirty="0">
                    <a:solidFill>
                      <a:schemeClr val="accent1"/>
                    </a:solidFill>
                    <a:latin typeface="Inter"/>
                    <a:ea typeface="Inter"/>
                    <a:cs typeface="Inter"/>
                  </a:rPr>
                  <a:t>Clean separation:</a:t>
                </a: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7995285" y="4765675"/>
                <a:ext cx="1569033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" sz="1120" dirty="0">
                    <a:solidFill>
                      <a:schemeClr val="dk1"/>
                    </a:solidFill>
                    <a:latin typeface="Inter"/>
                    <a:ea typeface="Inter"/>
                    <a:cs typeface="Inter"/>
                  </a:rPr>
                  <a:t>Python trains offline</a:t>
                </a: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7995285" y="5003800"/>
                <a:ext cx="2097237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" sz="1120" dirty="0">
                    <a:solidFill>
                      <a:schemeClr val="dk1"/>
                    </a:solidFill>
                    <a:latin typeface="Inter"/>
                    <a:ea typeface="Inter"/>
                    <a:cs typeface="Inter"/>
                  </a:rPr>
                  <a:t>Node.js serves frozen model</a:t>
                </a:r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7995285" y="5241925"/>
                <a:ext cx="1810723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" sz="1120" dirty="0">
                    <a:solidFill>
                      <a:schemeClr val="dk1"/>
                    </a:solidFill>
                    <a:latin typeface="Inter"/>
                    <a:ea typeface="Inter"/>
                    <a:cs typeface="Inter"/>
                  </a:rPr>
                  <a:t>React presents to users</a:t>
                </a:r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7995285" y="5575300"/>
                <a:ext cx="1504528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" sz="1120" b="1" dirty="0">
                    <a:solidFill>
                      <a:schemeClr val="accent2"/>
                    </a:solidFill>
                    <a:latin typeface="Inter"/>
                    <a:ea typeface="Inter"/>
                    <a:cs typeface="Inter"/>
                  </a:rPr>
                  <a:t>No runtime training</a:t>
                </a:r>
              </a:p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7995285" y="5813425"/>
                <a:ext cx="2104581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" sz="1120" dirty="0">
                    <a:solidFill>
                      <a:schemeClr val="dk1"/>
                    </a:solidFill>
                    <a:latin typeface="Inter"/>
                    <a:ea typeface="Inter"/>
                    <a:cs typeface="Inter"/>
                  </a:rPr>
                  <a:t>Fast, predictable responses</a:t>
                </a:r>
              </a:p>
            </p:txBody>
          </p:sp>
        </p:grpSp>
      </p:grpSp>
      <p:grpSp>
        <p:nvGrpSpPr>
          <p:cNvPr id="63" name="footer"/>
          <p:cNvGrpSpPr/>
          <p:nvPr/>
        </p:nvGrpSpPr>
        <p:grpSpPr>
          <a:xfrm>
            <a:off x="566166" y="6540500"/>
            <a:ext cx="11059668" cy="205359"/>
            <a:chOff x="566166" y="6540500"/>
            <a:chExt cx="11059668" cy="205359"/>
          </a:xfrm>
        </p:grpSpPr>
        <p:sp>
          <p:nvSpPr>
            <p:cNvPr id="61" name="TextBox 61"/>
            <p:cNvSpPr txBox="1"/>
            <p:nvPr/>
          </p:nvSpPr>
          <p:spPr>
            <a:xfrm>
              <a:off x="566166" y="6540500"/>
              <a:ext cx="309716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1050" dirty="0">
                  <a:solidFill>
                    <a:srgbClr val="9CA3AF"/>
                  </a:solidFill>
                  <a:latin typeface="Inter"/>
                  <a:ea typeface="Inter"/>
                  <a:cs typeface="Inter"/>
                </a:rPr>
                <a:t>Project 22: K-Means Customer Segmentation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141640" y="6540500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vi" sz="1050" dirty="0">
                  <a:solidFill>
                    <a:srgbClr val="9CA3AF"/>
                  </a:solidFill>
                  <a:latin typeface="Inter"/>
                  <a:ea typeface="Inter"/>
                  <a:cs typeface="Inter"/>
                </a:rPr>
                <a:t>11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8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er"/>
          <p:cNvGrpSpPr/>
          <p:nvPr/>
        </p:nvGrpSpPr>
        <p:grpSpPr>
          <a:xfrm>
            <a:off x="555498" y="476250"/>
            <a:ext cx="6904368" cy="616077"/>
            <a:chOff x="555498" y="476250"/>
            <a:chExt cx="6904368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555498" y="476250"/>
              <a:ext cx="690436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3150" b="1" dirty="0">
                  <a:solidFill>
                    <a:schemeClr val="dk1"/>
                  </a:solidFill>
                  <a:latin typeface="Inter"/>
                  <a:ea typeface="Inter"/>
                  <a:cs typeface="Inter"/>
                </a:rPr>
                <a:t>Ứng Dụng Web — 3 Màn Hình Chính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571500" y="1000125"/>
              <a:ext cx="11430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0" name="screen1"/>
          <p:cNvGrpSpPr/>
          <p:nvPr/>
        </p:nvGrpSpPr>
        <p:grpSpPr>
          <a:xfrm>
            <a:off x="571500" y="1524000"/>
            <a:ext cx="3429000" cy="4000500"/>
            <a:chOff x="571500" y="1524000"/>
            <a:chExt cx="3429000" cy="4000500"/>
          </a:xfrm>
        </p:grpSpPr>
        <p:sp>
          <p:nvSpPr>
            <p:cNvPr id="5" name="Rectangle 5"/>
            <p:cNvSpPr/>
            <p:nvPr/>
          </p:nvSpPr>
          <p:spPr>
            <a:xfrm>
              <a:off x="571500" y="1524000"/>
              <a:ext cx="3429000" cy="4000500"/>
            </a:xfrm>
            <a:prstGeom prst="roundRect">
              <a:avLst>
                <a:gd name="adj" fmla="val 4444"/>
              </a:avLst>
            </a:prstGeom>
            <a:solidFill>
              <a:schemeClr val="lt1"/>
            </a:solidFill>
            <a:ln w="19050">
              <a:solidFill>
                <a:schemeClr val="accent6"/>
              </a:solidFill>
            </a:ln>
            <a:effectLst>
              <a:outerShdw blurRad="152400" dist="57150" dir="5400000" algn="ctr" rotWithShape="0">
                <a:srgbClr val="000000">
                  <a:alpha val="7500"/>
                </a:srgbClr>
              </a:outerShdw>
            </a:effectLst>
          </p:spPr>
        </p:sp>
        <p:sp>
          <p:nvSpPr>
            <p:cNvPr id="6" name="Rectangle 6"/>
            <p:cNvSpPr/>
            <p:nvPr/>
          </p:nvSpPr>
          <p:spPr>
            <a:xfrm>
              <a:off x="666750" y="1619250"/>
              <a:ext cx="3238500" cy="381000"/>
            </a:xfrm>
            <a:prstGeom prst="roundRect">
              <a:avLst>
                <a:gd name="adj" fmla="val 2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465082" y="1724025"/>
              <a:ext cx="16418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" sz="1200" b="1" dirty="0">
                  <a:solidFill>
                    <a:srgbClr val="FFFFFF"/>
                  </a:solidFill>
                  <a:latin typeface="Inter"/>
                  <a:ea typeface="Inter"/>
                  <a:cs typeface="Inter"/>
                </a:rPr>
                <a:t>Screen 1: Giới Thiệu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857250" y="2190750"/>
              <a:ext cx="2857500" cy="2476500"/>
            </a:xfrm>
            <a:prstGeom prst="roundRect">
              <a:avLst>
                <a:gd name="adj" fmla="val 3077"/>
              </a:avLst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965951" y="2396175"/>
              <a:ext cx="241647" cy="239974"/>
              <a:chOff x="965951" y="2396175"/>
              <a:chExt cx="241647" cy="239974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1035844" y="2464594"/>
                <a:ext cx="100012" cy="100012"/>
              </a:xfrm>
              <a:custGeom>
                <a:avLst/>
                <a:gdLst/>
                <a:ahLst/>
                <a:cxnLst/>
                <a:rect l="l" t="t" r="r" b="b"/>
                <a:pathLst>
                  <a:path w="100012" h="100012">
                    <a:moveTo>
                      <a:pt x="100012" y="50006"/>
                    </a:moveTo>
                    <a:cubicBezTo>
                      <a:pt x="100012" y="77624"/>
                      <a:pt x="77624" y="100012"/>
                      <a:pt x="50006" y="100012"/>
                    </a:cubicBezTo>
                    <a:cubicBezTo>
                      <a:pt x="22389" y="100012"/>
                      <a:pt x="0" y="77624"/>
                      <a:pt x="0" y="50006"/>
                    </a:cubicBezTo>
                    <a:cubicBezTo>
                      <a:pt x="0" y="22389"/>
                      <a:pt x="22389" y="0"/>
                      <a:pt x="50006" y="0"/>
                    </a:cubicBezTo>
                    <a:cubicBezTo>
                      <a:pt x="77624" y="0"/>
                      <a:pt x="100012" y="22389"/>
                      <a:pt x="100012" y="50006"/>
                    </a:cubicBezTo>
                    <a:close/>
                  </a:path>
                </a:pathLst>
              </a:custGeom>
              <a:solidFill>
                <a:schemeClr val="accent1">
                  <a:alpha val="20000"/>
                </a:schemeClr>
              </a:solidFill>
              <a:ln>
                <a:noFill/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965951" y="2396175"/>
                <a:ext cx="241647" cy="239974"/>
              </a:xfrm>
              <a:custGeom>
                <a:avLst/>
                <a:gdLst/>
                <a:ahLst/>
                <a:cxnLst/>
                <a:rect l="l" t="t" r="r" b="b"/>
                <a:pathLst>
                  <a:path w="241647" h="239974">
                    <a:moveTo>
                      <a:pt x="217692" y="71711"/>
                    </a:moveTo>
                    <a:cubicBezTo>
                      <a:pt x="241647" y="121810"/>
                      <a:pt x="223887" y="181910"/>
                      <a:pt x="176549" y="210942"/>
                    </a:cubicBezTo>
                    <a:cubicBezTo>
                      <a:pt x="129211" y="239974"/>
                      <a:pt x="67591" y="228558"/>
                      <a:pt x="33796" y="184494"/>
                    </a:cubicBezTo>
                    <a:cubicBezTo>
                      <a:pt x="0" y="140431"/>
                      <a:pt x="4949" y="77958"/>
                      <a:pt x="45260" y="39765"/>
                    </a:cubicBezTo>
                    <a:cubicBezTo>
                      <a:pt x="85572" y="1572"/>
                      <a:pt x="148221" y="0"/>
                      <a:pt x="190397" y="36123"/>
                    </a:cubicBezTo>
                    <a:lnTo>
                      <a:pt x="214015" y="12495"/>
                    </a:lnTo>
                    <a:cubicBezTo>
                      <a:pt x="217271" y="9239"/>
                      <a:pt x="222551" y="9239"/>
                      <a:pt x="225808" y="12495"/>
                    </a:cubicBezTo>
                    <a:cubicBezTo>
                      <a:pt x="229065" y="15752"/>
                      <a:pt x="229065" y="21032"/>
                      <a:pt x="225808" y="24288"/>
                    </a:cubicBezTo>
                    <a:lnTo>
                      <a:pt x="125796" y="124301"/>
                    </a:lnTo>
                    <a:cubicBezTo>
                      <a:pt x="122539" y="127557"/>
                      <a:pt x="117259" y="127557"/>
                      <a:pt x="114002" y="124301"/>
                    </a:cubicBezTo>
                    <a:cubicBezTo>
                      <a:pt x="110746" y="121044"/>
                      <a:pt x="110746" y="115764"/>
                      <a:pt x="114002" y="112508"/>
                    </a:cubicBezTo>
                    <a:lnTo>
                      <a:pt x="142881" y="83629"/>
                    </a:lnTo>
                    <a:cubicBezTo>
                      <a:pt x="126769" y="72973"/>
                      <a:pt x="105445" y="74787"/>
                      <a:pt x="91364" y="88012"/>
                    </a:cubicBezTo>
                    <a:cubicBezTo>
                      <a:pt x="77284" y="101237"/>
                      <a:pt x="74138" y="122405"/>
                      <a:pt x="83764" y="139153"/>
                    </a:cubicBezTo>
                    <a:cubicBezTo>
                      <a:pt x="93391" y="155901"/>
                      <a:pt x="113265" y="163838"/>
                      <a:pt x="131780" y="158327"/>
                    </a:cubicBezTo>
                    <a:cubicBezTo>
                      <a:pt x="150295" y="152817"/>
                      <a:pt x="162596" y="135305"/>
                      <a:pt x="161498" y="116018"/>
                    </a:cubicBezTo>
                    <a:cubicBezTo>
                      <a:pt x="161239" y="111415"/>
                      <a:pt x="164761" y="107474"/>
                      <a:pt x="169363" y="107215"/>
                    </a:cubicBezTo>
                    <a:cubicBezTo>
                      <a:pt x="173966" y="106956"/>
                      <a:pt x="177908" y="110478"/>
                      <a:pt x="178167" y="115081"/>
                    </a:cubicBezTo>
                    <a:cubicBezTo>
                      <a:pt x="179732" y="142397"/>
                      <a:pt x="162104" y="167131"/>
                      <a:pt x="135772" y="174564"/>
                    </a:cubicBezTo>
                    <a:cubicBezTo>
                      <a:pt x="109441" y="181998"/>
                      <a:pt x="81481" y="170134"/>
                      <a:pt x="68530" y="146033"/>
                    </a:cubicBezTo>
                    <a:cubicBezTo>
                      <a:pt x="55580" y="121931"/>
                      <a:pt x="61118" y="92067"/>
                      <a:pt x="81850" y="74212"/>
                    </a:cubicBezTo>
                    <a:cubicBezTo>
                      <a:pt x="102582" y="56357"/>
                      <a:pt x="132936" y="55309"/>
                      <a:pt x="154851" y="71690"/>
                    </a:cubicBezTo>
                    <a:lnTo>
                      <a:pt x="178552" y="47989"/>
                    </a:lnTo>
                    <a:cubicBezTo>
                      <a:pt x="142584" y="18127"/>
                      <a:pt x="89895" y="20159"/>
                      <a:pt x="56335" y="52703"/>
                    </a:cubicBezTo>
                    <a:cubicBezTo>
                      <a:pt x="22774" y="85247"/>
                      <a:pt x="19122" y="137849"/>
                      <a:pt x="47865" y="174718"/>
                    </a:cubicBezTo>
                    <a:cubicBezTo>
                      <a:pt x="76607" y="211587"/>
                      <a:pt x="128510" y="220879"/>
                      <a:pt x="168258" y="196273"/>
                    </a:cubicBezTo>
                    <a:cubicBezTo>
                      <a:pt x="208007" y="171667"/>
                      <a:pt x="222833" y="121066"/>
                      <a:pt x="202649" y="78899"/>
                    </a:cubicBezTo>
                    <a:cubicBezTo>
                      <a:pt x="200664" y="74745"/>
                      <a:pt x="202422" y="69768"/>
                      <a:pt x="206576" y="67783"/>
                    </a:cubicBezTo>
                    <a:cubicBezTo>
                      <a:pt x="210731" y="65798"/>
                      <a:pt x="215707" y="67557"/>
                      <a:pt x="217692" y="7171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1328166" y="2463800"/>
              <a:ext cx="137382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1050" b="1" dirty="0">
                  <a:solidFill>
                    <a:schemeClr val="dk1"/>
                  </a:solidFill>
                  <a:latin typeface="Inter"/>
                  <a:ea typeface="Inter"/>
                  <a:cs typeface="Inter"/>
                </a:rPr>
                <a:t>Bài toán và phạm vi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47547" y="2838450"/>
              <a:ext cx="158320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05791" indent="-105791">
                <a:buClr>
                  <a:schemeClr val="accent5"/>
                </a:buClr>
                <a:buSzTx/>
                <a:buFontTx/>
                <a:buChar char="•"/>
              </a:pPr>
              <a:r>
                <a:rPr lang="vi" sz="980" dirty="0">
                  <a:solidFill>
                    <a:schemeClr val="accent5"/>
                  </a:solidFill>
                  <a:latin typeface="Inter"/>
                  <a:ea typeface="Inter"/>
                  <a:cs typeface="Inter"/>
                </a:rPr>
                <a:t>Data card &amp; Model card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47547" y="3076575"/>
              <a:ext cx="150529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05791" indent="-105791">
                <a:buClr>
                  <a:schemeClr val="accent5"/>
                </a:buClr>
                <a:buSzTx/>
                <a:buFontTx/>
                <a:buChar char="•"/>
              </a:pPr>
              <a:r>
                <a:rPr lang="vi" sz="980" dirty="0">
                  <a:solidFill>
                    <a:schemeClr val="accent5"/>
                  </a:solidFill>
                  <a:latin typeface="Inter"/>
                  <a:ea typeface="Inter"/>
                  <a:cs typeface="Inter"/>
                </a:rPr>
                <a:t>Đơn vị monetary units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47547" y="3314700"/>
              <a:ext cx="111608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05791" indent="-105791">
                <a:buClr>
                  <a:schemeClr val="accent5"/>
                </a:buClr>
                <a:buSzTx/>
                <a:buFontTx/>
                <a:buChar char="•"/>
              </a:pPr>
              <a:r>
                <a:rPr lang="vi" sz="980" dirty="0">
                  <a:solidFill>
                    <a:schemeClr val="accent5"/>
                  </a:solidFill>
                  <a:latin typeface="Inter"/>
                  <a:ea typeface="Inter"/>
                  <a:cs typeface="Inter"/>
                </a:rPr>
                <a:t>Giới hạn sử dụng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7547" y="3552825"/>
              <a:ext cx="146536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05791" indent="-105791">
                <a:buClr>
                  <a:schemeClr val="accent5"/>
                </a:buClr>
                <a:buSzTx/>
                <a:buFontTx/>
                <a:buChar char="•"/>
              </a:pPr>
              <a:r>
                <a:rPr lang="vi" sz="980" dirty="0">
                  <a:solidFill>
                    <a:schemeClr val="accent5"/>
                  </a:solidFill>
                  <a:latin typeface="Inter"/>
                  <a:ea typeface="Inter"/>
                  <a:cs typeface="Inter"/>
                </a:rPr>
                <a:t>Training methodology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7547" y="3790950"/>
              <a:ext cx="122757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05791" indent="-105791">
                <a:buClr>
                  <a:schemeClr val="accent5"/>
                </a:buClr>
                <a:buSzTx/>
                <a:buFontTx/>
                <a:buChar char="•"/>
              </a:pPr>
              <a:r>
                <a:rPr lang="vi" sz="980" dirty="0">
                  <a:solidFill>
                    <a:schemeClr val="accent5"/>
                  </a:solidFill>
                  <a:latin typeface="Inter"/>
                  <a:ea typeface="Inter"/>
                  <a:cs typeface="Inter"/>
                </a:rPr>
                <a:t>Ethical guidelines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143000" y="5048250"/>
              <a:ext cx="2286000" cy="333375"/>
            </a:xfrm>
            <a:prstGeom prst="roundRect">
              <a:avLst>
                <a:gd name="adj" fmla="val 22857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520158" y="5127625"/>
              <a:ext cx="153168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" sz="1120" b="1" dirty="0">
                  <a:solidFill>
                    <a:srgbClr val="FFFFFF"/>
                  </a:solidFill>
                  <a:latin typeface="Inter"/>
                  <a:ea typeface="Inter"/>
                  <a:cs typeface="Inter"/>
                </a:rPr>
                <a:t>Bắt Đầu Phân Khúc →</a:t>
              </a:r>
            </a:p>
          </p:txBody>
        </p:sp>
      </p:grpSp>
      <p:grpSp>
        <p:nvGrpSpPr>
          <p:cNvPr id="39" name="screen2"/>
          <p:cNvGrpSpPr/>
          <p:nvPr/>
        </p:nvGrpSpPr>
        <p:grpSpPr>
          <a:xfrm>
            <a:off x="4381500" y="1524000"/>
            <a:ext cx="3429000" cy="4000500"/>
            <a:chOff x="4381500" y="1524000"/>
            <a:chExt cx="3429000" cy="4000500"/>
          </a:xfrm>
        </p:grpSpPr>
        <p:sp>
          <p:nvSpPr>
            <p:cNvPr id="21" name="Rectangle 21"/>
            <p:cNvSpPr/>
            <p:nvPr/>
          </p:nvSpPr>
          <p:spPr>
            <a:xfrm>
              <a:off x="4381500" y="1524000"/>
              <a:ext cx="3429000" cy="4000500"/>
            </a:xfrm>
            <a:prstGeom prst="roundRect">
              <a:avLst>
                <a:gd name="adj" fmla="val 4444"/>
              </a:avLst>
            </a:prstGeom>
            <a:solidFill>
              <a:schemeClr val="lt1"/>
            </a:solidFill>
            <a:ln w="19050">
              <a:solidFill>
                <a:schemeClr val="accent6"/>
              </a:solidFill>
            </a:ln>
            <a:effectLst>
              <a:outerShdw blurRad="152400" dist="57150" dir="5400000" algn="ctr" rotWithShape="0">
                <a:srgbClr val="000000">
                  <a:alpha val="7500"/>
                </a:srgbClr>
              </a:outerShdw>
            </a:effectLst>
          </p:spPr>
        </p:sp>
        <p:sp>
          <p:nvSpPr>
            <p:cNvPr id="22" name="Rectangle 22"/>
            <p:cNvSpPr/>
            <p:nvPr/>
          </p:nvSpPr>
          <p:spPr>
            <a:xfrm>
              <a:off x="4476750" y="1619250"/>
              <a:ext cx="3238500" cy="381000"/>
            </a:xfrm>
            <a:prstGeom prst="roundRect">
              <a:avLst>
                <a:gd name="adj" fmla="val 2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257263" y="1724025"/>
              <a:ext cx="167747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" sz="1200" b="1" dirty="0">
                  <a:solidFill>
                    <a:srgbClr val="FFFFFF"/>
                  </a:solidFill>
                  <a:latin typeface="Inter"/>
                  <a:ea typeface="Inter"/>
                  <a:cs typeface="Inter"/>
                </a:rPr>
                <a:t>Screen 2: Phân Khúc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4667250" y="2190750"/>
              <a:ext cx="2857500" cy="2476500"/>
            </a:xfrm>
            <a:prstGeom prst="roundRect">
              <a:avLst>
                <a:gd name="adj" fmla="val 307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757166" y="2301875"/>
              <a:ext cx="18545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1050" b="1" dirty="0">
                  <a:solidFill>
                    <a:schemeClr val="dk1"/>
                  </a:solidFill>
                  <a:latin typeface="Inter"/>
                  <a:ea typeface="Inter"/>
                  <a:cs typeface="Inter"/>
                </a:rPr>
                <a:t>Form Input 6 Biến Chi Tiêu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4762500" y="2571750"/>
              <a:ext cx="2667000" cy="285750"/>
            </a:xfrm>
            <a:prstGeom prst="roundRect">
              <a:avLst>
                <a:gd name="adj" fmla="val 20000"/>
              </a:avLst>
            </a:prstGeom>
            <a:solidFill>
              <a:schemeClr val="lt1"/>
            </a:solidFill>
            <a:ln w="9525">
              <a:solidFill>
                <a:srgbClr val="D1D5DB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852988" y="2667000"/>
              <a:ext cx="80952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900" dirty="0">
                  <a:solidFill>
                    <a:srgbClr val="9CA3AF"/>
                  </a:solidFill>
                  <a:latin typeface="Inter"/>
                  <a:ea typeface="Inter"/>
                  <a:cs typeface="Inter"/>
                </a:rPr>
                <a:t>Fresh (m.u.)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4762500" y="2952750"/>
              <a:ext cx="2667000" cy="285750"/>
            </a:xfrm>
            <a:prstGeom prst="roundRect">
              <a:avLst>
                <a:gd name="adj" fmla="val 20000"/>
              </a:avLst>
            </a:prstGeom>
            <a:solidFill>
              <a:schemeClr val="lt1"/>
            </a:solidFill>
            <a:ln w="9525">
              <a:solidFill>
                <a:srgbClr val="D1D5DB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4852988" y="3048000"/>
              <a:ext cx="7066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900" dirty="0">
                  <a:solidFill>
                    <a:srgbClr val="9CA3AF"/>
                  </a:solidFill>
                  <a:latin typeface="Inter"/>
                  <a:ea typeface="Inter"/>
                  <a:cs typeface="Inter"/>
                </a:rPr>
                <a:t>Milk (m.u.)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4762500" y="3333750"/>
              <a:ext cx="2667000" cy="285750"/>
            </a:xfrm>
            <a:prstGeom prst="roundRect">
              <a:avLst>
                <a:gd name="adj" fmla="val 20000"/>
              </a:avLst>
            </a:prstGeom>
            <a:solidFill>
              <a:schemeClr val="lt1"/>
            </a:solidFill>
            <a:ln w="9525">
              <a:solidFill>
                <a:srgbClr val="D1D5DB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4852988" y="3429000"/>
              <a:ext cx="11799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900" dirty="0">
                  <a:solidFill>
                    <a:srgbClr val="9CA3AF"/>
                  </a:solidFill>
                  <a:latin typeface="Inter"/>
                  <a:ea typeface="Inter"/>
                  <a:cs typeface="Inter"/>
                </a:rPr>
                <a:t>Grocery (m.u.) ...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757738" y="3743325"/>
              <a:ext cx="1346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900" dirty="0">
                  <a:solidFill>
                    <a:schemeClr val="accent5"/>
                  </a:solidFill>
                  <a:latin typeface="Inter"/>
                  <a:ea typeface="Inter"/>
                  <a:cs typeface="Inter"/>
                </a:rPr>
                <a:t>✓ Real-time validation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757738" y="3933825"/>
              <a:ext cx="165702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900" dirty="0">
                  <a:solidFill>
                    <a:schemeClr val="accent5"/>
                  </a:solidFill>
                  <a:latin typeface="Inter"/>
                  <a:ea typeface="Inter"/>
                  <a:cs typeface="Inter"/>
                </a:rPr>
                <a:t>✓ Lưu lịch sử (100 records)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757738" y="4124325"/>
              <a:ext cx="164682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900" dirty="0">
                  <a:solidFill>
                    <a:schemeClr val="accent5"/>
                  </a:solidFill>
                  <a:latin typeface="Inter"/>
                  <a:ea typeface="Inter"/>
                  <a:cs typeface="Inter"/>
                </a:rPr>
                <a:t>✓ CSV batch import/export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4762500" y="4381500"/>
              <a:ext cx="2667000" cy="190500"/>
            </a:xfrm>
            <a:prstGeom prst="roundRect">
              <a:avLst>
                <a:gd name="adj" fmla="val 20000"/>
              </a:avLst>
            </a:prstGeom>
            <a:solidFill>
              <a:srgbClr val="DCFCE7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4852988" y="4422775"/>
              <a:ext cx="209409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820" b="1" dirty="0">
                  <a:solidFill>
                    <a:srgbClr val="065F46"/>
                  </a:solidFill>
                  <a:latin typeface="Inter"/>
                  <a:ea typeface="Inter"/>
                  <a:cs typeface="Inter"/>
                </a:rPr>
                <a:t>Result: Cluster ID, distance, profile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4953000" y="5048250"/>
              <a:ext cx="2286000" cy="333375"/>
            </a:xfrm>
            <a:prstGeom prst="roundRect">
              <a:avLst>
                <a:gd name="adj" fmla="val 22857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644749" y="5127625"/>
              <a:ext cx="90250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" sz="1120" b="1" dirty="0">
                  <a:solidFill>
                    <a:srgbClr val="FFFFFF"/>
                  </a:solidFill>
                  <a:latin typeface="Inter"/>
                  <a:ea typeface="Inter"/>
                  <a:cs typeface="Inter"/>
                </a:rPr>
                <a:t>Phân Khúc →</a:t>
              </a:r>
            </a:p>
          </p:txBody>
        </p:sp>
      </p:grpSp>
      <p:grpSp>
        <p:nvGrpSpPr>
          <p:cNvPr id="61" name="screen3"/>
          <p:cNvGrpSpPr/>
          <p:nvPr/>
        </p:nvGrpSpPr>
        <p:grpSpPr>
          <a:xfrm>
            <a:off x="8191500" y="1524000"/>
            <a:ext cx="3429000" cy="4000500"/>
            <a:chOff x="8191500" y="1524000"/>
            <a:chExt cx="3429000" cy="4000500"/>
          </a:xfrm>
        </p:grpSpPr>
        <p:sp>
          <p:nvSpPr>
            <p:cNvPr id="40" name="Rectangle 40"/>
            <p:cNvSpPr/>
            <p:nvPr/>
          </p:nvSpPr>
          <p:spPr>
            <a:xfrm>
              <a:off x="8191500" y="1524000"/>
              <a:ext cx="3429000" cy="4000500"/>
            </a:xfrm>
            <a:prstGeom prst="roundRect">
              <a:avLst>
                <a:gd name="adj" fmla="val 4444"/>
              </a:avLst>
            </a:prstGeom>
            <a:solidFill>
              <a:schemeClr val="lt1"/>
            </a:solidFill>
            <a:ln w="19050">
              <a:solidFill>
                <a:schemeClr val="accent6"/>
              </a:solidFill>
            </a:ln>
            <a:effectLst>
              <a:outerShdw blurRad="152400" dist="57150" dir="5400000" algn="ctr" rotWithShape="0">
                <a:srgbClr val="000000">
                  <a:alpha val="7500"/>
                </a:srgbClr>
              </a:outerShdw>
            </a:effectLst>
          </p:spPr>
        </p:sp>
        <p:sp>
          <p:nvSpPr>
            <p:cNvPr id="41" name="Rectangle 41"/>
            <p:cNvSpPr/>
            <p:nvPr/>
          </p:nvSpPr>
          <p:spPr>
            <a:xfrm>
              <a:off x="8286750" y="1619250"/>
              <a:ext cx="3238500" cy="381000"/>
            </a:xfrm>
            <a:prstGeom prst="roundRect">
              <a:avLst>
                <a:gd name="adj" fmla="val 2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9049670" y="1724025"/>
              <a:ext cx="171266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" sz="1200" b="1" dirty="0">
                  <a:solidFill>
                    <a:srgbClr val="FFFFFF"/>
                  </a:solidFill>
                  <a:latin typeface="Inter"/>
                  <a:ea typeface="Inter"/>
                  <a:cs typeface="Inter"/>
                </a:rPr>
                <a:t>Screen 3: Dashboard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8477250" y="2190750"/>
              <a:ext cx="2857500" cy="2476500"/>
            </a:xfrm>
            <a:prstGeom prst="roundRect">
              <a:avLst>
                <a:gd name="adj" fmla="val 307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8567166" y="2301875"/>
              <a:ext cx="176356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1050" b="1" dirty="0">
                  <a:solidFill>
                    <a:schemeClr val="dk1"/>
                  </a:solidFill>
                  <a:latin typeface="Inter"/>
                  <a:ea typeface="Inter"/>
                  <a:cs typeface="Inter"/>
                </a:rPr>
                <a:t>Analytics &amp; Visualization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8572500" y="2571750"/>
              <a:ext cx="1285875" cy="762000"/>
            </a:xfrm>
            <a:prstGeom prst="roundRect">
              <a:avLst>
                <a:gd name="adj" fmla="val 7500"/>
              </a:avLst>
            </a:prstGeom>
            <a:solidFill>
              <a:srgbClr val="EFF6FF"/>
            </a:solidFill>
            <a:ln w="9525">
              <a:solidFill>
                <a:schemeClr val="accent1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9005607" y="2660650"/>
              <a:ext cx="41013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" sz="820" dirty="0">
                  <a:solidFill>
                    <a:srgbClr val="1E40AF"/>
                  </a:solidFill>
                  <a:latin typeface="Inter"/>
                  <a:ea typeface="Inter"/>
                  <a:cs typeface="Inter"/>
                </a:rPr>
                <a:t>Cluster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066365" y="2803525"/>
              <a:ext cx="28862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" sz="820" dirty="0">
                  <a:solidFill>
                    <a:srgbClr val="1E40AF"/>
                  </a:solidFill>
                  <a:latin typeface="Inter"/>
                  <a:ea typeface="Inter"/>
                  <a:cs typeface="Inter"/>
                </a:rPr>
                <a:t>Sizes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9020175" y="2952750"/>
              <a:ext cx="381000" cy="381000"/>
            </a:xfrm>
            <a:prstGeom prst="ellipse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10048875" y="2571750"/>
              <a:ext cx="1285875" cy="762000"/>
            </a:xfrm>
            <a:prstGeom prst="roundRect">
              <a:avLst>
                <a:gd name="adj" fmla="val 7500"/>
              </a:avLst>
            </a:prstGeom>
            <a:solidFill>
              <a:srgbClr val="F0FDF4"/>
            </a:solidFill>
            <a:ln w="9525">
              <a:solidFill>
                <a:schemeClr val="accent2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10470854" y="2660650"/>
              <a:ext cx="43239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" sz="820" dirty="0">
                  <a:solidFill>
                    <a:srgbClr val="065F46"/>
                  </a:solidFill>
                  <a:latin typeface="Inter"/>
                  <a:ea typeface="Inter"/>
                  <a:cs typeface="Inter"/>
                </a:rPr>
                <a:t>Medians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10191750" y="2905125"/>
              <a:ext cx="333375" cy="381000"/>
            </a:xfrm>
            <a:prstGeom prst="rect">
              <a:avLst/>
            </a:prstGeom>
            <a:solidFill>
              <a:schemeClr val="accent2">
                <a:alpha val="30000"/>
              </a:schemeClr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10572750" y="3000375"/>
              <a:ext cx="333375" cy="285750"/>
            </a:xfrm>
            <a:prstGeom prst="rect">
              <a:avLst/>
            </a:prstGeom>
            <a:solidFill>
              <a:schemeClr val="accent2">
                <a:alpha val="30000"/>
              </a:schemeClr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10953750" y="3048000"/>
              <a:ext cx="333375" cy="238125"/>
            </a:xfrm>
            <a:prstGeom prst="rect">
              <a:avLst/>
            </a:prstGeom>
            <a:solidFill>
              <a:schemeClr val="accent2">
                <a:alpha val="30000"/>
              </a:schemeClr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8567738" y="3457575"/>
              <a:ext cx="178068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900" dirty="0">
                  <a:solidFill>
                    <a:schemeClr val="accent5"/>
                  </a:solidFill>
                  <a:latin typeface="Inter"/>
                  <a:ea typeface="Inter"/>
                  <a:cs typeface="Inter"/>
                </a:rPr>
                <a:t>✓ Channel/Region composition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567738" y="3648075"/>
              <a:ext cx="181334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900" dirty="0">
                  <a:solidFill>
                    <a:schemeClr val="accent5"/>
                  </a:solidFill>
                  <a:latin typeface="Inter"/>
                  <a:ea typeface="Inter"/>
                  <a:cs typeface="Inter"/>
                </a:rPr>
                <a:t>✓ Experiment explorer (K2-8)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567738" y="3838575"/>
              <a:ext cx="133545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900" dirty="0">
                  <a:solidFill>
                    <a:schemeClr val="accent5"/>
                  </a:solidFill>
                  <a:latin typeface="Inter"/>
                  <a:ea typeface="Inter"/>
                  <a:cs typeface="Inter"/>
                </a:rPr>
                <a:t>✓ PCA 2D visualization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8567738" y="4029075"/>
              <a:ext cx="118283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900" dirty="0">
                  <a:solidFill>
                    <a:schemeClr val="accent5"/>
                  </a:solidFill>
                  <a:latin typeface="Inter"/>
                  <a:ea typeface="Inter"/>
                  <a:cs typeface="Inter"/>
                </a:rPr>
                <a:t>✓ Distance outliers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567738" y="4219575"/>
              <a:ext cx="163662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900" dirty="0">
                  <a:solidFill>
                    <a:schemeClr val="accent5"/>
                  </a:solidFill>
                  <a:latin typeface="Inter"/>
                  <a:ea typeface="Inter"/>
                  <a:cs typeface="Inter"/>
                </a:rPr>
                <a:t>✓ Raw vs Log1p comparison</a:t>
              </a:r>
            </a:p>
          </p:txBody>
        </p:sp>
        <p:sp>
          <p:nvSpPr>
            <p:cNvPr id="59" name="Ellipse 59"/>
            <p:cNvSpPr/>
            <p:nvPr/>
          </p:nvSpPr>
          <p:spPr>
            <a:xfrm>
              <a:off x="9277350" y="5133975"/>
              <a:ext cx="114300" cy="114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9472422" y="5124450"/>
              <a:ext cx="140117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980" b="1" dirty="0">
                  <a:solidFill>
                    <a:srgbClr val="065F46"/>
                  </a:solidFill>
                  <a:latin typeface="Inter"/>
                  <a:ea typeface="Inter"/>
                  <a:cs typeface="Inter"/>
                </a:rPr>
                <a:t>Live: localhost:5173</a:t>
              </a:r>
            </a:p>
          </p:txBody>
        </p:sp>
      </p:grpSp>
      <p:grpSp>
        <p:nvGrpSpPr>
          <p:cNvPr id="67" name="highlight"/>
          <p:cNvGrpSpPr/>
          <p:nvPr/>
        </p:nvGrpSpPr>
        <p:grpSpPr>
          <a:xfrm>
            <a:off x="571500" y="5715000"/>
            <a:ext cx="11049000" cy="476250"/>
            <a:chOff x="571500" y="5715000"/>
            <a:chExt cx="11049000" cy="476250"/>
          </a:xfrm>
        </p:grpSpPr>
        <p:sp>
          <p:nvSpPr>
            <p:cNvPr id="62" name="Rectangle 62"/>
            <p:cNvSpPr/>
            <p:nvPr/>
          </p:nvSpPr>
          <p:spPr>
            <a:xfrm>
              <a:off x="571500" y="5715000"/>
              <a:ext cx="11049000" cy="476250"/>
            </a:xfrm>
            <a:prstGeom prst="roundRect">
              <a:avLst>
                <a:gd name="adj" fmla="val 20000"/>
              </a:avLst>
            </a:prstGeom>
            <a:solidFill>
              <a:srgbClr val="EFF6FF"/>
            </a:solidFill>
            <a:ln>
              <a:noFill/>
            </a:ln>
          </p:spPr>
        </p:sp>
        <p:grpSp>
          <p:nvGrpSpPr>
            <p:cNvPr id="65" name="Group 65"/>
            <p:cNvGrpSpPr/>
            <p:nvPr/>
          </p:nvGrpSpPr>
          <p:grpSpPr>
            <a:xfrm>
              <a:off x="788789" y="5837039"/>
              <a:ext cx="232173" cy="232173"/>
              <a:chOff x="788789" y="5837039"/>
              <a:chExt cx="232173" cy="232173"/>
            </a:xfrm>
          </p:grpSpPr>
          <p:sp>
            <p:nvSpPr>
              <p:cNvPr id="63" name="Freeform 63"/>
              <p:cNvSpPr/>
              <p:nvPr/>
            </p:nvSpPr>
            <p:spPr>
              <a:xfrm>
                <a:off x="797719" y="5845969"/>
                <a:ext cx="214313" cy="214313"/>
              </a:xfrm>
              <a:custGeom>
                <a:avLst/>
                <a:gdLst/>
                <a:ahLst/>
                <a:cxnLst/>
                <a:rect l="l" t="t" r="r" b="b"/>
                <a:pathLst>
                  <a:path w="214313" h="214313">
                    <a:moveTo>
                      <a:pt x="214313" y="107157"/>
                    </a:moveTo>
                    <a:cubicBezTo>
                      <a:pt x="214313" y="166338"/>
                      <a:pt x="166338" y="214313"/>
                      <a:pt x="107157" y="214313"/>
                    </a:cubicBezTo>
                    <a:cubicBezTo>
                      <a:pt x="47976" y="214313"/>
                      <a:pt x="0" y="166338"/>
                      <a:pt x="0" y="107157"/>
                    </a:cubicBezTo>
                    <a:cubicBezTo>
                      <a:pt x="0" y="47976"/>
                      <a:pt x="47976" y="0"/>
                      <a:pt x="107157" y="0"/>
                    </a:cubicBezTo>
                    <a:cubicBezTo>
                      <a:pt x="166338" y="0"/>
                      <a:pt x="214313" y="47976"/>
                      <a:pt x="214313" y="107157"/>
                    </a:cubicBezTo>
                    <a:close/>
                  </a:path>
                </a:pathLst>
              </a:custGeom>
              <a:solidFill>
                <a:schemeClr val="accent2">
                  <a:alpha val="20000"/>
                </a:schemeClr>
              </a:solidFill>
              <a:ln>
                <a:noFill/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788789" y="5837039"/>
                <a:ext cx="232173" cy="232173"/>
              </a:xfrm>
              <a:custGeom>
                <a:avLst/>
                <a:gdLst/>
                <a:ahLst/>
                <a:cxnLst/>
                <a:rect l="l" t="t" r="r" b="b"/>
                <a:pathLst>
                  <a:path w="232173" h="232173">
                    <a:moveTo>
                      <a:pt x="167053" y="82979"/>
                    </a:moveTo>
                    <a:cubicBezTo>
                      <a:pt x="168730" y="84654"/>
                      <a:pt x="169672" y="86927"/>
                      <a:pt x="169672" y="89297"/>
                    </a:cubicBezTo>
                    <a:cubicBezTo>
                      <a:pt x="169672" y="91667"/>
                      <a:pt x="168730" y="93940"/>
                      <a:pt x="167053" y="95615"/>
                    </a:cubicBezTo>
                    <a:lnTo>
                      <a:pt x="104545" y="158123"/>
                    </a:lnTo>
                    <a:cubicBezTo>
                      <a:pt x="102870" y="159800"/>
                      <a:pt x="100597" y="160742"/>
                      <a:pt x="98227" y="160742"/>
                    </a:cubicBezTo>
                    <a:cubicBezTo>
                      <a:pt x="95857" y="160742"/>
                      <a:pt x="93584" y="159800"/>
                      <a:pt x="91909" y="158123"/>
                    </a:cubicBezTo>
                    <a:lnTo>
                      <a:pt x="65120" y="131334"/>
                    </a:lnTo>
                    <a:cubicBezTo>
                      <a:pt x="61631" y="127845"/>
                      <a:pt x="61631" y="122188"/>
                      <a:pt x="65120" y="118698"/>
                    </a:cubicBezTo>
                    <a:cubicBezTo>
                      <a:pt x="68609" y="115209"/>
                      <a:pt x="74266" y="115209"/>
                      <a:pt x="77756" y="118698"/>
                    </a:cubicBezTo>
                    <a:lnTo>
                      <a:pt x="98227" y="139181"/>
                    </a:lnTo>
                    <a:lnTo>
                      <a:pt x="154417" y="82979"/>
                    </a:lnTo>
                    <a:cubicBezTo>
                      <a:pt x="156092" y="81303"/>
                      <a:pt x="158365" y="80361"/>
                      <a:pt x="160735" y="80361"/>
                    </a:cubicBezTo>
                    <a:cubicBezTo>
                      <a:pt x="163105" y="80361"/>
                      <a:pt x="165378" y="81303"/>
                      <a:pt x="167053" y="82979"/>
                    </a:cubicBezTo>
                    <a:close/>
                    <a:moveTo>
                      <a:pt x="232173" y="116086"/>
                    </a:moveTo>
                    <a:cubicBezTo>
                      <a:pt x="232173" y="180199"/>
                      <a:pt x="180199" y="232173"/>
                      <a:pt x="116086" y="232173"/>
                    </a:cubicBezTo>
                    <a:cubicBezTo>
                      <a:pt x="51974" y="232173"/>
                      <a:pt x="0" y="180199"/>
                      <a:pt x="0" y="116086"/>
                    </a:cubicBezTo>
                    <a:cubicBezTo>
                      <a:pt x="0" y="51974"/>
                      <a:pt x="51974" y="0"/>
                      <a:pt x="116086" y="0"/>
                    </a:cubicBezTo>
                    <a:cubicBezTo>
                      <a:pt x="180171" y="68"/>
                      <a:pt x="232105" y="52002"/>
                      <a:pt x="232173" y="116086"/>
                    </a:cubicBezTo>
                    <a:close/>
                    <a:moveTo>
                      <a:pt x="214313" y="116086"/>
                    </a:moveTo>
                    <a:cubicBezTo>
                      <a:pt x="214313" y="61837"/>
                      <a:pt x="170336" y="17859"/>
                      <a:pt x="116086" y="17859"/>
                    </a:cubicBezTo>
                    <a:cubicBezTo>
                      <a:pt x="61837" y="17859"/>
                      <a:pt x="17859" y="61837"/>
                      <a:pt x="17859" y="116086"/>
                    </a:cubicBezTo>
                    <a:cubicBezTo>
                      <a:pt x="17859" y="170336"/>
                      <a:pt x="61837" y="214313"/>
                      <a:pt x="116086" y="214313"/>
                    </a:cubicBezTo>
                    <a:cubicBezTo>
                      <a:pt x="170310" y="214252"/>
                      <a:pt x="214252" y="170310"/>
                      <a:pt x="214313" y="116086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</p:grpSp>
        <p:sp>
          <p:nvSpPr>
            <p:cNvPr id="66" name="TextBox 66"/>
            <p:cNvSpPr txBox="1"/>
            <p:nvPr/>
          </p:nvSpPr>
          <p:spPr>
            <a:xfrm>
              <a:off x="1183767" y="5854700"/>
              <a:ext cx="59514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1350" b="1" dirty="0">
                  <a:solidFill>
                    <a:srgbClr val="1E40AF"/>
                  </a:solidFill>
                  <a:latin typeface="Inter"/>
                  <a:ea typeface="Inter"/>
                  <a:cs typeface="Inter"/>
                </a:rPr>
                <a:t>Full working application from input to insights — Ready for demo</a:t>
              </a:r>
            </a:p>
          </p:txBody>
        </p:sp>
      </p:grpSp>
      <p:grpSp>
        <p:nvGrpSpPr>
          <p:cNvPr id="70" name="footer"/>
          <p:cNvGrpSpPr/>
          <p:nvPr/>
        </p:nvGrpSpPr>
        <p:grpSpPr>
          <a:xfrm>
            <a:off x="566166" y="6540500"/>
            <a:ext cx="11059668" cy="205359"/>
            <a:chOff x="566166" y="6540500"/>
            <a:chExt cx="11059668" cy="205359"/>
          </a:xfrm>
        </p:grpSpPr>
        <p:sp>
          <p:nvSpPr>
            <p:cNvPr id="68" name="TextBox 68"/>
            <p:cNvSpPr txBox="1"/>
            <p:nvPr/>
          </p:nvSpPr>
          <p:spPr>
            <a:xfrm>
              <a:off x="566166" y="6540500"/>
              <a:ext cx="309716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1050" dirty="0">
                  <a:solidFill>
                    <a:srgbClr val="9CA3AF"/>
                  </a:solidFill>
                  <a:latin typeface="Inter"/>
                  <a:ea typeface="Inter"/>
                  <a:cs typeface="Inter"/>
                </a:rPr>
                <a:t>Project 22: K-Means Customer Segmentation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1141640" y="6540500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vi" sz="1050" dirty="0">
                  <a:solidFill>
                    <a:srgbClr val="9CA3AF"/>
                  </a:solidFill>
                  <a:latin typeface="Inter"/>
                  <a:ea typeface="Inter"/>
                  <a:cs typeface="Inter"/>
                </a:rPr>
                <a:t>12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8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er"/>
          <p:cNvGrpSpPr/>
          <p:nvPr/>
        </p:nvGrpSpPr>
        <p:grpSpPr>
          <a:xfrm>
            <a:off x="555498" y="476250"/>
            <a:ext cx="6873084" cy="616077"/>
            <a:chOff x="555498" y="476250"/>
            <a:chExt cx="6873084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555498" y="476250"/>
              <a:ext cx="6873084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3150" b="1" dirty="0">
                  <a:solidFill>
                    <a:schemeClr val="dk1"/>
                  </a:solidFill>
                  <a:latin typeface="Inter"/>
                  <a:ea typeface="Inter"/>
                  <a:cs typeface="Inter"/>
                </a:rPr>
                <a:t>Kiểm Thử và Đảm Bảo Chất Lượng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571500" y="1000125"/>
              <a:ext cx="11430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1" name="overall-status"/>
          <p:cNvGrpSpPr/>
          <p:nvPr/>
        </p:nvGrpSpPr>
        <p:grpSpPr>
          <a:xfrm>
            <a:off x="571500" y="1524000"/>
            <a:ext cx="11049000" cy="782320"/>
            <a:chOff x="571500" y="1524000"/>
            <a:chExt cx="11049000" cy="782320"/>
          </a:xfrm>
        </p:grpSpPr>
        <p:sp>
          <p:nvSpPr>
            <p:cNvPr id="5" name="Rectangle 5"/>
            <p:cNvSpPr/>
            <p:nvPr/>
          </p:nvSpPr>
          <p:spPr>
            <a:xfrm>
              <a:off x="571500" y="1524000"/>
              <a:ext cx="11049000" cy="762000"/>
            </a:xfrm>
            <a:prstGeom prst="roundRect">
              <a:avLst>
                <a:gd name="adj" fmla="val 15000"/>
              </a:avLst>
            </a:prstGeom>
            <a:gradFill>
              <a:gsLst>
                <a:gs pos="0">
                  <a:schemeClr val="accent2"/>
                </a:gs>
                <a:gs pos="100000">
                  <a:srgbClr val="059669"/>
                </a:gs>
              </a:gsLst>
              <a:lin ang="0" scaled="1"/>
            </a:gradFill>
            <a:ln>
              <a:noFill/>
            </a:ln>
          </p:spPr>
        </p:sp>
        <p:grpSp>
          <p:nvGrpSpPr>
            <p:cNvPr id="8" name="Group 8"/>
            <p:cNvGrpSpPr/>
            <p:nvPr/>
          </p:nvGrpSpPr>
          <p:grpSpPr>
            <a:xfrm>
              <a:off x="901898" y="1806773"/>
              <a:ext cx="386952" cy="386952"/>
              <a:chOff x="901898" y="1806773"/>
              <a:chExt cx="386952" cy="386952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916781" y="1821656"/>
                <a:ext cx="357187" cy="357187"/>
              </a:xfrm>
              <a:custGeom>
                <a:avLst/>
                <a:gdLst/>
                <a:ahLst/>
                <a:cxnLst/>
                <a:rect l="l" t="t" r="r" b="b"/>
                <a:pathLst>
                  <a:path w="357187" h="357187">
                    <a:moveTo>
                      <a:pt x="357187" y="178593"/>
                    </a:moveTo>
                    <a:cubicBezTo>
                      <a:pt x="357187" y="277228"/>
                      <a:pt x="277228" y="357187"/>
                      <a:pt x="178593" y="357187"/>
                    </a:cubicBezTo>
                    <a:cubicBezTo>
                      <a:pt x="79959" y="357187"/>
                      <a:pt x="0" y="277228"/>
                      <a:pt x="0" y="178593"/>
                    </a:cubicBezTo>
                    <a:cubicBezTo>
                      <a:pt x="0" y="79959"/>
                      <a:pt x="79959" y="0"/>
                      <a:pt x="178593" y="0"/>
                    </a:cubicBezTo>
                    <a:cubicBezTo>
                      <a:pt x="277228" y="0"/>
                      <a:pt x="357187" y="79959"/>
                      <a:pt x="357187" y="178593"/>
                    </a:cubicBezTo>
                    <a:close/>
                  </a:path>
                </a:pathLst>
              </a:custGeom>
              <a:solidFill>
                <a:schemeClr val="lt1">
                  <a:alpha val="20000"/>
                </a:schemeClr>
              </a:solidFill>
              <a:ln>
                <a:noFill/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901898" y="1806773"/>
                <a:ext cx="386952" cy="386952"/>
              </a:xfrm>
              <a:custGeom>
                <a:avLst/>
                <a:gdLst/>
                <a:ahLst/>
                <a:cxnLst/>
                <a:rect l="l" t="t" r="r" b="b"/>
                <a:pathLst>
                  <a:path w="386952" h="386952">
                    <a:moveTo>
                      <a:pt x="278420" y="138298"/>
                    </a:moveTo>
                    <a:cubicBezTo>
                      <a:pt x="281214" y="141090"/>
                      <a:pt x="282784" y="144878"/>
                      <a:pt x="282784" y="148828"/>
                    </a:cubicBezTo>
                    <a:cubicBezTo>
                      <a:pt x="282784" y="152778"/>
                      <a:pt x="281214" y="156566"/>
                      <a:pt x="278420" y="159357"/>
                    </a:cubicBezTo>
                    <a:lnTo>
                      <a:pt x="174240" y="263537"/>
                    </a:lnTo>
                    <a:cubicBezTo>
                      <a:pt x="171449" y="266331"/>
                      <a:pt x="167661" y="267902"/>
                      <a:pt x="163711" y="267902"/>
                    </a:cubicBezTo>
                    <a:cubicBezTo>
                      <a:pt x="159760" y="267902"/>
                      <a:pt x="155972" y="266331"/>
                      <a:pt x="153181" y="263537"/>
                    </a:cubicBezTo>
                    <a:lnTo>
                      <a:pt x="108533" y="218888"/>
                    </a:lnTo>
                    <a:cubicBezTo>
                      <a:pt x="102717" y="213073"/>
                      <a:pt x="102717" y="203645"/>
                      <a:pt x="108533" y="197829"/>
                    </a:cubicBezTo>
                    <a:cubicBezTo>
                      <a:pt x="114348" y="192014"/>
                      <a:pt x="123776" y="192014"/>
                      <a:pt x="129592" y="197829"/>
                    </a:cubicBezTo>
                    <a:lnTo>
                      <a:pt x="163711" y="231967"/>
                    </a:lnTo>
                    <a:lnTo>
                      <a:pt x="257360" y="138298"/>
                    </a:lnTo>
                    <a:cubicBezTo>
                      <a:pt x="260152" y="135504"/>
                      <a:pt x="263940" y="133933"/>
                      <a:pt x="267890" y="133933"/>
                    </a:cubicBezTo>
                    <a:cubicBezTo>
                      <a:pt x="271840" y="133933"/>
                      <a:pt x="275628" y="135504"/>
                      <a:pt x="278420" y="138298"/>
                    </a:cubicBezTo>
                    <a:close/>
                    <a:moveTo>
                      <a:pt x="386952" y="193476"/>
                    </a:moveTo>
                    <a:cubicBezTo>
                      <a:pt x="386952" y="300330"/>
                      <a:pt x="300330" y="386952"/>
                      <a:pt x="193476" y="386952"/>
                    </a:cubicBezTo>
                    <a:cubicBezTo>
                      <a:pt x="86622" y="386952"/>
                      <a:pt x="0" y="300330"/>
                      <a:pt x="0" y="193476"/>
                    </a:cubicBezTo>
                    <a:cubicBezTo>
                      <a:pt x="0" y="86622"/>
                      <a:pt x="86622" y="0"/>
                      <a:pt x="193476" y="0"/>
                    </a:cubicBezTo>
                    <a:cubicBezTo>
                      <a:pt x="300283" y="113"/>
                      <a:pt x="386839" y="86669"/>
                      <a:pt x="386952" y="193476"/>
                    </a:cubicBezTo>
                    <a:close/>
                    <a:moveTo>
                      <a:pt x="357187" y="193476"/>
                    </a:moveTo>
                    <a:cubicBezTo>
                      <a:pt x="357187" y="103061"/>
                      <a:pt x="283891" y="29766"/>
                      <a:pt x="193476" y="29766"/>
                    </a:cubicBezTo>
                    <a:cubicBezTo>
                      <a:pt x="103061" y="29766"/>
                      <a:pt x="29766" y="103061"/>
                      <a:pt x="29766" y="193476"/>
                    </a:cubicBezTo>
                    <a:cubicBezTo>
                      <a:pt x="29766" y="283891"/>
                      <a:pt x="103061" y="357187"/>
                      <a:pt x="193476" y="357187"/>
                    </a:cubicBezTo>
                    <a:cubicBezTo>
                      <a:pt x="283848" y="357084"/>
                      <a:pt x="357084" y="283848"/>
                      <a:pt x="357187" y="193476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</p:sp>
        </p:grpSp>
        <p:sp>
          <p:nvSpPr>
            <p:cNvPr id="9" name="TextBox 9"/>
            <p:cNvSpPr txBox="1"/>
            <p:nvPr/>
          </p:nvSpPr>
          <p:spPr>
            <a:xfrm>
              <a:off x="1513332" y="1651000"/>
              <a:ext cx="668924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2100" b="1" dirty="0">
                  <a:solidFill>
                    <a:srgbClr val="FFFFFF"/>
                  </a:solidFill>
                  <a:latin typeface="Inter"/>
                  <a:ea typeface="Inter"/>
                  <a:cs typeface="Inter"/>
                </a:rPr>
                <a:t>Comprehensive Testing: 64/64 E2E Tests PASS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516380" y="2012950"/>
              <a:ext cx="523158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1500" dirty="0">
                  <a:solidFill>
                    <a:srgbClr val="D1FAE5"/>
                  </a:solidFill>
                  <a:latin typeface="Inter"/>
                  <a:ea typeface="Inter"/>
                  <a:cs typeface="Inter"/>
                </a:rPr>
                <a:t>All layers verified across desktop &amp; mobile platforms</a:t>
              </a:r>
            </a:p>
          </p:txBody>
        </p:sp>
      </p:grpSp>
      <p:grpSp>
        <p:nvGrpSpPr>
          <p:cNvPr id="28" name="gate6"/>
          <p:cNvGrpSpPr/>
          <p:nvPr/>
        </p:nvGrpSpPr>
        <p:grpSpPr>
          <a:xfrm>
            <a:off x="571500" y="2571750"/>
            <a:ext cx="3429000" cy="1714500"/>
            <a:chOff x="571500" y="2571750"/>
            <a:chExt cx="3429000" cy="1714500"/>
          </a:xfrm>
        </p:grpSpPr>
        <p:sp>
          <p:nvSpPr>
            <p:cNvPr id="12" name="Rectangle 12"/>
            <p:cNvSpPr/>
            <p:nvPr/>
          </p:nvSpPr>
          <p:spPr>
            <a:xfrm>
              <a:off x="571500" y="2571750"/>
              <a:ext cx="3429000" cy="1714500"/>
            </a:xfrm>
            <a:prstGeom prst="roundRect">
              <a:avLst>
                <a:gd name="adj" fmla="val 6667"/>
              </a:avLst>
            </a:prstGeom>
            <a:solidFill>
              <a:srgbClr val="EFF6FF"/>
            </a:solidFill>
            <a:ln w="19050">
              <a:solidFill>
                <a:schemeClr val="accent1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571500" y="2571750"/>
              <a:ext cx="3429000" cy="476250"/>
            </a:xfrm>
            <a:prstGeom prst="roundRect">
              <a:avLst>
                <a:gd name="adj" fmla="val 24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49630" y="2708275"/>
              <a:ext cx="21383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1500" b="1" dirty="0">
                  <a:solidFill>
                    <a:srgbClr val="FFFFFF"/>
                  </a:solidFill>
                  <a:latin typeface="Inter"/>
                  <a:ea typeface="Inter"/>
                  <a:cs typeface="Inter"/>
                </a:rPr>
                <a:t>Gate 6 — Native &amp; API</a:t>
              </a:r>
            </a:p>
          </p:txBody>
        </p:sp>
        <p:grpSp>
          <p:nvGrpSpPr>
            <p:cNvPr id="27" name="gate6-results"/>
            <p:cNvGrpSpPr/>
            <p:nvPr/>
          </p:nvGrpSpPr>
          <p:grpSpPr>
            <a:xfrm>
              <a:off x="878681" y="3212306"/>
              <a:ext cx="2426189" cy="822865"/>
              <a:chOff x="878681" y="3212306"/>
              <a:chExt cx="2426189" cy="822865"/>
            </a:xfrm>
          </p:grpSpPr>
          <p:grpSp>
            <p:nvGrpSpPr>
              <p:cNvPr id="17" name="Group 17"/>
              <p:cNvGrpSpPr/>
              <p:nvPr/>
            </p:nvGrpSpPr>
            <p:grpSpPr>
              <a:xfrm>
                <a:off x="878681" y="3212306"/>
                <a:ext cx="185738" cy="185738"/>
                <a:chOff x="878681" y="3212306"/>
                <a:chExt cx="185738" cy="185738"/>
              </a:xfrm>
            </p:grpSpPr>
            <p:sp>
              <p:nvSpPr>
                <p:cNvPr id="15" name="Freeform 15"/>
                <p:cNvSpPr/>
                <p:nvPr/>
              </p:nvSpPr>
              <p:spPr>
                <a:xfrm>
                  <a:off x="885825" y="3219450"/>
                  <a:ext cx="171450" cy="1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171450">
                      <a:moveTo>
                        <a:pt x="171450" y="85725"/>
                      </a:moveTo>
                      <a:cubicBezTo>
                        <a:pt x="171450" y="133070"/>
                        <a:pt x="133070" y="171450"/>
                        <a:pt x="85725" y="171450"/>
                      </a:cubicBezTo>
                      <a:cubicBezTo>
                        <a:pt x="38380" y="171450"/>
                        <a:pt x="0" y="133070"/>
                        <a:pt x="0" y="85725"/>
                      </a:cubicBezTo>
                      <a:cubicBezTo>
                        <a:pt x="0" y="38380"/>
                        <a:pt x="38380" y="0"/>
                        <a:pt x="85725" y="0"/>
                      </a:cubicBezTo>
                      <a:cubicBezTo>
                        <a:pt x="133070" y="0"/>
                        <a:pt x="171450" y="38380"/>
                        <a:pt x="171450" y="85725"/>
                      </a:cubicBezTo>
                      <a:close/>
                    </a:path>
                  </a:pathLst>
                </a:custGeom>
                <a:solidFill>
                  <a:schemeClr val="accent2">
                    <a:alpha val="20000"/>
                  </a:schemeClr>
                </a:solidFill>
                <a:ln>
                  <a:noFill/>
                </a:ln>
              </p:spPr>
            </p:sp>
            <p:sp>
              <p:nvSpPr>
                <p:cNvPr id="16" name="Freeform 16"/>
                <p:cNvSpPr/>
                <p:nvPr/>
              </p:nvSpPr>
              <p:spPr>
                <a:xfrm>
                  <a:off x="878681" y="3212306"/>
                  <a:ext cx="185738" cy="1857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5738" h="185738">
                      <a:moveTo>
                        <a:pt x="133642" y="66383"/>
                      </a:moveTo>
                      <a:cubicBezTo>
                        <a:pt x="134983" y="67723"/>
                        <a:pt x="135737" y="69541"/>
                        <a:pt x="135737" y="71438"/>
                      </a:cubicBezTo>
                      <a:cubicBezTo>
                        <a:pt x="135737" y="73334"/>
                        <a:pt x="134983" y="75152"/>
                        <a:pt x="133642" y="76492"/>
                      </a:cubicBezTo>
                      <a:lnTo>
                        <a:pt x="83635" y="126498"/>
                      </a:lnTo>
                      <a:cubicBezTo>
                        <a:pt x="82296" y="127839"/>
                        <a:pt x="80477" y="128593"/>
                        <a:pt x="78581" y="128593"/>
                      </a:cubicBezTo>
                      <a:cubicBezTo>
                        <a:pt x="76685" y="128593"/>
                        <a:pt x="74867" y="127839"/>
                        <a:pt x="73527" y="126498"/>
                      </a:cubicBezTo>
                      <a:lnTo>
                        <a:pt x="52096" y="105067"/>
                      </a:lnTo>
                      <a:cubicBezTo>
                        <a:pt x="49304" y="102275"/>
                        <a:pt x="49304" y="97750"/>
                        <a:pt x="52096" y="94958"/>
                      </a:cubicBezTo>
                      <a:cubicBezTo>
                        <a:pt x="54887" y="92167"/>
                        <a:pt x="59413" y="92167"/>
                        <a:pt x="62204" y="94958"/>
                      </a:cubicBezTo>
                      <a:lnTo>
                        <a:pt x="78581" y="111344"/>
                      </a:lnTo>
                      <a:lnTo>
                        <a:pt x="123533" y="66383"/>
                      </a:lnTo>
                      <a:cubicBezTo>
                        <a:pt x="124873" y="65042"/>
                        <a:pt x="126691" y="64288"/>
                        <a:pt x="128588" y="64288"/>
                      </a:cubicBezTo>
                      <a:cubicBezTo>
                        <a:pt x="130484" y="64288"/>
                        <a:pt x="132302" y="65042"/>
                        <a:pt x="133642" y="66383"/>
                      </a:cubicBezTo>
                      <a:close/>
                      <a:moveTo>
                        <a:pt x="185738" y="92869"/>
                      </a:moveTo>
                      <a:cubicBezTo>
                        <a:pt x="185738" y="144159"/>
                        <a:pt x="144159" y="185738"/>
                        <a:pt x="92869" y="185738"/>
                      </a:cubicBezTo>
                      <a:cubicBezTo>
                        <a:pt x="41579" y="185738"/>
                        <a:pt x="0" y="144159"/>
                        <a:pt x="0" y="92869"/>
                      </a:cubicBezTo>
                      <a:cubicBezTo>
                        <a:pt x="0" y="41579"/>
                        <a:pt x="41579" y="0"/>
                        <a:pt x="92869" y="0"/>
                      </a:cubicBezTo>
                      <a:cubicBezTo>
                        <a:pt x="144136" y="54"/>
                        <a:pt x="185683" y="41601"/>
                        <a:pt x="185738" y="92869"/>
                      </a:cubicBezTo>
                      <a:close/>
                      <a:moveTo>
                        <a:pt x="171450" y="92869"/>
                      </a:moveTo>
                      <a:cubicBezTo>
                        <a:pt x="171450" y="49470"/>
                        <a:pt x="136268" y="14288"/>
                        <a:pt x="92869" y="14288"/>
                      </a:cubicBezTo>
                      <a:cubicBezTo>
                        <a:pt x="49470" y="14288"/>
                        <a:pt x="14288" y="49470"/>
                        <a:pt x="14288" y="92869"/>
                      </a:cubicBezTo>
                      <a:cubicBezTo>
                        <a:pt x="14288" y="136268"/>
                        <a:pt x="49470" y="171450"/>
                        <a:pt x="92869" y="171450"/>
                      </a:cubicBezTo>
                      <a:cubicBezTo>
                        <a:pt x="136248" y="171401"/>
                        <a:pt x="171401" y="136248"/>
                        <a:pt x="171450" y="92869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</p:sp>
          </p:grpSp>
          <p:sp>
            <p:nvSpPr>
              <p:cNvPr id="18" name="TextBox 18"/>
              <p:cNvSpPr txBox="1"/>
              <p:nvPr/>
            </p:nvSpPr>
            <p:spPr>
              <a:xfrm>
                <a:off x="1184529" y="3228975"/>
                <a:ext cx="212034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" sz="1200" dirty="0">
                    <a:solidFill>
                      <a:schemeClr val="dk1"/>
                    </a:solidFill>
                    <a:latin typeface="Inter"/>
                    <a:ea typeface="Inter"/>
                    <a:cs typeface="Inter"/>
                  </a:rPr>
                  <a:t>19/19 native serving tests</a:t>
                </a:r>
              </a:p>
            </p:txBody>
          </p:sp>
          <p:grpSp>
            <p:nvGrpSpPr>
              <p:cNvPr id="21" name="Group 21"/>
              <p:cNvGrpSpPr/>
              <p:nvPr/>
            </p:nvGrpSpPr>
            <p:grpSpPr>
              <a:xfrm>
                <a:off x="878681" y="3498056"/>
                <a:ext cx="185738" cy="185738"/>
                <a:chOff x="878681" y="3498056"/>
                <a:chExt cx="185738" cy="185738"/>
              </a:xfrm>
            </p:grpSpPr>
            <p:sp>
              <p:nvSpPr>
                <p:cNvPr id="19" name="Freeform 19"/>
                <p:cNvSpPr/>
                <p:nvPr/>
              </p:nvSpPr>
              <p:spPr>
                <a:xfrm>
                  <a:off x="885825" y="3505200"/>
                  <a:ext cx="171450" cy="1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171450">
                      <a:moveTo>
                        <a:pt x="171450" y="85725"/>
                      </a:moveTo>
                      <a:cubicBezTo>
                        <a:pt x="171450" y="133070"/>
                        <a:pt x="133070" y="171450"/>
                        <a:pt x="85725" y="171450"/>
                      </a:cubicBezTo>
                      <a:cubicBezTo>
                        <a:pt x="38380" y="171450"/>
                        <a:pt x="0" y="133070"/>
                        <a:pt x="0" y="85725"/>
                      </a:cubicBezTo>
                      <a:cubicBezTo>
                        <a:pt x="0" y="38380"/>
                        <a:pt x="38380" y="0"/>
                        <a:pt x="85725" y="0"/>
                      </a:cubicBezTo>
                      <a:cubicBezTo>
                        <a:pt x="133070" y="0"/>
                        <a:pt x="171450" y="38380"/>
                        <a:pt x="171450" y="85725"/>
                      </a:cubicBezTo>
                      <a:close/>
                    </a:path>
                  </a:pathLst>
                </a:custGeom>
                <a:solidFill>
                  <a:schemeClr val="accent2">
                    <a:alpha val="20000"/>
                  </a:schemeClr>
                </a:solidFill>
                <a:ln>
                  <a:noFill/>
                </a:ln>
              </p:spPr>
            </p:sp>
            <p:sp>
              <p:nvSpPr>
                <p:cNvPr id="20" name="Freeform 20"/>
                <p:cNvSpPr/>
                <p:nvPr/>
              </p:nvSpPr>
              <p:spPr>
                <a:xfrm>
                  <a:off x="878681" y="3498056"/>
                  <a:ext cx="185738" cy="1857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5738" h="185738">
                      <a:moveTo>
                        <a:pt x="133642" y="66383"/>
                      </a:moveTo>
                      <a:cubicBezTo>
                        <a:pt x="134983" y="67723"/>
                        <a:pt x="135737" y="69541"/>
                        <a:pt x="135737" y="71438"/>
                      </a:cubicBezTo>
                      <a:cubicBezTo>
                        <a:pt x="135737" y="73334"/>
                        <a:pt x="134983" y="75152"/>
                        <a:pt x="133642" y="76492"/>
                      </a:cubicBezTo>
                      <a:lnTo>
                        <a:pt x="83635" y="126498"/>
                      </a:lnTo>
                      <a:cubicBezTo>
                        <a:pt x="82296" y="127839"/>
                        <a:pt x="80477" y="128593"/>
                        <a:pt x="78581" y="128593"/>
                      </a:cubicBezTo>
                      <a:cubicBezTo>
                        <a:pt x="76685" y="128593"/>
                        <a:pt x="74867" y="127839"/>
                        <a:pt x="73527" y="126498"/>
                      </a:cubicBezTo>
                      <a:lnTo>
                        <a:pt x="52096" y="105067"/>
                      </a:lnTo>
                      <a:cubicBezTo>
                        <a:pt x="49304" y="102275"/>
                        <a:pt x="49304" y="97750"/>
                        <a:pt x="52096" y="94958"/>
                      </a:cubicBezTo>
                      <a:cubicBezTo>
                        <a:pt x="54887" y="92167"/>
                        <a:pt x="59413" y="92167"/>
                        <a:pt x="62204" y="94958"/>
                      </a:cubicBezTo>
                      <a:lnTo>
                        <a:pt x="78581" y="111344"/>
                      </a:lnTo>
                      <a:lnTo>
                        <a:pt x="123533" y="66383"/>
                      </a:lnTo>
                      <a:cubicBezTo>
                        <a:pt x="124873" y="65042"/>
                        <a:pt x="126691" y="64288"/>
                        <a:pt x="128588" y="64288"/>
                      </a:cubicBezTo>
                      <a:cubicBezTo>
                        <a:pt x="130484" y="64288"/>
                        <a:pt x="132302" y="65042"/>
                        <a:pt x="133642" y="66383"/>
                      </a:cubicBezTo>
                      <a:close/>
                      <a:moveTo>
                        <a:pt x="185738" y="92869"/>
                      </a:moveTo>
                      <a:cubicBezTo>
                        <a:pt x="185738" y="144159"/>
                        <a:pt x="144159" y="185738"/>
                        <a:pt x="92869" y="185738"/>
                      </a:cubicBezTo>
                      <a:cubicBezTo>
                        <a:pt x="41579" y="185738"/>
                        <a:pt x="0" y="144159"/>
                        <a:pt x="0" y="92869"/>
                      </a:cubicBezTo>
                      <a:cubicBezTo>
                        <a:pt x="0" y="41579"/>
                        <a:pt x="41579" y="0"/>
                        <a:pt x="92869" y="0"/>
                      </a:cubicBezTo>
                      <a:cubicBezTo>
                        <a:pt x="144136" y="54"/>
                        <a:pt x="185683" y="41601"/>
                        <a:pt x="185738" y="92869"/>
                      </a:cubicBezTo>
                      <a:close/>
                      <a:moveTo>
                        <a:pt x="171450" y="92869"/>
                      </a:moveTo>
                      <a:cubicBezTo>
                        <a:pt x="171450" y="49470"/>
                        <a:pt x="136268" y="14288"/>
                        <a:pt x="92869" y="14288"/>
                      </a:cubicBezTo>
                      <a:cubicBezTo>
                        <a:pt x="49470" y="14288"/>
                        <a:pt x="14288" y="49470"/>
                        <a:pt x="14288" y="92869"/>
                      </a:cubicBezTo>
                      <a:cubicBezTo>
                        <a:pt x="14288" y="136268"/>
                        <a:pt x="49470" y="171450"/>
                        <a:pt x="92869" y="171450"/>
                      </a:cubicBezTo>
                      <a:cubicBezTo>
                        <a:pt x="136248" y="171401"/>
                        <a:pt x="171401" y="136248"/>
                        <a:pt x="171450" y="92869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</p:sp>
          </p:grpSp>
          <p:sp>
            <p:nvSpPr>
              <p:cNvPr id="22" name="TextBox 22"/>
              <p:cNvSpPr txBox="1"/>
              <p:nvPr/>
            </p:nvSpPr>
            <p:spPr>
              <a:xfrm>
                <a:off x="1184529" y="3514725"/>
                <a:ext cx="188159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" sz="1200" dirty="0">
                    <a:solidFill>
                      <a:schemeClr val="dk1"/>
                    </a:solidFill>
                    <a:latin typeface="Inter"/>
                    <a:ea typeface="Inter"/>
                    <a:cs typeface="Inter"/>
                  </a:rPr>
                  <a:t>16/16 Fastify API tests</a:t>
                </a:r>
              </a:p>
            </p:txBody>
          </p:sp>
          <p:grpSp>
            <p:nvGrpSpPr>
              <p:cNvPr id="25" name="Group 25"/>
              <p:cNvGrpSpPr/>
              <p:nvPr/>
            </p:nvGrpSpPr>
            <p:grpSpPr>
              <a:xfrm>
                <a:off x="878681" y="3783806"/>
                <a:ext cx="185738" cy="185738"/>
                <a:chOff x="878681" y="3783806"/>
                <a:chExt cx="185738" cy="185738"/>
              </a:xfrm>
            </p:grpSpPr>
            <p:sp>
              <p:nvSpPr>
                <p:cNvPr id="23" name="Freeform 23"/>
                <p:cNvSpPr/>
                <p:nvPr/>
              </p:nvSpPr>
              <p:spPr>
                <a:xfrm>
                  <a:off x="885825" y="3790950"/>
                  <a:ext cx="171450" cy="1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171450">
                      <a:moveTo>
                        <a:pt x="171450" y="85725"/>
                      </a:moveTo>
                      <a:cubicBezTo>
                        <a:pt x="171450" y="133070"/>
                        <a:pt x="133070" y="171450"/>
                        <a:pt x="85725" y="171450"/>
                      </a:cubicBezTo>
                      <a:cubicBezTo>
                        <a:pt x="38380" y="171450"/>
                        <a:pt x="0" y="133070"/>
                        <a:pt x="0" y="85725"/>
                      </a:cubicBezTo>
                      <a:cubicBezTo>
                        <a:pt x="0" y="38380"/>
                        <a:pt x="38380" y="0"/>
                        <a:pt x="85725" y="0"/>
                      </a:cubicBezTo>
                      <a:cubicBezTo>
                        <a:pt x="133070" y="0"/>
                        <a:pt x="171450" y="38380"/>
                        <a:pt x="171450" y="85725"/>
                      </a:cubicBezTo>
                      <a:close/>
                    </a:path>
                  </a:pathLst>
                </a:custGeom>
                <a:solidFill>
                  <a:schemeClr val="accent2">
                    <a:alpha val="20000"/>
                  </a:schemeClr>
                </a:solidFill>
                <a:ln>
                  <a:noFill/>
                </a:ln>
              </p:spPr>
            </p:sp>
            <p:sp>
              <p:nvSpPr>
                <p:cNvPr id="24" name="Freeform 24"/>
                <p:cNvSpPr/>
                <p:nvPr/>
              </p:nvSpPr>
              <p:spPr>
                <a:xfrm>
                  <a:off x="878681" y="3783806"/>
                  <a:ext cx="185738" cy="1857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5738" h="185738">
                      <a:moveTo>
                        <a:pt x="133642" y="66383"/>
                      </a:moveTo>
                      <a:cubicBezTo>
                        <a:pt x="134983" y="67723"/>
                        <a:pt x="135737" y="69541"/>
                        <a:pt x="135737" y="71438"/>
                      </a:cubicBezTo>
                      <a:cubicBezTo>
                        <a:pt x="135737" y="73334"/>
                        <a:pt x="134983" y="75152"/>
                        <a:pt x="133642" y="76492"/>
                      </a:cubicBezTo>
                      <a:lnTo>
                        <a:pt x="83635" y="126498"/>
                      </a:lnTo>
                      <a:cubicBezTo>
                        <a:pt x="82296" y="127839"/>
                        <a:pt x="80477" y="128593"/>
                        <a:pt x="78581" y="128593"/>
                      </a:cubicBezTo>
                      <a:cubicBezTo>
                        <a:pt x="76685" y="128593"/>
                        <a:pt x="74867" y="127839"/>
                        <a:pt x="73527" y="126498"/>
                      </a:cubicBezTo>
                      <a:lnTo>
                        <a:pt x="52096" y="105067"/>
                      </a:lnTo>
                      <a:cubicBezTo>
                        <a:pt x="49304" y="102275"/>
                        <a:pt x="49304" y="97750"/>
                        <a:pt x="52096" y="94958"/>
                      </a:cubicBezTo>
                      <a:cubicBezTo>
                        <a:pt x="54887" y="92167"/>
                        <a:pt x="59413" y="92167"/>
                        <a:pt x="62204" y="94958"/>
                      </a:cubicBezTo>
                      <a:lnTo>
                        <a:pt x="78581" y="111344"/>
                      </a:lnTo>
                      <a:lnTo>
                        <a:pt x="123533" y="66383"/>
                      </a:lnTo>
                      <a:cubicBezTo>
                        <a:pt x="124873" y="65042"/>
                        <a:pt x="126691" y="64288"/>
                        <a:pt x="128588" y="64288"/>
                      </a:cubicBezTo>
                      <a:cubicBezTo>
                        <a:pt x="130484" y="64288"/>
                        <a:pt x="132302" y="65042"/>
                        <a:pt x="133642" y="66383"/>
                      </a:cubicBezTo>
                      <a:close/>
                      <a:moveTo>
                        <a:pt x="185738" y="92869"/>
                      </a:moveTo>
                      <a:cubicBezTo>
                        <a:pt x="185738" y="144159"/>
                        <a:pt x="144159" y="185738"/>
                        <a:pt x="92869" y="185738"/>
                      </a:cubicBezTo>
                      <a:cubicBezTo>
                        <a:pt x="41579" y="185738"/>
                        <a:pt x="0" y="144159"/>
                        <a:pt x="0" y="92869"/>
                      </a:cubicBezTo>
                      <a:cubicBezTo>
                        <a:pt x="0" y="41579"/>
                        <a:pt x="41579" y="0"/>
                        <a:pt x="92869" y="0"/>
                      </a:cubicBezTo>
                      <a:cubicBezTo>
                        <a:pt x="144136" y="54"/>
                        <a:pt x="185683" y="41601"/>
                        <a:pt x="185738" y="92869"/>
                      </a:cubicBezTo>
                      <a:close/>
                      <a:moveTo>
                        <a:pt x="171450" y="92869"/>
                      </a:moveTo>
                      <a:cubicBezTo>
                        <a:pt x="171450" y="49470"/>
                        <a:pt x="136268" y="14288"/>
                        <a:pt x="92869" y="14288"/>
                      </a:cubicBezTo>
                      <a:cubicBezTo>
                        <a:pt x="49470" y="14288"/>
                        <a:pt x="14288" y="49470"/>
                        <a:pt x="14288" y="92869"/>
                      </a:cubicBezTo>
                      <a:cubicBezTo>
                        <a:pt x="14288" y="136268"/>
                        <a:pt x="49470" y="171450"/>
                        <a:pt x="92869" y="171450"/>
                      </a:cubicBezTo>
                      <a:cubicBezTo>
                        <a:pt x="136248" y="171401"/>
                        <a:pt x="171401" y="136248"/>
                        <a:pt x="171450" y="92869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</p:sp>
          </p:grpSp>
          <p:sp>
            <p:nvSpPr>
              <p:cNvPr id="26" name="TextBox 26"/>
              <p:cNvSpPr txBox="1"/>
              <p:nvPr/>
            </p:nvSpPr>
            <p:spPr>
              <a:xfrm>
                <a:off x="1184529" y="3800475"/>
                <a:ext cx="1788759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" sz="1200" dirty="0">
                    <a:solidFill>
                      <a:schemeClr val="dk1"/>
                    </a:solidFill>
                    <a:latin typeface="Inter"/>
                    <a:ea typeface="Inter"/>
                    <a:cs typeface="Inter"/>
                  </a:rPr>
                  <a:t>TypeScript &amp; Vite build</a:t>
                </a:r>
              </a:p>
            </p:txBody>
          </p:sp>
        </p:grpSp>
      </p:grpSp>
      <p:grpSp>
        <p:nvGrpSpPr>
          <p:cNvPr id="45" name="gate7"/>
          <p:cNvGrpSpPr/>
          <p:nvPr/>
        </p:nvGrpSpPr>
        <p:grpSpPr>
          <a:xfrm>
            <a:off x="4381500" y="2571750"/>
            <a:ext cx="3429000" cy="1714500"/>
            <a:chOff x="4381500" y="2571750"/>
            <a:chExt cx="3429000" cy="1714500"/>
          </a:xfrm>
        </p:grpSpPr>
        <p:sp>
          <p:nvSpPr>
            <p:cNvPr id="29" name="Rectangle 29"/>
            <p:cNvSpPr/>
            <p:nvPr/>
          </p:nvSpPr>
          <p:spPr>
            <a:xfrm>
              <a:off x="4381500" y="2571750"/>
              <a:ext cx="3429000" cy="1714500"/>
            </a:xfrm>
            <a:prstGeom prst="roundRect">
              <a:avLst>
                <a:gd name="adj" fmla="val 6667"/>
              </a:avLst>
            </a:prstGeom>
            <a:solidFill>
              <a:srgbClr val="F0FDF4"/>
            </a:solidFill>
            <a:ln w="19050">
              <a:solidFill>
                <a:schemeClr val="accent2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381500" y="2571750"/>
              <a:ext cx="3429000" cy="476250"/>
            </a:xfrm>
            <a:prstGeom prst="roundRect">
              <a:avLst>
                <a:gd name="adj" fmla="val 24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4659630" y="2708275"/>
              <a:ext cx="210100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1500" b="1" dirty="0">
                  <a:solidFill>
                    <a:srgbClr val="FFFFFF"/>
                  </a:solidFill>
                  <a:latin typeface="Inter"/>
                  <a:ea typeface="Inter"/>
                  <a:cs typeface="Inter"/>
                </a:rPr>
                <a:t>Gate 7 — End-to-End</a:t>
              </a:r>
            </a:p>
          </p:txBody>
        </p:sp>
        <p:grpSp>
          <p:nvGrpSpPr>
            <p:cNvPr id="44" name="gate7-results"/>
            <p:cNvGrpSpPr/>
            <p:nvPr/>
          </p:nvGrpSpPr>
          <p:grpSpPr>
            <a:xfrm>
              <a:off x="4688681" y="3212306"/>
              <a:ext cx="2415417" cy="822865"/>
              <a:chOff x="4688681" y="3212306"/>
              <a:chExt cx="2415417" cy="822865"/>
            </a:xfrm>
          </p:grpSpPr>
          <p:grpSp>
            <p:nvGrpSpPr>
              <p:cNvPr id="34" name="Group 34"/>
              <p:cNvGrpSpPr/>
              <p:nvPr/>
            </p:nvGrpSpPr>
            <p:grpSpPr>
              <a:xfrm>
                <a:off x="4688681" y="3212306"/>
                <a:ext cx="185738" cy="185738"/>
                <a:chOff x="4688681" y="3212306"/>
                <a:chExt cx="185738" cy="185738"/>
              </a:xfrm>
            </p:grpSpPr>
            <p:sp>
              <p:nvSpPr>
                <p:cNvPr id="32" name="Freeform 32"/>
                <p:cNvSpPr/>
                <p:nvPr/>
              </p:nvSpPr>
              <p:spPr>
                <a:xfrm>
                  <a:off x="4695825" y="3219450"/>
                  <a:ext cx="171450" cy="1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171450">
                      <a:moveTo>
                        <a:pt x="171450" y="85725"/>
                      </a:moveTo>
                      <a:cubicBezTo>
                        <a:pt x="171450" y="133070"/>
                        <a:pt x="133070" y="171450"/>
                        <a:pt x="85725" y="171450"/>
                      </a:cubicBezTo>
                      <a:cubicBezTo>
                        <a:pt x="38380" y="171450"/>
                        <a:pt x="0" y="133070"/>
                        <a:pt x="0" y="85725"/>
                      </a:cubicBezTo>
                      <a:cubicBezTo>
                        <a:pt x="0" y="38380"/>
                        <a:pt x="38380" y="0"/>
                        <a:pt x="85725" y="0"/>
                      </a:cubicBezTo>
                      <a:cubicBezTo>
                        <a:pt x="133070" y="0"/>
                        <a:pt x="171450" y="38380"/>
                        <a:pt x="171450" y="85725"/>
                      </a:cubicBezTo>
                      <a:close/>
                    </a:path>
                  </a:pathLst>
                </a:custGeom>
                <a:solidFill>
                  <a:schemeClr val="accent2">
                    <a:alpha val="20000"/>
                  </a:schemeClr>
                </a:solidFill>
                <a:ln>
                  <a:noFill/>
                </a:ln>
              </p:spPr>
            </p:sp>
            <p:sp>
              <p:nvSpPr>
                <p:cNvPr id="33" name="Freeform 33"/>
                <p:cNvSpPr/>
                <p:nvPr/>
              </p:nvSpPr>
              <p:spPr>
                <a:xfrm>
                  <a:off x="4688681" y="3212306"/>
                  <a:ext cx="185738" cy="1857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5738" h="185738">
                      <a:moveTo>
                        <a:pt x="133642" y="66383"/>
                      </a:moveTo>
                      <a:cubicBezTo>
                        <a:pt x="134983" y="67723"/>
                        <a:pt x="135737" y="69541"/>
                        <a:pt x="135737" y="71438"/>
                      </a:cubicBezTo>
                      <a:cubicBezTo>
                        <a:pt x="135737" y="73334"/>
                        <a:pt x="134983" y="75152"/>
                        <a:pt x="133642" y="76492"/>
                      </a:cubicBezTo>
                      <a:lnTo>
                        <a:pt x="83635" y="126498"/>
                      </a:lnTo>
                      <a:cubicBezTo>
                        <a:pt x="82296" y="127839"/>
                        <a:pt x="80477" y="128593"/>
                        <a:pt x="78581" y="128593"/>
                      </a:cubicBezTo>
                      <a:cubicBezTo>
                        <a:pt x="76685" y="128593"/>
                        <a:pt x="74867" y="127839"/>
                        <a:pt x="73527" y="126498"/>
                      </a:cubicBezTo>
                      <a:lnTo>
                        <a:pt x="52096" y="105067"/>
                      </a:lnTo>
                      <a:cubicBezTo>
                        <a:pt x="49304" y="102275"/>
                        <a:pt x="49304" y="97750"/>
                        <a:pt x="52096" y="94958"/>
                      </a:cubicBezTo>
                      <a:cubicBezTo>
                        <a:pt x="54887" y="92167"/>
                        <a:pt x="59413" y="92167"/>
                        <a:pt x="62204" y="94958"/>
                      </a:cubicBezTo>
                      <a:lnTo>
                        <a:pt x="78581" y="111344"/>
                      </a:lnTo>
                      <a:lnTo>
                        <a:pt x="123533" y="66383"/>
                      </a:lnTo>
                      <a:cubicBezTo>
                        <a:pt x="124873" y="65042"/>
                        <a:pt x="126691" y="64288"/>
                        <a:pt x="128588" y="64288"/>
                      </a:cubicBezTo>
                      <a:cubicBezTo>
                        <a:pt x="130484" y="64288"/>
                        <a:pt x="132302" y="65042"/>
                        <a:pt x="133642" y="66383"/>
                      </a:cubicBezTo>
                      <a:close/>
                      <a:moveTo>
                        <a:pt x="185738" y="92869"/>
                      </a:moveTo>
                      <a:cubicBezTo>
                        <a:pt x="185738" y="144159"/>
                        <a:pt x="144159" y="185738"/>
                        <a:pt x="92869" y="185738"/>
                      </a:cubicBezTo>
                      <a:cubicBezTo>
                        <a:pt x="41579" y="185738"/>
                        <a:pt x="0" y="144159"/>
                        <a:pt x="0" y="92869"/>
                      </a:cubicBezTo>
                      <a:cubicBezTo>
                        <a:pt x="0" y="41579"/>
                        <a:pt x="41579" y="0"/>
                        <a:pt x="92869" y="0"/>
                      </a:cubicBezTo>
                      <a:cubicBezTo>
                        <a:pt x="144136" y="54"/>
                        <a:pt x="185683" y="41601"/>
                        <a:pt x="185738" y="92869"/>
                      </a:cubicBezTo>
                      <a:close/>
                      <a:moveTo>
                        <a:pt x="171450" y="92869"/>
                      </a:moveTo>
                      <a:cubicBezTo>
                        <a:pt x="171450" y="49470"/>
                        <a:pt x="136268" y="14288"/>
                        <a:pt x="92869" y="14288"/>
                      </a:cubicBezTo>
                      <a:cubicBezTo>
                        <a:pt x="49470" y="14288"/>
                        <a:pt x="14288" y="49470"/>
                        <a:pt x="14288" y="92869"/>
                      </a:cubicBezTo>
                      <a:cubicBezTo>
                        <a:pt x="14288" y="136268"/>
                        <a:pt x="49470" y="171450"/>
                        <a:pt x="92869" y="171450"/>
                      </a:cubicBezTo>
                      <a:cubicBezTo>
                        <a:pt x="136248" y="171401"/>
                        <a:pt x="171401" y="136248"/>
                        <a:pt x="171450" y="92869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</p:sp>
          </p:grpSp>
          <p:sp>
            <p:nvSpPr>
              <p:cNvPr id="35" name="TextBox 35"/>
              <p:cNvSpPr txBox="1"/>
              <p:nvPr/>
            </p:nvSpPr>
            <p:spPr>
              <a:xfrm>
                <a:off x="4994529" y="3228975"/>
                <a:ext cx="184452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" sz="1200" dirty="0">
                    <a:solidFill>
                      <a:schemeClr val="dk1"/>
                    </a:solidFill>
                    <a:latin typeface="Inter"/>
                    <a:ea typeface="Inter"/>
                    <a:cs typeface="Inter"/>
                  </a:rPr>
                  <a:t>40/40 Playwright tests</a:t>
                </a:r>
              </a:p>
            </p:txBody>
          </p:sp>
          <p:grpSp>
            <p:nvGrpSpPr>
              <p:cNvPr id="38" name="Group 38"/>
              <p:cNvGrpSpPr/>
              <p:nvPr/>
            </p:nvGrpSpPr>
            <p:grpSpPr>
              <a:xfrm>
                <a:off x="4688681" y="3498056"/>
                <a:ext cx="185738" cy="185738"/>
                <a:chOff x="4688681" y="3498056"/>
                <a:chExt cx="185738" cy="185738"/>
              </a:xfrm>
            </p:grpSpPr>
            <p:sp>
              <p:nvSpPr>
                <p:cNvPr id="36" name="Freeform 36"/>
                <p:cNvSpPr/>
                <p:nvPr/>
              </p:nvSpPr>
              <p:spPr>
                <a:xfrm>
                  <a:off x="4695825" y="3505200"/>
                  <a:ext cx="171450" cy="1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171450">
                      <a:moveTo>
                        <a:pt x="171450" y="85725"/>
                      </a:moveTo>
                      <a:cubicBezTo>
                        <a:pt x="171450" y="133070"/>
                        <a:pt x="133070" y="171450"/>
                        <a:pt x="85725" y="171450"/>
                      </a:cubicBezTo>
                      <a:cubicBezTo>
                        <a:pt x="38380" y="171450"/>
                        <a:pt x="0" y="133070"/>
                        <a:pt x="0" y="85725"/>
                      </a:cubicBezTo>
                      <a:cubicBezTo>
                        <a:pt x="0" y="38380"/>
                        <a:pt x="38380" y="0"/>
                        <a:pt x="85725" y="0"/>
                      </a:cubicBezTo>
                      <a:cubicBezTo>
                        <a:pt x="133070" y="0"/>
                        <a:pt x="171450" y="38380"/>
                        <a:pt x="171450" y="85725"/>
                      </a:cubicBezTo>
                      <a:close/>
                    </a:path>
                  </a:pathLst>
                </a:custGeom>
                <a:solidFill>
                  <a:schemeClr val="accent2">
                    <a:alpha val="20000"/>
                  </a:schemeClr>
                </a:solidFill>
                <a:ln>
                  <a:noFill/>
                </a:ln>
              </p:spPr>
            </p:sp>
            <p:sp>
              <p:nvSpPr>
                <p:cNvPr id="37" name="Freeform 37"/>
                <p:cNvSpPr/>
                <p:nvPr/>
              </p:nvSpPr>
              <p:spPr>
                <a:xfrm>
                  <a:off x="4688681" y="3498056"/>
                  <a:ext cx="185738" cy="1857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5738" h="185738">
                      <a:moveTo>
                        <a:pt x="133642" y="66383"/>
                      </a:moveTo>
                      <a:cubicBezTo>
                        <a:pt x="134983" y="67723"/>
                        <a:pt x="135737" y="69541"/>
                        <a:pt x="135737" y="71438"/>
                      </a:cubicBezTo>
                      <a:cubicBezTo>
                        <a:pt x="135737" y="73334"/>
                        <a:pt x="134983" y="75152"/>
                        <a:pt x="133642" y="76492"/>
                      </a:cubicBezTo>
                      <a:lnTo>
                        <a:pt x="83635" y="126498"/>
                      </a:lnTo>
                      <a:cubicBezTo>
                        <a:pt x="82296" y="127839"/>
                        <a:pt x="80477" y="128593"/>
                        <a:pt x="78581" y="128593"/>
                      </a:cubicBezTo>
                      <a:cubicBezTo>
                        <a:pt x="76685" y="128593"/>
                        <a:pt x="74867" y="127839"/>
                        <a:pt x="73527" y="126498"/>
                      </a:cubicBezTo>
                      <a:lnTo>
                        <a:pt x="52096" y="105067"/>
                      </a:lnTo>
                      <a:cubicBezTo>
                        <a:pt x="49304" y="102275"/>
                        <a:pt x="49304" y="97750"/>
                        <a:pt x="52096" y="94958"/>
                      </a:cubicBezTo>
                      <a:cubicBezTo>
                        <a:pt x="54887" y="92167"/>
                        <a:pt x="59413" y="92167"/>
                        <a:pt x="62204" y="94958"/>
                      </a:cubicBezTo>
                      <a:lnTo>
                        <a:pt x="78581" y="111344"/>
                      </a:lnTo>
                      <a:lnTo>
                        <a:pt x="123533" y="66383"/>
                      </a:lnTo>
                      <a:cubicBezTo>
                        <a:pt x="124873" y="65042"/>
                        <a:pt x="126691" y="64288"/>
                        <a:pt x="128588" y="64288"/>
                      </a:cubicBezTo>
                      <a:cubicBezTo>
                        <a:pt x="130484" y="64288"/>
                        <a:pt x="132302" y="65042"/>
                        <a:pt x="133642" y="66383"/>
                      </a:cubicBezTo>
                      <a:close/>
                      <a:moveTo>
                        <a:pt x="185738" y="92869"/>
                      </a:moveTo>
                      <a:cubicBezTo>
                        <a:pt x="185738" y="144159"/>
                        <a:pt x="144159" y="185738"/>
                        <a:pt x="92869" y="185738"/>
                      </a:cubicBezTo>
                      <a:cubicBezTo>
                        <a:pt x="41579" y="185738"/>
                        <a:pt x="0" y="144159"/>
                        <a:pt x="0" y="92869"/>
                      </a:cubicBezTo>
                      <a:cubicBezTo>
                        <a:pt x="0" y="41579"/>
                        <a:pt x="41579" y="0"/>
                        <a:pt x="92869" y="0"/>
                      </a:cubicBezTo>
                      <a:cubicBezTo>
                        <a:pt x="144136" y="54"/>
                        <a:pt x="185683" y="41601"/>
                        <a:pt x="185738" y="92869"/>
                      </a:cubicBezTo>
                      <a:close/>
                      <a:moveTo>
                        <a:pt x="171450" y="92869"/>
                      </a:moveTo>
                      <a:cubicBezTo>
                        <a:pt x="171450" y="49470"/>
                        <a:pt x="136268" y="14288"/>
                        <a:pt x="92869" y="14288"/>
                      </a:cubicBezTo>
                      <a:cubicBezTo>
                        <a:pt x="49470" y="14288"/>
                        <a:pt x="14288" y="49470"/>
                        <a:pt x="14288" y="92869"/>
                      </a:cubicBezTo>
                      <a:cubicBezTo>
                        <a:pt x="14288" y="136268"/>
                        <a:pt x="49470" y="171450"/>
                        <a:pt x="92869" y="171450"/>
                      </a:cubicBezTo>
                      <a:cubicBezTo>
                        <a:pt x="136248" y="171401"/>
                        <a:pt x="171401" y="136248"/>
                        <a:pt x="171450" y="92869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</p:sp>
          </p:grpSp>
          <p:sp>
            <p:nvSpPr>
              <p:cNvPr id="39" name="TextBox 39"/>
              <p:cNvSpPr txBox="1"/>
              <p:nvPr/>
            </p:nvSpPr>
            <p:spPr>
              <a:xfrm>
                <a:off x="4994529" y="3514725"/>
                <a:ext cx="2109569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" sz="1200" dirty="0">
                    <a:solidFill>
                      <a:schemeClr val="dk1"/>
                    </a:solidFill>
                    <a:latin typeface="Inter"/>
                    <a:ea typeface="Inter"/>
                    <a:cs typeface="Inter"/>
                  </a:rPr>
                  <a:t>Desktop + mobile emulation</a:t>
                </a:r>
              </a:p>
            </p:txBody>
          </p:sp>
          <p:grpSp>
            <p:nvGrpSpPr>
              <p:cNvPr id="42" name="Group 42"/>
              <p:cNvGrpSpPr/>
              <p:nvPr/>
            </p:nvGrpSpPr>
            <p:grpSpPr>
              <a:xfrm>
                <a:off x="4688681" y="3783806"/>
                <a:ext cx="185738" cy="185738"/>
                <a:chOff x="4688681" y="3783806"/>
                <a:chExt cx="185738" cy="185738"/>
              </a:xfrm>
            </p:grpSpPr>
            <p:sp>
              <p:nvSpPr>
                <p:cNvPr id="40" name="Freeform 40"/>
                <p:cNvSpPr/>
                <p:nvPr/>
              </p:nvSpPr>
              <p:spPr>
                <a:xfrm>
                  <a:off x="4695825" y="3790950"/>
                  <a:ext cx="171450" cy="1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171450">
                      <a:moveTo>
                        <a:pt x="171450" y="85725"/>
                      </a:moveTo>
                      <a:cubicBezTo>
                        <a:pt x="171450" y="133070"/>
                        <a:pt x="133070" y="171450"/>
                        <a:pt x="85725" y="171450"/>
                      </a:cubicBezTo>
                      <a:cubicBezTo>
                        <a:pt x="38380" y="171450"/>
                        <a:pt x="0" y="133070"/>
                        <a:pt x="0" y="85725"/>
                      </a:cubicBezTo>
                      <a:cubicBezTo>
                        <a:pt x="0" y="38380"/>
                        <a:pt x="38380" y="0"/>
                        <a:pt x="85725" y="0"/>
                      </a:cubicBezTo>
                      <a:cubicBezTo>
                        <a:pt x="133070" y="0"/>
                        <a:pt x="171450" y="38380"/>
                        <a:pt x="171450" y="85725"/>
                      </a:cubicBezTo>
                      <a:close/>
                    </a:path>
                  </a:pathLst>
                </a:custGeom>
                <a:solidFill>
                  <a:schemeClr val="accent2">
                    <a:alpha val="20000"/>
                  </a:schemeClr>
                </a:solidFill>
                <a:ln>
                  <a:noFill/>
                </a:ln>
              </p:spPr>
            </p:sp>
            <p:sp>
              <p:nvSpPr>
                <p:cNvPr id="41" name="Freeform 41"/>
                <p:cNvSpPr/>
                <p:nvPr/>
              </p:nvSpPr>
              <p:spPr>
                <a:xfrm>
                  <a:off x="4688681" y="3783806"/>
                  <a:ext cx="185738" cy="1857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5738" h="185738">
                      <a:moveTo>
                        <a:pt x="133642" y="66383"/>
                      </a:moveTo>
                      <a:cubicBezTo>
                        <a:pt x="134983" y="67723"/>
                        <a:pt x="135737" y="69541"/>
                        <a:pt x="135737" y="71438"/>
                      </a:cubicBezTo>
                      <a:cubicBezTo>
                        <a:pt x="135737" y="73334"/>
                        <a:pt x="134983" y="75152"/>
                        <a:pt x="133642" y="76492"/>
                      </a:cubicBezTo>
                      <a:lnTo>
                        <a:pt x="83635" y="126498"/>
                      </a:lnTo>
                      <a:cubicBezTo>
                        <a:pt x="82296" y="127839"/>
                        <a:pt x="80477" y="128593"/>
                        <a:pt x="78581" y="128593"/>
                      </a:cubicBezTo>
                      <a:cubicBezTo>
                        <a:pt x="76685" y="128593"/>
                        <a:pt x="74867" y="127839"/>
                        <a:pt x="73527" y="126498"/>
                      </a:cubicBezTo>
                      <a:lnTo>
                        <a:pt x="52096" y="105067"/>
                      </a:lnTo>
                      <a:cubicBezTo>
                        <a:pt x="49304" y="102275"/>
                        <a:pt x="49304" y="97750"/>
                        <a:pt x="52096" y="94958"/>
                      </a:cubicBezTo>
                      <a:cubicBezTo>
                        <a:pt x="54887" y="92167"/>
                        <a:pt x="59413" y="92167"/>
                        <a:pt x="62204" y="94958"/>
                      </a:cubicBezTo>
                      <a:lnTo>
                        <a:pt x="78581" y="111344"/>
                      </a:lnTo>
                      <a:lnTo>
                        <a:pt x="123533" y="66383"/>
                      </a:lnTo>
                      <a:cubicBezTo>
                        <a:pt x="124873" y="65042"/>
                        <a:pt x="126691" y="64288"/>
                        <a:pt x="128588" y="64288"/>
                      </a:cubicBezTo>
                      <a:cubicBezTo>
                        <a:pt x="130484" y="64288"/>
                        <a:pt x="132302" y="65042"/>
                        <a:pt x="133642" y="66383"/>
                      </a:cubicBezTo>
                      <a:close/>
                      <a:moveTo>
                        <a:pt x="185738" y="92869"/>
                      </a:moveTo>
                      <a:cubicBezTo>
                        <a:pt x="185738" y="144159"/>
                        <a:pt x="144159" y="185738"/>
                        <a:pt x="92869" y="185738"/>
                      </a:cubicBezTo>
                      <a:cubicBezTo>
                        <a:pt x="41579" y="185738"/>
                        <a:pt x="0" y="144159"/>
                        <a:pt x="0" y="92869"/>
                      </a:cubicBezTo>
                      <a:cubicBezTo>
                        <a:pt x="0" y="41579"/>
                        <a:pt x="41579" y="0"/>
                        <a:pt x="92869" y="0"/>
                      </a:cubicBezTo>
                      <a:cubicBezTo>
                        <a:pt x="144136" y="54"/>
                        <a:pt x="185683" y="41601"/>
                        <a:pt x="185738" y="92869"/>
                      </a:cubicBezTo>
                      <a:close/>
                      <a:moveTo>
                        <a:pt x="171450" y="92869"/>
                      </a:moveTo>
                      <a:cubicBezTo>
                        <a:pt x="171450" y="49470"/>
                        <a:pt x="136268" y="14288"/>
                        <a:pt x="92869" y="14288"/>
                      </a:cubicBezTo>
                      <a:cubicBezTo>
                        <a:pt x="49470" y="14288"/>
                        <a:pt x="14288" y="49470"/>
                        <a:pt x="14288" y="92869"/>
                      </a:cubicBezTo>
                      <a:cubicBezTo>
                        <a:pt x="14288" y="136268"/>
                        <a:pt x="49470" y="171450"/>
                        <a:pt x="92869" y="171450"/>
                      </a:cubicBezTo>
                      <a:cubicBezTo>
                        <a:pt x="136248" y="171401"/>
                        <a:pt x="171401" y="136248"/>
                        <a:pt x="171450" y="92869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</p:sp>
          </p:grpSp>
          <p:sp>
            <p:nvSpPr>
              <p:cNvPr id="43" name="TextBox 43"/>
              <p:cNvSpPr txBox="1"/>
              <p:nvPr/>
            </p:nvSpPr>
            <p:spPr>
              <a:xfrm>
                <a:off x="4994529" y="3800475"/>
                <a:ext cx="1956302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" sz="1200" dirty="0">
                    <a:solidFill>
                      <a:schemeClr val="dk1"/>
                    </a:solidFill>
                    <a:latin typeface="Inter"/>
                    <a:ea typeface="Inter"/>
                    <a:cs typeface="Inter"/>
                  </a:rPr>
                  <a:t>Python ↔ Node parity 1/1</a:t>
                </a:r>
              </a:p>
            </p:txBody>
          </p:sp>
        </p:grpSp>
      </p:grpSp>
      <p:grpSp>
        <p:nvGrpSpPr>
          <p:cNvPr id="62" name="gate8"/>
          <p:cNvGrpSpPr/>
          <p:nvPr/>
        </p:nvGrpSpPr>
        <p:grpSpPr>
          <a:xfrm>
            <a:off x="8191500" y="2571750"/>
            <a:ext cx="3429000" cy="1714500"/>
            <a:chOff x="8191500" y="2571750"/>
            <a:chExt cx="3429000" cy="1714500"/>
          </a:xfrm>
        </p:grpSpPr>
        <p:sp>
          <p:nvSpPr>
            <p:cNvPr id="46" name="Rectangle 46"/>
            <p:cNvSpPr/>
            <p:nvPr/>
          </p:nvSpPr>
          <p:spPr>
            <a:xfrm>
              <a:off x="8191500" y="2571750"/>
              <a:ext cx="3429000" cy="1714500"/>
            </a:xfrm>
            <a:prstGeom prst="roundRect">
              <a:avLst>
                <a:gd name="adj" fmla="val 6667"/>
              </a:avLst>
            </a:prstGeom>
            <a:solidFill>
              <a:srgbClr val="FEF3C7"/>
            </a:solidFill>
            <a:ln w="19050">
              <a:solidFill>
                <a:srgbClr val="F59E0B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8191500" y="2571750"/>
              <a:ext cx="3429000" cy="476250"/>
            </a:xfrm>
            <a:prstGeom prst="roundRect">
              <a:avLst>
                <a:gd name="adj" fmla="val 24000"/>
              </a:avLst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8469630" y="2708275"/>
              <a:ext cx="203221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1500" b="1" dirty="0">
                  <a:solidFill>
                    <a:srgbClr val="FFFFFF"/>
                  </a:solidFill>
                  <a:latin typeface="Inter"/>
                  <a:ea typeface="Inter"/>
                  <a:cs typeface="Inter"/>
                </a:rPr>
                <a:t>Gate 8 — Windows CI</a:t>
              </a:r>
            </a:p>
          </p:txBody>
        </p:sp>
        <p:grpSp>
          <p:nvGrpSpPr>
            <p:cNvPr id="61" name="gate8-results"/>
            <p:cNvGrpSpPr/>
            <p:nvPr/>
          </p:nvGrpSpPr>
          <p:grpSpPr>
            <a:xfrm>
              <a:off x="8498681" y="3212306"/>
              <a:ext cx="2322344" cy="822865"/>
              <a:chOff x="8498681" y="3212306"/>
              <a:chExt cx="2322344" cy="822865"/>
            </a:xfrm>
          </p:grpSpPr>
          <p:grpSp>
            <p:nvGrpSpPr>
              <p:cNvPr id="51" name="Group 51"/>
              <p:cNvGrpSpPr/>
              <p:nvPr/>
            </p:nvGrpSpPr>
            <p:grpSpPr>
              <a:xfrm>
                <a:off x="8498681" y="3212306"/>
                <a:ext cx="185738" cy="185738"/>
                <a:chOff x="8498681" y="3212306"/>
                <a:chExt cx="185738" cy="185738"/>
              </a:xfrm>
            </p:grpSpPr>
            <p:sp>
              <p:nvSpPr>
                <p:cNvPr id="49" name="Freeform 49"/>
                <p:cNvSpPr/>
                <p:nvPr/>
              </p:nvSpPr>
              <p:spPr>
                <a:xfrm>
                  <a:off x="8505825" y="3219450"/>
                  <a:ext cx="171450" cy="1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171450">
                      <a:moveTo>
                        <a:pt x="171450" y="85725"/>
                      </a:moveTo>
                      <a:cubicBezTo>
                        <a:pt x="171450" y="133070"/>
                        <a:pt x="133070" y="171450"/>
                        <a:pt x="85725" y="171450"/>
                      </a:cubicBezTo>
                      <a:cubicBezTo>
                        <a:pt x="38380" y="171450"/>
                        <a:pt x="0" y="133070"/>
                        <a:pt x="0" y="85725"/>
                      </a:cubicBezTo>
                      <a:cubicBezTo>
                        <a:pt x="0" y="38380"/>
                        <a:pt x="38380" y="0"/>
                        <a:pt x="85725" y="0"/>
                      </a:cubicBezTo>
                      <a:cubicBezTo>
                        <a:pt x="133070" y="0"/>
                        <a:pt x="171450" y="38380"/>
                        <a:pt x="171450" y="85725"/>
                      </a:cubicBezTo>
                      <a:close/>
                    </a:path>
                  </a:pathLst>
                </a:custGeom>
                <a:solidFill>
                  <a:schemeClr val="accent2">
                    <a:alpha val="20000"/>
                  </a:schemeClr>
                </a:solidFill>
                <a:ln>
                  <a:noFill/>
                </a:ln>
              </p:spPr>
            </p:sp>
            <p:sp>
              <p:nvSpPr>
                <p:cNvPr id="50" name="Freeform 50"/>
                <p:cNvSpPr/>
                <p:nvPr/>
              </p:nvSpPr>
              <p:spPr>
                <a:xfrm>
                  <a:off x="8498681" y="3212306"/>
                  <a:ext cx="185738" cy="1857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5738" h="185738">
                      <a:moveTo>
                        <a:pt x="133642" y="66383"/>
                      </a:moveTo>
                      <a:cubicBezTo>
                        <a:pt x="134983" y="67723"/>
                        <a:pt x="135737" y="69541"/>
                        <a:pt x="135737" y="71438"/>
                      </a:cubicBezTo>
                      <a:cubicBezTo>
                        <a:pt x="135737" y="73334"/>
                        <a:pt x="134983" y="75152"/>
                        <a:pt x="133642" y="76492"/>
                      </a:cubicBezTo>
                      <a:lnTo>
                        <a:pt x="83635" y="126498"/>
                      </a:lnTo>
                      <a:cubicBezTo>
                        <a:pt x="82296" y="127839"/>
                        <a:pt x="80477" y="128593"/>
                        <a:pt x="78581" y="128593"/>
                      </a:cubicBezTo>
                      <a:cubicBezTo>
                        <a:pt x="76685" y="128593"/>
                        <a:pt x="74867" y="127839"/>
                        <a:pt x="73527" y="126498"/>
                      </a:cubicBezTo>
                      <a:lnTo>
                        <a:pt x="52096" y="105067"/>
                      </a:lnTo>
                      <a:cubicBezTo>
                        <a:pt x="49304" y="102275"/>
                        <a:pt x="49304" y="97750"/>
                        <a:pt x="52096" y="94958"/>
                      </a:cubicBezTo>
                      <a:cubicBezTo>
                        <a:pt x="54887" y="92167"/>
                        <a:pt x="59413" y="92167"/>
                        <a:pt x="62204" y="94958"/>
                      </a:cubicBezTo>
                      <a:lnTo>
                        <a:pt x="78581" y="111344"/>
                      </a:lnTo>
                      <a:lnTo>
                        <a:pt x="123533" y="66383"/>
                      </a:lnTo>
                      <a:cubicBezTo>
                        <a:pt x="124873" y="65042"/>
                        <a:pt x="126691" y="64288"/>
                        <a:pt x="128588" y="64288"/>
                      </a:cubicBezTo>
                      <a:cubicBezTo>
                        <a:pt x="130484" y="64288"/>
                        <a:pt x="132302" y="65042"/>
                        <a:pt x="133642" y="66383"/>
                      </a:cubicBezTo>
                      <a:close/>
                      <a:moveTo>
                        <a:pt x="185738" y="92869"/>
                      </a:moveTo>
                      <a:cubicBezTo>
                        <a:pt x="185738" y="144159"/>
                        <a:pt x="144159" y="185738"/>
                        <a:pt x="92869" y="185738"/>
                      </a:cubicBezTo>
                      <a:cubicBezTo>
                        <a:pt x="41579" y="185738"/>
                        <a:pt x="0" y="144159"/>
                        <a:pt x="0" y="92869"/>
                      </a:cubicBezTo>
                      <a:cubicBezTo>
                        <a:pt x="0" y="41579"/>
                        <a:pt x="41579" y="0"/>
                        <a:pt x="92869" y="0"/>
                      </a:cubicBezTo>
                      <a:cubicBezTo>
                        <a:pt x="144136" y="54"/>
                        <a:pt x="185683" y="41601"/>
                        <a:pt x="185738" y="92869"/>
                      </a:cubicBezTo>
                      <a:close/>
                      <a:moveTo>
                        <a:pt x="171450" y="92869"/>
                      </a:moveTo>
                      <a:cubicBezTo>
                        <a:pt x="171450" y="49470"/>
                        <a:pt x="136268" y="14288"/>
                        <a:pt x="92869" y="14288"/>
                      </a:cubicBezTo>
                      <a:cubicBezTo>
                        <a:pt x="49470" y="14288"/>
                        <a:pt x="14288" y="49470"/>
                        <a:pt x="14288" y="92869"/>
                      </a:cubicBezTo>
                      <a:cubicBezTo>
                        <a:pt x="14288" y="136268"/>
                        <a:pt x="49470" y="171450"/>
                        <a:pt x="92869" y="171450"/>
                      </a:cubicBezTo>
                      <a:cubicBezTo>
                        <a:pt x="136248" y="171401"/>
                        <a:pt x="171401" y="136248"/>
                        <a:pt x="171450" y="92869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</p:sp>
          </p:grpSp>
          <p:sp>
            <p:nvSpPr>
              <p:cNvPr id="52" name="TextBox 52"/>
              <p:cNvSpPr txBox="1"/>
              <p:nvPr/>
            </p:nvSpPr>
            <p:spPr>
              <a:xfrm>
                <a:off x="8804529" y="3228975"/>
                <a:ext cx="196338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" sz="1200" dirty="0">
                    <a:solidFill>
                      <a:schemeClr val="dk1"/>
                    </a:solidFill>
                    <a:latin typeface="Inter"/>
                    <a:ea typeface="Inter"/>
                    <a:cs typeface="Inter"/>
                  </a:rPr>
                  <a:t>Clean install verification</a:t>
                </a:r>
              </a:p>
            </p:txBody>
          </p:sp>
          <p:grpSp>
            <p:nvGrpSpPr>
              <p:cNvPr id="55" name="Group 55"/>
              <p:cNvGrpSpPr/>
              <p:nvPr/>
            </p:nvGrpSpPr>
            <p:grpSpPr>
              <a:xfrm>
                <a:off x="8498681" y="3498056"/>
                <a:ext cx="185738" cy="185738"/>
                <a:chOff x="8498681" y="3498056"/>
                <a:chExt cx="185738" cy="185738"/>
              </a:xfrm>
            </p:grpSpPr>
            <p:sp>
              <p:nvSpPr>
                <p:cNvPr id="53" name="Freeform 53"/>
                <p:cNvSpPr/>
                <p:nvPr/>
              </p:nvSpPr>
              <p:spPr>
                <a:xfrm>
                  <a:off x="8505825" y="3505200"/>
                  <a:ext cx="171450" cy="1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171450">
                      <a:moveTo>
                        <a:pt x="171450" y="85725"/>
                      </a:moveTo>
                      <a:cubicBezTo>
                        <a:pt x="171450" y="133070"/>
                        <a:pt x="133070" y="171450"/>
                        <a:pt x="85725" y="171450"/>
                      </a:cubicBezTo>
                      <a:cubicBezTo>
                        <a:pt x="38380" y="171450"/>
                        <a:pt x="0" y="133070"/>
                        <a:pt x="0" y="85725"/>
                      </a:cubicBezTo>
                      <a:cubicBezTo>
                        <a:pt x="0" y="38380"/>
                        <a:pt x="38380" y="0"/>
                        <a:pt x="85725" y="0"/>
                      </a:cubicBezTo>
                      <a:cubicBezTo>
                        <a:pt x="133070" y="0"/>
                        <a:pt x="171450" y="38380"/>
                        <a:pt x="171450" y="85725"/>
                      </a:cubicBezTo>
                      <a:close/>
                    </a:path>
                  </a:pathLst>
                </a:custGeom>
                <a:solidFill>
                  <a:schemeClr val="accent2">
                    <a:alpha val="20000"/>
                  </a:schemeClr>
                </a:solidFill>
                <a:ln>
                  <a:noFill/>
                </a:ln>
              </p:spPr>
            </p:sp>
            <p:sp>
              <p:nvSpPr>
                <p:cNvPr id="54" name="Freeform 54"/>
                <p:cNvSpPr/>
                <p:nvPr/>
              </p:nvSpPr>
              <p:spPr>
                <a:xfrm>
                  <a:off x="8498681" y="3498056"/>
                  <a:ext cx="185738" cy="1857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5738" h="185738">
                      <a:moveTo>
                        <a:pt x="133642" y="66383"/>
                      </a:moveTo>
                      <a:cubicBezTo>
                        <a:pt x="134983" y="67723"/>
                        <a:pt x="135737" y="69541"/>
                        <a:pt x="135737" y="71438"/>
                      </a:cubicBezTo>
                      <a:cubicBezTo>
                        <a:pt x="135737" y="73334"/>
                        <a:pt x="134983" y="75152"/>
                        <a:pt x="133642" y="76492"/>
                      </a:cubicBezTo>
                      <a:lnTo>
                        <a:pt x="83635" y="126498"/>
                      </a:lnTo>
                      <a:cubicBezTo>
                        <a:pt x="82296" y="127839"/>
                        <a:pt x="80477" y="128593"/>
                        <a:pt x="78581" y="128593"/>
                      </a:cubicBezTo>
                      <a:cubicBezTo>
                        <a:pt x="76685" y="128593"/>
                        <a:pt x="74867" y="127839"/>
                        <a:pt x="73527" y="126498"/>
                      </a:cubicBezTo>
                      <a:lnTo>
                        <a:pt x="52096" y="105067"/>
                      </a:lnTo>
                      <a:cubicBezTo>
                        <a:pt x="49304" y="102275"/>
                        <a:pt x="49304" y="97750"/>
                        <a:pt x="52096" y="94958"/>
                      </a:cubicBezTo>
                      <a:cubicBezTo>
                        <a:pt x="54887" y="92167"/>
                        <a:pt x="59413" y="92167"/>
                        <a:pt x="62204" y="94958"/>
                      </a:cubicBezTo>
                      <a:lnTo>
                        <a:pt x="78581" y="111344"/>
                      </a:lnTo>
                      <a:lnTo>
                        <a:pt x="123533" y="66383"/>
                      </a:lnTo>
                      <a:cubicBezTo>
                        <a:pt x="124873" y="65042"/>
                        <a:pt x="126691" y="64288"/>
                        <a:pt x="128588" y="64288"/>
                      </a:cubicBezTo>
                      <a:cubicBezTo>
                        <a:pt x="130484" y="64288"/>
                        <a:pt x="132302" y="65042"/>
                        <a:pt x="133642" y="66383"/>
                      </a:cubicBezTo>
                      <a:close/>
                      <a:moveTo>
                        <a:pt x="185738" y="92869"/>
                      </a:moveTo>
                      <a:cubicBezTo>
                        <a:pt x="185738" y="144159"/>
                        <a:pt x="144159" y="185738"/>
                        <a:pt x="92869" y="185738"/>
                      </a:cubicBezTo>
                      <a:cubicBezTo>
                        <a:pt x="41579" y="185738"/>
                        <a:pt x="0" y="144159"/>
                        <a:pt x="0" y="92869"/>
                      </a:cubicBezTo>
                      <a:cubicBezTo>
                        <a:pt x="0" y="41579"/>
                        <a:pt x="41579" y="0"/>
                        <a:pt x="92869" y="0"/>
                      </a:cubicBezTo>
                      <a:cubicBezTo>
                        <a:pt x="144136" y="54"/>
                        <a:pt x="185683" y="41601"/>
                        <a:pt x="185738" y="92869"/>
                      </a:cubicBezTo>
                      <a:close/>
                      <a:moveTo>
                        <a:pt x="171450" y="92869"/>
                      </a:moveTo>
                      <a:cubicBezTo>
                        <a:pt x="171450" y="49470"/>
                        <a:pt x="136268" y="14288"/>
                        <a:pt x="92869" y="14288"/>
                      </a:cubicBezTo>
                      <a:cubicBezTo>
                        <a:pt x="49470" y="14288"/>
                        <a:pt x="14288" y="49470"/>
                        <a:pt x="14288" y="92869"/>
                      </a:cubicBezTo>
                      <a:cubicBezTo>
                        <a:pt x="14288" y="136268"/>
                        <a:pt x="49470" y="171450"/>
                        <a:pt x="92869" y="171450"/>
                      </a:cubicBezTo>
                      <a:cubicBezTo>
                        <a:pt x="136248" y="171401"/>
                        <a:pt x="171401" y="136248"/>
                        <a:pt x="171450" y="92869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</p:sp>
          </p:grpSp>
          <p:sp>
            <p:nvSpPr>
              <p:cNvPr id="56" name="TextBox 56"/>
              <p:cNvSpPr txBox="1"/>
              <p:nvPr/>
            </p:nvSpPr>
            <p:spPr>
              <a:xfrm>
                <a:off x="8804529" y="3514725"/>
                <a:ext cx="201649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" sz="1200" dirty="0">
                    <a:solidFill>
                      <a:schemeClr val="dk1"/>
                    </a:solidFill>
                    <a:latin typeface="Inter"/>
                    <a:ea typeface="Inter"/>
                    <a:cs typeface="Inter"/>
                  </a:rPr>
                  <a:t>40/40 E2E on Server 2025</a:t>
                </a:r>
              </a:p>
            </p:txBody>
          </p:sp>
          <p:grpSp>
            <p:nvGrpSpPr>
              <p:cNvPr id="59" name="Group 59"/>
              <p:cNvGrpSpPr/>
              <p:nvPr/>
            </p:nvGrpSpPr>
            <p:grpSpPr>
              <a:xfrm>
                <a:off x="8498681" y="3783806"/>
                <a:ext cx="185738" cy="185738"/>
                <a:chOff x="8498681" y="3783806"/>
                <a:chExt cx="185738" cy="185738"/>
              </a:xfrm>
            </p:grpSpPr>
            <p:sp>
              <p:nvSpPr>
                <p:cNvPr id="57" name="Freeform 57"/>
                <p:cNvSpPr/>
                <p:nvPr/>
              </p:nvSpPr>
              <p:spPr>
                <a:xfrm>
                  <a:off x="8505825" y="3790950"/>
                  <a:ext cx="171450" cy="1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171450">
                      <a:moveTo>
                        <a:pt x="171450" y="85725"/>
                      </a:moveTo>
                      <a:cubicBezTo>
                        <a:pt x="171450" y="133070"/>
                        <a:pt x="133070" y="171450"/>
                        <a:pt x="85725" y="171450"/>
                      </a:cubicBezTo>
                      <a:cubicBezTo>
                        <a:pt x="38380" y="171450"/>
                        <a:pt x="0" y="133070"/>
                        <a:pt x="0" y="85725"/>
                      </a:cubicBezTo>
                      <a:cubicBezTo>
                        <a:pt x="0" y="38380"/>
                        <a:pt x="38380" y="0"/>
                        <a:pt x="85725" y="0"/>
                      </a:cubicBezTo>
                      <a:cubicBezTo>
                        <a:pt x="133070" y="0"/>
                        <a:pt x="171450" y="38380"/>
                        <a:pt x="171450" y="85725"/>
                      </a:cubicBezTo>
                      <a:close/>
                    </a:path>
                  </a:pathLst>
                </a:custGeom>
                <a:solidFill>
                  <a:schemeClr val="accent2">
                    <a:alpha val="20000"/>
                  </a:schemeClr>
                </a:solidFill>
                <a:ln>
                  <a:noFill/>
                </a:ln>
              </p:spPr>
            </p:sp>
            <p:sp>
              <p:nvSpPr>
                <p:cNvPr id="58" name="Freeform 58"/>
                <p:cNvSpPr/>
                <p:nvPr/>
              </p:nvSpPr>
              <p:spPr>
                <a:xfrm>
                  <a:off x="8498681" y="3783806"/>
                  <a:ext cx="185738" cy="1857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5738" h="185738">
                      <a:moveTo>
                        <a:pt x="133642" y="66383"/>
                      </a:moveTo>
                      <a:cubicBezTo>
                        <a:pt x="134983" y="67723"/>
                        <a:pt x="135737" y="69541"/>
                        <a:pt x="135737" y="71438"/>
                      </a:cubicBezTo>
                      <a:cubicBezTo>
                        <a:pt x="135737" y="73334"/>
                        <a:pt x="134983" y="75152"/>
                        <a:pt x="133642" y="76492"/>
                      </a:cubicBezTo>
                      <a:lnTo>
                        <a:pt x="83635" y="126498"/>
                      </a:lnTo>
                      <a:cubicBezTo>
                        <a:pt x="82296" y="127839"/>
                        <a:pt x="80477" y="128593"/>
                        <a:pt x="78581" y="128593"/>
                      </a:cubicBezTo>
                      <a:cubicBezTo>
                        <a:pt x="76685" y="128593"/>
                        <a:pt x="74867" y="127839"/>
                        <a:pt x="73527" y="126498"/>
                      </a:cubicBezTo>
                      <a:lnTo>
                        <a:pt x="52096" y="105067"/>
                      </a:lnTo>
                      <a:cubicBezTo>
                        <a:pt x="49304" y="102275"/>
                        <a:pt x="49304" y="97750"/>
                        <a:pt x="52096" y="94958"/>
                      </a:cubicBezTo>
                      <a:cubicBezTo>
                        <a:pt x="54887" y="92167"/>
                        <a:pt x="59413" y="92167"/>
                        <a:pt x="62204" y="94958"/>
                      </a:cubicBezTo>
                      <a:lnTo>
                        <a:pt x="78581" y="111344"/>
                      </a:lnTo>
                      <a:lnTo>
                        <a:pt x="123533" y="66383"/>
                      </a:lnTo>
                      <a:cubicBezTo>
                        <a:pt x="124873" y="65042"/>
                        <a:pt x="126691" y="64288"/>
                        <a:pt x="128588" y="64288"/>
                      </a:cubicBezTo>
                      <a:cubicBezTo>
                        <a:pt x="130484" y="64288"/>
                        <a:pt x="132302" y="65042"/>
                        <a:pt x="133642" y="66383"/>
                      </a:cubicBezTo>
                      <a:close/>
                      <a:moveTo>
                        <a:pt x="185738" y="92869"/>
                      </a:moveTo>
                      <a:cubicBezTo>
                        <a:pt x="185738" y="144159"/>
                        <a:pt x="144159" y="185738"/>
                        <a:pt x="92869" y="185738"/>
                      </a:cubicBezTo>
                      <a:cubicBezTo>
                        <a:pt x="41579" y="185738"/>
                        <a:pt x="0" y="144159"/>
                        <a:pt x="0" y="92869"/>
                      </a:cubicBezTo>
                      <a:cubicBezTo>
                        <a:pt x="0" y="41579"/>
                        <a:pt x="41579" y="0"/>
                        <a:pt x="92869" y="0"/>
                      </a:cubicBezTo>
                      <a:cubicBezTo>
                        <a:pt x="144136" y="54"/>
                        <a:pt x="185683" y="41601"/>
                        <a:pt x="185738" y="92869"/>
                      </a:cubicBezTo>
                      <a:close/>
                      <a:moveTo>
                        <a:pt x="171450" y="92869"/>
                      </a:moveTo>
                      <a:cubicBezTo>
                        <a:pt x="171450" y="49470"/>
                        <a:pt x="136268" y="14288"/>
                        <a:pt x="92869" y="14288"/>
                      </a:cubicBezTo>
                      <a:cubicBezTo>
                        <a:pt x="49470" y="14288"/>
                        <a:pt x="14288" y="49470"/>
                        <a:pt x="14288" y="92869"/>
                      </a:cubicBezTo>
                      <a:cubicBezTo>
                        <a:pt x="14288" y="136268"/>
                        <a:pt x="49470" y="171450"/>
                        <a:pt x="92869" y="171450"/>
                      </a:cubicBezTo>
                      <a:cubicBezTo>
                        <a:pt x="136248" y="171401"/>
                        <a:pt x="171401" y="136248"/>
                        <a:pt x="171450" y="92869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</p:sp>
          </p:grpSp>
          <p:sp>
            <p:nvSpPr>
              <p:cNvPr id="60" name="TextBox 60"/>
              <p:cNvSpPr txBox="1"/>
              <p:nvPr/>
            </p:nvSpPr>
            <p:spPr>
              <a:xfrm>
                <a:off x="8804529" y="3800475"/>
                <a:ext cx="139086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" sz="1200" dirty="0">
                    <a:solidFill>
                      <a:schemeClr val="dk1"/>
                    </a:solidFill>
                    <a:latin typeface="Inter"/>
                    <a:ea typeface="Inter"/>
                    <a:cs typeface="Inter"/>
                  </a:rPr>
                  <a:t>Batch smoke test</a:t>
                </a:r>
              </a:p>
            </p:txBody>
          </p:sp>
        </p:grpSp>
      </p:grpSp>
      <p:grpSp>
        <p:nvGrpSpPr>
          <p:cNvPr id="70" name="gate10"/>
          <p:cNvGrpSpPr/>
          <p:nvPr/>
        </p:nvGrpSpPr>
        <p:grpSpPr>
          <a:xfrm>
            <a:off x="571500" y="4572000"/>
            <a:ext cx="5334000" cy="1524000"/>
            <a:chOff x="571500" y="4572000"/>
            <a:chExt cx="5334000" cy="1524000"/>
          </a:xfrm>
        </p:grpSpPr>
        <p:sp>
          <p:nvSpPr>
            <p:cNvPr id="63" name="Rectangle 63"/>
            <p:cNvSpPr/>
            <p:nvPr/>
          </p:nvSpPr>
          <p:spPr>
            <a:xfrm>
              <a:off x="571500" y="4572000"/>
              <a:ext cx="5334000" cy="1524000"/>
            </a:xfrm>
            <a:prstGeom prst="roundRect">
              <a:avLst>
                <a:gd name="adj" fmla="val 7500"/>
              </a:avLst>
            </a:prstGeom>
            <a:solidFill>
              <a:srgbClr val="DCFCE7"/>
            </a:solidFill>
            <a:ln w="28575">
              <a:solidFill>
                <a:schemeClr val="accent2"/>
              </a:solidFill>
            </a:ln>
          </p:spPr>
        </p:sp>
        <p:sp>
          <p:nvSpPr>
            <p:cNvPr id="64" name="Rectangle 64"/>
            <p:cNvSpPr/>
            <p:nvPr/>
          </p:nvSpPr>
          <p:spPr>
            <a:xfrm>
              <a:off x="571500" y="4572000"/>
              <a:ext cx="5334000" cy="476250"/>
            </a:xfrm>
            <a:prstGeom prst="roundRect">
              <a:avLst>
                <a:gd name="adj" fmla="val 24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849630" y="4708525"/>
              <a:ext cx="28189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1500" b="1" dirty="0">
                  <a:solidFill>
                    <a:srgbClr val="FFFFFF"/>
                  </a:solidFill>
                  <a:latin typeface="Inter"/>
                  <a:ea typeface="Inter"/>
                  <a:cs typeface="Inter"/>
                </a:rPr>
                <a:t>Gate 10.3 — Full Regression</a:t>
              </a:r>
            </a:p>
          </p:txBody>
        </p:sp>
        <p:grpSp>
          <p:nvGrpSpPr>
            <p:cNvPr id="69" name="gate10-results"/>
            <p:cNvGrpSpPr/>
            <p:nvPr/>
          </p:nvGrpSpPr>
          <p:grpSpPr>
            <a:xfrm>
              <a:off x="851154" y="5181600"/>
              <a:ext cx="3408982" cy="806196"/>
              <a:chOff x="851154" y="5181600"/>
              <a:chExt cx="3408982" cy="806196"/>
            </a:xfrm>
          </p:grpSpPr>
          <p:sp>
            <p:nvSpPr>
              <p:cNvPr id="66" name="TextBox 66"/>
              <p:cNvSpPr txBox="1"/>
              <p:nvPr/>
            </p:nvSpPr>
            <p:spPr>
              <a:xfrm>
                <a:off x="851154" y="5181600"/>
                <a:ext cx="323759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" sz="1200" b="1" dirty="0">
                    <a:solidFill>
                      <a:srgbClr val="065F46"/>
                    </a:solidFill>
                    <a:latin typeface="Inter"/>
                    <a:ea typeface="Inter"/>
                    <a:cs typeface="Inter"/>
                  </a:rPr>
                  <a:t>64/64 E2E tests PASS (comprehensive)</a:t>
                </a:r>
              </a:p>
            </p:txBody>
          </p:sp>
          <p:sp>
            <p:nvSpPr>
              <p:cNvPr id="67" name="TextBox 67"/>
              <p:cNvSpPr txBox="1"/>
              <p:nvPr/>
            </p:nvSpPr>
            <p:spPr>
              <a:xfrm>
                <a:off x="851154" y="5467350"/>
                <a:ext cx="3408982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" sz="1200" dirty="0">
                    <a:solidFill>
                      <a:srgbClr val="064E3B"/>
                    </a:solidFill>
                    <a:latin typeface="Inter"/>
                    <a:ea typeface="Inter"/>
                    <a:cs typeface="Inter"/>
                  </a:rPr>
                  <a:t>Backend 16/16 · Serving 19/19 · Parity 1/1</a:t>
                </a:r>
              </a:p>
            </p:txBody>
          </p:sp>
          <p:sp>
            <p:nvSpPr>
              <p:cNvPr id="68" name="TextBox 68"/>
              <p:cNvSpPr txBox="1"/>
              <p:nvPr/>
            </p:nvSpPr>
            <p:spPr>
              <a:xfrm>
                <a:off x="851154" y="5753100"/>
                <a:ext cx="249709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" sz="1200" dirty="0">
                    <a:solidFill>
                      <a:srgbClr val="064E3B"/>
                    </a:solidFill>
                    <a:latin typeface="Inter"/>
                    <a:ea typeface="Inter"/>
                    <a:cs typeface="Inter"/>
                  </a:rPr>
                  <a:t>Readiness &amp; retry logic verified</a:t>
                </a:r>
              </a:p>
            </p:txBody>
          </p:sp>
        </p:grpSp>
      </p:grpSp>
      <p:grpSp>
        <p:nvGrpSpPr>
          <p:cNvPr id="90" name="security"/>
          <p:cNvGrpSpPr/>
          <p:nvPr/>
        </p:nvGrpSpPr>
        <p:grpSpPr>
          <a:xfrm>
            <a:off x="6286500" y="4572000"/>
            <a:ext cx="5334000" cy="1524000"/>
            <a:chOff x="6286500" y="4572000"/>
            <a:chExt cx="5334000" cy="1524000"/>
          </a:xfrm>
        </p:grpSpPr>
        <p:sp>
          <p:nvSpPr>
            <p:cNvPr id="71" name="Rectangle 71"/>
            <p:cNvSpPr/>
            <p:nvPr/>
          </p:nvSpPr>
          <p:spPr>
            <a:xfrm>
              <a:off x="6286500" y="4572000"/>
              <a:ext cx="5334000" cy="1524000"/>
            </a:xfrm>
            <a:prstGeom prst="roundRect">
              <a:avLst>
                <a:gd name="adj" fmla="val 7500"/>
              </a:avLst>
            </a:prstGeom>
            <a:solidFill>
              <a:srgbClr val="FEF2F2"/>
            </a:solidFill>
            <a:ln w="19050">
              <a:solidFill>
                <a:srgbClr val="EF4444"/>
              </a:solidFill>
            </a:ln>
          </p:spPr>
        </p:sp>
        <p:sp>
          <p:nvSpPr>
            <p:cNvPr id="72" name="Rectangle 72"/>
            <p:cNvSpPr/>
            <p:nvPr/>
          </p:nvSpPr>
          <p:spPr>
            <a:xfrm>
              <a:off x="6286500" y="4572000"/>
              <a:ext cx="5334000" cy="476250"/>
            </a:xfrm>
            <a:prstGeom prst="roundRect">
              <a:avLst>
                <a:gd name="adj" fmla="val 24000"/>
              </a:avLst>
            </a:prstGeom>
            <a:solidFill>
              <a:srgbClr val="EF4444"/>
            </a:solidFill>
            <a:ln>
              <a:noFill/>
            </a:ln>
          </p:spPr>
        </p:sp>
        <p:grpSp>
          <p:nvGrpSpPr>
            <p:cNvPr id="75" name="Group 75"/>
            <p:cNvGrpSpPr/>
            <p:nvPr/>
          </p:nvGrpSpPr>
          <p:grpSpPr>
            <a:xfrm>
              <a:off x="6490322" y="4717256"/>
              <a:ext cx="201950" cy="178676"/>
              <a:chOff x="6490322" y="4717256"/>
              <a:chExt cx="201950" cy="178676"/>
            </a:xfrm>
          </p:grpSpPr>
          <p:sp>
            <p:nvSpPr>
              <p:cNvPr id="73" name="Freeform 73"/>
              <p:cNvSpPr/>
              <p:nvPr/>
            </p:nvSpPr>
            <p:spPr>
              <a:xfrm>
                <a:off x="6494859" y="4721918"/>
                <a:ext cx="192881" cy="166789"/>
              </a:xfrm>
              <a:custGeom>
                <a:avLst/>
                <a:gdLst/>
                <a:ahLst/>
                <a:cxnLst/>
                <a:rect l="l" t="t" r="r" b="b"/>
                <a:pathLst>
                  <a:path w="192881" h="166789">
                    <a:moveTo>
                      <a:pt x="174540" y="166789"/>
                    </a:moveTo>
                    <a:lnTo>
                      <a:pt x="18342" y="166789"/>
                    </a:lnTo>
                    <a:cubicBezTo>
                      <a:pt x="7072" y="166789"/>
                      <a:pt x="0" y="154993"/>
                      <a:pt x="5474" y="145438"/>
                    </a:cubicBezTo>
                    <a:lnTo>
                      <a:pt x="83573" y="9823"/>
                    </a:lnTo>
                    <a:cubicBezTo>
                      <a:pt x="89199" y="0"/>
                      <a:pt x="103683" y="0"/>
                      <a:pt x="109308" y="9823"/>
                    </a:cubicBezTo>
                    <a:lnTo>
                      <a:pt x="187407" y="145438"/>
                    </a:lnTo>
                    <a:cubicBezTo>
                      <a:pt x="192881" y="154993"/>
                      <a:pt x="185809" y="166789"/>
                      <a:pt x="174540" y="166789"/>
                    </a:cubicBezTo>
                    <a:close/>
                  </a:path>
                </a:pathLst>
              </a:custGeom>
              <a:solidFill>
                <a:schemeClr val="lt1">
                  <a:alpha val="20000"/>
                </a:schemeClr>
              </a:solidFill>
              <a:ln>
                <a:noFill/>
              </a:ln>
            </p:spPr>
          </p:sp>
          <p:sp>
            <p:nvSpPr>
              <p:cNvPr id="74" name="Freeform 74"/>
              <p:cNvSpPr/>
              <p:nvPr/>
            </p:nvSpPr>
            <p:spPr>
              <a:xfrm>
                <a:off x="6490322" y="4717256"/>
                <a:ext cx="201950" cy="178676"/>
              </a:xfrm>
              <a:custGeom>
                <a:avLst/>
                <a:gdLst/>
                <a:ahLst/>
                <a:cxnLst/>
                <a:rect l="l" t="t" r="r" b="b"/>
                <a:pathLst>
                  <a:path w="201950" h="178676">
                    <a:moveTo>
                      <a:pt x="198133" y="146528"/>
                    </a:moveTo>
                    <a:lnTo>
                      <a:pt x="120043" y="10913"/>
                    </a:lnTo>
                    <a:lnTo>
                      <a:pt x="120043" y="10913"/>
                    </a:lnTo>
                    <a:cubicBezTo>
                      <a:pt x="116072" y="4152"/>
                      <a:pt x="108818" y="0"/>
                      <a:pt x="100978" y="0"/>
                    </a:cubicBezTo>
                    <a:cubicBezTo>
                      <a:pt x="93137" y="0"/>
                      <a:pt x="85884" y="4152"/>
                      <a:pt x="81913" y="10913"/>
                    </a:cubicBezTo>
                    <a:lnTo>
                      <a:pt x="3823" y="146528"/>
                    </a:lnTo>
                    <a:cubicBezTo>
                      <a:pt x="0" y="153071"/>
                      <a:pt x="0" y="161166"/>
                      <a:pt x="3823" y="167709"/>
                    </a:cubicBezTo>
                    <a:cubicBezTo>
                      <a:pt x="7745" y="174515"/>
                      <a:pt x="15033" y="178676"/>
                      <a:pt x="22888" y="178594"/>
                    </a:cubicBezTo>
                    <a:lnTo>
                      <a:pt x="179068" y="178594"/>
                    </a:lnTo>
                    <a:cubicBezTo>
                      <a:pt x="186916" y="178669"/>
                      <a:pt x="194196" y="174509"/>
                      <a:pt x="198115" y="167709"/>
                    </a:cubicBezTo>
                    <a:cubicBezTo>
                      <a:pt x="201943" y="161169"/>
                      <a:pt x="201950" y="153074"/>
                      <a:pt x="198133" y="146528"/>
                    </a:cubicBezTo>
                    <a:close/>
                    <a:moveTo>
                      <a:pt x="185747" y="160556"/>
                    </a:moveTo>
                    <a:cubicBezTo>
                      <a:pt x="184361" y="162921"/>
                      <a:pt x="181808" y="164354"/>
                      <a:pt x="179068" y="164307"/>
                    </a:cubicBezTo>
                    <a:lnTo>
                      <a:pt x="22888" y="164307"/>
                    </a:lnTo>
                    <a:cubicBezTo>
                      <a:pt x="20147" y="164354"/>
                      <a:pt x="17594" y="162921"/>
                      <a:pt x="16208" y="160556"/>
                    </a:cubicBezTo>
                    <a:cubicBezTo>
                      <a:pt x="14952" y="158430"/>
                      <a:pt x="14952" y="155789"/>
                      <a:pt x="16208" y="153663"/>
                    </a:cubicBezTo>
                    <a:lnTo>
                      <a:pt x="94298" y="18047"/>
                    </a:lnTo>
                    <a:cubicBezTo>
                      <a:pt x="95711" y="15697"/>
                      <a:pt x="98253" y="14259"/>
                      <a:pt x="100996" y="14259"/>
                    </a:cubicBezTo>
                    <a:cubicBezTo>
                      <a:pt x="103738" y="14259"/>
                      <a:pt x="106280" y="15697"/>
                      <a:pt x="107693" y="18047"/>
                    </a:cubicBezTo>
                    <a:lnTo>
                      <a:pt x="185783" y="153663"/>
                    </a:lnTo>
                    <a:cubicBezTo>
                      <a:pt x="187028" y="155795"/>
                      <a:pt x="187014" y="158437"/>
                      <a:pt x="185747" y="160556"/>
                    </a:cubicBezTo>
                    <a:close/>
                    <a:moveTo>
                      <a:pt x="93834" y="107157"/>
                    </a:moveTo>
                    <a:lnTo>
                      <a:pt x="93834" y="71438"/>
                    </a:lnTo>
                    <a:cubicBezTo>
                      <a:pt x="93834" y="67493"/>
                      <a:pt x="97032" y="64294"/>
                      <a:pt x="100978" y="64294"/>
                    </a:cubicBezTo>
                    <a:cubicBezTo>
                      <a:pt x="104923" y="64294"/>
                      <a:pt x="108122" y="67493"/>
                      <a:pt x="108122" y="71438"/>
                    </a:cubicBezTo>
                    <a:lnTo>
                      <a:pt x="108122" y="107157"/>
                    </a:lnTo>
                    <a:cubicBezTo>
                      <a:pt x="108122" y="111102"/>
                      <a:pt x="104923" y="114301"/>
                      <a:pt x="100978" y="114301"/>
                    </a:cubicBezTo>
                    <a:cubicBezTo>
                      <a:pt x="97032" y="114301"/>
                      <a:pt x="93834" y="111102"/>
                      <a:pt x="93834" y="107157"/>
                    </a:cubicBezTo>
                    <a:close/>
                    <a:moveTo>
                      <a:pt x="111693" y="139304"/>
                    </a:moveTo>
                    <a:cubicBezTo>
                      <a:pt x="111693" y="145222"/>
                      <a:pt x="106896" y="150019"/>
                      <a:pt x="100978" y="150019"/>
                    </a:cubicBezTo>
                    <a:cubicBezTo>
                      <a:pt x="95060" y="150019"/>
                      <a:pt x="90262" y="145222"/>
                      <a:pt x="90262" y="139304"/>
                    </a:cubicBezTo>
                    <a:cubicBezTo>
                      <a:pt x="90262" y="133386"/>
                      <a:pt x="95060" y="128588"/>
                      <a:pt x="100978" y="128588"/>
                    </a:cubicBezTo>
                    <a:cubicBezTo>
                      <a:pt x="106896" y="128588"/>
                      <a:pt x="111693" y="133386"/>
                      <a:pt x="111693" y="139304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</p:sp>
        </p:grpSp>
        <p:sp>
          <p:nvSpPr>
            <p:cNvPr id="76" name="TextBox 76"/>
            <p:cNvSpPr txBox="1"/>
            <p:nvPr/>
          </p:nvSpPr>
          <p:spPr>
            <a:xfrm>
              <a:off x="6850380" y="4708525"/>
              <a:ext cx="26335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1500" b="1" dirty="0">
                  <a:solidFill>
                    <a:srgbClr val="FFFFFF"/>
                  </a:solidFill>
                  <a:latin typeface="Inter"/>
                  <a:ea typeface="Inter"/>
                  <a:cs typeface="Inter"/>
                </a:rPr>
                <a:t>Security &amp; Data Integrity</a:t>
              </a:r>
            </a:p>
          </p:txBody>
        </p:sp>
        <p:grpSp>
          <p:nvGrpSpPr>
            <p:cNvPr id="89" name="security-results"/>
            <p:cNvGrpSpPr/>
            <p:nvPr/>
          </p:nvGrpSpPr>
          <p:grpSpPr>
            <a:xfrm>
              <a:off x="6593681" y="5212556"/>
              <a:ext cx="2730286" cy="822865"/>
              <a:chOff x="6593681" y="5212556"/>
              <a:chExt cx="2730286" cy="822865"/>
            </a:xfrm>
          </p:grpSpPr>
          <p:grpSp>
            <p:nvGrpSpPr>
              <p:cNvPr id="79" name="Group 79"/>
              <p:cNvGrpSpPr/>
              <p:nvPr/>
            </p:nvGrpSpPr>
            <p:grpSpPr>
              <a:xfrm>
                <a:off x="6593681" y="5212556"/>
                <a:ext cx="185738" cy="185738"/>
                <a:chOff x="6593681" y="5212556"/>
                <a:chExt cx="185738" cy="185738"/>
              </a:xfrm>
            </p:grpSpPr>
            <p:sp>
              <p:nvSpPr>
                <p:cNvPr id="77" name="Freeform 77"/>
                <p:cNvSpPr/>
                <p:nvPr/>
              </p:nvSpPr>
              <p:spPr>
                <a:xfrm>
                  <a:off x="6600825" y="5219700"/>
                  <a:ext cx="171450" cy="1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171450">
                      <a:moveTo>
                        <a:pt x="171450" y="85725"/>
                      </a:moveTo>
                      <a:cubicBezTo>
                        <a:pt x="171450" y="133070"/>
                        <a:pt x="133070" y="171450"/>
                        <a:pt x="85725" y="171450"/>
                      </a:cubicBezTo>
                      <a:cubicBezTo>
                        <a:pt x="38380" y="171450"/>
                        <a:pt x="0" y="133070"/>
                        <a:pt x="0" y="85725"/>
                      </a:cubicBezTo>
                      <a:cubicBezTo>
                        <a:pt x="0" y="38380"/>
                        <a:pt x="38380" y="0"/>
                        <a:pt x="85725" y="0"/>
                      </a:cubicBezTo>
                      <a:cubicBezTo>
                        <a:pt x="133070" y="0"/>
                        <a:pt x="171450" y="38380"/>
                        <a:pt x="171450" y="85725"/>
                      </a:cubicBezTo>
                      <a:close/>
                    </a:path>
                  </a:pathLst>
                </a:custGeom>
                <a:solidFill>
                  <a:schemeClr val="accent2">
                    <a:alpha val="20000"/>
                  </a:schemeClr>
                </a:solidFill>
                <a:ln>
                  <a:noFill/>
                </a:ln>
              </p:spPr>
            </p:sp>
            <p:sp>
              <p:nvSpPr>
                <p:cNvPr id="78" name="Freeform 78"/>
                <p:cNvSpPr/>
                <p:nvPr/>
              </p:nvSpPr>
              <p:spPr>
                <a:xfrm>
                  <a:off x="6593681" y="5212556"/>
                  <a:ext cx="185738" cy="1857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5738" h="185738">
                      <a:moveTo>
                        <a:pt x="133642" y="66383"/>
                      </a:moveTo>
                      <a:cubicBezTo>
                        <a:pt x="134983" y="67723"/>
                        <a:pt x="135737" y="69541"/>
                        <a:pt x="135737" y="71438"/>
                      </a:cubicBezTo>
                      <a:cubicBezTo>
                        <a:pt x="135737" y="73334"/>
                        <a:pt x="134983" y="75152"/>
                        <a:pt x="133642" y="76492"/>
                      </a:cubicBezTo>
                      <a:lnTo>
                        <a:pt x="83635" y="126498"/>
                      </a:lnTo>
                      <a:cubicBezTo>
                        <a:pt x="82296" y="127839"/>
                        <a:pt x="80477" y="128593"/>
                        <a:pt x="78581" y="128593"/>
                      </a:cubicBezTo>
                      <a:cubicBezTo>
                        <a:pt x="76685" y="128593"/>
                        <a:pt x="74867" y="127839"/>
                        <a:pt x="73527" y="126498"/>
                      </a:cubicBezTo>
                      <a:lnTo>
                        <a:pt x="52096" y="105067"/>
                      </a:lnTo>
                      <a:cubicBezTo>
                        <a:pt x="49304" y="102275"/>
                        <a:pt x="49304" y="97750"/>
                        <a:pt x="52096" y="94958"/>
                      </a:cubicBezTo>
                      <a:cubicBezTo>
                        <a:pt x="54887" y="92167"/>
                        <a:pt x="59413" y="92167"/>
                        <a:pt x="62204" y="94958"/>
                      </a:cubicBezTo>
                      <a:lnTo>
                        <a:pt x="78581" y="111344"/>
                      </a:lnTo>
                      <a:lnTo>
                        <a:pt x="123533" y="66383"/>
                      </a:lnTo>
                      <a:cubicBezTo>
                        <a:pt x="124873" y="65042"/>
                        <a:pt x="126691" y="64288"/>
                        <a:pt x="128588" y="64288"/>
                      </a:cubicBezTo>
                      <a:cubicBezTo>
                        <a:pt x="130484" y="64288"/>
                        <a:pt x="132302" y="65042"/>
                        <a:pt x="133642" y="66383"/>
                      </a:cubicBezTo>
                      <a:close/>
                      <a:moveTo>
                        <a:pt x="185738" y="92869"/>
                      </a:moveTo>
                      <a:cubicBezTo>
                        <a:pt x="185738" y="144159"/>
                        <a:pt x="144159" y="185738"/>
                        <a:pt x="92869" y="185738"/>
                      </a:cubicBezTo>
                      <a:cubicBezTo>
                        <a:pt x="41579" y="185738"/>
                        <a:pt x="0" y="144159"/>
                        <a:pt x="0" y="92869"/>
                      </a:cubicBezTo>
                      <a:cubicBezTo>
                        <a:pt x="0" y="41579"/>
                        <a:pt x="41579" y="0"/>
                        <a:pt x="92869" y="0"/>
                      </a:cubicBezTo>
                      <a:cubicBezTo>
                        <a:pt x="144136" y="54"/>
                        <a:pt x="185683" y="41601"/>
                        <a:pt x="185738" y="92869"/>
                      </a:cubicBezTo>
                      <a:close/>
                      <a:moveTo>
                        <a:pt x="171450" y="92869"/>
                      </a:moveTo>
                      <a:cubicBezTo>
                        <a:pt x="171450" y="49470"/>
                        <a:pt x="136268" y="14288"/>
                        <a:pt x="92869" y="14288"/>
                      </a:cubicBezTo>
                      <a:cubicBezTo>
                        <a:pt x="49470" y="14288"/>
                        <a:pt x="14288" y="49470"/>
                        <a:pt x="14288" y="92869"/>
                      </a:cubicBezTo>
                      <a:cubicBezTo>
                        <a:pt x="14288" y="136268"/>
                        <a:pt x="49470" y="171450"/>
                        <a:pt x="92869" y="171450"/>
                      </a:cubicBezTo>
                      <a:cubicBezTo>
                        <a:pt x="136248" y="171401"/>
                        <a:pt x="171401" y="136248"/>
                        <a:pt x="171450" y="92869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</p:sp>
          </p:grpSp>
          <p:sp>
            <p:nvSpPr>
              <p:cNvPr id="80" name="TextBox 80"/>
              <p:cNvSpPr txBox="1"/>
              <p:nvPr/>
            </p:nvSpPr>
            <p:spPr>
              <a:xfrm>
                <a:off x="6899529" y="5229225"/>
                <a:ext cx="223221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" sz="1200" dirty="0">
                    <a:solidFill>
                      <a:srgbClr val="7F1D1D"/>
                    </a:solidFill>
                    <a:latin typeface="Inter"/>
                    <a:ea typeface="Inter"/>
                    <a:cs typeface="Inter"/>
                  </a:rPr>
                  <a:t xml:space="preserve">npm audit: </a:t>
                </a:r>
                <a:r>
                  <a:rPr lang="vi" sz="1200" b="1" dirty="0">
                    <a:solidFill>
                      <a:srgbClr val="991B1B"/>
                    </a:solidFill>
                    <a:latin typeface="Inter"/>
                    <a:ea typeface="Inter"/>
                    <a:cs typeface="Inter"/>
                  </a:rPr>
                  <a:t>0 vulnerabilities</a:t>
                </a:r>
              </a:p>
            </p:txBody>
          </p:sp>
          <p:grpSp>
            <p:nvGrpSpPr>
              <p:cNvPr id="83" name="Group 83"/>
              <p:cNvGrpSpPr/>
              <p:nvPr/>
            </p:nvGrpSpPr>
            <p:grpSpPr>
              <a:xfrm>
                <a:off x="6593681" y="5545931"/>
                <a:ext cx="185738" cy="185738"/>
                <a:chOff x="6593681" y="5545931"/>
                <a:chExt cx="185738" cy="185738"/>
              </a:xfrm>
            </p:grpSpPr>
            <p:sp>
              <p:nvSpPr>
                <p:cNvPr id="81" name="Freeform 81"/>
                <p:cNvSpPr/>
                <p:nvPr/>
              </p:nvSpPr>
              <p:spPr>
                <a:xfrm>
                  <a:off x="6600825" y="5553075"/>
                  <a:ext cx="171450" cy="1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171450">
                      <a:moveTo>
                        <a:pt x="171450" y="85725"/>
                      </a:moveTo>
                      <a:cubicBezTo>
                        <a:pt x="171450" y="133070"/>
                        <a:pt x="133070" y="171450"/>
                        <a:pt x="85725" y="171450"/>
                      </a:cubicBezTo>
                      <a:cubicBezTo>
                        <a:pt x="38380" y="171450"/>
                        <a:pt x="0" y="133070"/>
                        <a:pt x="0" y="85725"/>
                      </a:cubicBezTo>
                      <a:cubicBezTo>
                        <a:pt x="0" y="38380"/>
                        <a:pt x="38380" y="0"/>
                        <a:pt x="85725" y="0"/>
                      </a:cubicBezTo>
                      <a:cubicBezTo>
                        <a:pt x="133070" y="0"/>
                        <a:pt x="171450" y="38380"/>
                        <a:pt x="171450" y="85725"/>
                      </a:cubicBezTo>
                      <a:close/>
                    </a:path>
                  </a:pathLst>
                </a:custGeom>
                <a:solidFill>
                  <a:schemeClr val="accent2">
                    <a:alpha val="20000"/>
                  </a:schemeClr>
                </a:solidFill>
                <a:ln>
                  <a:noFill/>
                </a:ln>
              </p:spPr>
            </p:sp>
            <p:sp>
              <p:nvSpPr>
                <p:cNvPr id="82" name="Freeform 82"/>
                <p:cNvSpPr/>
                <p:nvPr/>
              </p:nvSpPr>
              <p:spPr>
                <a:xfrm>
                  <a:off x="6593681" y="5545931"/>
                  <a:ext cx="185738" cy="1857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5738" h="185738">
                      <a:moveTo>
                        <a:pt x="133642" y="66383"/>
                      </a:moveTo>
                      <a:cubicBezTo>
                        <a:pt x="134983" y="67723"/>
                        <a:pt x="135737" y="69541"/>
                        <a:pt x="135737" y="71438"/>
                      </a:cubicBezTo>
                      <a:cubicBezTo>
                        <a:pt x="135737" y="73334"/>
                        <a:pt x="134983" y="75152"/>
                        <a:pt x="133642" y="76492"/>
                      </a:cubicBezTo>
                      <a:lnTo>
                        <a:pt x="83635" y="126498"/>
                      </a:lnTo>
                      <a:cubicBezTo>
                        <a:pt x="82296" y="127839"/>
                        <a:pt x="80477" y="128593"/>
                        <a:pt x="78581" y="128593"/>
                      </a:cubicBezTo>
                      <a:cubicBezTo>
                        <a:pt x="76685" y="128593"/>
                        <a:pt x="74867" y="127839"/>
                        <a:pt x="73527" y="126498"/>
                      </a:cubicBezTo>
                      <a:lnTo>
                        <a:pt x="52096" y="105067"/>
                      </a:lnTo>
                      <a:cubicBezTo>
                        <a:pt x="49304" y="102275"/>
                        <a:pt x="49304" y="97750"/>
                        <a:pt x="52096" y="94958"/>
                      </a:cubicBezTo>
                      <a:cubicBezTo>
                        <a:pt x="54887" y="92167"/>
                        <a:pt x="59413" y="92167"/>
                        <a:pt x="62204" y="94958"/>
                      </a:cubicBezTo>
                      <a:lnTo>
                        <a:pt x="78581" y="111344"/>
                      </a:lnTo>
                      <a:lnTo>
                        <a:pt x="123533" y="66383"/>
                      </a:lnTo>
                      <a:cubicBezTo>
                        <a:pt x="124873" y="65042"/>
                        <a:pt x="126691" y="64288"/>
                        <a:pt x="128588" y="64288"/>
                      </a:cubicBezTo>
                      <a:cubicBezTo>
                        <a:pt x="130484" y="64288"/>
                        <a:pt x="132302" y="65042"/>
                        <a:pt x="133642" y="66383"/>
                      </a:cubicBezTo>
                      <a:close/>
                      <a:moveTo>
                        <a:pt x="185738" y="92869"/>
                      </a:moveTo>
                      <a:cubicBezTo>
                        <a:pt x="185738" y="144159"/>
                        <a:pt x="144159" y="185738"/>
                        <a:pt x="92869" y="185738"/>
                      </a:cubicBezTo>
                      <a:cubicBezTo>
                        <a:pt x="41579" y="185738"/>
                        <a:pt x="0" y="144159"/>
                        <a:pt x="0" y="92869"/>
                      </a:cubicBezTo>
                      <a:cubicBezTo>
                        <a:pt x="0" y="41579"/>
                        <a:pt x="41579" y="0"/>
                        <a:pt x="92869" y="0"/>
                      </a:cubicBezTo>
                      <a:cubicBezTo>
                        <a:pt x="144136" y="54"/>
                        <a:pt x="185683" y="41601"/>
                        <a:pt x="185738" y="92869"/>
                      </a:cubicBezTo>
                      <a:close/>
                      <a:moveTo>
                        <a:pt x="171450" y="92869"/>
                      </a:moveTo>
                      <a:cubicBezTo>
                        <a:pt x="171450" y="49470"/>
                        <a:pt x="136268" y="14288"/>
                        <a:pt x="92869" y="14288"/>
                      </a:cubicBezTo>
                      <a:cubicBezTo>
                        <a:pt x="49470" y="14288"/>
                        <a:pt x="14288" y="49470"/>
                        <a:pt x="14288" y="92869"/>
                      </a:cubicBezTo>
                      <a:cubicBezTo>
                        <a:pt x="14288" y="136268"/>
                        <a:pt x="49470" y="171450"/>
                        <a:pt x="92869" y="171450"/>
                      </a:cubicBezTo>
                      <a:cubicBezTo>
                        <a:pt x="136248" y="171401"/>
                        <a:pt x="171401" y="136248"/>
                        <a:pt x="171450" y="92869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</p:sp>
          </p:grpSp>
          <p:sp>
            <p:nvSpPr>
              <p:cNvPr id="84" name="TextBox 84"/>
              <p:cNvSpPr txBox="1"/>
              <p:nvPr/>
            </p:nvSpPr>
            <p:spPr>
              <a:xfrm>
                <a:off x="6899529" y="5562600"/>
                <a:ext cx="2211553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" sz="1200" dirty="0">
                    <a:solidFill>
                      <a:srgbClr val="7F1D1D"/>
                    </a:solidFill>
                    <a:latin typeface="Inter"/>
                    <a:ea typeface="Inter"/>
                    <a:cs typeface="Inter"/>
                  </a:rPr>
                  <a:t>SHA-256 checksums verified</a:t>
                </a:r>
              </a:p>
            </p:txBody>
          </p:sp>
          <p:grpSp>
            <p:nvGrpSpPr>
              <p:cNvPr id="87" name="Group 87"/>
              <p:cNvGrpSpPr/>
              <p:nvPr/>
            </p:nvGrpSpPr>
            <p:grpSpPr>
              <a:xfrm>
                <a:off x="6593681" y="5784056"/>
                <a:ext cx="185738" cy="185738"/>
                <a:chOff x="6593681" y="5784056"/>
                <a:chExt cx="185738" cy="185738"/>
              </a:xfrm>
            </p:grpSpPr>
            <p:sp>
              <p:nvSpPr>
                <p:cNvPr id="85" name="Freeform 85"/>
                <p:cNvSpPr/>
                <p:nvPr/>
              </p:nvSpPr>
              <p:spPr>
                <a:xfrm>
                  <a:off x="6600825" y="5791200"/>
                  <a:ext cx="171450" cy="1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171450">
                      <a:moveTo>
                        <a:pt x="171450" y="85725"/>
                      </a:moveTo>
                      <a:cubicBezTo>
                        <a:pt x="171450" y="133070"/>
                        <a:pt x="133070" y="171450"/>
                        <a:pt x="85725" y="171450"/>
                      </a:cubicBezTo>
                      <a:cubicBezTo>
                        <a:pt x="38380" y="171450"/>
                        <a:pt x="0" y="133070"/>
                        <a:pt x="0" y="85725"/>
                      </a:cubicBezTo>
                      <a:cubicBezTo>
                        <a:pt x="0" y="38380"/>
                        <a:pt x="38380" y="0"/>
                        <a:pt x="85725" y="0"/>
                      </a:cubicBezTo>
                      <a:cubicBezTo>
                        <a:pt x="133070" y="0"/>
                        <a:pt x="171450" y="38380"/>
                        <a:pt x="171450" y="85725"/>
                      </a:cubicBezTo>
                      <a:close/>
                    </a:path>
                  </a:pathLst>
                </a:custGeom>
                <a:solidFill>
                  <a:schemeClr val="accent2">
                    <a:alpha val="20000"/>
                  </a:schemeClr>
                </a:solidFill>
                <a:ln>
                  <a:noFill/>
                </a:ln>
              </p:spPr>
            </p:sp>
            <p:sp>
              <p:nvSpPr>
                <p:cNvPr id="86" name="Freeform 86"/>
                <p:cNvSpPr/>
                <p:nvPr/>
              </p:nvSpPr>
              <p:spPr>
                <a:xfrm>
                  <a:off x="6593681" y="5784056"/>
                  <a:ext cx="185738" cy="1857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5738" h="185738">
                      <a:moveTo>
                        <a:pt x="133642" y="66383"/>
                      </a:moveTo>
                      <a:cubicBezTo>
                        <a:pt x="134983" y="67723"/>
                        <a:pt x="135737" y="69541"/>
                        <a:pt x="135737" y="71438"/>
                      </a:cubicBezTo>
                      <a:cubicBezTo>
                        <a:pt x="135737" y="73334"/>
                        <a:pt x="134983" y="75152"/>
                        <a:pt x="133642" y="76492"/>
                      </a:cubicBezTo>
                      <a:lnTo>
                        <a:pt x="83635" y="126498"/>
                      </a:lnTo>
                      <a:cubicBezTo>
                        <a:pt x="82296" y="127839"/>
                        <a:pt x="80477" y="128593"/>
                        <a:pt x="78581" y="128593"/>
                      </a:cubicBezTo>
                      <a:cubicBezTo>
                        <a:pt x="76685" y="128593"/>
                        <a:pt x="74867" y="127839"/>
                        <a:pt x="73527" y="126498"/>
                      </a:cubicBezTo>
                      <a:lnTo>
                        <a:pt x="52096" y="105067"/>
                      </a:lnTo>
                      <a:cubicBezTo>
                        <a:pt x="49304" y="102275"/>
                        <a:pt x="49304" y="97750"/>
                        <a:pt x="52096" y="94958"/>
                      </a:cubicBezTo>
                      <a:cubicBezTo>
                        <a:pt x="54887" y="92167"/>
                        <a:pt x="59413" y="92167"/>
                        <a:pt x="62204" y="94958"/>
                      </a:cubicBezTo>
                      <a:lnTo>
                        <a:pt x="78581" y="111344"/>
                      </a:lnTo>
                      <a:lnTo>
                        <a:pt x="123533" y="66383"/>
                      </a:lnTo>
                      <a:cubicBezTo>
                        <a:pt x="124873" y="65042"/>
                        <a:pt x="126691" y="64288"/>
                        <a:pt x="128588" y="64288"/>
                      </a:cubicBezTo>
                      <a:cubicBezTo>
                        <a:pt x="130484" y="64288"/>
                        <a:pt x="132302" y="65042"/>
                        <a:pt x="133642" y="66383"/>
                      </a:cubicBezTo>
                      <a:close/>
                      <a:moveTo>
                        <a:pt x="185738" y="92869"/>
                      </a:moveTo>
                      <a:cubicBezTo>
                        <a:pt x="185738" y="144159"/>
                        <a:pt x="144159" y="185738"/>
                        <a:pt x="92869" y="185738"/>
                      </a:cubicBezTo>
                      <a:cubicBezTo>
                        <a:pt x="41579" y="185738"/>
                        <a:pt x="0" y="144159"/>
                        <a:pt x="0" y="92869"/>
                      </a:cubicBezTo>
                      <a:cubicBezTo>
                        <a:pt x="0" y="41579"/>
                        <a:pt x="41579" y="0"/>
                        <a:pt x="92869" y="0"/>
                      </a:cubicBezTo>
                      <a:cubicBezTo>
                        <a:pt x="144136" y="54"/>
                        <a:pt x="185683" y="41601"/>
                        <a:pt x="185738" y="92869"/>
                      </a:cubicBezTo>
                      <a:close/>
                      <a:moveTo>
                        <a:pt x="171450" y="92869"/>
                      </a:moveTo>
                      <a:cubicBezTo>
                        <a:pt x="171450" y="49470"/>
                        <a:pt x="136268" y="14288"/>
                        <a:pt x="92869" y="14288"/>
                      </a:cubicBezTo>
                      <a:cubicBezTo>
                        <a:pt x="49470" y="14288"/>
                        <a:pt x="14288" y="49470"/>
                        <a:pt x="14288" y="92869"/>
                      </a:cubicBezTo>
                      <a:cubicBezTo>
                        <a:pt x="14288" y="136268"/>
                        <a:pt x="49470" y="171450"/>
                        <a:pt x="92869" y="171450"/>
                      </a:cubicBezTo>
                      <a:cubicBezTo>
                        <a:pt x="136248" y="171401"/>
                        <a:pt x="171401" y="136248"/>
                        <a:pt x="171450" y="92869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</p:sp>
          </p:grpSp>
          <p:sp>
            <p:nvSpPr>
              <p:cNvPr id="88" name="TextBox 88"/>
              <p:cNvSpPr txBox="1"/>
              <p:nvPr/>
            </p:nvSpPr>
            <p:spPr>
              <a:xfrm>
                <a:off x="6899529" y="5800725"/>
                <a:ext cx="242443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" sz="1200" dirty="0">
                    <a:solidFill>
                      <a:srgbClr val="7F1D1D"/>
                    </a:solidFill>
                    <a:latin typeface="Inter"/>
                    <a:ea typeface="Inter"/>
                    <a:cs typeface="Inter"/>
                  </a:rPr>
                  <a:t>No unauthorized model changes</a:t>
                </a:r>
              </a:p>
            </p:txBody>
          </p:sp>
        </p:grpSp>
      </p:grpSp>
      <p:grpSp>
        <p:nvGrpSpPr>
          <p:cNvPr id="93" name="footer"/>
          <p:cNvGrpSpPr/>
          <p:nvPr/>
        </p:nvGrpSpPr>
        <p:grpSpPr>
          <a:xfrm>
            <a:off x="566166" y="6540500"/>
            <a:ext cx="11059668" cy="205359"/>
            <a:chOff x="566166" y="6540500"/>
            <a:chExt cx="11059668" cy="205359"/>
          </a:xfrm>
        </p:grpSpPr>
        <p:sp>
          <p:nvSpPr>
            <p:cNvPr id="91" name="TextBox 91"/>
            <p:cNvSpPr txBox="1"/>
            <p:nvPr/>
          </p:nvSpPr>
          <p:spPr>
            <a:xfrm>
              <a:off x="566166" y="6540500"/>
              <a:ext cx="309716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1050" dirty="0">
                  <a:solidFill>
                    <a:srgbClr val="9CA3AF"/>
                  </a:solidFill>
                  <a:latin typeface="Inter"/>
                  <a:ea typeface="Inter"/>
                  <a:cs typeface="Inter"/>
                </a:rPr>
                <a:t>Project 22: K-Means Customer Segmentation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11141640" y="6540500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vi" sz="1050" dirty="0">
                  <a:solidFill>
                    <a:srgbClr val="9CA3AF"/>
                  </a:solidFill>
                  <a:latin typeface="Inter"/>
                  <a:ea typeface="Inter"/>
                  <a:cs typeface="Inter"/>
                </a:rPr>
                <a:t>13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8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45998" y="381000"/>
            <a:ext cx="5710034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" sz="3150" b="1" dirty="0">
                <a:solidFill>
                  <a:schemeClr val="dk1"/>
                </a:solidFill>
                <a:latin typeface="Inter"/>
                <a:ea typeface="Inter"/>
                <a:cs typeface="Inter"/>
              </a:rPr>
              <a:t>Limitations &amp; Future Work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52856" y="879475"/>
            <a:ext cx="3269853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" sz="1800" dirty="0">
                <a:solidFill>
                  <a:schemeClr val="accent5"/>
                </a:solidFill>
                <a:latin typeface="Inter"/>
                <a:ea typeface="Inter"/>
                <a:cs typeface="Inter"/>
              </a:rPr>
              <a:t>Hạn chế và Hướng phát triển</a:t>
            </a:r>
          </a:p>
        </p:txBody>
      </p:sp>
      <p:sp>
        <p:nvSpPr>
          <p:cNvPr id="4" name="Rectangle 4"/>
          <p:cNvSpPr/>
          <p:nvPr/>
        </p:nvSpPr>
        <p:spPr>
          <a:xfrm>
            <a:off x="762000" y="1190625"/>
            <a:ext cx="1143000" cy="3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1"/>
          </a:gradFill>
          <a:ln>
            <a:noFill/>
          </a:ln>
        </p:spPr>
      </p:sp>
      <p:grpSp>
        <p:nvGrpSpPr>
          <p:cNvPr id="21" name="Group 21"/>
          <p:cNvGrpSpPr/>
          <p:nvPr/>
        </p:nvGrpSpPr>
        <p:grpSpPr>
          <a:xfrm>
            <a:off x="685800" y="1428750"/>
            <a:ext cx="5219700" cy="4238625"/>
            <a:chOff x="685800" y="1428750"/>
            <a:chExt cx="5219700" cy="4238625"/>
          </a:xfrm>
        </p:grpSpPr>
        <p:sp>
          <p:nvSpPr>
            <p:cNvPr id="5" name="Ellipse 5"/>
            <p:cNvSpPr/>
            <p:nvPr/>
          </p:nvSpPr>
          <p:spPr>
            <a:xfrm>
              <a:off x="685800" y="1428750"/>
              <a:ext cx="571500" cy="571500"/>
            </a:xfrm>
            <a:prstGeom prst="ellipse">
              <a:avLst/>
            </a:prstGeom>
            <a:solidFill>
              <a:srgbClr val="FEE2E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97814" y="1517650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" sz="2400" dirty="0">
                  <a:solidFill>
                    <a:srgbClr val="000000"/>
                  </a:solidFill>
                  <a:latin typeface="Inter"/>
                  <a:ea typeface="Inter"/>
                  <a:cs typeface="Inter"/>
                </a:rPr>
                <a:t>⚠️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467231" y="1546225"/>
              <a:ext cx="194761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1800" b="1" dirty="0">
                  <a:solidFill>
                    <a:srgbClr val="DC2626"/>
                  </a:solidFill>
                  <a:latin typeface="Inter"/>
                  <a:ea typeface="Inter"/>
                  <a:cs typeface="Inter"/>
                </a:rPr>
                <a:t>Hạn chế hiện tại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762000" y="2143125"/>
              <a:ext cx="5143500" cy="1238250"/>
            </a:xfrm>
            <a:prstGeom prst="roundRect">
              <a:avLst>
                <a:gd name="adj" fmla="val 9231"/>
              </a:avLst>
            </a:prstGeom>
            <a:solidFill>
              <a:schemeClr val="lt1"/>
            </a:solidFill>
            <a:ln w="19050">
              <a:solidFill>
                <a:schemeClr val="accent6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92886" y="2298700"/>
              <a:ext cx="23573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1420" b="1" dirty="0">
                  <a:solidFill>
                    <a:schemeClr val="dk1"/>
                  </a:solidFill>
                  <a:latin typeface="Inter"/>
                  <a:ea typeface="Inter"/>
                  <a:cs typeface="Inter"/>
                </a:rPr>
                <a:t>1. Phương pháp K-Means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94029" y="2562225"/>
              <a:ext cx="339957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rgbClr val="4B5563"/>
                </a:buClr>
                <a:buSzTx/>
                <a:buFontTx/>
                <a:buChar char="•"/>
              </a:pPr>
              <a:r>
                <a:rPr lang="vi" sz="1200" dirty="0">
                  <a:solidFill>
                    <a:srgbClr val="4B5563"/>
                  </a:solidFill>
                  <a:latin typeface="Inter"/>
                  <a:ea typeface="Inter"/>
                  <a:cs typeface="Inter"/>
                </a:rPr>
                <a:t>Chỉ phát hiện cluster hình cầu (Euclidean)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94029" y="2800350"/>
              <a:ext cx="333769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rgbClr val="4B5563"/>
                </a:buClr>
                <a:buSzTx/>
                <a:buFontTx/>
                <a:buChar char="•"/>
              </a:pPr>
              <a:r>
                <a:rPr lang="vi" sz="1200" dirty="0">
                  <a:solidFill>
                    <a:srgbClr val="4B5563"/>
                  </a:solidFill>
                  <a:latin typeface="Inter"/>
                  <a:ea typeface="Inter"/>
                  <a:cs typeface="Inter"/>
                </a:rPr>
                <a:t>Không phù hợp cluster hình dạng phức tạp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94029" y="3038475"/>
              <a:ext cx="314367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rgbClr val="4B5563"/>
                </a:buClr>
                <a:buSzTx/>
                <a:buFontTx/>
                <a:buChar char="•"/>
              </a:pPr>
              <a:r>
                <a:rPr lang="vi" sz="1200" dirty="0">
                  <a:solidFill>
                    <a:srgbClr val="4B5563"/>
                  </a:solidFill>
                  <a:latin typeface="Inter"/>
                  <a:ea typeface="Inter"/>
                  <a:cs typeface="Inter"/>
                </a:rPr>
                <a:t>Nhạy cảm outliers dù đã preprocessing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762000" y="3524250"/>
              <a:ext cx="5143500" cy="1000125"/>
            </a:xfrm>
            <a:prstGeom prst="roundRect">
              <a:avLst>
                <a:gd name="adj" fmla="val 11429"/>
              </a:avLst>
            </a:prstGeom>
            <a:solidFill>
              <a:schemeClr val="lt1"/>
            </a:solidFill>
            <a:ln w="19050">
              <a:solidFill>
                <a:schemeClr val="accent6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92886" y="3679825"/>
              <a:ext cx="22494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1420" b="1" dirty="0">
                  <a:solidFill>
                    <a:schemeClr val="dk1"/>
                  </a:solidFill>
                  <a:latin typeface="Inter"/>
                  <a:ea typeface="Inter"/>
                  <a:cs typeface="Inter"/>
                </a:rPr>
                <a:t>2. Feature engineering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94029" y="3943350"/>
              <a:ext cx="32452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rgbClr val="4B5563"/>
                </a:buClr>
                <a:buSzTx/>
                <a:buFontTx/>
                <a:buChar char="•"/>
              </a:pPr>
              <a:r>
                <a:rPr lang="vi" sz="1200" dirty="0">
                  <a:solidFill>
                    <a:srgbClr val="4B5563"/>
                  </a:solidFill>
                  <a:latin typeface="Inter"/>
                  <a:ea typeface="Inter"/>
                  <a:cs typeface="Inter"/>
                </a:rPr>
                <a:t>Chưa có interaction (Fresh×Milk, etc.)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94029" y="4181475"/>
              <a:ext cx="32895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rgbClr val="4B5563"/>
                </a:buClr>
                <a:buSzTx/>
                <a:buFontTx/>
                <a:buChar char="•"/>
              </a:pPr>
              <a:r>
                <a:rPr lang="vi" sz="1200" dirty="0">
                  <a:solidFill>
                    <a:srgbClr val="4B5563"/>
                  </a:solidFill>
                  <a:latin typeface="Inter"/>
                  <a:ea typeface="Inter"/>
                  <a:cs typeface="Inter"/>
                </a:rPr>
                <a:t>Chưa có temporal patterns (timestamp)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762000" y="4667250"/>
              <a:ext cx="5143500" cy="1000125"/>
            </a:xfrm>
            <a:prstGeom prst="roundRect">
              <a:avLst>
                <a:gd name="adj" fmla="val 11429"/>
              </a:avLst>
            </a:prstGeom>
            <a:solidFill>
              <a:schemeClr val="lt1"/>
            </a:solidFill>
            <a:ln w="19050">
              <a:solidFill>
                <a:schemeClr val="accent6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92886" y="4822825"/>
              <a:ext cx="125588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1420" b="1" dirty="0">
                  <a:solidFill>
                    <a:schemeClr val="dk1"/>
                  </a:solidFill>
                  <a:latin typeface="Inter"/>
                  <a:ea typeface="Inter"/>
                  <a:cs typeface="Inter"/>
                </a:rPr>
                <a:t>3. Validation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94029" y="5086350"/>
              <a:ext cx="329724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rgbClr val="4B5563"/>
                </a:buClr>
                <a:buSzTx/>
                <a:buFontTx/>
                <a:buChar char="•"/>
              </a:pPr>
              <a:r>
                <a:rPr lang="vi" sz="1200" dirty="0">
                  <a:solidFill>
                    <a:srgbClr val="4B5563"/>
                  </a:solidFill>
                  <a:latin typeface="Inter"/>
                  <a:ea typeface="Inter"/>
                  <a:cs typeface="Inter"/>
                </a:rPr>
                <a:t>Chỉ test stability, chưa có ground truth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94029" y="5324475"/>
              <a:ext cx="32441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rgbClr val="4B5563"/>
                </a:buClr>
                <a:buSzTx/>
                <a:buFontTx/>
                <a:buChar char="•"/>
              </a:pPr>
              <a:r>
                <a:rPr lang="vi" sz="1200" dirty="0">
                  <a:solidFill>
                    <a:srgbClr val="4B5563"/>
                  </a:solidFill>
                  <a:latin typeface="Inter"/>
                  <a:ea typeface="Inter"/>
                  <a:cs typeface="Inter"/>
                </a:rPr>
                <a:t>Chưa A/B test business metrics thực tế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6210300" y="1428750"/>
            <a:ext cx="5219700" cy="4238625"/>
            <a:chOff x="6210300" y="1428750"/>
            <a:chExt cx="5219700" cy="4238625"/>
          </a:xfrm>
        </p:grpSpPr>
        <p:sp>
          <p:nvSpPr>
            <p:cNvPr id="22" name="Ellipse 22"/>
            <p:cNvSpPr/>
            <p:nvPr/>
          </p:nvSpPr>
          <p:spPr>
            <a:xfrm>
              <a:off x="6210300" y="1428750"/>
              <a:ext cx="571500" cy="571500"/>
            </a:xfrm>
            <a:prstGeom prst="ellipse">
              <a:avLst/>
            </a:prstGeom>
            <a:solidFill>
              <a:srgbClr val="D1FAE5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322314" y="1517650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" sz="2400" dirty="0">
                  <a:solidFill>
                    <a:srgbClr val="000000"/>
                  </a:solidFill>
                  <a:latin typeface="Inter"/>
                  <a:ea typeface="Inter"/>
                  <a:cs typeface="Inter"/>
                </a:rPr>
                <a:t>🚀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991731" y="1546225"/>
              <a:ext cx="207474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1800" b="1" dirty="0">
                  <a:solidFill>
                    <a:srgbClr val="059669"/>
                  </a:solidFill>
                  <a:latin typeface="Inter"/>
                  <a:ea typeface="Inter"/>
                  <a:cs typeface="Inter"/>
                </a:rPr>
                <a:t>Hướng phát triển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6286500" y="2143125"/>
              <a:ext cx="5143500" cy="1238250"/>
            </a:xfrm>
            <a:prstGeom prst="roundRect">
              <a:avLst>
                <a:gd name="adj" fmla="val 9231"/>
              </a:avLst>
            </a:prstGeom>
            <a:solidFill>
              <a:schemeClr val="lt1"/>
            </a:solidFill>
            <a:ln w="19050">
              <a:solidFill>
                <a:schemeClr val="accent6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17386" y="2298700"/>
              <a:ext cx="185904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1420" b="1" dirty="0">
                  <a:solidFill>
                    <a:schemeClr val="dk1"/>
                  </a:solidFill>
                  <a:latin typeface="Inter"/>
                  <a:ea typeface="Inter"/>
                  <a:cs typeface="Inter"/>
                </a:rPr>
                <a:t>1. Thuật toán khác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518529" y="2562225"/>
              <a:ext cx="278474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rgbClr val="4B5563"/>
                </a:buClr>
                <a:buSzTx/>
                <a:buFontTx/>
                <a:buChar char="•"/>
              </a:pPr>
              <a:r>
                <a:rPr lang="vi" sz="1200" dirty="0">
                  <a:solidFill>
                    <a:srgbClr val="4B5563"/>
                  </a:solidFill>
                  <a:latin typeface="Inter"/>
                  <a:ea typeface="Inter"/>
                  <a:cs typeface="Inter"/>
                </a:rPr>
                <a:t>DBSCAN: cluster bất kỳ + outliers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518529" y="2800350"/>
              <a:ext cx="291743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rgbClr val="4B5563"/>
                </a:buClr>
                <a:buSzTx/>
                <a:buFontTx/>
                <a:buChar char="•"/>
              </a:pPr>
              <a:r>
                <a:rPr lang="vi" sz="1200" dirty="0">
                  <a:solidFill>
                    <a:srgbClr val="4B5563"/>
                  </a:solidFill>
                  <a:latin typeface="Inter"/>
                  <a:ea typeface="Inter"/>
                  <a:cs typeface="Inter"/>
                </a:rPr>
                <a:t>Hierarchical: phân tích dendrogram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518529" y="3038475"/>
              <a:ext cx="298589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rgbClr val="4B5563"/>
                </a:buClr>
                <a:buSzTx/>
                <a:buFontTx/>
                <a:buChar char="•"/>
              </a:pPr>
              <a:r>
                <a:rPr lang="vi" sz="1200" dirty="0">
                  <a:solidFill>
                    <a:srgbClr val="4B5563"/>
                  </a:solidFill>
                  <a:latin typeface="Inter"/>
                  <a:ea typeface="Inter"/>
                  <a:cs typeface="Inter"/>
                </a:rPr>
                <a:t>GMM: soft assignment, uncertainty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286500" y="3524250"/>
              <a:ext cx="5143500" cy="1000125"/>
            </a:xfrm>
            <a:prstGeom prst="roundRect">
              <a:avLst>
                <a:gd name="adj" fmla="val 11429"/>
              </a:avLst>
            </a:prstGeom>
            <a:solidFill>
              <a:schemeClr val="lt1"/>
            </a:solidFill>
            <a:ln w="19050">
              <a:solidFill>
                <a:schemeClr val="accent6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517386" y="3679825"/>
              <a:ext cx="145773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1420" b="1" dirty="0">
                  <a:solidFill>
                    <a:schemeClr val="dk1"/>
                  </a:solidFill>
                  <a:latin typeface="Inter"/>
                  <a:ea typeface="Inter"/>
                  <a:cs typeface="Inter"/>
                </a:rPr>
                <a:t>2. Feature mới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518529" y="3943350"/>
              <a:ext cx="28035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rgbClr val="4B5563"/>
                </a:buClr>
                <a:buSzTx/>
                <a:buFontTx/>
                <a:buChar char="•"/>
              </a:pPr>
              <a:r>
                <a:rPr lang="vi" sz="1200" dirty="0">
                  <a:solidFill>
                    <a:srgbClr val="4B5563"/>
                  </a:solidFill>
                  <a:latin typeface="Inter"/>
                  <a:ea typeface="Inter"/>
                  <a:cs typeface="Inter"/>
                </a:rPr>
                <a:t>Ratio: Fresh/Total, Milk/Grocery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518529" y="4181475"/>
              <a:ext cx="29522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rgbClr val="4B5563"/>
                </a:buClr>
                <a:buSzTx/>
                <a:buFontTx/>
                <a:buChar char="•"/>
              </a:pPr>
              <a:r>
                <a:rPr lang="vi" sz="1200" dirty="0">
                  <a:solidFill>
                    <a:srgbClr val="4B5563"/>
                  </a:solidFill>
                  <a:latin typeface="Inter"/>
                  <a:ea typeface="Inter"/>
                  <a:cs typeface="Inter"/>
                </a:rPr>
                <a:t>RFM analysis nếu có dữ liệu thời gian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286500" y="4667250"/>
              <a:ext cx="5143500" cy="1000125"/>
            </a:xfrm>
            <a:prstGeom prst="roundRect">
              <a:avLst>
                <a:gd name="adj" fmla="val 11429"/>
              </a:avLst>
            </a:prstGeom>
            <a:solidFill>
              <a:schemeClr val="lt1"/>
            </a:solidFill>
            <a:ln w="19050">
              <a:solidFill>
                <a:schemeClr val="accent6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517386" y="4822825"/>
              <a:ext cx="251043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" sz="1420" b="1" dirty="0">
                  <a:solidFill>
                    <a:schemeClr val="dk1"/>
                  </a:solidFill>
                  <a:latin typeface="Inter"/>
                  <a:ea typeface="Inter"/>
                  <a:cs typeface="Inter"/>
                </a:rPr>
                <a:t>3. Production deployment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518529" y="5086350"/>
              <a:ext cx="353541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rgbClr val="4B5563"/>
                </a:buClr>
                <a:buSzTx/>
                <a:buFontTx/>
                <a:buChar char="•"/>
              </a:pPr>
              <a:r>
                <a:rPr lang="vi" sz="1200" dirty="0">
                  <a:solidFill>
                    <a:srgbClr val="4B5563"/>
                  </a:solidFill>
                  <a:latin typeface="Inter"/>
                  <a:ea typeface="Inter"/>
                  <a:cs typeface="Inter"/>
                </a:rPr>
                <a:t>Monitoring data drift (PSI, KL divergence)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518529" y="5324475"/>
              <a:ext cx="351271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rgbClr val="4B5563"/>
                </a:buClr>
                <a:buSzTx/>
                <a:buFontTx/>
                <a:buChar char="•"/>
              </a:pPr>
              <a:r>
                <a:rPr lang="vi" sz="1200" dirty="0">
                  <a:solidFill>
                    <a:srgbClr val="4B5563"/>
                  </a:solidFill>
                  <a:latin typeface="Inter"/>
                  <a:ea typeface="Inter"/>
                  <a:cs typeface="Inter"/>
                </a:rPr>
                <a:t>A/B test chiến dịch marketing theo cluster</a:t>
              </a:r>
            </a:p>
          </p:txBody>
        </p:sp>
      </p:grpSp>
      <p:sp>
        <p:nvSpPr>
          <p:cNvPr id="39" name="Rectangle 39"/>
          <p:cNvSpPr/>
          <p:nvPr/>
        </p:nvSpPr>
        <p:spPr>
          <a:xfrm>
            <a:off x="762000" y="4857750"/>
            <a:ext cx="10668000" cy="1238250"/>
          </a:xfrm>
          <a:prstGeom prst="roundRect">
            <a:avLst>
              <a:gd name="adj" fmla="val 9231"/>
            </a:avLst>
          </a:prstGeom>
          <a:solidFill>
            <a:srgbClr val="EEF2FF"/>
          </a:solidFill>
          <a:ln w="19050">
            <a:solidFill>
              <a:srgbClr val="6366F1"/>
            </a:solidFill>
          </a:ln>
        </p:spPr>
      </p:sp>
      <p:sp>
        <p:nvSpPr>
          <p:cNvPr id="40" name="TextBox 40"/>
          <p:cNvSpPr txBox="1"/>
          <p:nvPr/>
        </p:nvSpPr>
        <p:spPr>
          <a:xfrm>
            <a:off x="1040130" y="5013325"/>
            <a:ext cx="190990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" sz="1500" b="1" dirty="0">
                <a:solidFill>
                  <a:srgbClr val="4338CA"/>
                </a:solidFill>
                <a:latin typeface="Inter"/>
                <a:ea typeface="Inter"/>
                <a:cs typeface="Inter"/>
              </a:rPr>
              <a:t>Ghi chú học thuật: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041273" y="5324475"/>
            <a:ext cx="6164387" cy="25031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" sz="1280" dirty="0">
                <a:solidFill>
                  <a:srgbClr val="4F46E5"/>
                </a:solidFill>
                <a:latin typeface="Inter"/>
                <a:ea typeface="Inter"/>
                <a:cs typeface="Inter"/>
              </a:rPr>
              <a:t>Project 22 hoàn thành với K-Means baseline theo đúng yêu cầu Project 22: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041273" y="5610225"/>
            <a:ext cx="5271569" cy="25031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138176" indent="-138176">
              <a:buClr>
                <a:srgbClr val="4F46E5"/>
              </a:buClr>
              <a:buSzTx/>
              <a:buFontTx/>
              <a:buChar char="•"/>
            </a:pPr>
            <a:r>
              <a:rPr lang="vi" sz="1280" dirty="0">
                <a:solidFill>
                  <a:srgbClr val="4F46E5"/>
                </a:solidFill>
                <a:latin typeface="Inter"/>
                <a:ea typeface="Inter"/>
                <a:cs typeface="Inter"/>
              </a:rPr>
              <a:t>6 biến chi tiêu là features chính, Channel/Region chỉ profiling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041273" y="5895975"/>
            <a:ext cx="7030419" cy="25031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138176" indent="-138176">
              <a:buClr>
                <a:srgbClr val="4F46E5"/>
              </a:buClr>
              <a:buSzTx/>
              <a:buFontTx/>
              <a:buChar char="•"/>
            </a:pPr>
            <a:r>
              <a:rPr lang="vi" sz="1280" dirty="0">
                <a:solidFill>
                  <a:srgbClr val="4F46E5"/>
                </a:solidFill>
                <a:latin typeface="Inter"/>
                <a:ea typeface="Inter"/>
                <a:cs typeface="Inter"/>
              </a:rPr>
              <a:t>Preprocessing + Train/Val/Test split đúng quy trình → Model artifact đã đóng băng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756666" y="6350000"/>
            <a:ext cx="305449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vi" sz="1050" dirty="0">
                <a:solidFill>
                  <a:srgbClr val="9CA3AF"/>
                </a:solidFill>
                <a:latin typeface="Inter"/>
                <a:ea typeface="Inter"/>
                <a:cs typeface="Inter"/>
              </a:rPr>
              <a:t>Các phương pháp nâng cao để lại cho tương lai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0951140" y="6350000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vi" sz="1050" dirty="0">
                <a:solidFill>
                  <a:srgbClr val="9CA3AF"/>
                </a:solidFill>
                <a:latin typeface="Inter"/>
                <a:ea typeface="Inter"/>
                <a:cs typeface="Inter"/>
              </a:rPr>
              <a:t>14 / 15</a:t>
            </a:r>
          </a:p>
        </p:txBody>
      </p:sp>
    </p:spTree>
  </p:cSld>
  <p:clrMapOvr>
    <a:masterClrMapping/>
  </p:clrMapOvr>
  <p:transition xmlns:p14="http://schemas.microsoft.com/office/powerpoint/2010/main" p14:dur="8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2667000"/>
          </a:xfrm>
          <a:prstGeom prst="rect">
            <a:avLst/>
          </a:prstGeom>
          <a:solidFill>
            <a:srgbClr val="DCFCE7"/>
          </a:solidFill>
          <a:ln>
            <a:noFill/>
          </a:ln>
        </p:spPr>
      </p:sp>
      <p:grpSp>
        <p:nvGrpSpPr>
          <p:cNvPr id="5" name="header"/>
          <p:cNvGrpSpPr/>
          <p:nvPr/>
        </p:nvGrpSpPr>
        <p:grpSpPr>
          <a:xfrm>
            <a:off x="2547525" y="673100"/>
            <a:ext cx="7096949" cy="1198118"/>
            <a:chOff x="2547525" y="673100"/>
            <a:chExt cx="7096949" cy="1198118"/>
          </a:xfrm>
        </p:grpSpPr>
        <p:sp>
          <p:nvSpPr>
            <p:cNvPr id="3" name="TextBox 3"/>
            <p:cNvSpPr txBox="1"/>
            <p:nvPr/>
          </p:nvSpPr>
          <p:spPr>
            <a:xfrm>
              <a:off x="3074416" y="673100"/>
              <a:ext cx="6043168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" sz="3900" b="1" dirty="0">
                  <a:solidFill>
                    <a:srgbClr val="065F46"/>
                  </a:solidFill>
                  <a:latin typeface="Inter"/>
                  <a:ea typeface="Inter"/>
                  <a:cs typeface="Inter"/>
                </a:rPr>
                <a:t>Kết Luận và Thành Quả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2547525" y="1460500"/>
              <a:ext cx="709694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" sz="2100" dirty="0">
                  <a:solidFill>
                    <a:srgbClr val="047857"/>
                  </a:solidFill>
                  <a:latin typeface="Inter"/>
                  <a:ea typeface="Inter"/>
                  <a:cs typeface="Inter"/>
                </a:rPr>
                <a:t>Complete ML Project Ready for Academic Evaluation</a:t>
              </a:r>
            </a:p>
          </p:txBody>
        </p:sp>
      </p:grpSp>
      <p:grpSp>
        <p:nvGrpSpPr>
          <p:cNvPr id="60" name="achievements"/>
          <p:cNvGrpSpPr/>
          <p:nvPr/>
        </p:nvGrpSpPr>
        <p:grpSpPr>
          <a:xfrm>
            <a:off x="571500" y="2857500"/>
            <a:ext cx="11049000" cy="2381250"/>
            <a:chOff x="571500" y="2857500"/>
            <a:chExt cx="11049000" cy="2381250"/>
          </a:xfrm>
        </p:grpSpPr>
        <p:grpSp>
          <p:nvGrpSpPr>
            <p:cNvPr id="11" name="achievement-1"/>
            <p:cNvGrpSpPr/>
            <p:nvPr/>
          </p:nvGrpSpPr>
          <p:grpSpPr>
            <a:xfrm>
              <a:off x="571500" y="2857500"/>
              <a:ext cx="3476625" cy="666750"/>
              <a:chOff x="571500" y="2857500"/>
              <a:chExt cx="3476625" cy="666750"/>
            </a:xfrm>
          </p:grpSpPr>
          <p:sp>
            <p:nvSpPr>
              <p:cNvPr id="6" name="Rectangle 6"/>
              <p:cNvSpPr/>
              <p:nvPr/>
            </p:nvSpPr>
            <p:spPr>
              <a:xfrm>
                <a:off x="571500" y="2857500"/>
                <a:ext cx="3476625" cy="666750"/>
              </a:xfrm>
              <a:prstGeom prst="roundRect">
                <a:avLst>
                  <a:gd name="adj" fmla="val 14286"/>
                </a:avLst>
              </a:prstGeom>
              <a:solidFill>
                <a:srgbClr val="F0FDF4"/>
              </a:solidFill>
              <a:ln w="19050">
                <a:solidFill>
                  <a:schemeClr val="accent2"/>
                </a:solidFill>
              </a:ln>
            </p:spPr>
          </p:sp>
          <p:grpSp>
            <p:nvGrpSpPr>
              <p:cNvPr id="9" name="Group 9"/>
              <p:cNvGrpSpPr/>
              <p:nvPr/>
            </p:nvGrpSpPr>
            <p:grpSpPr>
              <a:xfrm>
                <a:off x="741164" y="3074789"/>
                <a:ext cx="232173" cy="232173"/>
                <a:chOff x="741164" y="3074789"/>
                <a:chExt cx="232173" cy="232173"/>
              </a:xfrm>
            </p:grpSpPr>
            <p:sp>
              <p:nvSpPr>
                <p:cNvPr id="7" name="Freeform 7"/>
                <p:cNvSpPr/>
                <p:nvPr/>
              </p:nvSpPr>
              <p:spPr>
                <a:xfrm>
                  <a:off x="750094" y="3083719"/>
                  <a:ext cx="214313" cy="2143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4313" h="214313">
                      <a:moveTo>
                        <a:pt x="214313" y="107157"/>
                      </a:moveTo>
                      <a:cubicBezTo>
                        <a:pt x="214313" y="166338"/>
                        <a:pt x="166338" y="214313"/>
                        <a:pt x="107157" y="214313"/>
                      </a:cubicBezTo>
                      <a:cubicBezTo>
                        <a:pt x="47976" y="214313"/>
                        <a:pt x="0" y="166338"/>
                        <a:pt x="0" y="107157"/>
                      </a:cubicBezTo>
                      <a:cubicBezTo>
                        <a:pt x="0" y="47976"/>
                        <a:pt x="47976" y="0"/>
                        <a:pt x="107157" y="0"/>
                      </a:cubicBezTo>
                      <a:cubicBezTo>
                        <a:pt x="166338" y="0"/>
                        <a:pt x="214313" y="47976"/>
                        <a:pt x="214313" y="107157"/>
                      </a:cubicBezTo>
                      <a:close/>
                    </a:path>
                  </a:pathLst>
                </a:custGeom>
                <a:solidFill>
                  <a:schemeClr val="accent2">
                    <a:alpha val="20000"/>
                  </a:schemeClr>
                </a:solidFill>
                <a:ln>
                  <a:noFill/>
                </a:ln>
              </p:spPr>
            </p:sp>
            <p:sp>
              <p:nvSpPr>
                <p:cNvPr id="8" name="Freeform 8"/>
                <p:cNvSpPr/>
                <p:nvPr/>
              </p:nvSpPr>
              <p:spPr>
                <a:xfrm>
                  <a:off x="741164" y="3074789"/>
                  <a:ext cx="232173" cy="2321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2173" h="232173">
                      <a:moveTo>
                        <a:pt x="167053" y="82979"/>
                      </a:moveTo>
                      <a:cubicBezTo>
                        <a:pt x="168730" y="84654"/>
                        <a:pt x="169672" y="86927"/>
                        <a:pt x="169672" y="89297"/>
                      </a:cubicBezTo>
                      <a:cubicBezTo>
                        <a:pt x="169672" y="91667"/>
                        <a:pt x="168730" y="93940"/>
                        <a:pt x="167053" y="95615"/>
                      </a:cubicBezTo>
                      <a:lnTo>
                        <a:pt x="104545" y="158123"/>
                      </a:lnTo>
                      <a:cubicBezTo>
                        <a:pt x="102870" y="159800"/>
                        <a:pt x="100597" y="160742"/>
                        <a:pt x="98227" y="160742"/>
                      </a:cubicBezTo>
                      <a:cubicBezTo>
                        <a:pt x="95857" y="160742"/>
                        <a:pt x="93584" y="159800"/>
                        <a:pt x="91909" y="158123"/>
                      </a:cubicBezTo>
                      <a:lnTo>
                        <a:pt x="65120" y="131334"/>
                      </a:lnTo>
                      <a:cubicBezTo>
                        <a:pt x="61631" y="127845"/>
                        <a:pt x="61631" y="122188"/>
                        <a:pt x="65120" y="118698"/>
                      </a:cubicBezTo>
                      <a:cubicBezTo>
                        <a:pt x="68609" y="115209"/>
                        <a:pt x="74266" y="115209"/>
                        <a:pt x="77756" y="118698"/>
                      </a:cubicBezTo>
                      <a:lnTo>
                        <a:pt x="98227" y="139181"/>
                      </a:lnTo>
                      <a:lnTo>
                        <a:pt x="154417" y="82979"/>
                      </a:lnTo>
                      <a:cubicBezTo>
                        <a:pt x="156092" y="81303"/>
                        <a:pt x="158365" y="80361"/>
                        <a:pt x="160735" y="80361"/>
                      </a:cubicBezTo>
                      <a:cubicBezTo>
                        <a:pt x="163105" y="80361"/>
                        <a:pt x="165378" y="81303"/>
                        <a:pt x="167053" y="82979"/>
                      </a:cubicBezTo>
                      <a:close/>
                      <a:moveTo>
                        <a:pt x="232173" y="116086"/>
                      </a:moveTo>
                      <a:cubicBezTo>
                        <a:pt x="232173" y="180199"/>
                        <a:pt x="180199" y="232173"/>
                        <a:pt x="116086" y="232173"/>
                      </a:cubicBezTo>
                      <a:cubicBezTo>
                        <a:pt x="51974" y="232173"/>
                        <a:pt x="0" y="180199"/>
                        <a:pt x="0" y="116086"/>
                      </a:cubicBezTo>
                      <a:cubicBezTo>
                        <a:pt x="0" y="51974"/>
                        <a:pt x="51974" y="0"/>
                        <a:pt x="116086" y="0"/>
                      </a:cubicBezTo>
                      <a:cubicBezTo>
                        <a:pt x="180171" y="68"/>
                        <a:pt x="232105" y="52002"/>
                        <a:pt x="232173" y="116086"/>
                      </a:cubicBezTo>
                      <a:close/>
                      <a:moveTo>
                        <a:pt x="214313" y="116086"/>
                      </a:moveTo>
                      <a:cubicBezTo>
                        <a:pt x="214313" y="61837"/>
                        <a:pt x="170336" y="17859"/>
                        <a:pt x="116086" y="17859"/>
                      </a:cubicBezTo>
                      <a:cubicBezTo>
                        <a:pt x="61837" y="17859"/>
                        <a:pt x="17859" y="61837"/>
                        <a:pt x="17859" y="116086"/>
                      </a:cubicBezTo>
                      <a:cubicBezTo>
                        <a:pt x="17859" y="170336"/>
                        <a:pt x="61837" y="214313"/>
                        <a:pt x="116086" y="214313"/>
                      </a:cubicBezTo>
                      <a:cubicBezTo>
                        <a:pt x="170310" y="214252"/>
                        <a:pt x="214252" y="170310"/>
                        <a:pt x="214313" y="116086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</p:sp>
          </p:grpSp>
          <p:sp>
            <p:nvSpPr>
              <p:cNvPr id="10" name="TextBox 10"/>
              <p:cNvSpPr txBox="1"/>
              <p:nvPr/>
            </p:nvSpPr>
            <p:spPr>
              <a:xfrm>
                <a:off x="1136904" y="3114675"/>
                <a:ext cx="275117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" sz="1200" b="1" dirty="0">
                    <a:solidFill>
                      <a:srgbClr val="065F46"/>
                    </a:solidFill>
                    <a:latin typeface="Inter"/>
                    <a:ea typeface="Inter"/>
                    <a:cs typeface="Inter"/>
                  </a:rPr>
                  <a:t>440 customers</a:t>
                </a:r>
                <a:r>
                  <a:rPr lang="vi" sz="1200" dirty="0">
                    <a:solidFill>
                      <a:srgbClr val="065F46"/>
                    </a:solidFill>
                    <a:latin typeface="Inter"/>
                    <a:ea typeface="Inter"/>
                    <a:cs typeface="Inter"/>
                  </a:rPr>
                  <a:t xml:space="preserve"> → 2 stable clusters</a:t>
                </a:r>
              </a:p>
            </p:txBody>
          </p:sp>
        </p:grpSp>
        <p:grpSp>
          <p:nvGrpSpPr>
            <p:cNvPr id="17" name="achievement-2"/>
            <p:cNvGrpSpPr/>
            <p:nvPr/>
          </p:nvGrpSpPr>
          <p:grpSpPr>
            <a:xfrm>
              <a:off x="4352925" y="2857500"/>
              <a:ext cx="3476625" cy="666750"/>
              <a:chOff x="4352925" y="2857500"/>
              <a:chExt cx="3476625" cy="666750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4352925" y="2857500"/>
                <a:ext cx="3476625" cy="666750"/>
              </a:xfrm>
              <a:prstGeom prst="roundRect">
                <a:avLst>
                  <a:gd name="adj" fmla="val 14286"/>
                </a:avLst>
              </a:prstGeom>
              <a:solidFill>
                <a:srgbClr val="F0FDF4"/>
              </a:solidFill>
              <a:ln w="19050">
                <a:solidFill>
                  <a:schemeClr val="accent2"/>
                </a:solidFill>
              </a:ln>
            </p:spPr>
          </p:sp>
          <p:grpSp>
            <p:nvGrpSpPr>
              <p:cNvPr id="15" name="Group 15"/>
              <p:cNvGrpSpPr/>
              <p:nvPr/>
            </p:nvGrpSpPr>
            <p:grpSpPr>
              <a:xfrm>
                <a:off x="4522589" y="3074789"/>
                <a:ext cx="232173" cy="232173"/>
                <a:chOff x="4522589" y="3074789"/>
                <a:chExt cx="232173" cy="232173"/>
              </a:xfrm>
            </p:grpSpPr>
            <p:sp>
              <p:nvSpPr>
                <p:cNvPr id="13" name="Freeform 13"/>
                <p:cNvSpPr/>
                <p:nvPr/>
              </p:nvSpPr>
              <p:spPr>
                <a:xfrm>
                  <a:off x="4531519" y="3083719"/>
                  <a:ext cx="214313" cy="2143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4313" h="214313">
                      <a:moveTo>
                        <a:pt x="214313" y="107157"/>
                      </a:moveTo>
                      <a:cubicBezTo>
                        <a:pt x="214313" y="166338"/>
                        <a:pt x="166338" y="214313"/>
                        <a:pt x="107157" y="214313"/>
                      </a:cubicBezTo>
                      <a:cubicBezTo>
                        <a:pt x="47976" y="214313"/>
                        <a:pt x="0" y="166338"/>
                        <a:pt x="0" y="107157"/>
                      </a:cubicBezTo>
                      <a:cubicBezTo>
                        <a:pt x="0" y="47976"/>
                        <a:pt x="47976" y="0"/>
                        <a:pt x="107157" y="0"/>
                      </a:cubicBezTo>
                      <a:cubicBezTo>
                        <a:pt x="166338" y="0"/>
                        <a:pt x="214313" y="47976"/>
                        <a:pt x="214313" y="107157"/>
                      </a:cubicBezTo>
                      <a:close/>
                    </a:path>
                  </a:pathLst>
                </a:custGeom>
                <a:solidFill>
                  <a:schemeClr val="accent2">
                    <a:alpha val="20000"/>
                  </a:schemeClr>
                </a:solidFill>
                <a:ln>
                  <a:noFill/>
                </a:ln>
              </p:spPr>
            </p:sp>
            <p:sp>
              <p:nvSpPr>
                <p:cNvPr id="14" name="Freeform 14"/>
                <p:cNvSpPr/>
                <p:nvPr/>
              </p:nvSpPr>
              <p:spPr>
                <a:xfrm>
                  <a:off x="4522589" y="3074789"/>
                  <a:ext cx="232173" cy="2321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2173" h="232173">
                      <a:moveTo>
                        <a:pt x="167053" y="82979"/>
                      </a:moveTo>
                      <a:cubicBezTo>
                        <a:pt x="168730" y="84654"/>
                        <a:pt x="169672" y="86927"/>
                        <a:pt x="169672" y="89297"/>
                      </a:cubicBezTo>
                      <a:cubicBezTo>
                        <a:pt x="169672" y="91667"/>
                        <a:pt x="168730" y="93940"/>
                        <a:pt x="167053" y="95615"/>
                      </a:cubicBezTo>
                      <a:lnTo>
                        <a:pt x="104545" y="158123"/>
                      </a:lnTo>
                      <a:cubicBezTo>
                        <a:pt x="102870" y="159800"/>
                        <a:pt x="100597" y="160742"/>
                        <a:pt x="98227" y="160742"/>
                      </a:cubicBezTo>
                      <a:cubicBezTo>
                        <a:pt x="95857" y="160742"/>
                        <a:pt x="93584" y="159800"/>
                        <a:pt x="91909" y="158123"/>
                      </a:cubicBezTo>
                      <a:lnTo>
                        <a:pt x="65120" y="131334"/>
                      </a:lnTo>
                      <a:cubicBezTo>
                        <a:pt x="61631" y="127845"/>
                        <a:pt x="61631" y="122188"/>
                        <a:pt x="65120" y="118698"/>
                      </a:cubicBezTo>
                      <a:cubicBezTo>
                        <a:pt x="68609" y="115209"/>
                        <a:pt x="74266" y="115209"/>
                        <a:pt x="77756" y="118698"/>
                      </a:cubicBezTo>
                      <a:lnTo>
                        <a:pt x="98227" y="139181"/>
                      </a:lnTo>
                      <a:lnTo>
                        <a:pt x="154417" y="82979"/>
                      </a:lnTo>
                      <a:cubicBezTo>
                        <a:pt x="156092" y="81303"/>
                        <a:pt x="158365" y="80361"/>
                        <a:pt x="160735" y="80361"/>
                      </a:cubicBezTo>
                      <a:cubicBezTo>
                        <a:pt x="163105" y="80361"/>
                        <a:pt x="165378" y="81303"/>
                        <a:pt x="167053" y="82979"/>
                      </a:cubicBezTo>
                      <a:close/>
                      <a:moveTo>
                        <a:pt x="232173" y="116086"/>
                      </a:moveTo>
                      <a:cubicBezTo>
                        <a:pt x="232173" y="180199"/>
                        <a:pt x="180199" y="232173"/>
                        <a:pt x="116086" y="232173"/>
                      </a:cubicBezTo>
                      <a:cubicBezTo>
                        <a:pt x="51974" y="232173"/>
                        <a:pt x="0" y="180199"/>
                        <a:pt x="0" y="116086"/>
                      </a:cubicBezTo>
                      <a:cubicBezTo>
                        <a:pt x="0" y="51974"/>
                        <a:pt x="51974" y="0"/>
                        <a:pt x="116086" y="0"/>
                      </a:cubicBezTo>
                      <a:cubicBezTo>
                        <a:pt x="180171" y="68"/>
                        <a:pt x="232105" y="52002"/>
                        <a:pt x="232173" y="116086"/>
                      </a:cubicBezTo>
                      <a:close/>
                      <a:moveTo>
                        <a:pt x="214313" y="116086"/>
                      </a:moveTo>
                      <a:cubicBezTo>
                        <a:pt x="214313" y="61837"/>
                        <a:pt x="170336" y="17859"/>
                        <a:pt x="116086" y="17859"/>
                      </a:cubicBezTo>
                      <a:cubicBezTo>
                        <a:pt x="61837" y="17859"/>
                        <a:pt x="17859" y="61837"/>
                        <a:pt x="17859" y="116086"/>
                      </a:cubicBezTo>
                      <a:cubicBezTo>
                        <a:pt x="17859" y="170336"/>
                        <a:pt x="61837" y="214313"/>
                        <a:pt x="116086" y="214313"/>
                      </a:cubicBezTo>
                      <a:cubicBezTo>
                        <a:pt x="170310" y="214252"/>
                        <a:pt x="214252" y="170310"/>
                        <a:pt x="214313" y="116086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</p:sp>
          </p:grpSp>
          <p:sp>
            <p:nvSpPr>
              <p:cNvPr id="16" name="TextBox 16"/>
              <p:cNvSpPr txBox="1"/>
              <p:nvPr/>
            </p:nvSpPr>
            <p:spPr>
              <a:xfrm>
                <a:off x="4918329" y="3114675"/>
                <a:ext cx="2289009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" sz="1200" dirty="0">
                    <a:solidFill>
                      <a:srgbClr val="065F46"/>
                    </a:solidFill>
                    <a:latin typeface="Inter"/>
                    <a:ea typeface="Inter"/>
                    <a:cs typeface="Inter"/>
                  </a:rPr>
                  <a:t xml:space="preserve">Split-first: </a:t>
                </a:r>
                <a:r>
                  <a:rPr lang="vi" sz="1200" b="1" dirty="0">
                    <a:solidFill>
                      <a:srgbClr val="065F46"/>
                    </a:solidFill>
                    <a:latin typeface="Inter"/>
                    <a:ea typeface="Inter"/>
                    <a:cs typeface="Inter"/>
                  </a:rPr>
                  <a:t>No data leakage</a:t>
                </a:r>
              </a:p>
            </p:txBody>
          </p:sp>
        </p:grpSp>
        <p:grpSp>
          <p:nvGrpSpPr>
            <p:cNvPr id="23" name="achievement-3"/>
            <p:cNvGrpSpPr/>
            <p:nvPr/>
          </p:nvGrpSpPr>
          <p:grpSpPr>
            <a:xfrm>
              <a:off x="8143875" y="2857500"/>
              <a:ext cx="3476625" cy="666750"/>
              <a:chOff x="8143875" y="2857500"/>
              <a:chExt cx="3476625" cy="666750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8143875" y="2857500"/>
                <a:ext cx="3476625" cy="666750"/>
              </a:xfrm>
              <a:prstGeom prst="roundRect">
                <a:avLst>
                  <a:gd name="adj" fmla="val 14286"/>
                </a:avLst>
              </a:prstGeom>
              <a:solidFill>
                <a:srgbClr val="F0FDF4"/>
              </a:solidFill>
              <a:ln w="19050">
                <a:solidFill>
                  <a:schemeClr val="accent2"/>
                </a:solidFill>
              </a:ln>
            </p:spPr>
          </p:sp>
          <p:grpSp>
            <p:nvGrpSpPr>
              <p:cNvPr id="21" name="Group 21"/>
              <p:cNvGrpSpPr/>
              <p:nvPr/>
            </p:nvGrpSpPr>
            <p:grpSpPr>
              <a:xfrm>
                <a:off x="8313539" y="3074789"/>
                <a:ext cx="232173" cy="232173"/>
                <a:chOff x="8313539" y="3074789"/>
                <a:chExt cx="232173" cy="232173"/>
              </a:xfrm>
            </p:grpSpPr>
            <p:sp>
              <p:nvSpPr>
                <p:cNvPr id="19" name="Freeform 19"/>
                <p:cNvSpPr/>
                <p:nvPr/>
              </p:nvSpPr>
              <p:spPr>
                <a:xfrm>
                  <a:off x="8322469" y="3083719"/>
                  <a:ext cx="214313" cy="2143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4313" h="214313">
                      <a:moveTo>
                        <a:pt x="214313" y="107157"/>
                      </a:moveTo>
                      <a:cubicBezTo>
                        <a:pt x="214313" y="166338"/>
                        <a:pt x="166338" y="214313"/>
                        <a:pt x="107157" y="214313"/>
                      </a:cubicBezTo>
                      <a:cubicBezTo>
                        <a:pt x="47976" y="214313"/>
                        <a:pt x="0" y="166338"/>
                        <a:pt x="0" y="107157"/>
                      </a:cubicBezTo>
                      <a:cubicBezTo>
                        <a:pt x="0" y="47976"/>
                        <a:pt x="47976" y="0"/>
                        <a:pt x="107157" y="0"/>
                      </a:cubicBezTo>
                      <a:cubicBezTo>
                        <a:pt x="166338" y="0"/>
                        <a:pt x="214313" y="47976"/>
                        <a:pt x="214313" y="107157"/>
                      </a:cubicBezTo>
                      <a:close/>
                    </a:path>
                  </a:pathLst>
                </a:custGeom>
                <a:solidFill>
                  <a:schemeClr val="accent2">
                    <a:alpha val="20000"/>
                  </a:schemeClr>
                </a:solidFill>
                <a:ln>
                  <a:noFill/>
                </a:ln>
              </p:spPr>
            </p:sp>
            <p:sp>
              <p:nvSpPr>
                <p:cNvPr id="20" name="Freeform 20"/>
                <p:cNvSpPr/>
                <p:nvPr/>
              </p:nvSpPr>
              <p:spPr>
                <a:xfrm>
                  <a:off x="8313539" y="3074789"/>
                  <a:ext cx="232173" cy="2321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2173" h="232173">
                      <a:moveTo>
                        <a:pt x="167053" y="82979"/>
                      </a:moveTo>
                      <a:cubicBezTo>
                        <a:pt x="168730" y="84654"/>
                        <a:pt x="169672" y="86927"/>
                        <a:pt x="169672" y="89297"/>
                      </a:cubicBezTo>
                      <a:cubicBezTo>
                        <a:pt x="169672" y="91667"/>
                        <a:pt x="168730" y="93940"/>
                        <a:pt x="167053" y="95615"/>
                      </a:cubicBezTo>
                      <a:lnTo>
                        <a:pt x="104545" y="158123"/>
                      </a:lnTo>
                      <a:cubicBezTo>
                        <a:pt x="102870" y="159800"/>
                        <a:pt x="100597" y="160742"/>
                        <a:pt x="98227" y="160742"/>
                      </a:cubicBezTo>
                      <a:cubicBezTo>
                        <a:pt x="95857" y="160742"/>
                        <a:pt x="93584" y="159800"/>
                        <a:pt x="91909" y="158123"/>
                      </a:cubicBezTo>
                      <a:lnTo>
                        <a:pt x="65120" y="131334"/>
                      </a:lnTo>
                      <a:cubicBezTo>
                        <a:pt x="61631" y="127845"/>
                        <a:pt x="61631" y="122188"/>
                        <a:pt x="65120" y="118698"/>
                      </a:cubicBezTo>
                      <a:cubicBezTo>
                        <a:pt x="68609" y="115209"/>
                        <a:pt x="74266" y="115209"/>
                        <a:pt x="77756" y="118698"/>
                      </a:cubicBezTo>
                      <a:lnTo>
                        <a:pt x="98227" y="139181"/>
                      </a:lnTo>
                      <a:lnTo>
                        <a:pt x="154417" y="82979"/>
                      </a:lnTo>
                      <a:cubicBezTo>
                        <a:pt x="156092" y="81303"/>
                        <a:pt x="158365" y="80361"/>
                        <a:pt x="160735" y="80361"/>
                      </a:cubicBezTo>
                      <a:cubicBezTo>
                        <a:pt x="163105" y="80361"/>
                        <a:pt x="165378" y="81303"/>
                        <a:pt x="167053" y="82979"/>
                      </a:cubicBezTo>
                      <a:close/>
                      <a:moveTo>
                        <a:pt x="232173" y="116086"/>
                      </a:moveTo>
                      <a:cubicBezTo>
                        <a:pt x="232173" y="180199"/>
                        <a:pt x="180199" y="232173"/>
                        <a:pt x="116086" y="232173"/>
                      </a:cubicBezTo>
                      <a:cubicBezTo>
                        <a:pt x="51974" y="232173"/>
                        <a:pt x="0" y="180199"/>
                        <a:pt x="0" y="116086"/>
                      </a:cubicBezTo>
                      <a:cubicBezTo>
                        <a:pt x="0" y="51974"/>
                        <a:pt x="51974" y="0"/>
                        <a:pt x="116086" y="0"/>
                      </a:cubicBezTo>
                      <a:cubicBezTo>
                        <a:pt x="180171" y="68"/>
                        <a:pt x="232105" y="52002"/>
                        <a:pt x="232173" y="116086"/>
                      </a:cubicBezTo>
                      <a:close/>
                      <a:moveTo>
                        <a:pt x="214313" y="116086"/>
                      </a:moveTo>
                      <a:cubicBezTo>
                        <a:pt x="214313" y="61837"/>
                        <a:pt x="170336" y="17859"/>
                        <a:pt x="116086" y="17859"/>
                      </a:cubicBezTo>
                      <a:cubicBezTo>
                        <a:pt x="61837" y="17859"/>
                        <a:pt x="17859" y="61837"/>
                        <a:pt x="17859" y="116086"/>
                      </a:cubicBezTo>
                      <a:cubicBezTo>
                        <a:pt x="17859" y="170336"/>
                        <a:pt x="61837" y="214313"/>
                        <a:pt x="116086" y="214313"/>
                      </a:cubicBezTo>
                      <a:cubicBezTo>
                        <a:pt x="170310" y="214252"/>
                        <a:pt x="214252" y="170310"/>
                        <a:pt x="214313" y="116086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</p:sp>
          </p:grpSp>
          <p:sp>
            <p:nvSpPr>
              <p:cNvPr id="22" name="TextBox 22"/>
              <p:cNvSpPr txBox="1"/>
              <p:nvPr/>
            </p:nvSpPr>
            <p:spPr>
              <a:xfrm>
                <a:off x="8709279" y="3114675"/>
                <a:ext cx="255610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" sz="1200" b="1" dirty="0">
                    <a:solidFill>
                      <a:srgbClr val="065F46"/>
                    </a:solidFill>
                    <a:latin typeface="Inter"/>
                    <a:ea typeface="Inter"/>
                    <a:cs typeface="Inter"/>
                  </a:rPr>
                  <a:t>140 experiments</a:t>
                </a:r>
                <a:r>
                  <a:rPr lang="vi" sz="1200" dirty="0">
                    <a:solidFill>
                      <a:srgbClr val="065F46"/>
                    </a:solidFill>
                    <a:latin typeface="Inter"/>
                    <a:ea typeface="Inter"/>
                    <a:cs typeface="Inter"/>
                  </a:rPr>
                  <a:t xml:space="preserve"> comprehensive</a:t>
                </a:r>
              </a:p>
            </p:txBody>
          </p:sp>
        </p:grpSp>
        <p:grpSp>
          <p:nvGrpSpPr>
            <p:cNvPr id="29" name="achievement-4"/>
            <p:cNvGrpSpPr/>
            <p:nvPr/>
          </p:nvGrpSpPr>
          <p:grpSpPr>
            <a:xfrm>
              <a:off x="571500" y="3714750"/>
              <a:ext cx="3476625" cy="666750"/>
              <a:chOff x="571500" y="3714750"/>
              <a:chExt cx="3476625" cy="666750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571500" y="3714750"/>
                <a:ext cx="3476625" cy="666750"/>
              </a:xfrm>
              <a:prstGeom prst="roundRect">
                <a:avLst>
                  <a:gd name="adj" fmla="val 14286"/>
                </a:avLst>
              </a:prstGeom>
              <a:solidFill>
                <a:srgbClr val="F0FDF4"/>
              </a:solidFill>
              <a:ln w="19050">
                <a:solidFill>
                  <a:schemeClr val="accent2"/>
                </a:solidFill>
              </a:ln>
            </p:spPr>
          </p:sp>
          <p:grpSp>
            <p:nvGrpSpPr>
              <p:cNvPr id="27" name="Group 27"/>
              <p:cNvGrpSpPr/>
              <p:nvPr/>
            </p:nvGrpSpPr>
            <p:grpSpPr>
              <a:xfrm>
                <a:off x="741164" y="3932039"/>
                <a:ext cx="232173" cy="232173"/>
                <a:chOff x="741164" y="3932039"/>
                <a:chExt cx="232173" cy="232173"/>
              </a:xfrm>
            </p:grpSpPr>
            <p:sp>
              <p:nvSpPr>
                <p:cNvPr id="25" name="Freeform 25"/>
                <p:cNvSpPr/>
                <p:nvPr/>
              </p:nvSpPr>
              <p:spPr>
                <a:xfrm>
                  <a:off x="750094" y="3940969"/>
                  <a:ext cx="214313" cy="2143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4313" h="214313">
                      <a:moveTo>
                        <a:pt x="214313" y="107157"/>
                      </a:moveTo>
                      <a:cubicBezTo>
                        <a:pt x="214313" y="166338"/>
                        <a:pt x="166338" y="214313"/>
                        <a:pt x="107157" y="214313"/>
                      </a:cubicBezTo>
                      <a:cubicBezTo>
                        <a:pt x="47976" y="214313"/>
                        <a:pt x="0" y="166338"/>
                        <a:pt x="0" y="107157"/>
                      </a:cubicBezTo>
                      <a:cubicBezTo>
                        <a:pt x="0" y="47976"/>
                        <a:pt x="47976" y="0"/>
                        <a:pt x="107157" y="0"/>
                      </a:cubicBezTo>
                      <a:cubicBezTo>
                        <a:pt x="166338" y="0"/>
                        <a:pt x="214313" y="47976"/>
                        <a:pt x="214313" y="107157"/>
                      </a:cubicBezTo>
                      <a:close/>
                    </a:path>
                  </a:pathLst>
                </a:custGeom>
                <a:solidFill>
                  <a:schemeClr val="accent2">
                    <a:alpha val="20000"/>
                  </a:schemeClr>
                </a:solidFill>
                <a:ln>
                  <a:noFill/>
                </a:ln>
              </p:spPr>
            </p:sp>
            <p:sp>
              <p:nvSpPr>
                <p:cNvPr id="26" name="Freeform 26"/>
                <p:cNvSpPr/>
                <p:nvPr/>
              </p:nvSpPr>
              <p:spPr>
                <a:xfrm>
                  <a:off x="741164" y="3932039"/>
                  <a:ext cx="232173" cy="2321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2173" h="232173">
                      <a:moveTo>
                        <a:pt x="167053" y="82979"/>
                      </a:moveTo>
                      <a:cubicBezTo>
                        <a:pt x="168730" y="84654"/>
                        <a:pt x="169672" y="86927"/>
                        <a:pt x="169672" y="89297"/>
                      </a:cubicBezTo>
                      <a:cubicBezTo>
                        <a:pt x="169672" y="91667"/>
                        <a:pt x="168730" y="93940"/>
                        <a:pt x="167053" y="95615"/>
                      </a:cubicBezTo>
                      <a:lnTo>
                        <a:pt x="104545" y="158123"/>
                      </a:lnTo>
                      <a:cubicBezTo>
                        <a:pt x="102870" y="159800"/>
                        <a:pt x="100597" y="160742"/>
                        <a:pt x="98227" y="160742"/>
                      </a:cubicBezTo>
                      <a:cubicBezTo>
                        <a:pt x="95857" y="160742"/>
                        <a:pt x="93584" y="159800"/>
                        <a:pt x="91909" y="158123"/>
                      </a:cubicBezTo>
                      <a:lnTo>
                        <a:pt x="65120" y="131334"/>
                      </a:lnTo>
                      <a:cubicBezTo>
                        <a:pt x="61631" y="127845"/>
                        <a:pt x="61631" y="122188"/>
                        <a:pt x="65120" y="118698"/>
                      </a:cubicBezTo>
                      <a:cubicBezTo>
                        <a:pt x="68609" y="115209"/>
                        <a:pt x="74266" y="115209"/>
                        <a:pt x="77756" y="118698"/>
                      </a:cubicBezTo>
                      <a:lnTo>
                        <a:pt x="98227" y="139181"/>
                      </a:lnTo>
                      <a:lnTo>
                        <a:pt x="154417" y="82979"/>
                      </a:lnTo>
                      <a:cubicBezTo>
                        <a:pt x="156092" y="81303"/>
                        <a:pt x="158365" y="80361"/>
                        <a:pt x="160735" y="80361"/>
                      </a:cubicBezTo>
                      <a:cubicBezTo>
                        <a:pt x="163105" y="80361"/>
                        <a:pt x="165378" y="81303"/>
                        <a:pt x="167053" y="82979"/>
                      </a:cubicBezTo>
                      <a:close/>
                      <a:moveTo>
                        <a:pt x="232173" y="116086"/>
                      </a:moveTo>
                      <a:cubicBezTo>
                        <a:pt x="232173" y="180199"/>
                        <a:pt x="180199" y="232173"/>
                        <a:pt x="116086" y="232173"/>
                      </a:cubicBezTo>
                      <a:cubicBezTo>
                        <a:pt x="51974" y="232173"/>
                        <a:pt x="0" y="180199"/>
                        <a:pt x="0" y="116086"/>
                      </a:cubicBezTo>
                      <a:cubicBezTo>
                        <a:pt x="0" y="51974"/>
                        <a:pt x="51974" y="0"/>
                        <a:pt x="116086" y="0"/>
                      </a:cubicBezTo>
                      <a:cubicBezTo>
                        <a:pt x="180171" y="68"/>
                        <a:pt x="232105" y="52002"/>
                        <a:pt x="232173" y="116086"/>
                      </a:cubicBezTo>
                      <a:close/>
                      <a:moveTo>
                        <a:pt x="214313" y="116086"/>
                      </a:moveTo>
                      <a:cubicBezTo>
                        <a:pt x="214313" y="61837"/>
                        <a:pt x="170336" y="17859"/>
                        <a:pt x="116086" y="17859"/>
                      </a:cubicBezTo>
                      <a:cubicBezTo>
                        <a:pt x="61837" y="17859"/>
                        <a:pt x="17859" y="61837"/>
                        <a:pt x="17859" y="116086"/>
                      </a:cubicBezTo>
                      <a:cubicBezTo>
                        <a:pt x="17859" y="170336"/>
                        <a:pt x="61837" y="214313"/>
                        <a:pt x="116086" y="214313"/>
                      </a:cubicBezTo>
                      <a:cubicBezTo>
                        <a:pt x="170310" y="214252"/>
                        <a:pt x="214252" y="170310"/>
                        <a:pt x="214313" y="116086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</p:sp>
          </p:grpSp>
          <p:sp>
            <p:nvSpPr>
              <p:cNvPr id="28" name="TextBox 28"/>
              <p:cNvSpPr txBox="1"/>
              <p:nvPr/>
            </p:nvSpPr>
            <p:spPr>
              <a:xfrm>
                <a:off x="1136904" y="3971925"/>
                <a:ext cx="236073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" sz="1200" dirty="0">
                    <a:solidFill>
                      <a:srgbClr val="065F46"/>
                    </a:solidFill>
                    <a:latin typeface="Inter"/>
                    <a:ea typeface="Inter"/>
                    <a:cs typeface="Inter"/>
                  </a:rPr>
                  <a:t xml:space="preserve">Test </a:t>
                </a:r>
                <a:r>
                  <a:rPr lang="vi" sz="1200" b="1" dirty="0">
                    <a:solidFill>
                      <a:srgbClr val="065F46"/>
                    </a:solidFill>
                    <a:latin typeface="Inter"/>
                    <a:ea typeface="Inter"/>
                    <a:cs typeface="Inter"/>
                  </a:rPr>
                  <a:t>independent</a:t>
                </a:r>
                <a:r>
                  <a:rPr lang="vi" sz="1200" dirty="0">
                    <a:solidFill>
                      <a:srgbClr val="065F46"/>
                    </a:solidFill>
                    <a:latin typeface="Inter"/>
                    <a:ea typeface="Inter"/>
                    <a:cs typeface="Inter"/>
                  </a:rPr>
                  <a:t>, used ONCE</a:t>
                </a:r>
              </a:p>
            </p:txBody>
          </p:sp>
        </p:grpSp>
        <p:grpSp>
          <p:nvGrpSpPr>
            <p:cNvPr id="35" name="achievement-5"/>
            <p:cNvGrpSpPr/>
            <p:nvPr/>
          </p:nvGrpSpPr>
          <p:grpSpPr>
            <a:xfrm>
              <a:off x="4352925" y="3714750"/>
              <a:ext cx="3476625" cy="666750"/>
              <a:chOff x="4352925" y="3714750"/>
              <a:chExt cx="3476625" cy="666750"/>
            </a:xfrm>
          </p:grpSpPr>
          <p:sp>
            <p:nvSpPr>
              <p:cNvPr id="30" name="Rectangle 30"/>
              <p:cNvSpPr/>
              <p:nvPr/>
            </p:nvSpPr>
            <p:spPr>
              <a:xfrm>
                <a:off x="4352925" y="3714750"/>
                <a:ext cx="3476625" cy="666750"/>
              </a:xfrm>
              <a:prstGeom prst="roundRect">
                <a:avLst>
                  <a:gd name="adj" fmla="val 14286"/>
                </a:avLst>
              </a:prstGeom>
              <a:solidFill>
                <a:srgbClr val="F0FDF4"/>
              </a:solidFill>
              <a:ln w="19050">
                <a:solidFill>
                  <a:schemeClr val="accent2"/>
                </a:solidFill>
              </a:ln>
            </p:spPr>
          </p:sp>
          <p:grpSp>
            <p:nvGrpSpPr>
              <p:cNvPr id="33" name="Group 33"/>
              <p:cNvGrpSpPr/>
              <p:nvPr/>
            </p:nvGrpSpPr>
            <p:grpSpPr>
              <a:xfrm>
                <a:off x="4522589" y="3932039"/>
                <a:ext cx="232173" cy="232173"/>
                <a:chOff x="4522589" y="3932039"/>
                <a:chExt cx="232173" cy="232173"/>
              </a:xfrm>
            </p:grpSpPr>
            <p:sp>
              <p:nvSpPr>
                <p:cNvPr id="31" name="Freeform 31"/>
                <p:cNvSpPr/>
                <p:nvPr/>
              </p:nvSpPr>
              <p:spPr>
                <a:xfrm>
                  <a:off x="4531519" y="3940969"/>
                  <a:ext cx="214313" cy="2143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4313" h="214313">
                      <a:moveTo>
                        <a:pt x="214313" y="107157"/>
                      </a:moveTo>
                      <a:cubicBezTo>
                        <a:pt x="214313" y="166338"/>
                        <a:pt x="166338" y="214313"/>
                        <a:pt x="107157" y="214313"/>
                      </a:cubicBezTo>
                      <a:cubicBezTo>
                        <a:pt x="47976" y="214313"/>
                        <a:pt x="0" y="166338"/>
                        <a:pt x="0" y="107157"/>
                      </a:cubicBezTo>
                      <a:cubicBezTo>
                        <a:pt x="0" y="47976"/>
                        <a:pt x="47976" y="0"/>
                        <a:pt x="107157" y="0"/>
                      </a:cubicBezTo>
                      <a:cubicBezTo>
                        <a:pt x="166338" y="0"/>
                        <a:pt x="214313" y="47976"/>
                        <a:pt x="214313" y="107157"/>
                      </a:cubicBezTo>
                      <a:close/>
                    </a:path>
                  </a:pathLst>
                </a:custGeom>
                <a:solidFill>
                  <a:schemeClr val="accent2">
                    <a:alpha val="20000"/>
                  </a:schemeClr>
                </a:solidFill>
                <a:ln>
                  <a:noFill/>
                </a:ln>
              </p:spPr>
            </p:sp>
            <p:sp>
              <p:nvSpPr>
                <p:cNvPr id="32" name="Freeform 32"/>
                <p:cNvSpPr/>
                <p:nvPr/>
              </p:nvSpPr>
              <p:spPr>
                <a:xfrm>
                  <a:off x="4522589" y="3932039"/>
                  <a:ext cx="232173" cy="2321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2173" h="232173">
                      <a:moveTo>
                        <a:pt x="167053" y="82979"/>
                      </a:moveTo>
                      <a:cubicBezTo>
                        <a:pt x="168730" y="84654"/>
                        <a:pt x="169672" y="86927"/>
                        <a:pt x="169672" y="89297"/>
                      </a:cubicBezTo>
                      <a:cubicBezTo>
                        <a:pt x="169672" y="91667"/>
                        <a:pt x="168730" y="93940"/>
                        <a:pt x="167053" y="95615"/>
                      </a:cubicBezTo>
                      <a:lnTo>
                        <a:pt x="104545" y="158123"/>
                      </a:lnTo>
                      <a:cubicBezTo>
                        <a:pt x="102870" y="159800"/>
                        <a:pt x="100597" y="160742"/>
                        <a:pt x="98227" y="160742"/>
                      </a:cubicBezTo>
                      <a:cubicBezTo>
                        <a:pt x="95857" y="160742"/>
                        <a:pt x="93584" y="159800"/>
                        <a:pt x="91909" y="158123"/>
                      </a:cubicBezTo>
                      <a:lnTo>
                        <a:pt x="65120" y="131334"/>
                      </a:lnTo>
                      <a:cubicBezTo>
                        <a:pt x="61631" y="127845"/>
                        <a:pt x="61631" y="122188"/>
                        <a:pt x="65120" y="118698"/>
                      </a:cubicBezTo>
                      <a:cubicBezTo>
                        <a:pt x="68609" y="115209"/>
                        <a:pt x="74266" y="115209"/>
                        <a:pt x="77756" y="118698"/>
                      </a:cubicBezTo>
                      <a:lnTo>
                        <a:pt x="98227" y="139181"/>
                      </a:lnTo>
                      <a:lnTo>
                        <a:pt x="154417" y="82979"/>
                      </a:lnTo>
                      <a:cubicBezTo>
                        <a:pt x="156092" y="81303"/>
                        <a:pt x="158365" y="80361"/>
                        <a:pt x="160735" y="80361"/>
                      </a:cubicBezTo>
                      <a:cubicBezTo>
                        <a:pt x="163105" y="80361"/>
                        <a:pt x="165378" y="81303"/>
                        <a:pt x="167053" y="82979"/>
                      </a:cubicBezTo>
                      <a:close/>
                      <a:moveTo>
                        <a:pt x="232173" y="116086"/>
                      </a:moveTo>
                      <a:cubicBezTo>
                        <a:pt x="232173" y="180199"/>
                        <a:pt x="180199" y="232173"/>
                        <a:pt x="116086" y="232173"/>
                      </a:cubicBezTo>
                      <a:cubicBezTo>
                        <a:pt x="51974" y="232173"/>
                        <a:pt x="0" y="180199"/>
                        <a:pt x="0" y="116086"/>
                      </a:cubicBezTo>
                      <a:cubicBezTo>
                        <a:pt x="0" y="51974"/>
                        <a:pt x="51974" y="0"/>
                        <a:pt x="116086" y="0"/>
                      </a:cubicBezTo>
                      <a:cubicBezTo>
                        <a:pt x="180171" y="68"/>
                        <a:pt x="232105" y="52002"/>
                        <a:pt x="232173" y="116086"/>
                      </a:cubicBezTo>
                      <a:close/>
                      <a:moveTo>
                        <a:pt x="214313" y="116086"/>
                      </a:moveTo>
                      <a:cubicBezTo>
                        <a:pt x="214313" y="61837"/>
                        <a:pt x="170336" y="17859"/>
                        <a:pt x="116086" y="17859"/>
                      </a:cubicBezTo>
                      <a:cubicBezTo>
                        <a:pt x="61837" y="17859"/>
                        <a:pt x="17859" y="61837"/>
                        <a:pt x="17859" y="116086"/>
                      </a:cubicBezTo>
                      <a:cubicBezTo>
                        <a:pt x="17859" y="170336"/>
                        <a:pt x="61837" y="214313"/>
                        <a:pt x="116086" y="214313"/>
                      </a:cubicBezTo>
                      <a:cubicBezTo>
                        <a:pt x="170310" y="214252"/>
                        <a:pt x="214252" y="170310"/>
                        <a:pt x="214313" y="116086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</p:sp>
          </p:grpSp>
          <p:sp>
            <p:nvSpPr>
              <p:cNvPr id="34" name="TextBox 34"/>
              <p:cNvSpPr txBox="1"/>
              <p:nvPr/>
            </p:nvSpPr>
            <p:spPr>
              <a:xfrm>
                <a:off x="4918329" y="3971925"/>
                <a:ext cx="171632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" sz="1200" b="1" dirty="0">
                    <a:solidFill>
                      <a:srgbClr val="065F46"/>
                    </a:solidFill>
                    <a:latin typeface="Inter"/>
                    <a:ea typeface="Inter"/>
                    <a:cs typeface="Inter"/>
                  </a:rPr>
                  <a:t>Frozen model</a:t>
                </a:r>
                <a:r>
                  <a:rPr lang="vi" sz="1200" dirty="0">
                    <a:solidFill>
                      <a:srgbClr val="065F46"/>
                    </a:solidFill>
                    <a:latin typeface="Inter"/>
                    <a:ea typeface="Inter"/>
                    <a:cs typeface="Inter"/>
                  </a:rPr>
                  <a:t xml:space="preserve"> serving</a:t>
                </a:r>
              </a:p>
            </p:txBody>
          </p:sp>
        </p:grpSp>
        <p:grpSp>
          <p:nvGrpSpPr>
            <p:cNvPr id="41" name="achievement-6"/>
            <p:cNvGrpSpPr/>
            <p:nvPr/>
          </p:nvGrpSpPr>
          <p:grpSpPr>
            <a:xfrm>
              <a:off x="8143875" y="3714750"/>
              <a:ext cx="3476625" cy="666750"/>
              <a:chOff x="8143875" y="3714750"/>
              <a:chExt cx="3476625" cy="666750"/>
            </a:xfrm>
          </p:grpSpPr>
          <p:sp>
            <p:nvSpPr>
              <p:cNvPr id="36" name="Rectangle 36"/>
              <p:cNvSpPr/>
              <p:nvPr/>
            </p:nvSpPr>
            <p:spPr>
              <a:xfrm>
                <a:off x="8143875" y="3714750"/>
                <a:ext cx="3476625" cy="666750"/>
              </a:xfrm>
              <a:prstGeom prst="roundRect">
                <a:avLst>
                  <a:gd name="adj" fmla="val 14286"/>
                </a:avLst>
              </a:prstGeom>
              <a:solidFill>
                <a:srgbClr val="F0FDF4"/>
              </a:solidFill>
              <a:ln w="19050">
                <a:solidFill>
                  <a:schemeClr val="accent2"/>
                </a:solidFill>
              </a:ln>
            </p:spPr>
          </p:sp>
          <p:grpSp>
            <p:nvGrpSpPr>
              <p:cNvPr id="39" name="Group 39"/>
              <p:cNvGrpSpPr/>
              <p:nvPr/>
            </p:nvGrpSpPr>
            <p:grpSpPr>
              <a:xfrm>
                <a:off x="8313539" y="3932039"/>
                <a:ext cx="232173" cy="232173"/>
                <a:chOff x="8313539" y="3932039"/>
                <a:chExt cx="232173" cy="232173"/>
              </a:xfrm>
            </p:grpSpPr>
            <p:sp>
              <p:nvSpPr>
                <p:cNvPr id="37" name="Freeform 37"/>
                <p:cNvSpPr/>
                <p:nvPr/>
              </p:nvSpPr>
              <p:spPr>
                <a:xfrm>
                  <a:off x="8322469" y="3940969"/>
                  <a:ext cx="214313" cy="2143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4313" h="214313">
                      <a:moveTo>
                        <a:pt x="214313" y="107157"/>
                      </a:moveTo>
                      <a:cubicBezTo>
                        <a:pt x="214313" y="166338"/>
                        <a:pt x="166338" y="214313"/>
                        <a:pt x="107157" y="214313"/>
                      </a:cubicBezTo>
                      <a:cubicBezTo>
                        <a:pt x="47976" y="214313"/>
                        <a:pt x="0" y="166338"/>
                        <a:pt x="0" y="107157"/>
                      </a:cubicBezTo>
                      <a:cubicBezTo>
                        <a:pt x="0" y="47976"/>
                        <a:pt x="47976" y="0"/>
                        <a:pt x="107157" y="0"/>
                      </a:cubicBezTo>
                      <a:cubicBezTo>
                        <a:pt x="166338" y="0"/>
                        <a:pt x="214313" y="47976"/>
                        <a:pt x="214313" y="107157"/>
                      </a:cubicBezTo>
                      <a:close/>
                    </a:path>
                  </a:pathLst>
                </a:custGeom>
                <a:solidFill>
                  <a:schemeClr val="accent2">
                    <a:alpha val="20000"/>
                  </a:schemeClr>
                </a:solidFill>
                <a:ln>
                  <a:noFill/>
                </a:ln>
              </p:spPr>
            </p:sp>
            <p:sp>
              <p:nvSpPr>
                <p:cNvPr id="38" name="Freeform 38"/>
                <p:cNvSpPr/>
                <p:nvPr/>
              </p:nvSpPr>
              <p:spPr>
                <a:xfrm>
                  <a:off x="8313539" y="3932039"/>
                  <a:ext cx="232173" cy="2321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2173" h="232173">
                      <a:moveTo>
                        <a:pt x="167053" y="82979"/>
                      </a:moveTo>
                      <a:cubicBezTo>
                        <a:pt x="168730" y="84654"/>
                        <a:pt x="169672" y="86927"/>
                        <a:pt x="169672" y="89297"/>
                      </a:cubicBezTo>
                      <a:cubicBezTo>
                        <a:pt x="169672" y="91667"/>
                        <a:pt x="168730" y="93940"/>
                        <a:pt x="167053" y="95615"/>
                      </a:cubicBezTo>
                      <a:lnTo>
                        <a:pt x="104545" y="158123"/>
                      </a:lnTo>
                      <a:cubicBezTo>
                        <a:pt x="102870" y="159800"/>
                        <a:pt x="100597" y="160742"/>
                        <a:pt x="98227" y="160742"/>
                      </a:cubicBezTo>
                      <a:cubicBezTo>
                        <a:pt x="95857" y="160742"/>
                        <a:pt x="93584" y="159800"/>
                        <a:pt x="91909" y="158123"/>
                      </a:cubicBezTo>
                      <a:lnTo>
                        <a:pt x="65120" y="131334"/>
                      </a:lnTo>
                      <a:cubicBezTo>
                        <a:pt x="61631" y="127845"/>
                        <a:pt x="61631" y="122188"/>
                        <a:pt x="65120" y="118698"/>
                      </a:cubicBezTo>
                      <a:cubicBezTo>
                        <a:pt x="68609" y="115209"/>
                        <a:pt x="74266" y="115209"/>
                        <a:pt x="77756" y="118698"/>
                      </a:cubicBezTo>
                      <a:lnTo>
                        <a:pt x="98227" y="139181"/>
                      </a:lnTo>
                      <a:lnTo>
                        <a:pt x="154417" y="82979"/>
                      </a:lnTo>
                      <a:cubicBezTo>
                        <a:pt x="156092" y="81303"/>
                        <a:pt x="158365" y="80361"/>
                        <a:pt x="160735" y="80361"/>
                      </a:cubicBezTo>
                      <a:cubicBezTo>
                        <a:pt x="163105" y="80361"/>
                        <a:pt x="165378" y="81303"/>
                        <a:pt x="167053" y="82979"/>
                      </a:cubicBezTo>
                      <a:close/>
                      <a:moveTo>
                        <a:pt x="232173" y="116086"/>
                      </a:moveTo>
                      <a:cubicBezTo>
                        <a:pt x="232173" y="180199"/>
                        <a:pt x="180199" y="232173"/>
                        <a:pt x="116086" y="232173"/>
                      </a:cubicBezTo>
                      <a:cubicBezTo>
                        <a:pt x="51974" y="232173"/>
                        <a:pt x="0" y="180199"/>
                        <a:pt x="0" y="116086"/>
                      </a:cubicBezTo>
                      <a:cubicBezTo>
                        <a:pt x="0" y="51974"/>
                        <a:pt x="51974" y="0"/>
                        <a:pt x="116086" y="0"/>
                      </a:cubicBezTo>
                      <a:cubicBezTo>
                        <a:pt x="180171" y="68"/>
                        <a:pt x="232105" y="52002"/>
                        <a:pt x="232173" y="116086"/>
                      </a:cubicBezTo>
                      <a:close/>
                      <a:moveTo>
                        <a:pt x="214313" y="116086"/>
                      </a:moveTo>
                      <a:cubicBezTo>
                        <a:pt x="214313" y="61837"/>
                        <a:pt x="170336" y="17859"/>
                        <a:pt x="116086" y="17859"/>
                      </a:cubicBezTo>
                      <a:cubicBezTo>
                        <a:pt x="61837" y="17859"/>
                        <a:pt x="17859" y="61837"/>
                        <a:pt x="17859" y="116086"/>
                      </a:cubicBezTo>
                      <a:cubicBezTo>
                        <a:pt x="17859" y="170336"/>
                        <a:pt x="61837" y="214313"/>
                        <a:pt x="116086" y="214313"/>
                      </a:cubicBezTo>
                      <a:cubicBezTo>
                        <a:pt x="170310" y="214252"/>
                        <a:pt x="214252" y="170310"/>
                        <a:pt x="214313" y="116086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</p:sp>
          </p:grpSp>
          <p:sp>
            <p:nvSpPr>
              <p:cNvPr id="40" name="TextBox 40"/>
              <p:cNvSpPr txBox="1"/>
              <p:nvPr/>
            </p:nvSpPr>
            <p:spPr>
              <a:xfrm>
                <a:off x="8709279" y="3971925"/>
                <a:ext cx="177473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" sz="1200" b="1" dirty="0">
                    <a:solidFill>
                      <a:srgbClr val="065F46"/>
                    </a:solidFill>
                    <a:latin typeface="Inter"/>
                    <a:ea typeface="Inter"/>
                    <a:cs typeface="Inter"/>
                  </a:rPr>
                  <a:t>64/64 E2E tests</a:t>
                </a:r>
                <a:r>
                  <a:rPr lang="vi" sz="1200" dirty="0">
                    <a:solidFill>
                      <a:srgbClr val="065F46"/>
                    </a:solidFill>
                    <a:latin typeface="Inter"/>
                    <a:ea typeface="Inter"/>
                    <a:cs typeface="Inter"/>
                  </a:rPr>
                  <a:t xml:space="preserve"> PASS</a:t>
                </a:r>
              </a:p>
            </p:txBody>
          </p:sp>
        </p:grpSp>
        <p:grpSp>
          <p:nvGrpSpPr>
            <p:cNvPr id="47" name="achievement-7"/>
            <p:cNvGrpSpPr/>
            <p:nvPr/>
          </p:nvGrpSpPr>
          <p:grpSpPr>
            <a:xfrm>
              <a:off x="571500" y="4572000"/>
              <a:ext cx="3476625" cy="666750"/>
              <a:chOff x="571500" y="4572000"/>
              <a:chExt cx="3476625" cy="666750"/>
            </a:xfrm>
          </p:grpSpPr>
          <p:sp>
            <p:nvSpPr>
              <p:cNvPr id="42" name="Rectangle 42"/>
              <p:cNvSpPr/>
              <p:nvPr/>
            </p:nvSpPr>
            <p:spPr>
              <a:xfrm>
                <a:off x="571500" y="4572000"/>
                <a:ext cx="3476625" cy="666750"/>
              </a:xfrm>
              <a:prstGeom prst="roundRect">
                <a:avLst>
                  <a:gd name="adj" fmla="val 14286"/>
                </a:avLst>
              </a:prstGeom>
              <a:solidFill>
                <a:srgbClr val="F0FDF4"/>
              </a:solidFill>
              <a:ln w="19050">
                <a:solidFill>
                  <a:schemeClr val="accent2"/>
                </a:solidFill>
              </a:ln>
            </p:spPr>
          </p:sp>
          <p:grpSp>
            <p:nvGrpSpPr>
              <p:cNvPr id="45" name="Group 45"/>
              <p:cNvGrpSpPr/>
              <p:nvPr/>
            </p:nvGrpSpPr>
            <p:grpSpPr>
              <a:xfrm>
                <a:off x="741164" y="4789289"/>
                <a:ext cx="232173" cy="232173"/>
                <a:chOff x="741164" y="4789289"/>
                <a:chExt cx="232173" cy="232173"/>
              </a:xfrm>
            </p:grpSpPr>
            <p:sp>
              <p:nvSpPr>
                <p:cNvPr id="43" name="Freeform 43"/>
                <p:cNvSpPr/>
                <p:nvPr/>
              </p:nvSpPr>
              <p:spPr>
                <a:xfrm>
                  <a:off x="750094" y="4798219"/>
                  <a:ext cx="214313" cy="2143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4313" h="214313">
                      <a:moveTo>
                        <a:pt x="214313" y="107157"/>
                      </a:moveTo>
                      <a:cubicBezTo>
                        <a:pt x="214313" y="166338"/>
                        <a:pt x="166338" y="214313"/>
                        <a:pt x="107157" y="214313"/>
                      </a:cubicBezTo>
                      <a:cubicBezTo>
                        <a:pt x="47976" y="214313"/>
                        <a:pt x="0" y="166338"/>
                        <a:pt x="0" y="107157"/>
                      </a:cubicBezTo>
                      <a:cubicBezTo>
                        <a:pt x="0" y="47976"/>
                        <a:pt x="47976" y="0"/>
                        <a:pt x="107157" y="0"/>
                      </a:cubicBezTo>
                      <a:cubicBezTo>
                        <a:pt x="166338" y="0"/>
                        <a:pt x="214313" y="47976"/>
                        <a:pt x="214313" y="107157"/>
                      </a:cubicBezTo>
                      <a:close/>
                    </a:path>
                  </a:pathLst>
                </a:custGeom>
                <a:solidFill>
                  <a:schemeClr val="accent2">
                    <a:alpha val="20000"/>
                  </a:schemeClr>
                </a:solidFill>
                <a:ln>
                  <a:noFill/>
                </a:ln>
              </p:spPr>
            </p:sp>
            <p:sp>
              <p:nvSpPr>
                <p:cNvPr id="44" name="Freeform 44"/>
                <p:cNvSpPr/>
                <p:nvPr/>
              </p:nvSpPr>
              <p:spPr>
                <a:xfrm>
                  <a:off x="741164" y="4789289"/>
                  <a:ext cx="232173" cy="2321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2173" h="232173">
                      <a:moveTo>
                        <a:pt x="167053" y="82979"/>
                      </a:moveTo>
                      <a:cubicBezTo>
                        <a:pt x="168730" y="84654"/>
                        <a:pt x="169672" y="86927"/>
                        <a:pt x="169672" y="89297"/>
                      </a:cubicBezTo>
                      <a:cubicBezTo>
                        <a:pt x="169672" y="91667"/>
                        <a:pt x="168730" y="93940"/>
                        <a:pt x="167053" y="95615"/>
                      </a:cubicBezTo>
                      <a:lnTo>
                        <a:pt x="104545" y="158123"/>
                      </a:lnTo>
                      <a:cubicBezTo>
                        <a:pt x="102870" y="159800"/>
                        <a:pt x="100597" y="160742"/>
                        <a:pt x="98227" y="160742"/>
                      </a:cubicBezTo>
                      <a:cubicBezTo>
                        <a:pt x="95857" y="160742"/>
                        <a:pt x="93584" y="159800"/>
                        <a:pt x="91909" y="158123"/>
                      </a:cubicBezTo>
                      <a:lnTo>
                        <a:pt x="65120" y="131334"/>
                      </a:lnTo>
                      <a:cubicBezTo>
                        <a:pt x="61631" y="127845"/>
                        <a:pt x="61631" y="122188"/>
                        <a:pt x="65120" y="118698"/>
                      </a:cubicBezTo>
                      <a:cubicBezTo>
                        <a:pt x="68609" y="115209"/>
                        <a:pt x="74266" y="115209"/>
                        <a:pt x="77756" y="118698"/>
                      </a:cubicBezTo>
                      <a:lnTo>
                        <a:pt x="98227" y="139181"/>
                      </a:lnTo>
                      <a:lnTo>
                        <a:pt x="154417" y="82979"/>
                      </a:lnTo>
                      <a:cubicBezTo>
                        <a:pt x="156092" y="81303"/>
                        <a:pt x="158365" y="80361"/>
                        <a:pt x="160735" y="80361"/>
                      </a:cubicBezTo>
                      <a:cubicBezTo>
                        <a:pt x="163105" y="80361"/>
                        <a:pt x="165378" y="81303"/>
                        <a:pt x="167053" y="82979"/>
                      </a:cubicBezTo>
                      <a:close/>
                      <a:moveTo>
                        <a:pt x="232173" y="116086"/>
                      </a:moveTo>
                      <a:cubicBezTo>
                        <a:pt x="232173" y="180199"/>
                        <a:pt x="180199" y="232173"/>
                        <a:pt x="116086" y="232173"/>
                      </a:cubicBezTo>
                      <a:cubicBezTo>
                        <a:pt x="51974" y="232173"/>
                        <a:pt x="0" y="180199"/>
                        <a:pt x="0" y="116086"/>
                      </a:cubicBezTo>
                      <a:cubicBezTo>
                        <a:pt x="0" y="51974"/>
                        <a:pt x="51974" y="0"/>
                        <a:pt x="116086" y="0"/>
                      </a:cubicBezTo>
                      <a:cubicBezTo>
                        <a:pt x="180171" y="68"/>
                        <a:pt x="232105" y="52002"/>
                        <a:pt x="232173" y="116086"/>
                      </a:cubicBezTo>
                      <a:close/>
                      <a:moveTo>
                        <a:pt x="214313" y="116086"/>
                      </a:moveTo>
                      <a:cubicBezTo>
                        <a:pt x="214313" y="61837"/>
                        <a:pt x="170336" y="17859"/>
                        <a:pt x="116086" y="17859"/>
                      </a:cubicBezTo>
                      <a:cubicBezTo>
                        <a:pt x="61837" y="17859"/>
                        <a:pt x="17859" y="61837"/>
                        <a:pt x="17859" y="116086"/>
                      </a:cubicBezTo>
                      <a:cubicBezTo>
                        <a:pt x="17859" y="170336"/>
                        <a:pt x="61837" y="214313"/>
                        <a:pt x="116086" y="214313"/>
                      </a:cubicBezTo>
                      <a:cubicBezTo>
                        <a:pt x="170310" y="214252"/>
                        <a:pt x="214252" y="170310"/>
                        <a:pt x="214313" y="116086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</p:sp>
          </p:grpSp>
          <p:sp>
            <p:nvSpPr>
              <p:cNvPr id="46" name="TextBox 46"/>
              <p:cNvSpPr txBox="1"/>
              <p:nvPr/>
            </p:nvSpPr>
            <p:spPr>
              <a:xfrm>
                <a:off x="1136904" y="4829175"/>
                <a:ext cx="231940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" sz="1200" b="1" dirty="0">
                    <a:solidFill>
                      <a:srgbClr val="065F46"/>
                    </a:solidFill>
                    <a:latin typeface="Inter"/>
                    <a:ea typeface="Inter"/>
                    <a:cs typeface="Inter"/>
                  </a:rPr>
                  <a:t>Data &amp; Model cards</a:t>
                </a:r>
                <a:r>
                  <a:rPr lang="vi" sz="1200" dirty="0">
                    <a:solidFill>
                      <a:srgbClr val="065F46"/>
                    </a:solidFill>
                    <a:latin typeface="Inter"/>
                    <a:ea typeface="Inter"/>
                    <a:cs typeface="Inter"/>
                  </a:rPr>
                  <a:t xml:space="preserve"> complete</a:t>
                </a:r>
              </a:p>
            </p:txBody>
          </p:sp>
        </p:grpSp>
        <p:grpSp>
          <p:nvGrpSpPr>
            <p:cNvPr id="53" name="achievement-8"/>
            <p:cNvGrpSpPr/>
            <p:nvPr/>
          </p:nvGrpSpPr>
          <p:grpSpPr>
            <a:xfrm>
              <a:off x="4352925" y="4572000"/>
              <a:ext cx="3476625" cy="666750"/>
              <a:chOff x="4352925" y="4572000"/>
              <a:chExt cx="3476625" cy="666750"/>
            </a:xfrm>
          </p:grpSpPr>
          <p:sp>
            <p:nvSpPr>
              <p:cNvPr id="48" name="Rectangle 48"/>
              <p:cNvSpPr/>
              <p:nvPr/>
            </p:nvSpPr>
            <p:spPr>
              <a:xfrm>
                <a:off x="4352925" y="4572000"/>
                <a:ext cx="3476625" cy="666750"/>
              </a:xfrm>
              <a:prstGeom prst="roundRect">
                <a:avLst>
                  <a:gd name="adj" fmla="val 14286"/>
                </a:avLst>
              </a:prstGeom>
              <a:solidFill>
                <a:srgbClr val="F0FDF4"/>
              </a:solidFill>
              <a:ln w="19050">
                <a:solidFill>
                  <a:schemeClr val="accent2"/>
                </a:solidFill>
              </a:ln>
            </p:spPr>
          </p:sp>
          <p:grpSp>
            <p:nvGrpSpPr>
              <p:cNvPr id="51" name="Group 51"/>
              <p:cNvGrpSpPr/>
              <p:nvPr/>
            </p:nvGrpSpPr>
            <p:grpSpPr>
              <a:xfrm>
                <a:off x="4522589" y="4789289"/>
                <a:ext cx="232173" cy="232173"/>
                <a:chOff x="4522589" y="4789289"/>
                <a:chExt cx="232173" cy="232173"/>
              </a:xfrm>
            </p:grpSpPr>
            <p:sp>
              <p:nvSpPr>
                <p:cNvPr id="49" name="Freeform 49"/>
                <p:cNvSpPr/>
                <p:nvPr/>
              </p:nvSpPr>
              <p:spPr>
                <a:xfrm>
                  <a:off x="4531519" y="4798219"/>
                  <a:ext cx="214313" cy="2143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4313" h="214313">
                      <a:moveTo>
                        <a:pt x="214313" y="107157"/>
                      </a:moveTo>
                      <a:cubicBezTo>
                        <a:pt x="214313" y="166338"/>
                        <a:pt x="166338" y="214313"/>
                        <a:pt x="107157" y="214313"/>
                      </a:cubicBezTo>
                      <a:cubicBezTo>
                        <a:pt x="47976" y="214313"/>
                        <a:pt x="0" y="166338"/>
                        <a:pt x="0" y="107157"/>
                      </a:cubicBezTo>
                      <a:cubicBezTo>
                        <a:pt x="0" y="47976"/>
                        <a:pt x="47976" y="0"/>
                        <a:pt x="107157" y="0"/>
                      </a:cubicBezTo>
                      <a:cubicBezTo>
                        <a:pt x="166338" y="0"/>
                        <a:pt x="214313" y="47976"/>
                        <a:pt x="214313" y="107157"/>
                      </a:cubicBezTo>
                      <a:close/>
                    </a:path>
                  </a:pathLst>
                </a:custGeom>
                <a:solidFill>
                  <a:schemeClr val="accent2">
                    <a:alpha val="20000"/>
                  </a:schemeClr>
                </a:solidFill>
                <a:ln>
                  <a:noFill/>
                </a:ln>
              </p:spPr>
            </p:sp>
            <p:sp>
              <p:nvSpPr>
                <p:cNvPr id="50" name="Freeform 50"/>
                <p:cNvSpPr/>
                <p:nvPr/>
              </p:nvSpPr>
              <p:spPr>
                <a:xfrm>
                  <a:off x="4522589" y="4789289"/>
                  <a:ext cx="232173" cy="2321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2173" h="232173">
                      <a:moveTo>
                        <a:pt x="167053" y="82979"/>
                      </a:moveTo>
                      <a:cubicBezTo>
                        <a:pt x="168730" y="84654"/>
                        <a:pt x="169672" y="86927"/>
                        <a:pt x="169672" y="89297"/>
                      </a:cubicBezTo>
                      <a:cubicBezTo>
                        <a:pt x="169672" y="91667"/>
                        <a:pt x="168730" y="93940"/>
                        <a:pt x="167053" y="95615"/>
                      </a:cubicBezTo>
                      <a:lnTo>
                        <a:pt x="104545" y="158123"/>
                      </a:lnTo>
                      <a:cubicBezTo>
                        <a:pt x="102870" y="159800"/>
                        <a:pt x="100597" y="160742"/>
                        <a:pt x="98227" y="160742"/>
                      </a:cubicBezTo>
                      <a:cubicBezTo>
                        <a:pt x="95857" y="160742"/>
                        <a:pt x="93584" y="159800"/>
                        <a:pt x="91909" y="158123"/>
                      </a:cubicBezTo>
                      <a:lnTo>
                        <a:pt x="65120" y="131334"/>
                      </a:lnTo>
                      <a:cubicBezTo>
                        <a:pt x="61631" y="127845"/>
                        <a:pt x="61631" y="122188"/>
                        <a:pt x="65120" y="118698"/>
                      </a:cubicBezTo>
                      <a:cubicBezTo>
                        <a:pt x="68609" y="115209"/>
                        <a:pt x="74266" y="115209"/>
                        <a:pt x="77756" y="118698"/>
                      </a:cubicBezTo>
                      <a:lnTo>
                        <a:pt x="98227" y="139181"/>
                      </a:lnTo>
                      <a:lnTo>
                        <a:pt x="154417" y="82979"/>
                      </a:lnTo>
                      <a:cubicBezTo>
                        <a:pt x="156092" y="81303"/>
                        <a:pt x="158365" y="80361"/>
                        <a:pt x="160735" y="80361"/>
                      </a:cubicBezTo>
                      <a:cubicBezTo>
                        <a:pt x="163105" y="80361"/>
                        <a:pt x="165378" y="81303"/>
                        <a:pt x="167053" y="82979"/>
                      </a:cubicBezTo>
                      <a:close/>
                      <a:moveTo>
                        <a:pt x="232173" y="116086"/>
                      </a:moveTo>
                      <a:cubicBezTo>
                        <a:pt x="232173" y="180199"/>
                        <a:pt x="180199" y="232173"/>
                        <a:pt x="116086" y="232173"/>
                      </a:cubicBezTo>
                      <a:cubicBezTo>
                        <a:pt x="51974" y="232173"/>
                        <a:pt x="0" y="180199"/>
                        <a:pt x="0" y="116086"/>
                      </a:cubicBezTo>
                      <a:cubicBezTo>
                        <a:pt x="0" y="51974"/>
                        <a:pt x="51974" y="0"/>
                        <a:pt x="116086" y="0"/>
                      </a:cubicBezTo>
                      <a:cubicBezTo>
                        <a:pt x="180171" y="68"/>
                        <a:pt x="232105" y="52002"/>
                        <a:pt x="232173" y="116086"/>
                      </a:cubicBezTo>
                      <a:close/>
                      <a:moveTo>
                        <a:pt x="214313" y="116086"/>
                      </a:moveTo>
                      <a:cubicBezTo>
                        <a:pt x="214313" y="61837"/>
                        <a:pt x="170336" y="17859"/>
                        <a:pt x="116086" y="17859"/>
                      </a:cubicBezTo>
                      <a:cubicBezTo>
                        <a:pt x="61837" y="17859"/>
                        <a:pt x="17859" y="61837"/>
                        <a:pt x="17859" y="116086"/>
                      </a:cubicBezTo>
                      <a:cubicBezTo>
                        <a:pt x="17859" y="170336"/>
                        <a:pt x="61837" y="214313"/>
                        <a:pt x="116086" y="214313"/>
                      </a:cubicBezTo>
                      <a:cubicBezTo>
                        <a:pt x="170310" y="214252"/>
                        <a:pt x="214252" y="170310"/>
                        <a:pt x="214313" y="116086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</p:sp>
          </p:grpSp>
          <p:sp>
            <p:nvSpPr>
              <p:cNvPr id="52" name="TextBox 52"/>
              <p:cNvSpPr txBox="1"/>
              <p:nvPr/>
            </p:nvSpPr>
            <p:spPr>
              <a:xfrm>
                <a:off x="4918329" y="4829175"/>
                <a:ext cx="197917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" sz="1200" b="1" dirty="0">
                    <a:solidFill>
                      <a:srgbClr val="065F46"/>
                    </a:solidFill>
                    <a:latin typeface="Inter"/>
                    <a:ea typeface="Inter"/>
                    <a:cs typeface="Inter"/>
                  </a:rPr>
                  <a:t>Ethical boundaries</a:t>
                </a:r>
                <a:r>
                  <a:rPr lang="vi" sz="1200" dirty="0">
                    <a:solidFill>
                      <a:srgbClr val="065F46"/>
                    </a:solidFill>
                    <a:latin typeface="Inter"/>
                    <a:ea typeface="Inter"/>
                    <a:cs typeface="Inter"/>
                  </a:rPr>
                  <a:t xml:space="preserve"> clear</a:t>
                </a:r>
              </a:p>
            </p:txBody>
          </p:sp>
        </p:grpSp>
        <p:grpSp>
          <p:nvGrpSpPr>
            <p:cNvPr id="59" name="achievement-9"/>
            <p:cNvGrpSpPr/>
            <p:nvPr/>
          </p:nvGrpSpPr>
          <p:grpSpPr>
            <a:xfrm>
              <a:off x="8143875" y="4572000"/>
              <a:ext cx="3476625" cy="666750"/>
              <a:chOff x="8143875" y="4572000"/>
              <a:chExt cx="3476625" cy="666750"/>
            </a:xfrm>
          </p:grpSpPr>
          <p:sp>
            <p:nvSpPr>
              <p:cNvPr id="54" name="Rectangle 54"/>
              <p:cNvSpPr/>
              <p:nvPr/>
            </p:nvSpPr>
            <p:spPr>
              <a:xfrm>
                <a:off x="8143875" y="4572000"/>
                <a:ext cx="3476625" cy="666750"/>
              </a:xfrm>
              <a:prstGeom prst="roundRect">
                <a:avLst>
                  <a:gd name="adj" fmla="val 14286"/>
                </a:avLst>
              </a:prstGeom>
              <a:solidFill>
                <a:srgbClr val="F0FDF4"/>
              </a:solidFill>
              <a:ln w="19050">
                <a:solidFill>
                  <a:schemeClr val="accent2"/>
                </a:solidFill>
              </a:ln>
            </p:spPr>
          </p:sp>
          <p:grpSp>
            <p:nvGrpSpPr>
              <p:cNvPr id="57" name="Group 57"/>
              <p:cNvGrpSpPr/>
              <p:nvPr/>
            </p:nvGrpSpPr>
            <p:grpSpPr>
              <a:xfrm>
                <a:off x="8313539" y="4789289"/>
                <a:ext cx="232173" cy="232173"/>
                <a:chOff x="8313539" y="4789289"/>
                <a:chExt cx="232173" cy="232173"/>
              </a:xfrm>
            </p:grpSpPr>
            <p:sp>
              <p:nvSpPr>
                <p:cNvPr id="55" name="Freeform 55"/>
                <p:cNvSpPr/>
                <p:nvPr/>
              </p:nvSpPr>
              <p:spPr>
                <a:xfrm>
                  <a:off x="8322469" y="4798219"/>
                  <a:ext cx="214313" cy="2143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4313" h="214313">
                      <a:moveTo>
                        <a:pt x="214313" y="107157"/>
                      </a:moveTo>
                      <a:cubicBezTo>
                        <a:pt x="214313" y="166338"/>
                        <a:pt x="166338" y="214313"/>
                        <a:pt x="107157" y="214313"/>
                      </a:cubicBezTo>
                      <a:cubicBezTo>
                        <a:pt x="47976" y="214313"/>
                        <a:pt x="0" y="166338"/>
                        <a:pt x="0" y="107157"/>
                      </a:cubicBezTo>
                      <a:cubicBezTo>
                        <a:pt x="0" y="47976"/>
                        <a:pt x="47976" y="0"/>
                        <a:pt x="107157" y="0"/>
                      </a:cubicBezTo>
                      <a:cubicBezTo>
                        <a:pt x="166338" y="0"/>
                        <a:pt x="214313" y="47976"/>
                        <a:pt x="214313" y="107157"/>
                      </a:cubicBezTo>
                      <a:close/>
                    </a:path>
                  </a:pathLst>
                </a:custGeom>
                <a:solidFill>
                  <a:schemeClr val="accent2">
                    <a:alpha val="20000"/>
                  </a:schemeClr>
                </a:solidFill>
                <a:ln>
                  <a:noFill/>
                </a:ln>
              </p:spPr>
            </p:sp>
            <p:sp>
              <p:nvSpPr>
                <p:cNvPr id="56" name="Freeform 56"/>
                <p:cNvSpPr/>
                <p:nvPr/>
              </p:nvSpPr>
              <p:spPr>
                <a:xfrm>
                  <a:off x="8313539" y="4789289"/>
                  <a:ext cx="232173" cy="2321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2173" h="232173">
                      <a:moveTo>
                        <a:pt x="167053" y="82979"/>
                      </a:moveTo>
                      <a:cubicBezTo>
                        <a:pt x="168730" y="84654"/>
                        <a:pt x="169672" y="86927"/>
                        <a:pt x="169672" y="89297"/>
                      </a:cubicBezTo>
                      <a:cubicBezTo>
                        <a:pt x="169672" y="91667"/>
                        <a:pt x="168730" y="93940"/>
                        <a:pt x="167053" y="95615"/>
                      </a:cubicBezTo>
                      <a:lnTo>
                        <a:pt x="104545" y="158123"/>
                      </a:lnTo>
                      <a:cubicBezTo>
                        <a:pt x="102870" y="159800"/>
                        <a:pt x="100597" y="160742"/>
                        <a:pt x="98227" y="160742"/>
                      </a:cubicBezTo>
                      <a:cubicBezTo>
                        <a:pt x="95857" y="160742"/>
                        <a:pt x="93584" y="159800"/>
                        <a:pt x="91909" y="158123"/>
                      </a:cubicBezTo>
                      <a:lnTo>
                        <a:pt x="65120" y="131334"/>
                      </a:lnTo>
                      <a:cubicBezTo>
                        <a:pt x="61631" y="127845"/>
                        <a:pt x="61631" y="122188"/>
                        <a:pt x="65120" y="118698"/>
                      </a:cubicBezTo>
                      <a:cubicBezTo>
                        <a:pt x="68609" y="115209"/>
                        <a:pt x="74266" y="115209"/>
                        <a:pt x="77756" y="118698"/>
                      </a:cubicBezTo>
                      <a:lnTo>
                        <a:pt x="98227" y="139181"/>
                      </a:lnTo>
                      <a:lnTo>
                        <a:pt x="154417" y="82979"/>
                      </a:lnTo>
                      <a:cubicBezTo>
                        <a:pt x="156092" y="81303"/>
                        <a:pt x="158365" y="80361"/>
                        <a:pt x="160735" y="80361"/>
                      </a:cubicBezTo>
                      <a:cubicBezTo>
                        <a:pt x="163105" y="80361"/>
                        <a:pt x="165378" y="81303"/>
                        <a:pt x="167053" y="82979"/>
                      </a:cubicBezTo>
                      <a:close/>
                      <a:moveTo>
                        <a:pt x="232173" y="116086"/>
                      </a:moveTo>
                      <a:cubicBezTo>
                        <a:pt x="232173" y="180199"/>
                        <a:pt x="180199" y="232173"/>
                        <a:pt x="116086" y="232173"/>
                      </a:cubicBezTo>
                      <a:cubicBezTo>
                        <a:pt x="51974" y="232173"/>
                        <a:pt x="0" y="180199"/>
                        <a:pt x="0" y="116086"/>
                      </a:cubicBezTo>
                      <a:cubicBezTo>
                        <a:pt x="0" y="51974"/>
                        <a:pt x="51974" y="0"/>
                        <a:pt x="116086" y="0"/>
                      </a:cubicBezTo>
                      <a:cubicBezTo>
                        <a:pt x="180171" y="68"/>
                        <a:pt x="232105" y="52002"/>
                        <a:pt x="232173" y="116086"/>
                      </a:cubicBezTo>
                      <a:close/>
                      <a:moveTo>
                        <a:pt x="214313" y="116086"/>
                      </a:moveTo>
                      <a:cubicBezTo>
                        <a:pt x="214313" y="61837"/>
                        <a:pt x="170336" y="17859"/>
                        <a:pt x="116086" y="17859"/>
                      </a:cubicBezTo>
                      <a:cubicBezTo>
                        <a:pt x="61837" y="17859"/>
                        <a:pt x="17859" y="61837"/>
                        <a:pt x="17859" y="116086"/>
                      </a:cubicBezTo>
                      <a:cubicBezTo>
                        <a:pt x="17859" y="170336"/>
                        <a:pt x="61837" y="214313"/>
                        <a:pt x="116086" y="214313"/>
                      </a:cubicBezTo>
                      <a:cubicBezTo>
                        <a:pt x="170310" y="214252"/>
                        <a:pt x="214252" y="170310"/>
                        <a:pt x="214313" y="116086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</p:sp>
          </p:grpSp>
          <p:sp>
            <p:nvSpPr>
              <p:cNvPr id="58" name="TextBox 58"/>
              <p:cNvSpPr txBox="1"/>
              <p:nvPr/>
            </p:nvSpPr>
            <p:spPr>
              <a:xfrm>
                <a:off x="8709279" y="4829175"/>
                <a:ext cx="265985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" sz="1200" b="1" dirty="0">
                    <a:solidFill>
                      <a:srgbClr val="065F46"/>
                    </a:solidFill>
                    <a:latin typeface="Inter"/>
                    <a:ea typeface="Inter"/>
                    <a:cs typeface="Inter"/>
                  </a:rPr>
                  <a:t>Reproducible</a:t>
                </a:r>
                <a:r>
                  <a:rPr lang="vi" sz="1200" dirty="0">
                    <a:solidFill>
                      <a:srgbClr val="065F46"/>
                    </a:solidFill>
                    <a:latin typeface="Inter"/>
                    <a:ea typeface="Inter"/>
                    <a:cs typeface="Inter"/>
                  </a:rPr>
                  <a:t xml:space="preserve"> with SHA checksums</a:t>
                </a:r>
              </a:p>
            </p:txBody>
          </p:sp>
        </p:grpSp>
      </p:grpSp>
      <p:grpSp>
        <p:nvGrpSpPr>
          <p:cNvPr id="65" name="status"/>
          <p:cNvGrpSpPr/>
          <p:nvPr/>
        </p:nvGrpSpPr>
        <p:grpSpPr>
          <a:xfrm>
            <a:off x="571500" y="5334000"/>
            <a:ext cx="11049000" cy="952500"/>
            <a:chOff x="571500" y="5334000"/>
            <a:chExt cx="11049000" cy="952500"/>
          </a:xfrm>
        </p:grpSpPr>
        <p:sp>
          <p:nvSpPr>
            <p:cNvPr id="61" name="Rectangle 61"/>
            <p:cNvSpPr/>
            <p:nvPr/>
          </p:nvSpPr>
          <p:spPr>
            <a:xfrm>
              <a:off x="571500" y="5334000"/>
              <a:ext cx="11049000" cy="952500"/>
            </a:xfrm>
            <a:prstGeom prst="roundRect">
              <a:avLst>
                <a:gd name="adj" fmla="val 16000"/>
              </a:avLst>
            </a:prstGeom>
            <a:gradFill>
              <a:gsLst>
                <a:gs pos="0">
                  <a:schemeClr val="accent2"/>
                </a:gs>
                <a:gs pos="100000">
                  <a:srgbClr val="059669"/>
                </a:gs>
              </a:gsLst>
              <a:lin ang="2700000" scaled="1"/>
            </a:gradFill>
            <a:ln>
              <a:noFill/>
            </a:ln>
          </p:spPr>
        </p:sp>
        <p:grpSp>
          <p:nvGrpSpPr>
            <p:cNvPr id="64" name="status-content"/>
            <p:cNvGrpSpPr/>
            <p:nvPr/>
          </p:nvGrpSpPr>
          <p:grpSpPr>
            <a:xfrm>
              <a:off x="3522896" y="5499100"/>
              <a:ext cx="5146207" cy="664845"/>
              <a:chOff x="3522896" y="5499100"/>
              <a:chExt cx="5146207" cy="664845"/>
            </a:xfrm>
          </p:grpSpPr>
          <p:sp>
            <p:nvSpPr>
              <p:cNvPr id="62" name="TextBox 62"/>
              <p:cNvSpPr txBox="1"/>
              <p:nvPr/>
            </p:nvSpPr>
            <p:spPr>
              <a:xfrm>
                <a:off x="3969708" y="5499100"/>
                <a:ext cx="425258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vi" sz="1800" b="1" dirty="0">
                    <a:solidFill>
                      <a:srgbClr val="FFFFFF"/>
                    </a:solidFill>
                    <a:latin typeface="Inter"/>
                    <a:ea typeface="Inter"/>
                    <a:cs typeface="Inter"/>
                  </a:rPr>
                  <a:t>✓ Gate 9.6: Final Code CI Verified</a:t>
                </a:r>
              </a:p>
            </p:txBody>
          </p:sp>
          <p:sp>
            <p:nvSpPr>
              <p:cNvPr id="63" name="TextBox 63"/>
              <p:cNvSpPr txBox="1"/>
              <p:nvPr/>
            </p:nvSpPr>
            <p:spPr>
              <a:xfrm>
                <a:off x="3522896" y="5870575"/>
                <a:ext cx="5146207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vi" sz="1500" dirty="0">
                    <a:solidFill>
                      <a:srgbClr val="D1FAE5"/>
                    </a:solidFill>
                    <a:latin typeface="Inter"/>
                    <a:ea typeface="Inter"/>
                    <a:cs typeface="Inter"/>
                  </a:rPr>
                  <a:t>Model D011 FROZEN · Ready for Academic Submission</a:t>
                </a:r>
              </a:p>
            </p:txBody>
          </p:sp>
        </p:grpSp>
      </p:grpSp>
      <p:sp>
        <p:nvSpPr>
          <p:cNvPr id="66" name="TextBox 66"/>
          <p:cNvSpPr txBox="1"/>
          <p:nvPr/>
        </p:nvSpPr>
        <p:spPr>
          <a:xfrm>
            <a:off x="5121971" y="6515100"/>
            <a:ext cx="194805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vi" sz="1200" b="1" dirty="0">
                <a:solidFill>
                  <a:srgbClr val="065F46"/>
                </a:solidFill>
                <a:latin typeface="Inter"/>
                <a:ea typeface="Inter"/>
                <a:cs typeface="Inter"/>
              </a:rPr>
              <a:t>Thank You · Questions?</a:t>
            </a:r>
          </a:p>
        </p:txBody>
      </p:sp>
    </p:spTree>
  </p:cSld>
  <p:clrMapOvr>
    <a:masterClrMapping/>
  </p:clrMapOvr>
  <p:transition xmlns:p14="http://schemas.microsoft.com/office/powerpoint/2010/main" p14:dur="800">
    <p:fade/>
  </p:transition>
</p:sld>
</file>

<file path=ppt/theme/theme1.xml><?xml version="1.0" encoding="utf-8"?>
<a:theme xmlns:a="http://schemas.openxmlformats.org/drawingml/2006/main" name="project22_kmeans_presentation">
  <a:themeElements>
    <a:clrScheme name="project22_kmeans_presentation">
      <a:dk1>
        <a:srgbClr val="1F2937"/>
      </a:dk1>
      <a:lt1>
        <a:srgbClr val="FFFFFF"/>
      </a:lt1>
      <a:dk2>
        <a:srgbClr val="1F497D"/>
      </a:dk2>
      <a:lt2>
        <a:srgbClr val="F8F9FA"/>
      </a:lt2>
      <a:accent1>
        <a:srgbClr val="2563EB"/>
      </a:accent1>
      <a:accent2>
        <a:srgbClr val="10B981"/>
      </a:accent2>
      <a:accent3>
        <a:srgbClr val="8B5CF6"/>
      </a:accent3>
      <a:accent4>
        <a:srgbClr val="2563EB"/>
      </a:accent4>
      <a:accent5>
        <a:srgbClr val="6B7280"/>
      </a:accent5>
      <a:accent6>
        <a:srgbClr val="E5E7EB"/>
      </a:accent6>
      <a:hlink>
        <a:srgbClr val="10B981"/>
      </a:hlink>
      <a:folHlink>
        <a:srgbClr val="8B5CF6"/>
      </a:folHlink>
    </a:clrScheme>
    <a:fontScheme name="project22_kmeans_presentation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roject22_kmeans_presentatio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vi</dc:language>
  <cp:lastModifiedBy/>
  <cp:revision>1</cp:revision>
  <dcterms:created xsi:type="dcterms:W3CDTF">2026-10-26T13:44:10Z</dcterms:created>
  <dcterms:modified xsi:type="dcterms:W3CDTF">2026-10-26T13:44:10Z</dcterms:modified>
  <cp:category/>
  <cp:contentStatus/>
</cp:coreProperties>
</file>