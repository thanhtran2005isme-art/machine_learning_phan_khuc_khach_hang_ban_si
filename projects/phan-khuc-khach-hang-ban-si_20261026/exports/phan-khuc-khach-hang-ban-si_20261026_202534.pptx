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vi"/>
    </a:defPPr>
    <a:lvl1pPr marL="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han-khuc-khach-hang-ban-si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vi" smtClean="0"/>
              <a:t>1/27/13</a:t>
            </a:fld>
            <a:endParaRPr lang="v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vi" smtClean="0"/>
              <a:t>‹#›</a:t>
            </a:fld>
            <a:endParaRPr lang="vi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han-khuc-khach-hang-ban-si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vi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vi" smtClean="0"/>
              <a:t>1/27/13</a:t>
            </a:fld>
            <a:endParaRPr lang="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vi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vi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vi" smtClean="0"/>
              <a:t>‹#›</a:t>
            </a:fld>
            <a:endParaRPr lang="v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vi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vi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vi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vi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vi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vi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vi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vi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vi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vi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"/>
      </a:defPPr>
      <a:lvl1pPr marL="0" algn="l" defTabSz="457200" rtl="0" eaLnBrk="1" latinLnBrk="0" hangingPunct="1">
        <a:defRPr sz="1800" kern="1200" lang="vi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vi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vi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vi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vi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vi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vi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vi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vi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3143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143250" y="0"/>
            <a:ext cx="666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886200" y="2051050"/>
            <a:ext cx="849162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4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Phân Khúc Khách Hàng Bán Sì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95344" y="2863850"/>
            <a:ext cx="591421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9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Machine Learning Phân Khúc Khách Hàng Bán Sì</a:t>
            </a:r>
          </a:p>
        </p:txBody>
      </p:sp>
      <p:sp>
        <p:nvSpPr>
          <p:cNvPr id="6" name="Rectangle 6"/>
          <p:cNvSpPr/>
          <p:nvPr/>
        </p:nvSpPr>
        <p:spPr>
          <a:xfrm>
            <a:off x="3905250" y="3409950"/>
            <a:ext cx="1333500" cy="571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897249" y="3714750"/>
            <a:ext cx="6642441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8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Dự án 22 · Quyết định D011 · K-Means K=2 · log1p + StandardScaler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97249" y="4000500"/>
            <a:ext cx="6708595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8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440 khách hàng bán sỉ · 6 chi tiêu hàng năm · kiểm thử độc lập 88 mẫu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98011" y="4546600"/>
            <a:ext cx="68277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4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Nguồn: UCI Wholesale Customers (DOI 10.24432/C5030X) · Ngày 2026-10-08</a:t>
            </a:r>
          </a:p>
        </p:txBody>
      </p:sp>
      <p:sp>
        <p:nvSpPr>
          <p:cNvPr id="10" name="Ellipse 10"/>
          <p:cNvSpPr/>
          <p:nvPr/>
        </p:nvSpPr>
        <p:spPr>
          <a:xfrm>
            <a:off x="10134600" y="5657850"/>
            <a:ext cx="876300" cy="876300"/>
          </a:xfrm>
          <a:prstGeom prst="ellipse">
            <a:avLst/>
          </a:prstGeom>
          <a:solidFill>
            <a:srgbClr val="E9ECE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276580" y="5873750"/>
            <a:ext cx="59233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228600"/>
            <a:ext cx="7991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MỤC LỤC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046" y="368300"/>
            <a:ext cx="285880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Lộ trình trình bày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71550"/>
            <a:ext cx="5334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09625" y="1514475"/>
            <a:ext cx="209550" cy="2095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78938" y="1555750"/>
            <a:ext cx="7092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8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4430" y="1447800"/>
            <a:ext cx="17278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Bài toán &amp; dữ liệu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5954" y="1752600"/>
            <a:ext cx="39570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P03 · UCI Wholesale Customers, 440 khách, 6 chi tiêu</a:t>
            </a:r>
          </a:p>
        </p:txBody>
      </p:sp>
      <p:sp>
        <p:nvSpPr>
          <p:cNvPr id="10" name="Ellipse 10"/>
          <p:cNvSpPr/>
          <p:nvPr/>
        </p:nvSpPr>
        <p:spPr>
          <a:xfrm>
            <a:off x="809625" y="2257425"/>
            <a:ext cx="209550" cy="2095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78938" y="2298700"/>
            <a:ext cx="7092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8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4430" y="2190750"/>
            <a:ext cx="23226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Tiền xử lý &amp; chia dữ liệu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5954" y="2495550"/>
            <a:ext cx="33675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P04 · log1p → StandardScaler; split 264/88/88</a:t>
            </a:r>
          </a:p>
        </p:txBody>
      </p:sp>
      <p:sp>
        <p:nvSpPr>
          <p:cNvPr id="14" name="Ellipse 14"/>
          <p:cNvSpPr/>
          <p:nvPr/>
        </p:nvSpPr>
        <p:spPr>
          <a:xfrm>
            <a:off x="809625" y="3000375"/>
            <a:ext cx="209550" cy="2095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78938" y="3041650"/>
            <a:ext cx="7092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8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4430" y="2933700"/>
            <a:ext cx="18228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Chọn mô hình K=2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5954" y="3238500"/>
            <a:ext cx="26532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P05 · Tại sao không Raw K2 hay K3</a:t>
            </a:r>
          </a:p>
        </p:txBody>
      </p:sp>
      <p:sp>
        <p:nvSpPr>
          <p:cNvPr id="18" name="Ellipse 18"/>
          <p:cNvSpPr/>
          <p:nvPr/>
        </p:nvSpPr>
        <p:spPr>
          <a:xfrm>
            <a:off x="809625" y="3743325"/>
            <a:ext cx="209550" cy="2095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78938" y="3784600"/>
            <a:ext cx="7092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8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4430" y="3676650"/>
            <a:ext cx="25562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Quy trình đóng băng D011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5954" y="3981450"/>
            <a:ext cx="29509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P06 · Freeze trước test, đánh giá một lần</a:t>
            </a:r>
          </a:p>
        </p:txBody>
      </p:sp>
      <p:sp>
        <p:nvSpPr>
          <p:cNvPr id="22" name="Ellipse 22"/>
          <p:cNvSpPr/>
          <p:nvPr/>
        </p:nvSpPr>
        <p:spPr>
          <a:xfrm>
            <a:off x="6372225" y="1514475"/>
            <a:ext cx="209550" cy="2095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441538" y="1555750"/>
            <a:ext cx="7092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8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17030" y="1447800"/>
            <a:ext cx="28272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Kết quả phát triển &amp; kiểm thử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18554" y="1752600"/>
            <a:ext cx="26444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P07-P08 · Silhouette 0.289 → 0.239</a:t>
            </a:r>
          </a:p>
        </p:txBody>
      </p:sp>
      <p:sp>
        <p:nvSpPr>
          <p:cNvPr id="26" name="Ellipse 26"/>
          <p:cNvSpPr/>
          <p:nvPr/>
        </p:nvSpPr>
        <p:spPr>
          <a:xfrm>
            <a:off x="6372225" y="2257425"/>
            <a:ext cx="209550" cy="2095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441538" y="2298700"/>
            <a:ext cx="7092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8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17030" y="2190750"/>
            <a:ext cx="249118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Profile hai cụm &amp; so sánh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18554" y="2495550"/>
            <a:ext cx="39885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P09-P11 · Tạp hóa/chất tẩy rửa vs Hàng tươi/đông lạnh</a:t>
            </a:r>
          </a:p>
        </p:txBody>
      </p:sp>
      <p:sp>
        <p:nvSpPr>
          <p:cNvPr id="30" name="Ellipse 30"/>
          <p:cNvSpPr/>
          <p:nvPr/>
        </p:nvSpPr>
        <p:spPr>
          <a:xfrm>
            <a:off x="6372225" y="3000375"/>
            <a:ext cx="209550" cy="2095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441538" y="3041650"/>
            <a:ext cx="7092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8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7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17030" y="2933700"/>
            <a:ext cx="30409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Hạn chế, khuyến nghị &amp; tóm tắt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18554" y="3238500"/>
            <a:ext cx="31399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P12-P14 · Ranh giới mô hình và hành động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65660" y="6578600"/>
            <a:ext cx="96929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Project 22 · P02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228600"/>
            <a:ext cx="8371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BÀI TOÁN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046" y="368300"/>
            <a:ext cx="2670766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Dữ liệu &amp; nguồn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71550"/>
            <a:ext cx="5334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428750"/>
            <a:ext cx="2495550" cy="1600200"/>
          </a:xfrm>
          <a:prstGeom prst="roundRect">
            <a:avLst>
              <a:gd name="adj" fmla="val 7143"/>
            </a:avLst>
          </a:prstGeom>
          <a:solidFill>
            <a:srgbClr val="E9ECEF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1428750"/>
            <a:ext cx="2495550" cy="47625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22377" y="1517650"/>
            <a:ext cx="77479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440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6982" y="2108200"/>
            <a:ext cx="12655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Khách hàng bán sỉ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7189" y="2330450"/>
            <a:ext cx="158517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UCI Wholesale Customers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562350" y="1428750"/>
            <a:ext cx="2495550" cy="1600200"/>
          </a:xfrm>
          <a:prstGeom prst="roundRect">
            <a:avLst>
              <a:gd name="adj" fmla="val 7143"/>
            </a:avLst>
          </a:prstGeom>
          <a:solidFill>
            <a:srgbClr val="E9ECE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562350" y="1428750"/>
            <a:ext cx="2495550" cy="47625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69816" y="1517650"/>
            <a:ext cx="2806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90048" y="2108200"/>
            <a:ext cx="12401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Chi tiêu hàng năm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8879" y="2343150"/>
            <a:ext cx="328249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9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Fresh, Milk, Grocery, Frozen, Detergents_Paper, Delicassen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362700" y="1428750"/>
            <a:ext cx="2495550" cy="1600200"/>
          </a:xfrm>
          <a:prstGeom prst="roundRect">
            <a:avLst>
              <a:gd name="adj" fmla="val 7143"/>
            </a:avLst>
          </a:prstGeom>
          <a:solidFill>
            <a:srgbClr val="E9ECEF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362700" y="1428750"/>
            <a:ext cx="2495550" cy="47625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470166" y="1517650"/>
            <a:ext cx="2806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82416" y="2108200"/>
            <a:ext cx="12561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Giá trị thiếu / trùng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55715" y="2317750"/>
            <a:ext cx="17095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Dữ liệu đã được làm sạch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163050" y="1428750"/>
            <a:ext cx="2495550" cy="1600200"/>
          </a:xfrm>
          <a:prstGeom prst="roundRect">
            <a:avLst>
              <a:gd name="adj" fmla="val 7143"/>
            </a:avLst>
          </a:prstGeom>
          <a:solidFill>
            <a:srgbClr val="E9ECEF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9163050" y="1428750"/>
            <a:ext cx="2495550" cy="47625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058335" y="1644650"/>
            <a:ext cx="70498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 + 3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92435" y="2108200"/>
            <a:ext cx="16367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Nhóm Channel / Region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30166" y="2317750"/>
            <a:ext cx="21613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Chỉ dùng profiling sau clustering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3409950"/>
            <a:ext cx="10668000" cy="2381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62000" y="3409950"/>
            <a:ext cx="10668000" cy="400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07923" y="3505200"/>
            <a:ext cx="898945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Thuộc tính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70173" y="3505200"/>
            <a:ext cx="515569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Giá trị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3810000"/>
            <a:ext cx="10668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08304" y="3886200"/>
            <a:ext cx="9701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Số dòng / cột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70554" y="3886200"/>
            <a:ext cx="27080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440 / 8 (Channel, Region + 6 chi tiêu)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08304" y="4267200"/>
            <a:ext cx="6188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Channel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670554" y="4267200"/>
            <a:ext cx="10540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1: 298 · 2: 142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4572000"/>
            <a:ext cx="10668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08304" y="4648200"/>
            <a:ext cx="5289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Region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670554" y="4648200"/>
            <a:ext cx="14670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1: 77 · 2: 47 · 3: 316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62000" y="4953000"/>
            <a:ext cx="10668000" cy="38100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08304" y="5029200"/>
            <a:ext cx="10143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Nguồn dữ liệu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670554" y="5029200"/>
            <a:ext cx="37737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UCI Wholesale Customers · DOI 10.24432/C5030X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5334000"/>
            <a:ext cx="10668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08304" y="5410200"/>
            <a:ext cx="7538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Giấy phép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670554" y="5410200"/>
            <a:ext cx="8185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CC BY 4.0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65660" y="6578600"/>
            <a:ext cx="96929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Project 22 · P03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228600"/>
            <a:ext cx="111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CHUỖI XỬ LÝ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046" y="368300"/>
            <a:ext cx="394845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Tiền xử lý &amp; chia dữ liệu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71550"/>
            <a:ext cx="5334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4380" y="1104900"/>
            <a:ext cx="236762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Tiền xử lý (chỉ 6 chi tiêu)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454150"/>
            <a:ext cx="324477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35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log1p(x) → StandardScaler → K-Means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904" y="1733550"/>
            <a:ext cx="46831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Channel và Region không tham gia fit; chỉ profiling sau phân cụm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4380" y="2057400"/>
            <a:ext cx="454325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Chia dữ liệu (split trước khi học preprocessing)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2628900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E9ECEF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762000" y="2628900"/>
            <a:ext cx="3238500" cy="47625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993852" y="2717800"/>
            <a:ext cx="77479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264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01828" y="3308350"/>
            <a:ext cx="35884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Train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24640" y="3517900"/>
            <a:ext cx="313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60%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81500" y="2628900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E9ECE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381500" y="2628900"/>
            <a:ext cx="3238500" cy="47625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736896" y="2717800"/>
            <a:ext cx="52770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88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62030" y="3308350"/>
            <a:ext cx="6774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Validation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44140" y="3517900"/>
            <a:ext cx="313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20%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001000" y="2628900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E9ECEF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8001000" y="2628900"/>
            <a:ext cx="3238500" cy="47625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356396" y="2717800"/>
            <a:ext cx="52770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88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65847" y="3308350"/>
            <a:ext cx="3088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Test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63640" y="3517900"/>
            <a:ext cx="313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20%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6285" y="4260850"/>
            <a:ext cx="76250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Test 88 mẫu được khóa, đánh giá một lần sau khi mô hình đóng băng; không dùng để chọn K, seed hay tiền xử lý.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65660" y="6578600"/>
            <a:ext cx="96929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Project 22 · P04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228600"/>
            <a:ext cx="13017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CHỌN MÔ HÌNH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046" y="368300"/>
            <a:ext cx="706234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Tại sao chọn K=2 (log1p + StandardScaler)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71550"/>
            <a:ext cx="5334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333500"/>
            <a:ext cx="106680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1333500"/>
            <a:ext cx="10668000" cy="41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08304" y="1428750"/>
            <a:ext cx="26121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Tiêu chí (train/validation, 10 seed)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94404" y="1428750"/>
            <a:ext cx="7092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Raw K=2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80404" y="1428750"/>
            <a:ext cx="14436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Log1p+Scaler K=2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66404" y="1428750"/>
            <a:ext cx="14436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Log1p+Scaler K=3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1752600"/>
            <a:ext cx="10668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08685" y="1841500"/>
            <a:ext cx="13648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Silhouette validation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94785" y="1841500"/>
            <a:ext cx="4726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0.6103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80785" y="1841500"/>
            <a:ext cx="4726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0.3066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6785" y="1841500"/>
            <a:ext cx="4726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0.2165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133600"/>
            <a:ext cx="10668000" cy="38100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08685" y="2222500"/>
            <a:ext cx="10680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ARI mean / min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94785" y="2222500"/>
            <a:ext cx="1059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1.0000 / 1.0000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80785" y="2222500"/>
            <a:ext cx="1059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0.9970 / 0.9848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66785" y="2222500"/>
            <a:ext cx="1059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0.9078 / 0.7982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2514600"/>
            <a:ext cx="10668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08685" y="2603500"/>
            <a:ext cx="19606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Tỷ trọng cụm nhỏ nhất (train)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94785" y="2603500"/>
            <a:ext cx="5228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17.80%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80785" y="2603500"/>
            <a:ext cx="5228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44.70%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66785" y="2603500"/>
            <a:ext cx="5228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30.38%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2895600"/>
            <a:ext cx="10668000" cy="38100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08685" y="2984500"/>
            <a:ext cx="209538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Top 1% đóng góp inertia (train)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994785" y="2984500"/>
            <a:ext cx="5228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25.33%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80785" y="2984500"/>
            <a:ext cx="5228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10.06%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66785" y="2984500"/>
            <a:ext cx="5228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10.43%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5523" y="3752850"/>
            <a:ext cx="10296910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8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Raw K=2: silhouette cao nhưng điểm xa chi phối, cụm không cân bằng. K3 ít ổn định khi refit. K2 log+scaled cân bằng và ổn định nhất.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65660" y="6578600"/>
            <a:ext cx="96929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Project 22 · P05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228600"/>
            <a:ext cx="9509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QUY TRÌNH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046" y="368300"/>
            <a:ext cx="787385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Đóng băng mô hình D011 — test không chạm fit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71550"/>
            <a:ext cx="5334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1143000" y="1619250"/>
            <a:ext cx="9906000" cy="666750"/>
            <a:chOff x="1143000" y="1619250"/>
            <a:chExt cx="9906000" cy="666750"/>
          </a:xfrm>
        </p:grpSpPr>
        <p:sp>
          <p:nvSpPr>
            <p:cNvPr id="6" name="Rectangle 6"/>
            <p:cNvSpPr/>
            <p:nvPr/>
          </p:nvSpPr>
          <p:spPr>
            <a:xfrm>
              <a:off x="1143000" y="1619250"/>
              <a:ext cx="2857500" cy="666750"/>
            </a:xfrm>
            <a:prstGeom prst="roundRect">
              <a:avLst>
                <a:gd name="adj" fmla="val 14286"/>
              </a:avLst>
            </a:prstGeom>
            <a:solidFill>
              <a:srgbClr val="E9ECE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024328" y="1657350"/>
              <a:ext cx="10948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· Chọn K=2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78408" y="1930400"/>
              <a:ext cx="15866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D011 trên train/validation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095750" y="19526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572000" y="188595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0" y="0"/>
                  </a:moveTo>
                  <a:lnTo>
                    <a:pt x="952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667250" y="1619250"/>
              <a:ext cx="2857500" cy="666750"/>
            </a:xfrm>
            <a:prstGeom prst="roundRect">
              <a:avLst>
                <a:gd name="adj" fmla="val 14286"/>
              </a:avLst>
            </a:prstGeom>
            <a:solidFill>
              <a:srgbClr val="E9ECE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090618" y="1657350"/>
              <a:ext cx="20107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· Freeze selection.json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46464" y="1930400"/>
              <a:ext cx="1099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Trước khi mở test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0" y="19526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8096250" y="188595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0" y="0"/>
                  </a:moveTo>
                  <a:lnTo>
                    <a:pt x="952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191500" y="1619250"/>
              <a:ext cx="2857500" cy="666750"/>
            </a:xfrm>
            <a:prstGeom prst="roundRect">
              <a:avLst>
                <a:gd name="adj" fmla="val 14286"/>
              </a:avLst>
            </a:prstGeom>
            <a:solidFill>
              <a:srgbClr val="E9ECE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824113" y="1657350"/>
              <a:ext cx="159227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· Fit trên 352 mẫu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50393" y="1930400"/>
              <a:ext cx="1939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train+validation → model.joblib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43000" y="3143250"/>
            <a:ext cx="9906000" cy="666750"/>
            <a:chOff x="1143000" y="3143250"/>
            <a:chExt cx="9906000" cy="666750"/>
          </a:xfrm>
        </p:grpSpPr>
        <p:sp>
          <p:nvSpPr>
            <p:cNvPr id="20" name="Rectangle 20"/>
            <p:cNvSpPr/>
            <p:nvPr/>
          </p:nvSpPr>
          <p:spPr>
            <a:xfrm>
              <a:off x="1143000" y="3143250"/>
              <a:ext cx="2857500" cy="666750"/>
            </a:xfrm>
            <a:prstGeom prst="roundRect">
              <a:avLst>
                <a:gd name="adj" fmla="val 14286"/>
              </a:avLst>
            </a:prstGeom>
            <a:solidFill>
              <a:srgbClr val="E9EC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74979" y="3181350"/>
              <a:ext cx="199354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· Đánh giá test 88 mẫu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63081" y="3454400"/>
              <a:ext cx="1217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Một lần, sau freeze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095750" y="34766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4572000" y="340995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0" y="0"/>
                  </a:moveTo>
                  <a:lnTo>
                    <a:pt x="952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667250" y="3143250"/>
              <a:ext cx="2857500" cy="666750"/>
            </a:xfrm>
            <a:prstGeom prst="roundRect">
              <a:avLst>
                <a:gd name="adj" fmla="val 14286"/>
              </a:avLst>
            </a:prstGeom>
            <a:solidFill>
              <a:srgbClr val="E9ECE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112867" y="3181350"/>
              <a:ext cx="196626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 · final_evaluation.json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70198" y="3454400"/>
              <a:ext cx="2051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status COMPLETE, test một lần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620000" y="34766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096250" y="340995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0" y="0"/>
                  </a:moveTo>
                  <a:lnTo>
                    <a:pt x="952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191500" y="3143250"/>
              <a:ext cx="2857500" cy="666750"/>
            </a:xfrm>
            <a:prstGeom prst="roundRect">
              <a:avLst>
                <a:gd name="adj" fmla="val 14286"/>
              </a:avLst>
            </a:prstGeom>
            <a:solidFill>
              <a:srgbClr val="E9ECE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11203" y="3181350"/>
              <a:ext cx="161809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 · Serving chỉ infer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91745" y="3454400"/>
              <a:ext cx="16570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Không retrain, không fit lại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56285" y="4146550"/>
            <a:ext cx="9978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Test 88 mẫu được khóa trước freeze; không tham gia chọn K, seed, tiền xử lý hay đặt tên cụm. serving chỉ log1p(x) + scaler đã lưu + nearest centroid.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65660" y="6578600"/>
            <a:ext cx="96929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Project 22 · P06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228600"/>
            <a:ext cx="1851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KẾT QUẢ PHÁT TRIỂN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046" y="368300"/>
            <a:ext cx="727840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Tập phát triển — 352 mẫu (train + validation)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71550"/>
            <a:ext cx="5334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62000" y="1524000"/>
            <a:ext cx="2590800" cy="1619250"/>
            <a:chOff x="762000" y="1524000"/>
            <a:chExt cx="2590800" cy="1619250"/>
          </a:xfrm>
        </p:grpSpPr>
        <p:sp>
          <p:nvSpPr>
            <p:cNvPr id="6" name="Rectangle 6"/>
            <p:cNvSpPr/>
            <p:nvPr/>
          </p:nvSpPr>
          <p:spPr>
            <a:xfrm>
              <a:off x="762000" y="1524000"/>
              <a:ext cx="2590800" cy="1619250"/>
            </a:xfrm>
            <a:prstGeom prst="roundRect">
              <a:avLst>
                <a:gd name="adj" fmla="val 7059"/>
              </a:avLst>
            </a:prstGeom>
            <a:solidFill>
              <a:srgbClr val="E9ECE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524000"/>
              <a:ext cx="25908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58721" y="1587500"/>
              <a:ext cx="119735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0.289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14465" y="2241550"/>
              <a:ext cx="685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Silhouette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74712" y="2463800"/>
              <a:ext cx="7653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development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638550" y="1524000"/>
            <a:ext cx="2590800" cy="1619250"/>
            <a:chOff x="3638550" y="1524000"/>
            <a:chExt cx="259080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638550" y="1524000"/>
              <a:ext cx="2590800" cy="1619250"/>
            </a:xfrm>
            <a:prstGeom prst="roundRect">
              <a:avLst>
                <a:gd name="adj" fmla="val 7059"/>
              </a:avLst>
            </a:prstGeom>
            <a:solidFill>
              <a:srgbClr val="E9ECE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638550" y="1524000"/>
              <a:ext cx="25908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64432" y="1587500"/>
              <a:ext cx="93903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4.16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32168" y="2241550"/>
              <a:ext cx="803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Inertia / row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38373" y="2463800"/>
              <a:ext cx="79115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log1p+scaled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515100" y="1524000"/>
            <a:ext cx="2590800" cy="1619250"/>
            <a:chOff x="6515100" y="1524000"/>
            <a:chExt cx="2590800" cy="1619250"/>
          </a:xfrm>
        </p:grpSpPr>
        <p:sp>
          <p:nvSpPr>
            <p:cNvPr id="18" name="Rectangle 18"/>
            <p:cNvSpPr/>
            <p:nvPr/>
          </p:nvSpPr>
          <p:spPr>
            <a:xfrm>
              <a:off x="6515100" y="1524000"/>
              <a:ext cx="2590800" cy="1619250"/>
            </a:xfrm>
            <a:prstGeom prst="roundRect">
              <a:avLst>
                <a:gd name="adj" fmla="val 7059"/>
              </a:avLst>
            </a:prstGeom>
            <a:solidFill>
              <a:srgbClr val="E9ECE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515100" y="1524000"/>
              <a:ext cx="25908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24479" y="1587500"/>
              <a:ext cx="197204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162 / 190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88302" y="2241550"/>
              <a:ext cx="1044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Cụm 0 / Cụm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76479" y="2463800"/>
              <a:ext cx="86804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46.0% / 54.0%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391650" y="1524000"/>
            <a:ext cx="2590800" cy="1619250"/>
            <a:chOff x="9391650" y="1524000"/>
            <a:chExt cx="2590800" cy="1619250"/>
          </a:xfrm>
        </p:grpSpPr>
        <p:sp>
          <p:nvSpPr>
            <p:cNvPr id="24" name="Rectangle 24"/>
            <p:cNvSpPr/>
            <p:nvPr/>
          </p:nvSpPr>
          <p:spPr>
            <a:xfrm>
              <a:off x="9391650" y="1524000"/>
              <a:ext cx="2590800" cy="1619250"/>
            </a:xfrm>
            <a:prstGeom prst="roundRect">
              <a:avLst>
                <a:gd name="adj" fmla="val 7059"/>
              </a:avLst>
            </a:prstGeom>
            <a:solidFill>
              <a:srgbClr val="E9ECE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391650" y="1524000"/>
              <a:ext cx="25908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011042" y="1587500"/>
              <a:ext cx="135201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46.0%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05072" y="2241550"/>
              <a:ext cx="9639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Cụm nhỏ nhất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64150" y="2463800"/>
              <a:ext cx="8457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tỷ trọng cụm 0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55523" y="3276600"/>
            <a:ext cx="9793358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8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Hai cụm cân bằng (46.0% / 54.0%), silhouette 0.289 trên không gian log1p+scaled. Outliers được gắn cờ (16 mẫu) không bị loại.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65660" y="6578600"/>
            <a:ext cx="96929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Project 22 · P07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228600"/>
            <a:ext cx="16526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KIỂM THỬ ĐỘC LẬP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046" y="368300"/>
            <a:ext cx="564920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Tập kiểm thử — 88 mẫu (one-shot)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71550"/>
            <a:ext cx="5334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524000"/>
            <a:ext cx="2590800" cy="1619250"/>
          </a:xfrm>
          <a:prstGeom prst="roundRect">
            <a:avLst>
              <a:gd name="adj" fmla="val 7059"/>
            </a:avLst>
          </a:prstGeom>
          <a:solidFill>
            <a:srgbClr val="E9ECEF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1524000"/>
            <a:ext cx="25908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458721" y="1587500"/>
            <a:ext cx="1197357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34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0.239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1569" y="2241550"/>
            <a:ext cx="10716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Silhouette (test)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64684" y="2463800"/>
            <a:ext cx="985431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đánh giá một lần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638550" y="1524000"/>
            <a:ext cx="2590800" cy="1619250"/>
          </a:xfrm>
          <a:prstGeom prst="roundRect">
            <a:avLst>
              <a:gd name="adj" fmla="val 7059"/>
            </a:avLst>
          </a:prstGeom>
          <a:solidFill>
            <a:srgbClr val="E9ECE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638550" y="1524000"/>
            <a:ext cx="25908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464432" y="1587500"/>
            <a:ext cx="93903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34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4.51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32168" y="2241550"/>
            <a:ext cx="8035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Inertia / row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38373" y="2463800"/>
            <a:ext cx="79115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log1p+scaled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515100" y="1524000"/>
            <a:ext cx="2590800" cy="1619250"/>
          </a:xfrm>
          <a:prstGeom prst="roundRect">
            <a:avLst>
              <a:gd name="adj" fmla="val 7059"/>
            </a:avLst>
          </a:prstGeom>
          <a:solidFill>
            <a:srgbClr val="E9ECEF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515100" y="1524000"/>
            <a:ext cx="25908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082800" y="1587500"/>
            <a:ext cx="1455399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34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45 / 43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88302" y="2241550"/>
            <a:ext cx="10443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Cụm 0 / Cụm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10541" y="2463800"/>
            <a:ext cx="99991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min share 48.9%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391650" y="1524000"/>
            <a:ext cx="2590800" cy="1619250"/>
          </a:xfrm>
          <a:prstGeom prst="roundRect">
            <a:avLst>
              <a:gd name="adj" fmla="val 7059"/>
            </a:avLst>
          </a:prstGeom>
          <a:solidFill>
            <a:srgbClr val="E9ECEF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9391650" y="1524000"/>
            <a:ext cx="25908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158728" y="1701800"/>
            <a:ext cx="105664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↓0.050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97522" y="2241550"/>
            <a:ext cx="7790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Chênh lệch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95428" y="2463800"/>
            <a:ext cx="1183244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test vs development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5523" y="3276600"/>
            <a:ext cx="11416589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8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Silhouette test thấp hơn development 0.0503 — chỉ số ngoài mẫu, không dùng chọn lại K. Không nhãn thật ⇒ không báo accuracy/precision/recall/F1.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65660" y="6578600"/>
            <a:ext cx="96929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Project 22 · P08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228600"/>
            <a:ext cx="11879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PROFILE CỤM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046" y="368300"/>
            <a:ext cx="484224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Cụm 0: Tạp hóa / chất tẩy rửa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71550"/>
            <a:ext cx="5334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333500"/>
            <a:ext cx="5334000" cy="1619250"/>
          </a:xfrm>
          <a:prstGeom prst="roundRect">
            <a:avLst>
              <a:gd name="adj" fmla="val 7059"/>
            </a:avLst>
          </a:prstGeom>
          <a:solidFill>
            <a:srgbClr val="E9ECEF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1333500"/>
            <a:ext cx="5334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44880" y="1447800"/>
            <a:ext cx="17550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162 khách (46.0%)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6404" y="1752600"/>
            <a:ext cx="22361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Mã 0 không có thứ hạng giá trị.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6404" y="2019300"/>
            <a:ext cx="34783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Xu hướng cao: Grocery, Milk, Detergents_Paper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381750" y="1333500"/>
            <a:ext cx="50482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565773" y="1485900"/>
            <a:ext cx="1637244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Median (đơn vị gốc)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381750" y="1809750"/>
            <a:ext cx="5048250" cy="38100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528435" y="1879600"/>
            <a:ext cx="40120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Fresh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40211" y="1879600"/>
            <a:ext cx="5145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6.410,5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381750" y="2190750"/>
            <a:ext cx="50482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528435" y="2260600"/>
            <a:ext cx="2832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Milk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65957" y="2260600"/>
            <a:ext cx="38875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7.226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381750" y="2571750"/>
            <a:ext cx="5048250" cy="38100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528435" y="2641600"/>
            <a:ext cx="5519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Grocery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56350" y="2641600"/>
            <a:ext cx="59836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10.842,5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381750" y="2952750"/>
            <a:ext cx="50482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528435" y="3022600"/>
            <a:ext cx="4851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Frozen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65957" y="3022600"/>
            <a:ext cx="38875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1.153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381750" y="3333750"/>
            <a:ext cx="5048250" cy="38100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528435" y="3403600"/>
            <a:ext cx="12444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Detergents_Paper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40211" y="3403600"/>
            <a:ext cx="5145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4.084,5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381750" y="3714750"/>
            <a:ext cx="50482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28435" y="3784600"/>
            <a:ext cx="7531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Delicassen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540211" y="3784600"/>
            <a:ext cx="5145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1.508,5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6285" y="3289300"/>
            <a:ext cx="56633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Grocery là chi tiêu trung vị cao nhất; Milk và Detergents_Paper cũng cao hơn cụm 1.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65660" y="6578600"/>
            <a:ext cx="96929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Project 22 · P09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228600"/>
            <a:ext cx="11879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PROFILE CỤM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046" y="368300"/>
            <a:ext cx="626986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Cụm 1: Thiên về hàng tươi / đông lạnh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71550"/>
            <a:ext cx="5334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333500"/>
            <a:ext cx="5334000" cy="1619250"/>
          </a:xfrm>
          <a:prstGeom prst="roundRect">
            <a:avLst>
              <a:gd name="adj" fmla="val 7059"/>
            </a:avLst>
          </a:prstGeom>
          <a:solidFill>
            <a:srgbClr val="E9ECEF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1333500"/>
            <a:ext cx="5334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44880" y="1447800"/>
            <a:ext cx="17550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190 khách (54.0%)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6404" y="1752600"/>
            <a:ext cx="26406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Mã 1 không mang nghĩa tốt/xấu hơn.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6404" y="2019300"/>
            <a:ext cx="21214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Xu hướng cao: Fresh, Frozen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381750" y="1333500"/>
            <a:ext cx="50482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565773" y="1485900"/>
            <a:ext cx="1637244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Median (đơn vị gốc)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381750" y="1809750"/>
            <a:ext cx="5048250" cy="38100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528435" y="1879600"/>
            <a:ext cx="40120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Fresh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40211" y="1879600"/>
            <a:ext cx="5145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9.727,5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381750" y="2190750"/>
            <a:ext cx="50482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528435" y="2260600"/>
            <a:ext cx="2832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Milk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65957" y="2260600"/>
            <a:ext cx="38875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1.626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381750" y="2571750"/>
            <a:ext cx="5048250" cy="38100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528435" y="2641600"/>
            <a:ext cx="5519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Grocery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40211" y="2641600"/>
            <a:ext cx="5145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2.175,5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381750" y="2952750"/>
            <a:ext cx="50482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528435" y="3022600"/>
            <a:ext cx="4851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Frozen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40211" y="3022600"/>
            <a:ext cx="5145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2.194,5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381750" y="3333750"/>
            <a:ext cx="5048250" cy="38100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528435" y="3403600"/>
            <a:ext cx="12444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Detergents_Paper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665957" y="3403600"/>
            <a:ext cx="38875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279,5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381750" y="3714750"/>
            <a:ext cx="50482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28435" y="3784600"/>
            <a:ext cx="7531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Delicassen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91703" y="3784600"/>
            <a:ext cx="2630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662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6285" y="3289300"/>
            <a:ext cx="62162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Fresh là chi tiêu trung vị cao nhất; Frozen cũng cao hơn cụm 0, còn Milk/Detergents rất thấp.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65660" y="6578600"/>
            <a:ext cx="96929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Project 22 · P10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228600"/>
            <a:ext cx="7898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 SÁNH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046" y="368300"/>
            <a:ext cx="963908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 chi tiêu giữa hai cụm (median, đã chuẩn hóa mỗi chi tiêu)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71550"/>
            <a:ext cx="5334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2762250" y="1619250"/>
            <a:ext cx="762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947035" y="1593850"/>
            <a:ext cx="4639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Cụm 0</a:t>
            </a:r>
          </a:p>
        </p:txBody>
      </p:sp>
      <p:sp>
        <p:nvSpPr>
          <p:cNvPr id="8" name="Rectangle 8"/>
          <p:cNvSpPr/>
          <p:nvPr/>
        </p:nvSpPr>
        <p:spPr>
          <a:xfrm>
            <a:off x="2762250" y="1828800"/>
            <a:ext cx="76200" cy="15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947035" y="1803400"/>
            <a:ext cx="4639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Cụm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6512" y="2203450"/>
            <a:ext cx="40120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Fresh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857500" y="2247900"/>
            <a:ext cx="5534025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2857500" y="2362200"/>
            <a:ext cx="838200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079732" y="2216150"/>
            <a:ext cx="4500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6.410,5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27707" y="2330450"/>
            <a:ext cx="4500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9.727,5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4506" y="2698750"/>
            <a:ext cx="2832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Milk</a:t>
            </a:r>
          </a:p>
        </p:txBody>
      </p:sp>
      <p:sp>
        <p:nvSpPr>
          <p:cNvPr id="16" name="Rectangle 16"/>
          <p:cNvSpPr/>
          <p:nvPr/>
        </p:nvSpPr>
        <p:spPr>
          <a:xfrm>
            <a:off x="2857500" y="2743200"/>
            <a:ext cx="838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2857500" y="2857500"/>
            <a:ext cx="184785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037735" y="2711450"/>
            <a:ext cx="34006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7.226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3585" y="2825750"/>
            <a:ext cx="34006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1.626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5765" y="3194050"/>
            <a:ext cx="5519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Grocery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857500" y="3238500"/>
            <a:ext cx="838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2857500" y="3352800"/>
            <a:ext cx="184785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854329" y="3206750"/>
            <a:ext cx="523474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10.842,5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93557" y="3321050"/>
            <a:ext cx="4500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2.175,5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2588" y="3689350"/>
            <a:ext cx="4851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Frozen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857500" y="3733800"/>
            <a:ext cx="443865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2857500" y="3848100"/>
            <a:ext cx="838200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094385" y="3702050"/>
            <a:ext cx="34006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1.153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7707" y="3835400"/>
            <a:ext cx="4500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2.194,5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6285" y="4184650"/>
            <a:ext cx="12444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Detergents_Paper</a:t>
            </a:r>
          </a:p>
        </p:txBody>
      </p:sp>
      <p:sp>
        <p:nvSpPr>
          <p:cNvPr id="31" name="Rectangle 31"/>
          <p:cNvSpPr/>
          <p:nvPr/>
        </p:nvSpPr>
        <p:spPr>
          <a:xfrm>
            <a:off x="2857500" y="4229100"/>
            <a:ext cx="838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2857500" y="4343400"/>
            <a:ext cx="59055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927707" y="4197350"/>
            <a:ext cx="4500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4.084,5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46285" y="4311650"/>
            <a:ext cx="34006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279,5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613" y="4679950"/>
            <a:ext cx="7531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12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Delicassen</a:t>
            </a:r>
          </a:p>
        </p:txBody>
      </p:sp>
      <p:sp>
        <p:nvSpPr>
          <p:cNvPr id="36" name="Rectangle 36"/>
          <p:cNvSpPr/>
          <p:nvPr/>
        </p:nvSpPr>
        <p:spPr>
          <a:xfrm>
            <a:off x="2857500" y="4724400"/>
            <a:ext cx="838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2857500" y="4838700"/>
            <a:ext cx="3686175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927707" y="4692650"/>
            <a:ext cx="4500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1.508,5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51938" y="4806950"/>
            <a:ext cx="23004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662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6285" y="5194300"/>
            <a:ext cx="101149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Cụm 0 mạnh hơn trên Grocery/Milk/Detergents_Paper; Cụm 1 mạnh hơn trên Fresh/Frozen. Mỗi bar đã đượcchuẩn hóa theo chi tiêu đó (max = 100%).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65660" y="6578600"/>
            <a:ext cx="96929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Project 22 · P11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228600"/>
            <a:ext cx="7898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HẠN CHẾ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046" y="368300"/>
            <a:ext cx="5416406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Giới hạn và giả định của mô hình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71550"/>
            <a:ext cx="5334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754761" y="1155700"/>
            <a:ext cx="7042907" cy="526796"/>
            <a:chOff x="754761" y="1155700"/>
            <a:chExt cx="7042907" cy="526796"/>
          </a:xfrm>
        </p:grpSpPr>
        <p:sp>
          <p:nvSpPr>
            <p:cNvPr id="6" name="TextBox 6"/>
            <p:cNvSpPr txBox="1"/>
            <p:nvPr/>
          </p:nvSpPr>
          <p:spPr>
            <a:xfrm>
              <a:off x="754761" y="1155700"/>
              <a:ext cx="27503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Không phải phân loại có nhãn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1447800"/>
              <a:ext cx="7041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Không có nhãn sự thật ⇒ không báo accuracy / precision / recall / F1. Cụm không phải tốt hay xấu.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761" y="1803400"/>
            <a:ext cx="7347374" cy="526796"/>
            <a:chOff x="754761" y="1803400"/>
            <a:chExt cx="7347374" cy="526796"/>
          </a:xfrm>
        </p:grpSpPr>
        <p:sp>
          <p:nvSpPr>
            <p:cNvPr id="9" name="TextBox 9"/>
            <p:cNvSpPr txBox="1"/>
            <p:nvPr/>
          </p:nvSpPr>
          <p:spPr>
            <a:xfrm>
              <a:off x="754761" y="1803400"/>
              <a:ext cx="28781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Không suy ra doanh / lợi nhuận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904" y="2095500"/>
              <a:ext cx="73462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Mô hình dùng để khám phá và tạo giả thuyết cần kiểm chứng, không dự báo nhu cầu hay giá trị khách.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4761" y="2451100"/>
            <a:ext cx="8079280" cy="526796"/>
            <a:chOff x="754761" y="2451100"/>
            <a:chExt cx="8079280" cy="526796"/>
          </a:xfrm>
        </p:grpSpPr>
        <p:sp>
          <p:nvSpPr>
            <p:cNvPr id="12" name="TextBox 12"/>
            <p:cNvSpPr txBox="1"/>
            <p:nvPr/>
          </p:nvSpPr>
          <p:spPr>
            <a:xfrm>
              <a:off x="754761" y="2451100"/>
              <a:ext cx="31212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Không retrain và không phải OOD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904" y="2743200"/>
              <a:ext cx="80781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Serving dùng artifact đã đóng băng; chỉ infer. Cờ outlier là mô tả phát triển, không phải xác suất ngoài phân phối.</a:t>
              </a:r>
            </a:p>
          </p:txBody>
        </p:sp>
      </p:grpSp>
      <p:sp>
        <p:nvSpPr>
          <p:cNvPr id="15" name="Ellipse 15"/>
          <p:cNvSpPr/>
          <p:nvPr/>
        </p:nvSpPr>
        <p:spPr>
          <a:xfrm>
            <a:off x="904875" y="31908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213104" y="3124200"/>
            <a:ext cx="71438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K-Means nhạy cảm với preprocessing và outlier; khoảng cách chỉ có nghĩa trong biểu diễn đã scale.</a:t>
            </a:r>
          </a:p>
        </p:txBody>
      </p:sp>
      <p:sp>
        <p:nvSpPr>
          <p:cNvPr id="17" name="Ellipse 17"/>
          <p:cNvSpPr/>
          <p:nvPr/>
        </p:nvSpPr>
        <p:spPr>
          <a:xfrm>
            <a:off x="904875" y="35718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13104" y="3505200"/>
            <a:ext cx="69803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Channel / Region chỉ hậu phân cụm, không dùng làm ground truth chọn K hay kết luận nhân quả.</a:t>
            </a:r>
          </a:p>
        </p:txBody>
      </p:sp>
      <p:sp>
        <p:nvSpPr>
          <p:cNvPr id="19" name="Ellipse 19"/>
          <p:cNvSpPr/>
          <p:nvPr/>
        </p:nvSpPr>
        <p:spPr>
          <a:xfrm>
            <a:off x="904875" y="39528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13104" y="3886200"/>
            <a:ext cx="63222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Profiling giới hạn bởi validation 88 mẫu; không chứng minh doanh/lợi nhuận thực tế tăng.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65660" y="6578600"/>
            <a:ext cx="96929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Project 22 · P12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55904" y="228600"/>
            <a:ext cx="12071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KHUYẾN NGHỊ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046" y="368300"/>
            <a:ext cx="736145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25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Khuyến nghị nghiệp vụ theo hai nhóm khách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71550"/>
            <a:ext cx="5334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762000" y="1428750"/>
            <a:ext cx="5334000" cy="3143250"/>
            <a:chOff x="762000" y="1428750"/>
            <a:chExt cx="5334000" cy="3143250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5334000" cy="3143250"/>
            </a:xfrm>
            <a:prstGeom prst="roundRect">
              <a:avLst>
                <a:gd name="adj" fmla="val 3636"/>
              </a:avLst>
            </a:prstGeom>
            <a:solidFill>
              <a:srgbClr val="E9ECE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428750"/>
              <a:ext cx="53340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261" y="1555750"/>
              <a:ext cx="28782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Cụm 0 — Tạp hóa / chất tẩy rửa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981075" y="20669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89685" y="2012950"/>
              <a:ext cx="3438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Ưu tiên chăm sóc Grocery, Milk, Detergents_Paper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981075" y="23526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89685" y="2298700"/>
              <a:ext cx="3712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Combo chương trình khuyến mãi hàng gia dụng định kỳ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981075" y="26384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89685" y="2584450"/>
              <a:ext cx="2798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Giữ giá cạnh tranh trên nhóm chất tẩy rửa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81750" y="1428750"/>
            <a:ext cx="5048250" cy="3143250"/>
            <a:chOff x="6381750" y="1428750"/>
            <a:chExt cx="5048250" cy="3143250"/>
          </a:xfrm>
        </p:grpSpPr>
        <p:sp>
          <p:nvSpPr>
            <p:cNvPr id="16" name="Rectangle 16"/>
            <p:cNvSpPr/>
            <p:nvPr/>
          </p:nvSpPr>
          <p:spPr>
            <a:xfrm>
              <a:off x="6381750" y="1428750"/>
              <a:ext cx="5048250" cy="3143250"/>
            </a:xfrm>
            <a:prstGeom prst="roundRect">
              <a:avLst>
                <a:gd name="adj" fmla="val 3636"/>
              </a:avLst>
            </a:prstGeom>
            <a:solidFill>
              <a:srgbClr val="E9ECE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81750" y="1428750"/>
              <a:ext cx="50482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65011" y="1555750"/>
              <a:ext cx="2866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Cụm 1 — Hàng tươi / đông lạnh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600825" y="20669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09435" y="2012950"/>
              <a:ext cx="3396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Chăm sát Fresh, Frozen (chuỗi lạnh, hạn sử dụng)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600825" y="2352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09435" y="2298700"/>
              <a:ext cx="3110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Ưu tiên giao hàng nhanh, bảo quản chất lượng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600825" y="26384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09435" y="2584450"/>
              <a:ext cx="28913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dirty="0">
                  <a:solidFill>
                    <a:srgbClr val="1A1A1A"/>
                  </a:solidFill>
                  <a:latin typeface="+mn-lt"/>
                  <a:ea typeface="+mn-ea"/>
                  <a:cs typeface="+mn-cs"/>
                </a:rPr>
                <a:t>Theo dõi ciclo mua hàng tươi thường xuyên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5904" y="4800600"/>
            <a:ext cx="12835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Hành động ngay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5904" y="5086350"/>
            <a:ext cx="103189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Ánh xạ mỗi khách hiện có vào 2 cụm qua mô hình đóng băng, rồi điều chỉnh kế hoạch chăm sóc theo nhóm; kiểm chứng doanh thu sau 1-2 quý.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65660" y="6578600"/>
            <a:ext cx="96929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Project 22 · P13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291043" y="2317750"/>
            <a:ext cx="3609913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Tóm tắt &amp; đóng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88249" y="3048000"/>
            <a:ext cx="721550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8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 nhóm khách hàng · K=2 đã đóng băng · kiểm thử độc lập 88 mẫu</a:t>
            </a:r>
          </a:p>
        </p:txBody>
      </p:sp>
      <p:sp>
        <p:nvSpPr>
          <p:cNvPr id="5" name="Rectangle 5"/>
          <p:cNvSpPr/>
          <p:nvPr/>
        </p:nvSpPr>
        <p:spPr>
          <a:xfrm>
            <a:off x="6096000" y="3619500"/>
            <a:ext cx="19050" cy="228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422719" y="3848100"/>
            <a:ext cx="534656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5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Silhouette phát triển 0.289 · kiểm thử 0.239 · cụm 162 / 190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83845" y="4267200"/>
            <a:ext cx="54243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20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Mô hình dùng để khám phá &amp; tạo giả thuyết nghiệp vụ, cần kiểm chứng tiếp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34751" y="5753100"/>
            <a:ext cx="11224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Cảm ơn quý vị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72066" y="6064250"/>
            <a:ext cx="48478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050" dirty="0">
                <a:solidFill>
                  <a:srgbClr val="9FB6CE"/>
                </a:solidFill>
                <a:latin typeface="+mn-lt"/>
                <a:ea typeface="+mn-ea"/>
                <a:cs typeface="+mn-cs"/>
              </a:rPr>
              <a:t>Dự án 22 — Machine Learning Phân Khúc Khách Hàng Bán Sì · 2026-10-08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65660" y="6578600"/>
            <a:ext cx="96929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980" dirty="0">
                <a:solidFill>
                  <a:srgbClr val="9FB6CE"/>
                </a:solidFill>
                <a:latin typeface="+mn-lt"/>
                <a:ea typeface="+mn-ea"/>
                <a:cs typeface="+mn-cs"/>
              </a:rPr>
              <a:t>Project 22 · P14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han-khuc-khach-hang-ban-si">
  <a:themeElements>
    <a:clrScheme name="phan-khuc-khach-hang-ban-si">
      <a:dk1>
        <a:srgbClr val="0B3C5D"/>
      </a:dk1>
      <a:lt1>
        <a:srgbClr val="FFFFFF"/>
      </a:lt1>
      <a:dk2>
        <a:srgbClr val="6B7280"/>
      </a:dk2>
      <a:lt2>
        <a:srgbClr val="EEECE1"/>
      </a:lt2>
      <a:accent1>
        <a:srgbClr val="0B3C5D"/>
      </a:accent1>
      <a:accent2>
        <a:srgbClr val="2E86AB"/>
      </a:accent2>
      <a:accent3>
        <a:srgbClr val="2E86AB"/>
      </a:accent3>
      <a:accent4>
        <a:srgbClr val="0B3C5D"/>
      </a:accent4>
      <a:accent5>
        <a:srgbClr val="14537C"/>
      </a:accent5>
      <a:accent6>
        <a:srgbClr val="F4A259"/>
      </a:accent6>
      <a:hlink>
        <a:srgbClr val="2E86AB"/>
      </a:hlink>
      <a:folHlink>
        <a:srgbClr val="2E86AB"/>
      </a:folHlink>
    </a:clrScheme>
    <a:fontScheme name="phan-khuc-khach-hang-ban-si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han-khuc-khach-hang-ban-s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vi</dc:language>
  <cp:lastModifiedBy/>
  <cp:revision>1</cp:revision>
  <dcterms:created xsi:type="dcterms:W3CDTF">2026-10-26T13:25:35Z</dcterms:created>
  <dcterms:modified xsi:type="dcterms:W3CDTF">2026-10-26T13:25:35Z</dcterms:modified>
  <cp:category/>
  <cp:contentStatus/>
</cp:coreProperties>
</file>