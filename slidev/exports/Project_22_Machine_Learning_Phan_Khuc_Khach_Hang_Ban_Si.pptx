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vi"/>
    </a:defPPr>
    <a:lvl1pPr marL="0" algn="l" defTabSz="457200" rtl="0" eaLnBrk="1" latinLnBrk="0" hangingPunct="1">
      <a:defRPr lang="vi" sz="1800" kern="1200">
        <a:solidFill>
          <a:schemeClr val="tx1"/>
        </a:solidFill>
        <a:latin typeface="+mn-lt"/>
        <a:ea typeface="+mn-ea"/>
        <a:cs typeface="+mn-cs"/>
      </a:defRPr>
    </a:lvl1pPr>
    <a:lvl2pPr marL="457200" algn="l" defTabSz="457200" rtl="0" eaLnBrk="1" latinLnBrk="0" hangingPunct="1">
      <a:defRPr lang="vi" sz="1800" kern="1200">
        <a:solidFill>
          <a:schemeClr val="tx1"/>
        </a:solidFill>
        <a:latin typeface="+mn-lt"/>
        <a:ea typeface="+mn-ea"/>
        <a:cs typeface="+mn-cs"/>
      </a:defRPr>
    </a:lvl2pPr>
    <a:lvl3pPr marL="914400" algn="l" defTabSz="457200" rtl="0" eaLnBrk="1" latinLnBrk="0" hangingPunct="1">
      <a:defRPr lang="vi" sz="1800" kern="1200">
        <a:solidFill>
          <a:schemeClr val="tx1"/>
        </a:solidFill>
        <a:latin typeface="+mn-lt"/>
        <a:ea typeface="+mn-ea"/>
        <a:cs typeface="+mn-cs"/>
      </a:defRPr>
    </a:lvl3pPr>
    <a:lvl4pPr marL="1371600" algn="l" defTabSz="457200" rtl="0" eaLnBrk="1" latinLnBrk="0" hangingPunct="1">
      <a:defRPr lang="vi" sz="1800" kern="1200">
        <a:solidFill>
          <a:schemeClr val="tx1"/>
        </a:solidFill>
        <a:latin typeface="+mn-lt"/>
        <a:ea typeface="+mn-ea"/>
        <a:cs typeface="+mn-cs"/>
      </a:defRPr>
    </a:lvl4pPr>
    <a:lvl5pPr marL="1828800" algn="l" defTabSz="457200" rtl="0" eaLnBrk="1" latinLnBrk="0" hangingPunct="1">
      <a:defRPr lang="vi" sz="1800" kern="1200">
        <a:solidFill>
          <a:schemeClr val="tx1"/>
        </a:solidFill>
        <a:latin typeface="+mn-lt"/>
        <a:ea typeface="+mn-ea"/>
        <a:cs typeface="+mn-cs"/>
      </a:defRPr>
    </a:lvl5pPr>
    <a:lvl6pPr marL="2286000" algn="l" defTabSz="457200" rtl="0" eaLnBrk="1" latinLnBrk="0" hangingPunct="1">
      <a:defRPr lang="vi" sz="1800" kern="1200">
        <a:solidFill>
          <a:schemeClr val="tx1"/>
        </a:solidFill>
        <a:latin typeface="+mn-lt"/>
        <a:ea typeface="+mn-ea"/>
        <a:cs typeface="+mn-cs"/>
      </a:defRPr>
    </a:lvl6pPr>
    <a:lvl7pPr marL="2743200" algn="l" defTabSz="457200" rtl="0" eaLnBrk="1" latinLnBrk="0" hangingPunct="1">
      <a:defRPr lang="vi" sz="1800" kern="1200">
        <a:solidFill>
          <a:schemeClr val="tx1"/>
        </a:solidFill>
        <a:latin typeface="+mn-lt"/>
        <a:ea typeface="+mn-ea"/>
        <a:cs typeface="+mn-cs"/>
      </a:defRPr>
    </a:lvl7pPr>
    <a:lvl8pPr marL="3200400" algn="l" defTabSz="457200" rtl="0" eaLnBrk="1" latinLnBrk="0" hangingPunct="1">
      <a:defRPr lang="vi" sz="1800" kern="1200">
        <a:solidFill>
          <a:schemeClr val="tx1"/>
        </a:solidFill>
        <a:latin typeface="+mn-lt"/>
        <a:ea typeface="+mn-ea"/>
        <a:cs typeface="+mn-cs"/>
      </a:defRPr>
    </a:lvl8pPr>
    <a:lvl9pPr marL="3657600" algn="l" defTabSz="457200" rtl="0" eaLnBrk="1" latinLnBrk="0" hangingPunct="1">
      <a:defRPr lang="vi"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11" d="100"/>
          <a:sy n="111" d="100"/>
        </p:scale>
        <p:origin x="55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vi"/>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vi"/>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vi"/>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vi"/>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vi"/>
          </a:p>
        </p:txBody>
      </p:sp>
    </p:spTree>
  </p:cSld>
  <p:clrMap bg1="lt1" tx1="dk1" bg2="lt2" tx2="dk2" accent1="accent1" accent2="accent2" accent3="accent3" accent4="accent4" accent5="accent5" accent6="accent6" hlink="hlink" folHlink="folHlink"/>
  <p:hf/>
  <p:notesStyle>
    <a:lvl1pPr marL="0" algn="l">
      <a:defRPr lang="vi"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 dirty="0"/>
              <a:t>Kính chào Thầy và các bạn. Hôm nay nhóm xin trình bày đồ án kết thúc học phần Học Máy Cơ Bản: Project 22 - Phân khúc khách hàng bán sỉ dựa trên cơ cấu chi tiêu với K-Means Clustering.</a:t>
            </a:r>
          </a:p>
          <a:p>
            <a:r>
              <a:rPr lang="vi" dirty="0"/>
              <a:t>Dữ liệu sử dụng là bộ dữ liệu chuẩn mực UCI Wholesale Customers gồm 440 khách hàng và 6 nhóm mặt hàng chi tiêu chính.</a:t>
            </a:r>
          </a:p>
          <a:p>
            <a:r>
              <a:rPr lang="vi" dirty="0"/>
              <a:t>Mô hình cuối cùng được đóng băng là D011 (log1p + StandardScaler, K=2) và đã được đóng gói hoàn chỉnh thành ứng dụng Web Full Stack có API phục vụ.</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 dirty="0"/>
              <a:t>Về bối cảnh: Nhà phân phối cần hiểu rõ các kiểu mẫu hình cơ cấu chi tiêu thực tế để tối ưu hóa tồn kho, logistics kho bãi và chính sách dịch vụ.</a:t>
            </a:r>
          </a:p>
          <a:p>
            <a:r>
              <a:rPr lang="vi" dirty="0"/>
              <a:t>Câu hỏi nghiên cứu trọng tâm là: Sau khi log-transform và chuẩn hóa, K-Means tạo ra các phân khúc nào ổn định và có ý nghĩa thực tế?</a:t>
            </a:r>
          </a:p>
          <a:p>
            <a:r>
              <a:rPr lang="vi" dirty="0"/>
              <a:t>Mục tiêu là tuân thủ chặt chẽ quy tắc chống rò rỉ dữ liệu, đánh giá tập test độc lập 1 lần, và đặc biệt tuân thủ ranh giới đạo đức: cụm chỉ mang tính mô tả trung tính, tuyệt đối không gán nhãn định giá con người.</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 dirty="0"/>
              <a:t>Về dữ liệu: Bộ dữ liệu UCI Wholesale Customers có mã định danh DOI 10.24432/C5030X, giấy phép CC BY 4.0, gồm 440 quan sát và không có giá trị khuyết thiếu.</a:t>
            </a:r>
          </a:p>
          <a:p>
            <a:r>
              <a:rPr lang="vi" dirty="0"/>
              <a:t>Đơn vị đo lường là monetary units (m.u.) chi tiêu hàng năm.</a:t>
            </a:r>
          </a:p>
          <a:p>
            <a:r>
              <a:rPr lang="vi" dirty="0"/>
              <a:t>6 biến chi tiêu chính làm đầu vào phân cụm gồm: Fresh, Milk, Grocery, Frozen, Detergents_Paper, Delicassen.</a:t>
            </a:r>
          </a:p>
          <a:p>
            <a:r>
              <a:rPr lang="vi" dirty="0"/>
              <a:t>Hai biến phân loại Channel và Region tuyệt đối không đưa vào fit K-Means mà chỉ dùng để profiling hậu phân cụm.</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 dirty="0"/>
              <a:t>Quy tắc chống rò rỉ dữ liệu (Anti-Data Leakage) là trọng tâm hàng đầu của đồ án.</a:t>
            </a:r>
          </a:p>
          <a:p>
            <a:r>
              <a:rPr lang="vi" dirty="0"/>
              <a:t>Chúng tôi chia tập dữ liệu ngay từ đầu thành: Train 264 mẫu (60%), Validation 88 mẫu (20%), và Test độc lập 88 mẫu (20%).</a:t>
            </a:r>
          </a:p>
          <a:p>
            <a:r>
              <a:rPr lang="vi" dirty="0"/>
              <a:t>Mọi bước học từ dữ liệu gồm fit Scaler và fit K-Means chỉ diễn ra trên tập Train.</a:t>
            </a:r>
          </a:p>
          <a:p>
            <a:r>
              <a:rPr lang="vi" dirty="0"/>
              <a:t>Tập Test được niêm phong hoàn toàn và chỉ được đánh giá đúng một lần sau khi đóng băng quyết định mô hình.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 dirty="0"/>
              <a:t>Thí nghiệm 1 so sánh giữa dữ liệu thô và log1p + StandardScaler.</a:t>
            </a:r>
          </a:p>
          <a:p>
            <a:r>
              <a:rPr lang="vi" dirty="0"/>
              <a:t>Ở dữ liệu thô, độ lệch phải (skewness) cực kỳ nghiêm trọng, lên tới 12.12 ở Delicassen và khoảng giá trị chênh lệch hàng nghìn lần, khiến khoảng cách Euclidean bị bóp méo bởi các ngoại lệ lớn.</a:t>
            </a:r>
          </a:p>
          <a:p>
            <a:r>
              <a:rPr lang="vi" dirty="0"/>
              <a:t>Biến đổi log1p đưa phân phối về dạng chuông gần chuẩn, kết hợp StandardScaler giúp mọi feature có vai trò ngang nhau, giúp ARI stability đạt tới 0.997.</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 dirty="0"/>
              <a:t>Thí nghiệm 2 khảo sát phương pháp Elbow trên quán tính (Inertia) với K từ 2 đến 8.</a:t>
            </a:r>
          </a:p>
          <a:p>
            <a:r>
              <a:rPr lang="vi" dirty="0"/>
              <a:t>Quán tính giảm mạnh nhất 12.9% khi chuyển từ K=2 sang K=3 (từ 391.5 xuống 341.1), sau đó giảm rất chậm dưới 5% ở các bước tiếp theo.</a:t>
            </a:r>
          </a:p>
          <a:p>
            <a:r>
              <a:rPr lang="vi" dirty="0"/>
              <a:t>Điểm gập khuỷu tay rõ rệt nhất nằm ở K=2 và K=3, chỉ ra rằng cấu trúc dữ liệu tự nhiên được định hình tối ưu ở số cụm nhỏ.</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 dirty="0"/>
              <a:t>Tiếp tục thí nghiệm 2 với hệ số Silhouette trên cả tập Train và Validation.</a:t>
            </a:r>
          </a:p>
          <a:p>
            <a:r>
              <a:rPr lang="vi" dirty="0"/>
              <a:t>Với log1p + StandardScaler, K=2 đạt Silhouette Validation cao nhất là 0.307, tiếp đến K=3 đạt 0.217. Từ K&gt;=4 trở đi, Silhouette giảm sâu dưới 0.16.</a:t>
            </a:r>
          </a:p>
          <a:p>
            <a:r>
              <a:rPr lang="vi" dirty="0"/>
              <a:t>Độ chênh lệch giữa Train và Validation ở K=2 rất thấp, chứng minh mô hình tổng quát hóa rất tốt và không bị quá khớp.</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 dirty="0"/>
              <a:t>Sau khi xem xét đa tiêu chí (Elbow, Silhouette, độ ổn định seed, và tính cân bằng cụm), nhóm quyết định đóng băng cấu hình D011: K=2, log1p + StandardScaler, random_state=42, thuật toán Lloyd.</a:t>
            </a:r>
          </a:p>
          <a:p>
            <a:r>
              <a:rPr lang="vi" dirty="0"/>
              <a:t>Tiến hành refit trên 352 mẫu phát triển và đánh giá duy nhất một lần trên 88 mẫu Test độc lập:</a:t>
            </a:r>
          </a:p>
          <a:p>
            <a:r>
              <a:rPr lang="vi" dirty="0"/>
              <a:t>Silhouette trên Test đạt 0.2389, quán tính 4.505, và tỷ lệ phân bố cụm là 45/43 (48.9% min share), cực kỳ cân bằng.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 dirty="0"/>
              <a:t>Hồ sơ hai phân khúc mang ý nghĩa kinh doanh sâu sắc:</a:t>
            </a:r>
          </a:p>
          <a:p>
            <a:r>
              <a:rPr lang="vi" dirty="0"/>
              <a:t>Cụm 0 (162 khách - 46%): Là nhóm khách hàng Tạp hóa / Hóa phẩm, chi tiêu vượt trội ở Grocery (trung vị 10,843), Milk (7,226), Detergents_Paper (4,085).</a:t>
            </a:r>
          </a:p>
          <a:p>
            <a:r>
              <a:rPr lang="vi" dirty="0"/>
              <a:t>Cụm 1 (190 khách - 54%): Là nhóm khách hàng Hàng tươi sống / Đông lạnh, chi tiêu chủ lực vào Fresh (trung vị 9,728) và Frozen (2,195).</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 dirty="0"/>
              <a:t>Khi ghép biến Channel và Region vào để đối soát profiling:</a:t>
            </a:r>
          </a:p>
          <a:p>
            <a:r>
              <a:rPr lang="vi" dirty="0"/>
              <a:t>Cụm 1 có tới 97.9% thuộc kênh Horeca (Nhà hàng, Khách sạn, Quán cafe).</a:t>
            </a:r>
          </a:p>
          <a:p>
            <a:r>
              <a:rPr lang="vi" dirty="0"/>
              <a:t>Cụm 0 có 66.7% thuộc kênh Bán lẻ (Retail).</a:t>
            </a:r>
          </a:p>
          <a:p>
            <a:r>
              <a:rPr lang="vi" dirty="0"/>
              <a:t>Dù Channel không hề được dùng khi huấn luyện K-Means, thuật toán vẫn tự động nhận diện chính xác cấu trúc kinh doanh thực tế này. Về địa lý, các vùng Lisbon, Oporto và Other phân bố đều giữa hai cụm.</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 dirty="0"/>
              <a:t>Về kiến trúc công nghệ: Nhóm tuân thủ nguyên tắc tách biệt Training và Serving.</a:t>
            </a:r>
          </a:p>
          <a:p>
            <a:r>
              <a:rPr lang="vi" dirty="0"/>
              <a:t>Huấn luyện offline bằng Python scikit-learn; sau khi đóng băng, toàn bộ tham số được xuất ra file JSON kèm mã băm SHA-256.</a:t>
            </a:r>
          </a:p>
          <a:p>
            <a:r>
              <a:rPr lang="vi" dirty="0"/>
              <a:t>Phần phục vụ trực tuyến chạy trên Node.js Fastify thuần, xác thực checksum model mỗi khi khởi động, đảm bảo tốc độ suy luận cực nhanh và an toàn tuyệt đối.</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 dirty="0"/>
              <a:t>Ứng dụng web gồm 3 màn hình chuẩn mực:</a:t>
            </a:r>
          </a:p>
          <a:p>
            <a:r>
              <a:rPr lang="vi" dirty="0"/>
              <a:t>Màn hình 1: Giới thiệu, phạm vi và Model Card.</a:t>
            </a:r>
          </a:p>
          <a:p>
            <a:r>
              <a:rPr lang="vi" dirty="0"/>
              <a:t>Màn hình 2: Phân khúc khách hàng mới, kiểm tra ngoài miền dữ liệu và tính khoảng cách tâm cụm.</a:t>
            </a:r>
          </a:p>
          <a:p>
            <a:r>
              <a:rPr lang="vi" dirty="0"/>
              <a:t>Màn hình 3: Dashboard trực quan hóa Elbow, Silhouette, PCA 2D và hỗ trợ phân khúc hàng loạt qua file CSV.</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vi" dirty="0"/>
              <a:t>Chất lượng hệ thống được bảo chứng qua các cổng kiểm thử nghiêm ngặt:</a:t>
            </a:r>
          </a:p>
          <a:p>
            <a:r>
              <a:rPr lang="vi" dirty="0"/>
              <a:t>Gate 6: Node native serving và Fastify API 16/16 test PASS.</a:t>
            </a:r>
          </a:p>
          <a:p>
            <a:r>
              <a:rPr lang="vi" dirty="0"/>
              <a:t>Gate 7: Parity test khớp 100% giữa Python và Node.js; E2E Chromium 40/40 PASS.</a:t>
            </a:r>
          </a:p>
          <a:p>
            <a:r>
              <a:rPr lang="vi" dirty="0"/>
              <a:t>Gate 8: Xác minh trên môi trường Windows sạch, npm audit 0 lỗ hổng bảo mật.</a:t>
            </a:r>
          </a:p>
          <a:p>
            <a:r>
              <a:rPr lang="vi" dirty="0"/>
              <a:t>Gate 10: Toàn bộ 64/64 bài kiểm thử E2E Playwright trên Desktop và Mobile Chromium đều đạt PASS.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 dirty="0"/>
              <a:t>Nhóm thẳng thắn nhìn nhận các giới hạn của nghiên cứu:</a:t>
            </a:r>
          </a:p>
          <a:p>
            <a:r>
              <a:rPr lang="vi" dirty="0"/>
              <a:t>K-Means giả định cụm dạng hình cầu và nhạy cảm với ngoại lệ khoảng cách lớn.</a:t>
            </a:r>
          </a:p>
          <a:p>
            <a:r>
              <a:rPr lang="vi" dirty="0"/>
              <a:t>Dữ liệu chỉ áp dụng khi có đủ 6 khoản chi tiêu tổng hợp cả năm, chưa có dấu thời gian giao dịch chi tiết.</a:t>
            </a:r>
          </a:p>
          <a:p>
            <a:r>
              <a:rPr lang="vi" dirty="0"/>
              <a:t>Hướng phát triển tiếp theo là thử nghiệm GMM, phân tích RFM theo chuỗi thời gian và xây dựng hệ thống giám sát data drift.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vi" dirty="0"/>
              <a:t>Tổng kết lại: Đồ án hoàn thành trọn vẹn 100% các tiêu chí rubric học thuật:</a:t>
            </a:r>
          </a:p>
          <a:p>
            <a:r>
              <a:rPr lang="vi" dirty="0"/>
              <a:t>Từ chuẩn hóa dữ liệu, ngăn chặn rò rỉ, thiết kế thí nghiệm đa chiều, đóng băng D011, đánh giá test độc lập, đến triển khai Web và API serving sẵn sàng cho sản xuất.</a:t>
            </a:r>
          </a:p>
          <a:p>
            <a:r>
              <a:rPr lang="vi" dirty="0"/>
              <a:t>Nhóm xin trân trọng cảm ơn Thầy PGS.TS. Nguyễn Văn Hậu và kính mời Hội đồng đặt câu hỏi vấn đáp.</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project22_kmeans_presentatio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vi" smtClean="0"/>
              <a:t>26/10/2026</a:t>
            </a:fld>
            <a:endParaRPr lang="vi"/>
          </a:p>
        </p:txBody>
      </p:sp>
      <p:sp>
        <p:nvSpPr>
          <p:cNvPr id="3" name="Footer Placeholder 2"/>
          <p:cNvSpPr>
            <a:spLocks noGrp="1"/>
          </p:cNvSpPr>
          <p:nvPr>
            <p:ph type="ftr" sz="quarter" idx="11"/>
          </p:nvPr>
        </p:nvSpPr>
        <p:spPr/>
        <p:txBody>
          <a:bodyPr/>
          <a:lstStyle/>
          <a:p>
            <a:endParaRPr lang="vi"/>
          </a:p>
        </p:txBody>
      </p:sp>
      <p:sp>
        <p:nvSpPr>
          <p:cNvPr id="4" name="Slide Number Placeholder 3"/>
          <p:cNvSpPr>
            <a:spLocks noGrp="1"/>
          </p:cNvSpPr>
          <p:nvPr>
            <p:ph type="sldNum" sz="quarter" idx="12"/>
          </p:nvPr>
        </p:nvSpPr>
        <p:spPr/>
        <p:txBody>
          <a:bodyPr/>
          <a:lstStyle/>
          <a:p>
            <a:fld id="{C1FF6DA9-008F-8B48-92A6-B652298478BF}" type="slidenum">
              <a:rPr lang="vi" smtClean="0"/>
              <a:t>‹#›</a:t>
            </a:fld>
            <a:endParaRPr lang="vi"/>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roject22_kmeans_presentatio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lang="vi" sz="1200">
                <a:solidFill>
                  <a:schemeClr val="tx1">
                    <a:tint val="75000"/>
                  </a:schemeClr>
                </a:solidFill>
              </a:defRPr>
            </a:lvl1pPr>
          </a:lstStyle>
          <a:p>
            <a:fld id="{5BCAD085-E8A6-8845-BD4E-CB4CCA059FC4}" type="datetimeFigureOut">
              <a:rPr lang="vi" smtClean="0"/>
              <a:t>26/10/2026</a:t>
            </a:fld>
            <a:endParaRPr lang="vi"/>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lang="vi" sz="1200">
                <a:solidFill>
                  <a:schemeClr val="tx1">
                    <a:tint val="75000"/>
                  </a:schemeClr>
                </a:solidFill>
              </a:defRPr>
            </a:lvl1pPr>
          </a:lstStyle>
          <a:p>
            <a:endParaRPr lang="vi"/>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lang="vi" sz="1200">
                <a:solidFill>
                  <a:schemeClr val="tx1">
                    <a:tint val="75000"/>
                  </a:schemeClr>
                </a:solidFill>
              </a:defRPr>
            </a:lvl1pPr>
          </a:lstStyle>
          <a:p>
            <a:fld id="{C1FF6DA9-008F-8B48-92A6-B652298478BF}" type="slidenum">
              <a:rPr lang="vi" smtClean="0"/>
              <a:t>‹#›</a:t>
            </a:fld>
            <a:endParaRPr lang="vi"/>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lang="vi" sz="36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lang="vi"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lang="vi"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lang="vi"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lang="vi"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lang="vi"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lang="vi"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lang="vi"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lang="vi"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lang="vi" sz="900" kern="1200">
          <a:solidFill>
            <a:schemeClr val="tx1"/>
          </a:solidFill>
          <a:latin typeface="+mn-lt"/>
          <a:ea typeface="+mn-ea"/>
          <a:cs typeface="+mn-cs"/>
        </a:defRPr>
      </a:lvl9pPr>
    </p:bodyStyle>
    <p:otherStyle>
      <a:defPPr>
        <a:defRPr lang="vi"/>
      </a:defPPr>
      <a:lvl1pPr marL="0" algn="l" defTabSz="457200" rtl="0" eaLnBrk="1" latinLnBrk="0" hangingPunct="1">
        <a:defRPr lang="vi" sz="1800" kern="1200">
          <a:solidFill>
            <a:schemeClr val="tx1"/>
          </a:solidFill>
          <a:latin typeface="+mn-lt"/>
          <a:ea typeface="+mn-ea"/>
          <a:cs typeface="+mn-cs"/>
        </a:defRPr>
      </a:lvl1pPr>
      <a:lvl2pPr marL="457200" algn="l" defTabSz="457200" rtl="0" eaLnBrk="1" latinLnBrk="0" hangingPunct="1">
        <a:defRPr lang="vi" sz="1700" kern="1200">
          <a:solidFill>
            <a:schemeClr val="tx1"/>
          </a:solidFill>
          <a:latin typeface="+mn-lt"/>
          <a:ea typeface="+mn-ea"/>
          <a:cs typeface="+mn-cs"/>
        </a:defRPr>
      </a:lvl2pPr>
      <a:lvl3pPr marL="914400" algn="l" defTabSz="457200" rtl="0" eaLnBrk="1" latinLnBrk="0" hangingPunct="1">
        <a:defRPr lang="vi" sz="1600" kern="1200">
          <a:solidFill>
            <a:schemeClr val="tx1"/>
          </a:solidFill>
          <a:latin typeface="+mn-lt"/>
          <a:ea typeface="+mn-ea"/>
          <a:cs typeface="+mn-cs"/>
        </a:defRPr>
      </a:lvl3pPr>
      <a:lvl4pPr marL="1371600" algn="l" defTabSz="457200" rtl="0" eaLnBrk="1" latinLnBrk="0" hangingPunct="1">
        <a:defRPr lang="vi" sz="1450" kern="1200">
          <a:solidFill>
            <a:schemeClr val="tx1"/>
          </a:solidFill>
          <a:latin typeface="+mn-lt"/>
          <a:ea typeface="+mn-ea"/>
          <a:cs typeface="+mn-cs"/>
        </a:defRPr>
      </a:lvl4pPr>
      <a:lvl5pPr marL="1828800" algn="l" defTabSz="457200" rtl="0" eaLnBrk="1" latinLnBrk="0" hangingPunct="1">
        <a:defRPr lang="vi" sz="1350" kern="1200">
          <a:solidFill>
            <a:schemeClr val="tx1"/>
          </a:solidFill>
          <a:latin typeface="+mn-lt"/>
          <a:ea typeface="+mn-ea"/>
          <a:cs typeface="+mn-cs"/>
        </a:defRPr>
      </a:lvl5pPr>
      <a:lvl6pPr marL="2286000" algn="l" defTabSz="457200" rtl="0" eaLnBrk="1" latinLnBrk="0" hangingPunct="1">
        <a:defRPr lang="vi" sz="1250" kern="1200">
          <a:solidFill>
            <a:schemeClr val="tx1"/>
          </a:solidFill>
          <a:latin typeface="+mn-lt"/>
          <a:ea typeface="+mn-ea"/>
          <a:cs typeface="+mn-cs"/>
        </a:defRPr>
      </a:lvl6pPr>
      <a:lvl7pPr marL="2743200" algn="l" defTabSz="457200" rtl="0" eaLnBrk="1" latinLnBrk="0" hangingPunct="1">
        <a:defRPr lang="vi" sz="1100" kern="1200">
          <a:solidFill>
            <a:schemeClr val="tx1"/>
          </a:solidFill>
          <a:latin typeface="+mn-lt"/>
          <a:ea typeface="+mn-ea"/>
          <a:cs typeface="+mn-cs"/>
        </a:defRPr>
      </a:lvl7pPr>
      <a:lvl8pPr marL="3200400" algn="l" defTabSz="457200" rtl="0" eaLnBrk="1" latinLnBrk="0" hangingPunct="1">
        <a:defRPr lang="vi" sz="1000" kern="1200">
          <a:solidFill>
            <a:schemeClr val="tx1"/>
          </a:solidFill>
          <a:latin typeface="+mn-lt"/>
          <a:ea typeface="+mn-ea"/>
          <a:cs typeface="+mn-cs"/>
        </a:defRPr>
      </a:lvl8pPr>
      <a:lvl9pPr marL="3657600" algn="l" defTabSz="457200" rtl="0" eaLnBrk="1" latinLnBrk="0" hangingPunct="1">
        <a:defRPr lang="vi"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cover-background"/>
          <p:cNvGrpSpPr/>
          <p:nvPr/>
        </p:nvGrpSpPr>
        <p:grpSpPr>
          <a:xfrm>
            <a:off x="-190500" y="-1143000"/>
            <a:ext cx="13335000" cy="8477250"/>
            <a:chOff x="-190500" y="-1143000"/>
            <a:chExt cx="13335000" cy="8477250"/>
          </a:xfrm>
        </p:grpSpPr>
        <p:sp>
          <p:nvSpPr>
            <p:cNvPr id="2" name="Rectangle 2"/>
            <p:cNvSpPr/>
            <p:nvPr/>
          </p:nvSpPr>
          <p:spPr>
            <a:xfrm>
              <a:off x="0" y="0"/>
              <a:ext cx="12192000" cy="6858000"/>
            </a:xfrm>
            <a:prstGeom prst="rect">
              <a:avLst/>
            </a:prstGeom>
            <a:gradFill>
              <a:gsLst>
                <a:gs pos="0">
                  <a:srgbClr val="0F172A"/>
                </a:gs>
                <a:gs pos="60000">
                  <a:srgbClr val="1E293B"/>
                </a:gs>
                <a:gs pos="100000">
                  <a:srgbClr val="0F172A"/>
                </a:gs>
              </a:gsLst>
              <a:lin ang="2700000" scaled="1"/>
            </a:gradFill>
            <a:ln>
              <a:noFill/>
            </a:ln>
          </p:spPr>
          <p:txBody>
            <a:bodyPr/>
            <a:lstStyle/>
            <a:p>
              <a:endParaRPr lang="en-US"/>
            </a:p>
          </p:txBody>
        </p:sp>
        <p:sp>
          <p:nvSpPr>
            <p:cNvPr id="3" name="Ellipse 3"/>
            <p:cNvSpPr/>
            <p:nvPr/>
          </p:nvSpPr>
          <p:spPr>
            <a:xfrm>
              <a:off x="7810500" y="-1143000"/>
              <a:ext cx="5334000" cy="5334000"/>
            </a:xfrm>
            <a:prstGeom prst="ellipse">
              <a:avLst/>
            </a:prstGeom>
            <a:solidFill>
              <a:schemeClr val="accent1">
                <a:alpha val="8000"/>
              </a:schemeClr>
            </a:solidFill>
            <a:ln>
              <a:noFill/>
            </a:ln>
          </p:spPr>
          <p:txBody>
            <a:bodyPr/>
            <a:lstStyle/>
            <a:p>
              <a:endParaRPr lang="en-US"/>
            </a:p>
          </p:txBody>
        </p:sp>
        <p:sp>
          <p:nvSpPr>
            <p:cNvPr id="4" name="Ellipse 4"/>
            <p:cNvSpPr/>
            <p:nvPr/>
          </p:nvSpPr>
          <p:spPr>
            <a:xfrm>
              <a:off x="-190500" y="3143250"/>
              <a:ext cx="4191000" cy="4191000"/>
            </a:xfrm>
            <a:prstGeom prst="ellipse">
              <a:avLst/>
            </a:prstGeom>
            <a:solidFill>
              <a:srgbClr val="059669">
                <a:alpha val="6000"/>
              </a:srgbClr>
            </a:solidFill>
            <a:ln>
              <a:noFill/>
            </a:ln>
          </p:spPr>
          <p:txBody>
            <a:bodyPr/>
            <a:lstStyle/>
            <a:p>
              <a:endParaRPr lang="en-US"/>
            </a:p>
          </p:txBody>
        </p:sp>
      </p:grpSp>
      <p:grpSp>
        <p:nvGrpSpPr>
          <p:cNvPr id="10" name="hero-badge"/>
          <p:cNvGrpSpPr/>
          <p:nvPr/>
        </p:nvGrpSpPr>
        <p:grpSpPr>
          <a:xfrm>
            <a:off x="762000" y="666750"/>
            <a:ext cx="4435667" cy="304800"/>
            <a:chOff x="762000" y="666750"/>
            <a:chExt cx="4435667" cy="304800"/>
          </a:xfrm>
        </p:grpSpPr>
        <p:sp>
          <p:nvSpPr>
            <p:cNvPr id="6" name="Rectangle 6"/>
            <p:cNvSpPr/>
            <p:nvPr/>
          </p:nvSpPr>
          <p:spPr>
            <a:xfrm>
              <a:off x="762000" y="666750"/>
              <a:ext cx="2190750" cy="304800"/>
            </a:xfrm>
            <a:prstGeom prst="roundRect">
              <a:avLst>
                <a:gd name="adj" fmla="val 50000"/>
              </a:avLst>
            </a:prstGeom>
            <a:solidFill>
              <a:srgbClr val="1E3A8A"/>
            </a:solidFill>
            <a:ln w="14288">
              <a:solidFill>
                <a:srgbClr val="3B82F6"/>
              </a:solidFill>
            </a:ln>
          </p:spPr>
          <p:txBody>
            <a:bodyPr/>
            <a:lstStyle/>
            <a:p>
              <a:endParaRPr lang="en-US"/>
            </a:p>
          </p:txBody>
        </p:sp>
        <p:sp>
          <p:nvSpPr>
            <p:cNvPr id="7" name="TextBox 7"/>
            <p:cNvSpPr txBox="1"/>
            <p:nvPr/>
          </p:nvSpPr>
          <p:spPr>
            <a:xfrm>
              <a:off x="926897" y="752475"/>
              <a:ext cx="1860956" cy="176212"/>
            </a:xfrm>
            <a:prstGeom prst="rect">
              <a:avLst/>
            </a:prstGeom>
            <a:noFill/>
            <a:ln>
              <a:noFill/>
            </a:ln>
          </p:spPr>
          <p:txBody>
            <a:bodyPr wrap="none" lIns="0" tIns="0" rIns="0" bIns="0" anchor="t" anchorCtr="0">
              <a:spAutoFit/>
            </a:bodyPr>
            <a:lstStyle/>
            <a:p>
              <a:pPr algn="ctr"/>
              <a:r>
                <a:rPr lang="vi" sz="900" b="1" dirty="0">
                  <a:solidFill>
                    <a:srgbClr val="60A5FA"/>
                  </a:solidFill>
                  <a:latin typeface="+mn-lt"/>
                  <a:ea typeface="+mn-ea"/>
                  <a:cs typeface="+mn-cs"/>
                </a:rPr>
                <a:t>HỌC MÁY CƠ BẢN • ĐỒ ÁN 22</a:t>
              </a:r>
            </a:p>
          </p:txBody>
        </p:sp>
        <p:sp>
          <p:nvSpPr>
            <p:cNvPr id="8" name="Rectangle 8"/>
            <p:cNvSpPr/>
            <p:nvPr/>
          </p:nvSpPr>
          <p:spPr>
            <a:xfrm>
              <a:off x="3095625" y="666750"/>
              <a:ext cx="2095500" cy="304800"/>
            </a:xfrm>
            <a:prstGeom prst="roundRect">
              <a:avLst>
                <a:gd name="adj" fmla="val 50000"/>
              </a:avLst>
            </a:prstGeom>
            <a:solidFill>
              <a:srgbClr val="064E3B"/>
            </a:solidFill>
            <a:ln w="14288">
              <a:solidFill>
                <a:schemeClr val="accent2"/>
              </a:solidFill>
            </a:ln>
          </p:spPr>
          <p:txBody>
            <a:bodyPr/>
            <a:lstStyle/>
            <a:p>
              <a:endParaRPr lang="en-US"/>
            </a:p>
          </p:txBody>
        </p:sp>
        <p:sp>
          <p:nvSpPr>
            <p:cNvPr id="9" name="TextBox 9"/>
            <p:cNvSpPr txBox="1"/>
            <p:nvPr/>
          </p:nvSpPr>
          <p:spPr>
            <a:xfrm>
              <a:off x="3089083" y="739775"/>
              <a:ext cx="2108584" cy="191643"/>
            </a:xfrm>
            <a:prstGeom prst="rect">
              <a:avLst/>
            </a:prstGeom>
            <a:noFill/>
            <a:ln>
              <a:noFill/>
            </a:ln>
          </p:spPr>
          <p:txBody>
            <a:bodyPr wrap="none" lIns="0" tIns="0" rIns="0" bIns="0" anchor="t" anchorCtr="0">
              <a:spAutoFit/>
            </a:bodyPr>
            <a:lstStyle/>
            <a:p>
              <a:pPr algn="ctr"/>
              <a:r>
                <a:rPr lang="vi" sz="980" b="1" dirty="0">
                  <a:solidFill>
                    <a:srgbClr val="34D399"/>
                  </a:solidFill>
                  <a:latin typeface="+mn-lt"/>
                  <a:ea typeface="+mn-ea"/>
                  <a:cs typeface="+mn-cs"/>
                </a:rPr>
                <a:t>UCI WHOLESALE CUSTOMERS</a:t>
              </a:r>
            </a:p>
          </p:txBody>
        </p:sp>
      </p:grpSp>
      <p:grpSp>
        <p:nvGrpSpPr>
          <p:cNvPr id="14" name="hero-title"/>
          <p:cNvGrpSpPr/>
          <p:nvPr/>
        </p:nvGrpSpPr>
        <p:grpSpPr>
          <a:xfrm>
            <a:off x="742950" y="1231900"/>
            <a:ext cx="9345572" cy="1676908"/>
            <a:chOff x="742950" y="1231900"/>
            <a:chExt cx="9345572" cy="1676908"/>
          </a:xfrm>
        </p:grpSpPr>
        <p:sp>
          <p:nvSpPr>
            <p:cNvPr id="11" name="TextBox 11"/>
            <p:cNvSpPr txBox="1"/>
            <p:nvPr/>
          </p:nvSpPr>
          <p:spPr>
            <a:xfrm>
              <a:off x="742950" y="1231900"/>
              <a:ext cx="9345572" cy="762000"/>
            </a:xfrm>
            <a:prstGeom prst="rect">
              <a:avLst/>
            </a:prstGeom>
            <a:noFill/>
            <a:ln>
              <a:noFill/>
            </a:ln>
          </p:spPr>
          <p:txBody>
            <a:bodyPr wrap="none" lIns="0" tIns="0" rIns="0" bIns="0" anchor="t" anchorCtr="0">
              <a:spAutoFit/>
            </a:bodyPr>
            <a:lstStyle/>
            <a:p>
              <a:pPr algn="l"/>
              <a:r>
                <a:rPr lang="vi" sz="3900" b="1" dirty="0">
                  <a:solidFill>
                    <a:srgbClr val="FFFFFF"/>
                  </a:solidFill>
                  <a:latin typeface="+mn-lt"/>
                  <a:ea typeface="+mn-ea"/>
                  <a:cs typeface="+mn-cs"/>
                </a:rPr>
                <a:t>PHÂN KHÚC KHÁCH HÀNG BÁN SỈ</a:t>
              </a:r>
            </a:p>
          </p:txBody>
        </p:sp>
        <p:sp>
          <p:nvSpPr>
            <p:cNvPr id="12" name="TextBox 12"/>
            <p:cNvSpPr txBox="1"/>
            <p:nvPr/>
          </p:nvSpPr>
          <p:spPr>
            <a:xfrm>
              <a:off x="749808" y="1993900"/>
              <a:ext cx="8090457" cy="469392"/>
            </a:xfrm>
            <a:prstGeom prst="rect">
              <a:avLst/>
            </a:prstGeom>
            <a:noFill/>
            <a:ln>
              <a:noFill/>
            </a:ln>
          </p:spPr>
          <p:txBody>
            <a:bodyPr wrap="none" lIns="0" tIns="0" rIns="0" bIns="0" anchor="t" anchorCtr="0">
              <a:spAutoFit/>
            </a:bodyPr>
            <a:lstStyle/>
            <a:p>
              <a:pPr algn="l"/>
              <a:r>
                <a:rPr lang="vi" sz="2400" b="1" dirty="0">
                  <a:gradFill>
                    <a:gsLst>
                      <a:gs pos="0">
                        <a:srgbClr val="3B82F6"/>
                      </a:gs>
                      <a:gs pos="100000">
                        <a:srgbClr val="06B6D4"/>
                      </a:gs>
                    </a:gsLst>
                    <a:lin ang="0" scaled="1"/>
                  </a:gradFill>
                  <a:latin typeface="+mn-lt"/>
                  <a:ea typeface="+mn-ea"/>
                  <a:cs typeface="+mn-cs"/>
                </a:rPr>
                <a:t>Với K-Means Clustering &amp; Web Serving Architecture</a:t>
              </a:r>
            </a:p>
          </p:txBody>
        </p:sp>
        <p:sp>
          <p:nvSpPr>
            <p:cNvPr id="13" name="TextBox 13"/>
            <p:cNvSpPr txBox="1"/>
            <p:nvPr/>
          </p:nvSpPr>
          <p:spPr>
            <a:xfrm>
              <a:off x="755142" y="2644775"/>
              <a:ext cx="8146905" cy="264033"/>
            </a:xfrm>
            <a:prstGeom prst="rect">
              <a:avLst/>
            </a:prstGeom>
            <a:noFill/>
            <a:ln>
              <a:noFill/>
            </a:ln>
          </p:spPr>
          <p:txBody>
            <a:bodyPr wrap="none" lIns="0" tIns="0" rIns="0" bIns="0" anchor="t" anchorCtr="0">
              <a:spAutoFit/>
            </a:bodyPr>
            <a:lstStyle/>
            <a:p>
              <a:pPr algn="l"/>
              <a:r>
                <a:rPr lang="vi" sz="1350" dirty="0">
                  <a:solidFill>
                    <a:srgbClr val="94A3B8"/>
                  </a:solidFill>
                  <a:latin typeface="+mn-lt"/>
                  <a:ea typeface="+mn-ea"/>
                  <a:cs typeface="+mn-cs"/>
                </a:rPr>
                <a:t>Phân tích chuyên sâu 6 đặc trưng chi tiêu, tối ưu K=2, chống rò rỉ dữ liệu và triển khai Production API</a:t>
              </a:r>
            </a:p>
          </p:txBody>
        </p:sp>
      </p:grpSp>
      <p:grpSp>
        <p:nvGrpSpPr>
          <p:cNvPr id="30" name="hero-kpis"/>
          <p:cNvGrpSpPr/>
          <p:nvPr/>
        </p:nvGrpSpPr>
        <p:grpSpPr>
          <a:xfrm>
            <a:off x="762000" y="3333750"/>
            <a:ext cx="10620375" cy="1428750"/>
            <a:chOff x="762000" y="3333750"/>
            <a:chExt cx="10620375" cy="1428750"/>
          </a:xfrm>
        </p:grpSpPr>
        <p:sp>
          <p:nvSpPr>
            <p:cNvPr id="15" name="Rectangle 15"/>
            <p:cNvSpPr/>
            <p:nvPr/>
          </p:nvSpPr>
          <p:spPr>
            <a:xfrm>
              <a:off x="762000" y="3333750"/>
              <a:ext cx="3286125" cy="1428750"/>
            </a:xfrm>
            <a:prstGeom prst="roundRect">
              <a:avLst>
                <a:gd name="adj" fmla="val 9333"/>
              </a:avLst>
            </a:prstGeom>
            <a:gradFill>
              <a:gsLst>
                <a:gs pos="0">
                  <a:srgbClr val="1E293B">
                    <a:alpha val="80000"/>
                  </a:srgbClr>
                </a:gs>
                <a:gs pos="100000">
                  <a:srgbClr val="0F172A">
                    <a:alpha val="90000"/>
                  </a:srgbClr>
                </a:gs>
              </a:gsLst>
              <a:lin ang="5400000" scaled="1"/>
            </a:gradFill>
            <a:ln w="14288">
              <a:solidFill>
                <a:srgbClr val="334155"/>
              </a:solidFill>
            </a:ln>
          </p:spPr>
          <p:txBody>
            <a:bodyPr/>
            <a:lstStyle/>
            <a:p>
              <a:endParaRPr lang="en-US"/>
            </a:p>
          </p:txBody>
        </p:sp>
        <p:sp>
          <p:nvSpPr>
            <p:cNvPr id="16" name="Rectangle 16"/>
            <p:cNvSpPr/>
            <p:nvPr/>
          </p:nvSpPr>
          <p:spPr>
            <a:xfrm>
              <a:off x="762000" y="3333750"/>
              <a:ext cx="3286125" cy="38100"/>
            </a:xfrm>
            <a:prstGeom prst="roundRect">
              <a:avLst>
                <a:gd name="adj" fmla="val 50000"/>
              </a:avLst>
            </a:prstGeom>
            <a:solidFill>
              <a:srgbClr val="3B82F6"/>
            </a:solidFill>
            <a:ln>
              <a:noFill/>
            </a:ln>
          </p:spPr>
          <p:txBody>
            <a:bodyPr/>
            <a:lstStyle/>
            <a:p>
              <a:endParaRPr lang="en-US"/>
            </a:p>
          </p:txBody>
        </p:sp>
        <p:sp>
          <p:nvSpPr>
            <p:cNvPr id="17" name="TextBox 17"/>
            <p:cNvSpPr txBox="1"/>
            <p:nvPr/>
          </p:nvSpPr>
          <p:spPr>
            <a:xfrm>
              <a:off x="1042416" y="3635375"/>
              <a:ext cx="1393962" cy="205359"/>
            </a:xfrm>
            <a:prstGeom prst="rect">
              <a:avLst/>
            </a:prstGeom>
            <a:noFill/>
            <a:ln>
              <a:noFill/>
            </a:ln>
          </p:spPr>
          <p:txBody>
            <a:bodyPr wrap="none" lIns="0" tIns="0" rIns="0" bIns="0" anchor="t" anchorCtr="0">
              <a:spAutoFit/>
            </a:bodyPr>
            <a:lstStyle/>
            <a:p>
              <a:pPr algn="l"/>
              <a:r>
                <a:rPr lang="vi" sz="1050" b="1" spc="75" dirty="0">
                  <a:solidFill>
                    <a:srgbClr val="94A3B8"/>
                  </a:solidFill>
                  <a:latin typeface="+mn-lt"/>
                  <a:ea typeface="+mn-ea"/>
                  <a:cs typeface="+mn-cs"/>
                </a:rPr>
                <a:t>QUY MÔ DỮ LIỆU</a:t>
              </a:r>
            </a:p>
          </p:txBody>
        </p:sp>
        <p:sp>
          <p:nvSpPr>
            <p:cNvPr id="18" name="TextBox 18"/>
            <p:cNvSpPr txBox="1"/>
            <p:nvPr/>
          </p:nvSpPr>
          <p:spPr>
            <a:xfrm>
              <a:off x="1035558" y="3946525"/>
              <a:ext cx="1666142" cy="469392"/>
            </a:xfrm>
            <a:prstGeom prst="rect">
              <a:avLst/>
            </a:prstGeom>
            <a:noFill/>
            <a:ln>
              <a:noFill/>
            </a:ln>
          </p:spPr>
          <p:txBody>
            <a:bodyPr wrap="none" lIns="0" tIns="0" rIns="0" bIns="0" anchor="t" anchorCtr="0">
              <a:spAutoFit/>
            </a:bodyPr>
            <a:lstStyle/>
            <a:p>
              <a:pPr algn="l"/>
              <a:r>
                <a:rPr lang="vi" sz="2400" b="1" dirty="0">
                  <a:solidFill>
                    <a:srgbClr val="38BDF8"/>
                  </a:solidFill>
                  <a:latin typeface="+mn-lt"/>
                  <a:ea typeface="+mn-ea"/>
                  <a:cs typeface="+mn-cs"/>
                </a:rPr>
                <a:t>440 </a:t>
              </a:r>
              <a:r>
                <a:rPr lang="vi" sz="1350" dirty="0">
                  <a:solidFill>
                    <a:srgbClr val="94A3B8"/>
                  </a:solidFill>
                  <a:latin typeface="+mn-lt"/>
                  <a:ea typeface="+mn-ea"/>
                  <a:cs typeface="+mn-cs"/>
                </a:rPr>
                <a:t>Khách Hàng</a:t>
              </a:r>
            </a:p>
          </p:txBody>
        </p:sp>
        <p:sp>
          <p:nvSpPr>
            <p:cNvPr id="19" name="TextBox 19"/>
            <p:cNvSpPr txBox="1"/>
            <p:nvPr/>
          </p:nvSpPr>
          <p:spPr>
            <a:xfrm>
              <a:off x="1042416" y="4445000"/>
              <a:ext cx="3016412" cy="205359"/>
            </a:xfrm>
            <a:prstGeom prst="rect">
              <a:avLst/>
            </a:prstGeom>
            <a:noFill/>
            <a:ln>
              <a:noFill/>
            </a:ln>
          </p:spPr>
          <p:txBody>
            <a:bodyPr wrap="none" lIns="0" tIns="0" rIns="0" bIns="0" anchor="t" anchorCtr="0">
              <a:spAutoFit/>
            </a:bodyPr>
            <a:lstStyle/>
            <a:p>
              <a:pPr algn="l"/>
              <a:r>
                <a:rPr lang="vi" sz="1050" dirty="0">
                  <a:solidFill>
                    <a:srgbClr val="CBD5E1"/>
                  </a:solidFill>
                  <a:latin typeface="+mn-lt"/>
                  <a:ea typeface="+mn-ea"/>
                  <a:cs typeface="+mn-cs"/>
                </a:rPr>
                <a:t>6 biến chi tiêu monetary units + 2 biến phân tích</a:t>
              </a:r>
            </a:p>
          </p:txBody>
        </p:sp>
        <p:sp>
          <p:nvSpPr>
            <p:cNvPr id="20" name="Rectangle 20"/>
            <p:cNvSpPr/>
            <p:nvPr/>
          </p:nvSpPr>
          <p:spPr>
            <a:xfrm>
              <a:off x="4429125" y="3333750"/>
              <a:ext cx="3286125" cy="1428750"/>
            </a:xfrm>
            <a:prstGeom prst="roundRect">
              <a:avLst>
                <a:gd name="adj" fmla="val 9333"/>
              </a:avLst>
            </a:prstGeom>
            <a:gradFill>
              <a:gsLst>
                <a:gs pos="0">
                  <a:srgbClr val="1E293B">
                    <a:alpha val="80000"/>
                  </a:srgbClr>
                </a:gs>
                <a:gs pos="100000">
                  <a:srgbClr val="0F172A">
                    <a:alpha val="90000"/>
                  </a:srgbClr>
                </a:gs>
              </a:gsLst>
              <a:lin ang="5400000" scaled="1"/>
            </a:gradFill>
            <a:ln w="14288">
              <a:solidFill>
                <a:srgbClr val="334155"/>
              </a:solidFill>
            </a:ln>
          </p:spPr>
          <p:txBody>
            <a:bodyPr/>
            <a:lstStyle/>
            <a:p>
              <a:endParaRPr lang="en-US"/>
            </a:p>
          </p:txBody>
        </p:sp>
        <p:sp>
          <p:nvSpPr>
            <p:cNvPr id="21" name="Rectangle 21"/>
            <p:cNvSpPr/>
            <p:nvPr/>
          </p:nvSpPr>
          <p:spPr>
            <a:xfrm>
              <a:off x="4429125" y="3333750"/>
              <a:ext cx="3286125" cy="38100"/>
            </a:xfrm>
            <a:prstGeom prst="roundRect">
              <a:avLst>
                <a:gd name="adj" fmla="val 50000"/>
              </a:avLst>
            </a:prstGeom>
            <a:solidFill>
              <a:schemeClr val="accent2"/>
            </a:solidFill>
            <a:ln>
              <a:noFill/>
            </a:ln>
          </p:spPr>
          <p:txBody>
            <a:bodyPr/>
            <a:lstStyle/>
            <a:p>
              <a:endParaRPr lang="en-US"/>
            </a:p>
          </p:txBody>
        </p:sp>
        <p:sp>
          <p:nvSpPr>
            <p:cNvPr id="22" name="TextBox 22"/>
            <p:cNvSpPr txBox="1"/>
            <p:nvPr/>
          </p:nvSpPr>
          <p:spPr>
            <a:xfrm>
              <a:off x="4709541" y="3635375"/>
              <a:ext cx="2251187" cy="205359"/>
            </a:xfrm>
            <a:prstGeom prst="rect">
              <a:avLst/>
            </a:prstGeom>
            <a:noFill/>
            <a:ln>
              <a:noFill/>
            </a:ln>
          </p:spPr>
          <p:txBody>
            <a:bodyPr wrap="none" lIns="0" tIns="0" rIns="0" bIns="0" anchor="t" anchorCtr="0">
              <a:spAutoFit/>
            </a:bodyPr>
            <a:lstStyle/>
            <a:p>
              <a:pPr algn="l"/>
              <a:r>
                <a:rPr lang="vi" sz="1050" b="1" spc="75" dirty="0">
                  <a:solidFill>
                    <a:srgbClr val="94A3B8"/>
                  </a:solidFill>
                  <a:latin typeface="+mn-lt"/>
                  <a:ea typeface="+mn-ea"/>
                  <a:cs typeface="+mn-cs"/>
                </a:rPr>
                <a:t>MÔ HÌNH ĐÓNG BĂNG D011</a:t>
              </a:r>
            </a:p>
          </p:txBody>
        </p:sp>
        <p:sp>
          <p:nvSpPr>
            <p:cNvPr id="23" name="TextBox 23"/>
            <p:cNvSpPr txBox="1"/>
            <p:nvPr/>
          </p:nvSpPr>
          <p:spPr>
            <a:xfrm>
              <a:off x="4702683" y="3946525"/>
              <a:ext cx="1934739" cy="469392"/>
            </a:xfrm>
            <a:prstGeom prst="rect">
              <a:avLst/>
            </a:prstGeom>
            <a:noFill/>
            <a:ln>
              <a:noFill/>
            </a:ln>
          </p:spPr>
          <p:txBody>
            <a:bodyPr wrap="none" lIns="0" tIns="0" rIns="0" bIns="0" anchor="t" anchorCtr="0">
              <a:spAutoFit/>
            </a:bodyPr>
            <a:lstStyle/>
            <a:p>
              <a:pPr algn="l"/>
              <a:r>
                <a:rPr lang="vi" sz="2400" b="1" dirty="0">
                  <a:solidFill>
                    <a:srgbClr val="34D399"/>
                  </a:solidFill>
                  <a:latin typeface="+mn-lt"/>
                  <a:ea typeface="+mn-ea"/>
                  <a:cs typeface="+mn-cs"/>
                </a:rPr>
                <a:t>K = 2 </a:t>
              </a:r>
              <a:r>
                <a:rPr lang="vi" sz="1350" dirty="0">
                  <a:solidFill>
                    <a:srgbClr val="94A3B8"/>
                  </a:solidFill>
                  <a:latin typeface="+mn-lt"/>
                  <a:ea typeface="+mn-ea"/>
                  <a:cs typeface="+mn-cs"/>
                </a:rPr>
                <a:t>Cụm Tối Ưu</a:t>
              </a:r>
            </a:p>
          </p:txBody>
        </p:sp>
        <p:sp>
          <p:nvSpPr>
            <p:cNvPr id="24" name="TextBox 24"/>
            <p:cNvSpPr txBox="1"/>
            <p:nvPr/>
          </p:nvSpPr>
          <p:spPr>
            <a:xfrm>
              <a:off x="4709541" y="4445000"/>
              <a:ext cx="2720891" cy="205359"/>
            </a:xfrm>
            <a:prstGeom prst="rect">
              <a:avLst/>
            </a:prstGeom>
            <a:noFill/>
            <a:ln>
              <a:noFill/>
            </a:ln>
          </p:spPr>
          <p:txBody>
            <a:bodyPr wrap="none" lIns="0" tIns="0" rIns="0" bIns="0" anchor="t" anchorCtr="0">
              <a:spAutoFit/>
            </a:bodyPr>
            <a:lstStyle/>
            <a:p>
              <a:pPr algn="l"/>
              <a:r>
                <a:rPr lang="vi" sz="1050" dirty="0">
                  <a:solidFill>
                    <a:srgbClr val="CBD5E1"/>
                  </a:solidFill>
                  <a:latin typeface="+mn-lt"/>
                  <a:ea typeface="+mn-ea"/>
                  <a:cs typeface="+mn-cs"/>
                </a:rPr>
                <a:t>Log1p + Scaler | ARI: 0.997 | Sil: 0.307 val</a:t>
              </a:r>
            </a:p>
          </p:txBody>
        </p:sp>
        <p:sp>
          <p:nvSpPr>
            <p:cNvPr id="25" name="Rectangle 25"/>
            <p:cNvSpPr/>
            <p:nvPr/>
          </p:nvSpPr>
          <p:spPr>
            <a:xfrm>
              <a:off x="8096250" y="3333750"/>
              <a:ext cx="3286125" cy="1428750"/>
            </a:xfrm>
            <a:prstGeom prst="roundRect">
              <a:avLst>
                <a:gd name="adj" fmla="val 9333"/>
              </a:avLst>
            </a:prstGeom>
            <a:gradFill>
              <a:gsLst>
                <a:gs pos="0">
                  <a:srgbClr val="1E293B">
                    <a:alpha val="80000"/>
                  </a:srgbClr>
                </a:gs>
                <a:gs pos="100000">
                  <a:srgbClr val="0F172A">
                    <a:alpha val="90000"/>
                  </a:srgbClr>
                </a:gs>
              </a:gsLst>
              <a:lin ang="5400000" scaled="1"/>
            </a:gradFill>
            <a:ln w="14288">
              <a:solidFill>
                <a:srgbClr val="334155"/>
              </a:solidFill>
            </a:ln>
          </p:spPr>
          <p:txBody>
            <a:bodyPr/>
            <a:lstStyle/>
            <a:p>
              <a:endParaRPr lang="en-US"/>
            </a:p>
          </p:txBody>
        </p:sp>
        <p:sp>
          <p:nvSpPr>
            <p:cNvPr id="26" name="Rectangle 26"/>
            <p:cNvSpPr/>
            <p:nvPr/>
          </p:nvSpPr>
          <p:spPr>
            <a:xfrm>
              <a:off x="8096250" y="3333750"/>
              <a:ext cx="3286125" cy="38100"/>
            </a:xfrm>
            <a:prstGeom prst="roundRect">
              <a:avLst>
                <a:gd name="adj" fmla="val 50000"/>
              </a:avLst>
            </a:prstGeom>
            <a:solidFill>
              <a:srgbClr val="A855F7"/>
            </a:solidFill>
            <a:ln>
              <a:noFill/>
            </a:ln>
          </p:spPr>
          <p:txBody>
            <a:bodyPr/>
            <a:lstStyle/>
            <a:p>
              <a:endParaRPr lang="en-US"/>
            </a:p>
          </p:txBody>
        </p:sp>
        <p:sp>
          <p:nvSpPr>
            <p:cNvPr id="27" name="TextBox 27"/>
            <p:cNvSpPr txBox="1"/>
            <p:nvPr/>
          </p:nvSpPr>
          <p:spPr>
            <a:xfrm>
              <a:off x="8376666" y="3635375"/>
              <a:ext cx="1922604" cy="205359"/>
            </a:xfrm>
            <a:prstGeom prst="rect">
              <a:avLst/>
            </a:prstGeom>
            <a:noFill/>
            <a:ln>
              <a:noFill/>
            </a:ln>
          </p:spPr>
          <p:txBody>
            <a:bodyPr wrap="none" lIns="0" tIns="0" rIns="0" bIns="0" anchor="t" anchorCtr="0">
              <a:spAutoFit/>
            </a:bodyPr>
            <a:lstStyle/>
            <a:p>
              <a:pPr algn="l"/>
              <a:r>
                <a:rPr lang="vi" sz="1050" b="1" spc="75" dirty="0">
                  <a:solidFill>
                    <a:srgbClr val="94A3B8"/>
                  </a:solidFill>
                  <a:latin typeface="+mn-lt"/>
                  <a:ea typeface="+mn-ea"/>
                  <a:cs typeface="+mn-cs"/>
                </a:rPr>
                <a:t>KIẾN TRÚC TRIỂN KHAI</a:t>
              </a:r>
            </a:p>
          </p:txBody>
        </p:sp>
        <p:sp>
          <p:nvSpPr>
            <p:cNvPr id="28" name="TextBox 28"/>
            <p:cNvSpPr txBox="1"/>
            <p:nvPr/>
          </p:nvSpPr>
          <p:spPr>
            <a:xfrm>
              <a:off x="8369808" y="3946525"/>
              <a:ext cx="2712788" cy="469392"/>
            </a:xfrm>
            <a:prstGeom prst="rect">
              <a:avLst/>
            </a:prstGeom>
            <a:noFill/>
            <a:ln>
              <a:noFill/>
            </a:ln>
          </p:spPr>
          <p:txBody>
            <a:bodyPr wrap="none" lIns="0" tIns="0" rIns="0" bIns="0" anchor="t" anchorCtr="0">
              <a:spAutoFit/>
            </a:bodyPr>
            <a:lstStyle/>
            <a:p>
              <a:pPr algn="l"/>
              <a:r>
                <a:rPr lang="vi" sz="2400" b="1" dirty="0">
                  <a:solidFill>
                    <a:srgbClr val="C084FC"/>
                  </a:solidFill>
                  <a:latin typeface="+mn-lt"/>
                  <a:ea typeface="+mn-ea"/>
                  <a:cs typeface="+mn-cs"/>
                </a:rPr>
                <a:t>Full Stack </a:t>
              </a:r>
              <a:r>
                <a:rPr lang="vi" sz="1350" dirty="0">
                  <a:solidFill>
                    <a:srgbClr val="94A3B8"/>
                  </a:solidFill>
                  <a:latin typeface="+mn-lt"/>
                  <a:ea typeface="+mn-ea"/>
                  <a:cs typeface="+mn-cs"/>
                </a:rPr>
                <a:t>Web Serving</a:t>
              </a:r>
            </a:p>
          </p:txBody>
        </p:sp>
        <p:sp>
          <p:nvSpPr>
            <p:cNvPr id="29" name="TextBox 29"/>
            <p:cNvSpPr txBox="1"/>
            <p:nvPr/>
          </p:nvSpPr>
          <p:spPr>
            <a:xfrm>
              <a:off x="8376666" y="4445000"/>
              <a:ext cx="2878995" cy="205359"/>
            </a:xfrm>
            <a:prstGeom prst="rect">
              <a:avLst/>
            </a:prstGeom>
            <a:noFill/>
            <a:ln>
              <a:noFill/>
            </a:ln>
          </p:spPr>
          <p:txBody>
            <a:bodyPr wrap="none" lIns="0" tIns="0" rIns="0" bIns="0" anchor="t" anchorCtr="0">
              <a:spAutoFit/>
            </a:bodyPr>
            <a:lstStyle/>
            <a:p>
              <a:pPr algn="l"/>
              <a:r>
                <a:rPr lang="vi" sz="1050" dirty="0">
                  <a:solidFill>
                    <a:srgbClr val="CBD5E1"/>
                  </a:solidFill>
                  <a:latin typeface="+mn-lt"/>
                  <a:ea typeface="+mn-ea"/>
                  <a:cs typeface="+mn-cs"/>
                </a:rPr>
                <a:t>Fastify API + React Client + 100% CI Testing</a:t>
              </a:r>
            </a:p>
          </p:txBody>
        </p:sp>
      </p:grpSp>
      <p:grpSp>
        <p:nvGrpSpPr>
          <p:cNvPr id="39" name="hero-metadata"/>
          <p:cNvGrpSpPr/>
          <p:nvPr/>
        </p:nvGrpSpPr>
        <p:grpSpPr>
          <a:xfrm>
            <a:off x="762000" y="5095875"/>
            <a:ext cx="10620375" cy="1047750"/>
            <a:chOff x="762000" y="5095875"/>
            <a:chExt cx="10620375" cy="1047750"/>
          </a:xfrm>
        </p:grpSpPr>
        <p:sp>
          <p:nvSpPr>
            <p:cNvPr id="31" name="Rectangle 31"/>
            <p:cNvSpPr/>
            <p:nvPr/>
          </p:nvSpPr>
          <p:spPr>
            <a:xfrm>
              <a:off x="762000" y="5095875"/>
              <a:ext cx="10620375" cy="1047750"/>
            </a:xfrm>
            <a:prstGeom prst="roundRect">
              <a:avLst>
                <a:gd name="adj" fmla="val 10909"/>
              </a:avLst>
            </a:prstGeom>
            <a:solidFill>
              <a:srgbClr val="1E293B"/>
            </a:solidFill>
            <a:ln w="9525">
              <a:solidFill>
                <a:srgbClr val="334155"/>
              </a:solidFill>
            </a:ln>
          </p:spPr>
          <p:txBody>
            <a:bodyPr/>
            <a:lstStyle/>
            <a:p>
              <a:endParaRPr lang="en-US"/>
            </a:p>
          </p:txBody>
        </p:sp>
        <p:sp>
          <p:nvSpPr>
            <p:cNvPr id="32" name="TextBox 32"/>
            <p:cNvSpPr txBox="1"/>
            <p:nvPr/>
          </p:nvSpPr>
          <p:spPr>
            <a:xfrm>
              <a:off x="1138047" y="5349875"/>
              <a:ext cx="1931898" cy="191643"/>
            </a:xfrm>
            <a:prstGeom prst="rect">
              <a:avLst/>
            </a:prstGeom>
            <a:noFill/>
            <a:ln>
              <a:noFill/>
            </a:ln>
          </p:spPr>
          <p:txBody>
            <a:bodyPr wrap="none" lIns="0" tIns="0" rIns="0" bIns="0" anchor="t" anchorCtr="0">
              <a:spAutoFit/>
            </a:bodyPr>
            <a:lstStyle/>
            <a:p>
              <a:pPr algn="l"/>
              <a:r>
                <a:rPr lang="vi" sz="980" b="1" spc="75" dirty="0">
                  <a:solidFill>
                    <a:srgbClr val="64748B"/>
                  </a:solidFill>
                  <a:latin typeface="+mn-lt"/>
                  <a:ea typeface="+mn-ea"/>
                  <a:cs typeface="+mn-cs"/>
                </a:rPr>
                <a:t>GIẢNG VIÊN HƯỚNG DẪN</a:t>
              </a:r>
            </a:p>
          </p:txBody>
        </p:sp>
        <p:sp>
          <p:nvSpPr>
            <p:cNvPr id="33" name="TextBox 33"/>
            <p:cNvSpPr txBox="1"/>
            <p:nvPr/>
          </p:nvSpPr>
          <p:spPr>
            <a:xfrm>
              <a:off x="1136142" y="5597525"/>
              <a:ext cx="2574356" cy="264033"/>
            </a:xfrm>
            <a:prstGeom prst="rect">
              <a:avLst/>
            </a:prstGeom>
            <a:noFill/>
            <a:ln>
              <a:noFill/>
            </a:ln>
          </p:spPr>
          <p:txBody>
            <a:bodyPr wrap="none" lIns="0" tIns="0" rIns="0" bIns="0" anchor="t" anchorCtr="0">
              <a:spAutoFit/>
            </a:bodyPr>
            <a:lstStyle/>
            <a:p>
              <a:pPr algn="l"/>
              <a:r>
                <a:rPr lang="vi" sz="1350" b="1" dirty="0">
                  <a:solidFill>
                    <a:srgbClr val="F8FAFC"/>
                  </a:solidFill>
                  <a:latin typeface="+mn-lt"/>
                  <a:ea typeface="+mn-ea"/>
                  <a:cs typeface="+mn-cs"/>
                </a:rPr>
                <a:t>PGS.TS. NGUYỄN VĂN HẬU</a:t>
              </a:r>
            </a:p>
          </p:txBody>
        </p:sp>
        <p:sp>
          <p:nvSpPr>
            <p:cNvPr id="34" name="TextBox 34"/>
            <p:cNvSpPr txBox="1"/>
            <p:nvPr/>
          </p:nvSpPr>
          <p:spPr>
            <a:xfrm>
              <a:off x="1138047" y="5854700"/>
              <a:ext cx="3458220" cy="191643"/>
            </a:xfrm>
            <a:prstGeom prst="rect">
              <a:avLst/>
            </a:prstGeom>
            <a:noFill/>
            <a:ln>
              <a:noFill/>
            </a:ln>
          </p:spPr>
          <p:txBody>
            <a:bodyPr wrap="none" lIns="0" tIns="0" rIns="0" bIns="0" anchor="t" anchorCtr="0">
              <a:spAutoFit/>
            </a:bodyPr>
            <a:lstStyle/>
            <a:p>
              <a:pPr algn="l"/>
              <a:r>
                <a:rPr lang="vi" sz="980" dirty="0">
                  <a:solidFill>
                    <a:srgbClr val="94A3B8"/>
                  </a:solidFill>
                  <a:latin typeface="+mn-lt"/>
                  <a:ea typeface="+mn-ea"/>
                  <a:cs typeface="+mn-cs"/>
                </a:rPr>
                <a:t>Khoa Công Nghệ Thông Tin • Học phần: Học Máy Cơ Bản</a:t>
              </a:r>
            </a:p>
          </p:txBody>
        </p:sp>
        <p:sp>
          <p:nvSpPr>
            <p:cNvPr id="35" name="Line 35"/>
            <p:cNvSpPr/>
            <p:nvPr/>
          </p:nvSpPr>
          <p:spPr>
            <a:xfrm>
              <a:off x="5715000" y="5286375"/>
              <a:ext cx="9525" cy="666750"/>
            </a:xfrm>
            <a:custGeom>
              <a:avLst/>
              <a:gdLst/>
              <a:ahLst/>
              <a:cxnLst/>
              <a:rect l="l" t="t" r="r" b="b"/>
              <a:pathLst>
                <a:path w="9525" h="666750">
                  <a:moveTo>
                    <a:pt x="0" y="0"/>
                  </a:moveTo>
                  <a:lnTo>
                    <a:pt x="0" y="666750"/>
                  </a:lnTo>
                </a:path>
              </a:pathLst>
            </a:custGeom>
            <a:noFill/>
            <a:ln w="9525">
              <a:solidFill>
                <a:srgbClr val="334155"/>
              </a:solidFill>
            </a:ln>
          </p:spPr>
          <p:txBody>
            <a:bodyPr/>
            <a:lstStyle/>
            <a:p>
              <a:endParaRPr lang="en-US"/>
            </a:p>
          </p:txBody>
        </p:sp>
        <p:sp>
          <p:nvSpPr>
            <p:cNvPr id="36" name="TextBox 36"/>
            <p:cNvSpPr txBox="1"/>
            <p:nvPr/>
          </p:nvSpPr>
          <p:spPr>
            <a:xfrm>
              <a:off x="6091047" y="5349875"/>
              <a:ext cx="2214637" cy="191643"/>
            </a:xfrm>
            <a:prstGeom prst="rect">
              <a:avLst/>
            </a:prstGeom>
            <a:noFill/>
            <a:ln>
              <a:noFill/>
            </a:ln>
          </p:spPr>
          <p:txBody>
            <a:bodyPr wrap="none" lIns="0" tIns="0" rIns="0" bIns="0" anchor="t" anchorCtr="0">
              <a:spAutoFit/>
            </a:bodyPr>
            <a:lstStyle/>
            <a:p>
              <a:pPr algn="l"/>
              <a:r>
                <a:rPr lang="vi" sz="980" b="1" spc="75" dirty="0">
                  <a:solidFill>
                    <a:srgbClr val="64748B"/>
                  </a:solidFill>
                  <a:latin typeface="+mn-lt"/>
                  <a:ea typeface="+mn-ea"/>
                  <a:cs typeface="+mn-cs"/>
                </a:rPr>
                <a:t>NHÓM SINH VIÊN THỰC HIỆN</a:t>
              </a:r>
            </a:p>
          </p:txBody>
        </p:sp>
        <p:sp>
          <p:nvSpPr>
            <p:cNvPr id="37" name="TextBox 37"/>
            <p:cNvSpPr txBox="1"/>
            <p:nvPr/>
          </p:nvSpPr>
          <p:spPr>
            <a:xfrm>
              <a:off x="6089142" y="5597525"/>
              <a:ext cx="1880996" cy="264033"/>
            </a:xfrm>
            <a:prstGeom prst="rect">
              <a:avLst/>
            </a:prstGeom>
            <a:noFill/>
            <a:ln>
              <a:noFill/>
            </a:ln>
          </p:spPr>
          <p:txBody>
            <a:bodyPr wrap="none" lIns="0" tIns="0" rIns="0" bIns="0" anchor="t" anchorCtr="0">
              <a:spAutoFit/>
            </a:bodyPr>
            <a:lstStyle/>
            <a:p>
              <a:pPr algn="l"/>
              <a:r>
                <a:rPr lang="vi" sz="1350" b="1" dirty="0">
                  <a:solidFill>
                    <a:srgbClr val="F8FAFC"/>
                  </a:solidFill>
                  <a:latin typeface="+mn-lt"/>
                  <a:ea typeface="+mn-ea"/>
                  <a:cs typeface="+mn-cs"/>
                </a:rPr>
                <a:t>NHÓM 02 SINH VIÊN</a:t>
              </a:r>
            </a:p>
          </p:txBody>
        </p:sp>
        <p:sp>
          <p:nvSpPr>
            <p:cNvPr id="38" name="TextBox 38"/>
            <p:cNvSpPr txBox="1"/>
            <p:nvPr/>
          </p:nvSpPr>
          <p:spPr>
            <a:xfrm>
              <a:off x="6091047" y="5854700"/>
              <a:ext cx="3978985" cy="191643"/>
            </a:xfrm>
            <a:prstGeom prst="rect">
              <a:avLst/>
            </a:prstGeom>
            <a:noFill/>
            <a:ln>
              <a:noFill/>
            </a:ln>
          </p:spPr>
          <p:txBody>
            <a:bodyPr wrap="none" lIns="0" tIns="0" rIns="0" bIns="0" anchor="t" anchorCtr="0">
              <a:spAutoFit/>
            </a:bodyPr>
            <a:lstStyle/>
            <a:p>
              <a:pPr algn="l"/>
              <a:r>
                <a:rPr lang="vi" sz="980" dirty="0">
                  <a:solidFill>
                    <a:srgbClr val="94A3B8"/>
                  </a:solidFill>
                  <a:latin typeface="+mn-lt"/>
                  <a:ea typeface="+mn-ea"/>
                  <a:cs typeface="+mn-cs"/>
                </a:rPr>
                <a:t>Phân công: ML Pipeline, Data Analysis &amp; Web Serving Architecture</a:t>
              </a:r>
            </a:p>
          </p:txBody>
        </p:sp>
      </p:grpSp>
      <p:grpSp>
        <p:nvGrpSpPr>
          <p:cNvPr id="42" name="footer"/>
          <p:cNvGrpSpPr/>
          <p:nvPr/>
        </p:nvGrpSpPr>
        <p:grpSpPr>
          <a:xfrm>
            <a:off x="757047" y="6426200"/>
            <a:ext cx="10630281" cy="191643"/>
            <a:chOff x="757047" y="6426200"/>
            <a:chExt cx="10630281" cy="191643"/>
          </a:xfrm>
        </p:grpSpPr>
        <p:sp>
          <p:nvSpPr>
            <p:cNvPr id="40" name="TextBox 40"/>
            <p:cNvSpPr txBox="1"/>
            <p:nvPr/>
          </p:nvSpPr>
          <p:spPr>
            <a:xfrm>
              <a:off x="757047" y="6426200"/>
              <a:ext cx="4740925"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Project 22: K-Means Customer Segmentation • Machine Learning Fundamentals</a:t>
              </a:r>
            </a:p>
          </p:txBody>
        </p:sp>
        <p:sp>
          <p:nvSpPr>
            <p:cNvPr id="41" name="TextBox 41"/>
            <p:cNvSpPr txBox="1"/>
            <p:nvPr/>
          </p:nvSpPr>
          <p:spPr>
            <a:xfrm>
              <a:off x="10973961" y="6426200"/>
              <a:ext cx="413367" cy="191643"/>
            </a:xfrm>
            <a:prstGeom prst="rect">
              <a:avLst/>
            </a:prstGeom>
            <a:noFill/>
            <a:ln>
              <a:noFill/>
            </a:ln>
          </p:spPr>
          <p:txBody>
            <a:bodyPr wrap="none" lIns="0" tIns="0" rIns="0" bIns="0" anchor="t" anchorCtr="0">
              <a:spAutoFit/>
            </a:bodyPr>
            <a:lstStyle/>
            <a:p>
              <a:pPr algn="r"/>
              <a:r>
                <a:rPr lang="vi" sz="980" b="1" dirty="0">
                  <a:solidFill>
                    <a:srgbClr val="64748B"/>
                  </a:solidFill>
                  <a:latin typeface="+mn-lt"/>
                  <a:ea typeface="+mn-ea"/>
                  <a:cs typeface="+mn-cs"/>
                </a:rPr>
                <a:t>01 / 15</a:t>
              </a:r>
            </a:p>
          </p:txBody>
        </p:sp>
      </p:gr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10" presetClass="entr" presetSubtype="0" fill="hold" nodeType="afterEffect">
                                  <p:stCondLst>
                                    <p:cond delay="50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600"/>
                                        <p:tgtEl>
                                          <p:spTgt spid="14"/>
                                        </p:tgtEl>
                                      </p:cBhvr>
                                    </p:animEffect>
                                  </p:childTnLst>
                                </p:cTn>
                              </p:par>
                            </p:childTnLst>
                          </p:cTn>
                        </p:par>
                        <p:par>
                          <p:cTn id="12" fill="hold">
                            <p:stCondLst>
                              <p:cond delay="1600"/>
                            </p:stCondLst>
                            <p:childTnLst>
                              <p:par>
                                <p:cTn id="13" presetID="2" presetClass="entr" presetSubtype="4" fill="hold" nodeType="afterEffect">
                                  <p:stCondLst>
                                    <p:cond delay="500"/>
                                  </p:stCondLst>
                                  <p:childTnLst>
                                    <p:set>
                                      <p:cBhvr>
                                        <p:cTn id="14" dur="1" fill="hold">
                                          <p:stCondLst>
                                            <p:cond delay="0"/>
                                          </p:stCondLst>
                                        </p:cTn>
                                        <p:tgtEl>
                                          <p:spTgt spid="30"/>
                                        </p:tgtEl>
                                        <p:attrNameLst>
                                          <p:attrName>style.visibility</p:attrName>
                                        </p:attrNameLst>
                                      </p:cBhvr>
                                      <p:to>
                                        <p:strVal val="visible"/>
                                      </p:to>
                                    </p:set>
                                    <p:anim calcmode="lin" valueType="num">
                                      <p:cBhvr additive="base">
                                        <p:cTn id="15" dur="700" fill="hold"/>
                                        <p:tgtEl>
                                          <p:spTgt spid="30"/>
                                        </p:tgtEl>
                                        <p:attrNameLst>
                                          <p:attrName>ppt_x</p:attrName>
                                        </p:attrNameLst>
                                      </p:cBhvr>
                                      <p:tavLst>
                                        <p:tav tm="0">
                                          <p:val>
                                            <p:strVal val="#ppt_x"/>
                                          </p:val>
                                        </p:tav>
                                        <p:tav tm="100000">
                                          <p:val>
                                            <p:strVal val="#ppt_x"/>
                                          </p:val>
                                        </p:tav>
                                      </p:tavLst>
                                    </p:anim>
                                    <p:anim calcmode="lin" valueType="num">
                                      <p:cBhvr additive="base">
                                        <p:cTn id="16" dur="700" fill="hold"/>
                                        <p:tgtEl>
                                          <p:spTgt spid="30"/>
                                        </p:tgtEl>
                                        <p:attrNameLst>
                                          <p:attrName>ppt_y</p:attrName>
                                        </p:attrNameLst>
                                      </p:cBhvr>
                                      <p:tavLst>
                                        <p:tav tm="0">
                                          <p:val>
                                            <p:strVal val="1+#ppt_h/2"/>
                                          </p:val>
                                        </p:tav>
                                        <p:tav tm="100000">
                                          <p:val>
                                            <p:strVal val="#ppt_y"/>
                                          </p:val>
                                        </p:tav>
                                      </p:tavLst>
                                    </p:anim>
                                  </p:childTnLst>
                                </p:cTn>
                              </p:par>
                            </p:childTnLst>
                          </p:cTn>
                        </p:par>
                        <p:par>
                          <p:cTn id="17" fill="hold">
                            <p:stCondLst>
                              <p:cond delay="2800"/>
                            </p:stCondLst>
                            <p:childTnLst>
                              <p:par>
                                <p:cTn id="18" presetID="10" presetClass="entr" presetSubtype="0" fill="hold" nodeType="afterEffect">
                                  <p:stCondLst>
                                    <p:cond delay="500"/>
                                  </p:stCondLst>
                                  <p:childTnLst>
                                    <p:set>
                                      <p:cBhvr>
                                        <p:cTn id="19" dur="1" fill="hold">
                                          <p:stCondLst>
                                            <p:cond delay="0"/>
                                          </p:stCondLst>
                                        </p:cTn>
                                        <p:tgtEl>
                                          <p:spTgt spid="39"/>
                                        </p:tgtEl>
                                        <p:attrNameLst>
                                          <p:attrName>style.visibility</p:attrName>
                                        </p:attrNameLst>
                                      </p:cBhvr>
                                      <p:to>
                                        <p:strVal val="visible"/>
                                      </p:to>
                                    </p:set>
                                    <p:animEffect transition="in" filter="fade">
                                      <p:cBhvr>
                                        <p:cTn id="20"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page-background"/>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8FAFC"/>
            </a:solidFill>
            <a:ln>
              <a:noFill/>
            </a:ln>
          </p:spPr>
          <p:txBody>
            <a:bodyPr/>
            <a:lstStyle/>
            <a:p>
              <a:endParaRPr lang="en-US"/>
            </a:p>
          </p:txBody>
        </p:sp>
        <p:sp>
          <p:nvSpPr>
            <p:cNvPr id="3" name="Rectangle 3"/>
            <p:cNvSpPr/>
            <p:nvPr/>
          </p:nvSpPr>
          <p:spPr>
            <a:xfrm>
              <a:off x="0" y="0"/>
              <a:ext cx="12192000" cy="57150"/>
            </a:xfrm>
            <a:prstGeom prst="rect">
              <a:avLst/>
            </a:prstGeom>
            <a:gradFill>
              <a:gsLst>
                <a:gs pos="0">
                  <a:srgbClr val="1E3A8A"/>
                </a:gs>
                <a:gs pos="50000">
                  <a:schemeClr val="accent1"/>
                </a:gs>
                <a:gs pos="100000">
                  <a:srgbClr val="0EA5E9"/>
                </a:gs>
              </a:gsLst>
              <a:lin ang="0" scaled="1"/>
            </a:gradFill>
            <a:ln>
              <a:noFill/>
            </a:ln>
          </p:spPr>
          <p:txBody>
            <a:bodyPr/>
            <a:lstStyle/>
            <a:p>
              <a:endParaRPr lang="en-US"/>
            </a:p>
          </p:txBody>
        </p:sp>
      </p:grpSp>
      <p:grpSp>
        <p:nvGrpSpPr>
          <p:cNvPr id="9" name="header"/>
          <p:cNvGrpSpPr/>
          <p:nvPr/>
        </p:nvGrpSpPr>
        <p:grpSpPr>
          <a:xfrm>
            <a:off x="654558" y="304800"/>
            <a:ext cx="7035727" cy="899478"/>
            <a:chOff x="654558" y="304800"/>
            <a:chExt cx="7035727" cy="899478"/>
          </a:xfrm>
        </p:grpSpPr>
        <p:sp>
          <p:nvSpPr>
            <p:cNvPr id="5" name="Rectangle 5"/>
            <p:cNvSpPr/>
            <p:nvPr/>
          </p:nvSpPr>
          <p:spPr>
            <a:xfrm>
              <a:off x="666750" y="304800"/>
              <a:ext cx="1571625" cy="247650"/>
            </a:xfrm>
            <a:prstGeom prst="roundRect">
              <a:avLst>
                <a:gd name="adj" fmla="val 23077"/>
              </a:avLst>
            </a:prstGeom>
            <a:solidFill>
              <a:srgbClr val="EFF6FF"/>
            </a:solidFill>
            <a:ln w="9525">
              <a:solidFill>
                <a:srgbClr val="BFDBFE"/>
              </a:solidFill>
            </a:ln>
          </p:spPr>
          <p:txBody>
            <a:bodyPr/>
            <a:lstStyle/>
            <a:p>
              <a:endParaRPr lang="en-US"/>
            </a:p>
          </p:txBody>
        </p:sp>
        <p:sp>
          <p:nvSpPr>
            <p:cNvPr id="6" name="TextBox 6"/>
            <p:cNvSpPr txBox="1"/>
            <p:nvPr/>
          </p:nvSpPr>
          <p:spPr>
            <a:xfrm>
              <a:off x="812638" y="365125"/>
              <a:ext cx="1279850" cy="161925"/>
            </a:xfrm>
            <a:prstGeom prst="rect">
              <a:avLst/>
            </a:prstGeom>
            <a:noFill/>
            <a:ln>
              <a:noFill/>
            </a:ln>
          </p:spPr>
          <p:txBody>
            <a:bodyPr wrap="none" lIns="0" tIns="0" rIns="0" bIns="0" anchor="t" anchorCtr="0">
              <a:spAutoFit/>
            </a:bodyPr>
            <a:lstStyle/>
            <a:p>
              <a:pPr algn="ctr"/>
              <a:r>
                <a:rPr lang="vi" sz="820" b="1" spc="75" dirty="0">
                  <a:solidFill>
                    <a:srgbClr val="1D4ED8"/>
                  </a:solidFill>
                  <a:latin typeface="+mn-lt"/>
                  <a:ea typeface="+mn-ea"/>
                  <a:cs typeface="+mn-cs"/>
                </a:rPr>
                <a:t>TỔNG QUAN ĐỒ ÁN</a:t>
              </a:r>
            </a:p>
          </p:txBody>
        </p:sp>
        <p:sp>
          <p:nvSpPr>
            <p:cNvPr id="7" name="TextBox 7"/>
            <p:cNvSpPr txBox="1"/>
            <p:nvPr/>
          </p:nvSpPr>
          <p:spPr>
            <a:xfrm>
              <a:off x="654558" y="584200"/>
              <a:ext cx="7035727" cy="469392"/>
            </a:xfrm>
            <a:prstGeom prst="rect">
              <a:avLst/>
            </a:prstGeom>
            <a:noFill/>
            <a:ln>
              <a:noFill/>
            </a:ln>
          </p:spPr>
          <p:txBody>
            <a:bodyPr wrap="none" lIns="0" tIns="0" rIns="0" bIns="0" anchor="t" anchorCtr="0">
              <a:spAutoFit/>
            </a:bodyPr>
            <a:lstStyle/>
            <a:p>
              <a:pPr algn="l"/>
              <a:r>
                <a:rPr lang="vi" sz="2400" b="1" dirty="0">
                  <a:solidFill>
                    <a:srgbClr val="0F172A"/>
                  </a:solidFill>
                  <a:latin typeface="+mn-lt"/>
                  <a:ea typeface="+mn-ea"/>
                  <a:cs typeface="+mn-cs"/>
                </a:rPr>
                <a:t>Bối Cảnh Nghiệp Vụ, Thách Thức &amp; Mục Tiêu</a:t>
              </a:r>
            </a:p>
          </p:txBody>
        </p:sp>
        <p:sp>
          <p:nvSpPr>
            <p:cNvPr id="8" name="TextBox 8"/>
            <p:cNvSpPr txBox="1"/>
            <p:nvPr/>
          </p:nvSpPr>
          <p:spPr>
            <a:xfrm>
              <a:off x="661035" y="984250"/>
              <a:ext cx="5364643" cy="220028"/>
            </a:xfrm>
            <a:prstGeom prst="rect">
              <a:avLst/>
            </a:prstGeom>
            <a:noFill/>
            <a:ln>
              <a:noFill/>
            </a:ln>
          </p:spPr>
          <p:txBody>
            <a:bodyPr wrap="none" lIns="0" tIns="0" rIns="0" bIns="0" anchor="t" anchorCtr="0">
              <a:spAutoFit/>
            </a:bodyPr>
            <a:lstStyle/>
            <a:p>
              <a:pPr algn="l"/>
              <a:r>
                <a:rPr lang="vi" sz="1120" dirty="0">
                  <a:solidFill>
                    <a:srgbClr val="475569"/>
                  </a:solidFill>
                  <a:latin typeface="+mn-lt"/>
                  <a:ea typeface="+mn-ea"/>
                  <a:cs typeface="+mn-cs"/>
                </a:rPr>
                <a:t>Xác lập ranh giới bài toán phân khúc bán sỉ và phương pháp giải quyết khoa học</a:t>
              </a:r>
            </a:p>
          </p:txBody>
        </p:sp>
      </p:grpSp>
      <p:grpSp>
        <p:nvGrpSpPr>
          <p:cNvPr id="63" name="problem-pillars"/>
          <p:cNvGrpSpPr/>
          <p:nvPr/>
        </p:nvGrpSpPr>
        <p:grpSpPr>
          <a:xfrm>
            <a:off x="666750" y="1524000"/>
            <a:ext cx="10858500" cy="4619625"/>
            <a:chOff x="666750" y="1524000"/>
            <a:chExt cx="10858500" cy="4619625"/>
          </a:xfrm>
        </p:grpSpPr>
        <p:sp>
          <p:nvSpPr>
            <p:cNvPr id="10" name="Rectangle 10"/>
            <p:cNvSpPr/>
            <p:nvPr/>
          </p:nvSpPr>
          <p:spPr>
            <a:xfrm>
              <a:off x="666750" y="1524000"/>
              <a:ext cx="3429000" cy="4619625"/>
            </a:xfrm>
            <a:prstGeom prst="roundRect">
              <a:avLst>
                <a:gd name="adj" fmla="val 3889"/>
              </a:avLst>
            </a:prstGeom>
            <a:solidFill>
              <a:schemeClr val="lt1"/>
            </a:solidFill>
            <a:ln w="14288">
              <a:solidFill>
                <a:srgbClr val="E2E8F0"/>
              </a:solidFill>
            </a:ln>
          </p:spPr>
          <p:txBody>
            <a:bodyPr/>
            <a:lstStyle/>
            <a:p>
              <a:endParaRPr lang="en-US"/>
            </a:p>
          </p:txBody>
        </p:sp>
        <p:sp>
          <p:nvSpPr>
            <p:cNvPr id="11" name="Rectangle 11"/>
            <p:cNvSpPr/>
            <p:nvPr/>
          </p:nvSpPr>
          <p:spPr>
            <a:xfrm>
              <a:off x="666750" y="1524000"/>
              <a:ext cx="3429000" cy="57150"/>
            </a:xfrm>
            <a:prstGeom prst="roundRect">
              <a:avLst>
                <a:gd name="adj" fmla="val 50000"/>
              </a:avLst>
            </a:prstGeom>
            <a:solidFill>
              <a:schemeClr val="accent1"/>
            </a:solidFill>
            <a:ln>
              <a:noFill/>
            </a:ln>
          </p:spPr>
          <p:txBody>
            <a:bodyPr/>
            <a:lstStyle/>
            <a:p>
              <a:endParaRPr lang="en-US"/>
            </a:p>
          </p:txBody>
        </p:sp>
        <p:sp>
          <p:nvSpPr>
            <p:cNvPr id="12" name="Ellipse 12"/>
            <p:cNvSpPr/>
            <p:nvPr/>
          </p:nvSpPr>
          <p:spPr>
            <a:xfrm>
              <a:off x="885825" y="1743075"/>
              <a:ext cx="419100" cy="419100"/>
            </a:xfrm>
            <a:prstGeom prst="ellipse">
              <a:avLst/>
            </a:prstGeom>
            <a:solidFill>
              <a:srgbClr val="DBEAFE"/>
            </a:solidFill>
            <a:ln>
              <a:noFill/>
            </a:ln>
          </p:spPr>
          <p:txBody>
            <a:bodyPr/>
            <a:lstStyle/>
            <a:p>
              <a:endParaRPr lang="en-US"/>
            </a:p>
          </p:txBody>
        </p:sp>
        <p:sp>
          <p:nvSpPr>
            <p:cNvPr id="13" name="Freeform 13"/>
            <p:cNvSpPr/>
            <p:nvPr/>
          </p:nvSpPr>
          <p:spPr>
            <a:xfrm>
              <a:off x="1019175" y="1895475"/>
              <a:ext cx="152400" cy="114300"/>
            </a:xfrm>
            <a:custGeom>
              <a:avLst/>
              <a:gdLst/>
              <a:ahLst/>
              <a:cxnLst/>
              <a:rect l="l" t="t" r="r" b="b"/>
              <a:pathLst>
                <a:path w="152400" h="114300">
                  <a:moveTo>
                    <a:pt x="0" y="57150"/>
                  </a:moveTo>
                  <a:lnTo>
                    <a:pt x="57150" y="114300"/>
                  </a:lnTo>
                  <a:lnTo>
                    <a:pt x="152400" y="0"/>
                  </a:lnTo>
                </a:path>
              </a:pathLst>
            </a:custGeom>
            <a:noFill/>
            <a:ln w="23812" cap="rnd">
              <a:solidFill>
                <a:srgbClr val="1D4ED8"/>
              </a:solidFill>
            </a:ln>
          </p:spPr>
          <p:txBody>
            <a:bodyPr/>
            <a:lstStyle/>
            <a:p>
              <a:endParaRPr lang="en-US"/>
            </a:p>
          </p:txBody>
        </p:sp>
        <p:sp>
          <p:nvSpPr>
            <p:cNvPr id="14" name="TextBox 14"/>
            <p:cNvSpPr txBox="1"/>
            <p:nvPr/>
          </p:nvSpPr>
          <p:spPr>
            <a:xfrm>
              <a:off x="1421892" y="1844675"/>
              <a:ext cx="1885709" cy="264033"/>
            </a:xfrm>
            <a:prstGeom prst="rect">
              <a:avLst/>
            </a:prstGeom>
            <a:noFill/>
            <a:ln>
              <a:noFill/>
            </a:ln>
          </p:spPr>
          <p:txBody>
            <a:bodyPr wrap="none" lIns="0" tIns="0" rIns="0" bIns="0" anchor="t" anchorCtr="0">
              <a:spAutoFit/>
            </a:bodyPr>
            <a:lstStyle/>
            <a:p>
              <a:pPr algn="l"/>
              <a:r>
                <a:rPr lang="vi" sz="1350" b="1" dirty="0">
                  <a:solidFill>
                    <a:srgbClr val="0F172A"/>
                  </a:solidFill>
                  <a:latin typeface="+mn-lt"/>
                  <a:ea typeface="+mn-ea"/>
                  <a:cs typeface="+mn-cs"/>
                </a:rPr>
                <a:t>Bối Cảnh B2B Bán Sỉ</a:t>
              </a:r>
            </a:p>
          </p:txBody>
        </p:sp>
        <p:sp>
          <p:nvSpPr>
            <p:cNvPr id="15" name="TextBox 15"/>
            <p:cNvSpPr txBox="1"/>
            <p:nvPr/>
          </p:nvSpPr>
          <p:spPr>
            <a:xfrm>
              <a:off x="899541" y="2349500"/>
              <a:ext cx="1586306" cy="205359"/>
            </a:xfrm>
            <a:prstGeom prst="rect">
              <a:avLst/>
            </a:prstGeom>
            <a:noFill/>
            <a:ln>
              <a:noFill/>
            </a:ln>
          </p:spPr>
          <p:txBody>
            <a:bodyPr wrap="none" lIns="0" tIns="0" rIns="0" bIns="0" anchor="t" anchorCtr="0">
              <a:spAutoFit/>
            </a:bodyPr>
            <a:lstStyle/>
            <a:p>
              <a:pPr algn="l"/>
              <a:r>
                <a:rPr lang="vi" sz="1050" b="1" dirty="0">
                  <a:solidFill>
                    <a:srgbClr val="1E40AF"/>
                  </a:solidFill>
                  <a:latin typeface="+mn-lt"/>
                  <a:ea typeface="+mn-ea"/>
                  <a:cs typeface="+mn-cs"/>
                </a:rPr>
                <a:t>Đặc thù nhà phân phối:</a:t>
              </a:r>
            </a:p>
          </p:txBody>
        </p:sp>
        <p:sp>
          <p:nvSpPr>
            <p:cNvPr id="16" name="TextBox 16"/>
            <p:cNvSpPr txBox="1"/>
            <p:nvPr/>
          </p:nvSpPr>
          <p:spPr>
            <a:xfrm>
              <a:off x="899541" y="2587625"/>
              <a:ext cx="2347492" cy="205359"/>
            </a:xfrm>
            <a:prstGeom prst="rect">
              <a:avLst/>
            </a:prstGeom>
            <a:noFill/>
            <a:ln>
              <a:noFill/>
            </a:ln>
          </p:spPr>
          <p:txBody>
            <a:bodyPr wrap="none" lIns="0" tIns="0" rIns="0" bIns="0" anchor="t" anchorCtr="0">
              <a:spAutoFit/>
            </a:bodyPr>
            <a:lstStyle/>
            <a:p>
              <a:pPr marL="83730" indent="-83730" algn="l">
                <a:buClr>
                  <a:srgbClr val="334155"/>
                </a:buClr>
                <a:buSzTx/>
                <a:buFontTx/>
                <a:buChar char="•"/>
              </a:pPr>
              <a:r>
                <a:rPr lang="vi" sz="1050" dirty="0">
                  <a:solidFill>
                    <a:srgbClr val="334155"/>
                  </a:solidFill>
                  <a:latin typeface="+mn-lt"/>
                  <a:ea typeface="+mn-ea"/>
                  <a:cs typeface="+mn-cs"/>
                </a:rPr>
                <a:t>Cung ứng hàng hóa lớn cho 2 nhóm</a:t>
              </a:r>
            </a:p>
          </p:txBody>
        </p:sp>
        <p:sp>
          <p:nvSpPr>
            <p:cNvPr id="17" name="TextBox 17"/>
            <p:cNvSpPr txBox="1"/>
            <p:nvPr/>
          </p:nvSpPr>
          <p:spPr>
            <a:xfrm>
              <a:off x="994791" y="2797175"/>
              <a:ext cx="2094501" cy="205359"/>
            </a:xfrm>
            <a:prstGeom prst="rect">
              <a:avLst/>
            </a:prstGeom>
            <a:noFill/>
            <a:ln>
              <a:noFill/>
            </a:ln>
          </p:spPr>
          <p:txBody>
            <a:bodyPr wrap="none" lIns="0" tIns="0" rIns="0" bIns="0" anchor="t" anchorCtr="0">
              <a:spAutoFit/>
            </a:bodyPr>
            <a:lstStyle/>
            <a:p>
              <a:pPr algn="l"/>
              <a:r>
                <a:rPr lang="vi" sz="1050" dirty="0">
                  <a:solidFill>
                    <a:srgbClr val="334155"/>
                  </a:solidFill>
                  <a:latin typeface="+mn-lt"/>
                  <a:ea typeface="+mn-ea"/>
                  <a:cs typeface="+mn-cs"/>
                </a:rPr>
                <a:t>đối tượng chính: Horeca &amp; Retail.</a:t>
              </a:r>
            </a:p>
          </p:txBody>
        </p:sp>
        <p:sp>
          <p:nvSpPr>
            <p:cNvPr id="18" name="TextBox 18"/>
            <p:cNvSpPr txBox="1"/>
            <p:nvPr/>
          </p:nvSpPr>
          <p:spPr>
            <a:xfrm>
              <a:off x="899541" y="3111500"/>
              <a:ext cx="1122748" cy="205359"/>
            </a:xfrm>
            <a:prstGeom prst="rect">
              <a:avLst/>
            </a:prstGeom>
            <a:noFill/>
            <a:ln>
              <a:noFill/>
            </a:ln>
          </p:spPr>
          <p:txBody>
            <a:bodyPr wrap="none" lIns="0" tIns="0" rIns="0" bIns="0" anchor="t" anchorCtr="0">
              <a:spAutoFit/>
            </a:bodyPr>
            <a:lstStyle/>
            <a:p>
              <a:pPr algn="l"/>
              <a:r>
                <a:rPr lang="vi" sz="1050" b="1" dirty="0">
                  <a:solidFill>
                    <a:srgbClr val="1E40AF"/>
                  </a:solidFill>
                  <a:latin typeface="+mn-lt"/>
                  <a:ea typeface="+mn-ea"/>
                  <a:cs typeface="+mn-cs"/>
                </a:rPr>
                <a:t>Bài toán thực tế:</a:t>
              </a:r>
            </a:p>
          </p:txBody>
        </p:sp>
        <p:sp>
          <p:nvSpPr>
            <p:cNvPr id="19" name="TextBox 19"/>
            <p:cNvSpPr txBox="1"/>
            <p:nvPr/>
          </p:nvSpPr>
          <p:spPr>
            <a:xfrm>
              <a:off x="899541" y="3349625"/>
              <a:ext cx="2425765" cy="205359"/>
            </a:xfrm>
            <a:prstGeom prst="rect">
              <a:avLst/>
            </a:prstGeom>
            <a:noFill/>
            <a:ln>
              <a:noFill/>
            </a:ln>
          </p:spPr>
          <p:txBody>
            <a:bodyPr wrap="none" lIns="0" tIns="0" rIns="0" bIns="0" anchor="t" anchorCtr="0">
              <a:spAutoFit/>
            </a:bodyPr>
            <a:lstStyle/>
            <a:p>
              <a:pPr marL="83730" indent="-83730" algn="l">
                <a:buClr>
                  <a:srgbClr val="334155"/>
                </a:buClr>
                <a:buSzTx/>
                <a:buFontTx/>
                <a:buChar char="•"/>
              </a:pPr>
              <a:r>
                <a:rPr lang="vi" sz="1050" dirty="0">
                  <a:solidFill>
                    <a:srgbClr val="334155"/>
                  </a:solidFill>
                  <a:latin typeface="+mn-lt"/>
                  <a:ea typeface="+mn-ea"/>
                  <a:cs typeface="+mn-cs"/>
                </a:rPr>
                <a:t>Quy mô đơn hàng và danh mục hàng</a:t>
              </a:r>
            </a:p>
          </p:txBody>
        </p:sp>
        <p:sp>
          <p:nvSpPr>
            <p:cNvPr id="20" name="TextBox 20"/>
            <p:cNvSpPr txBox="1"/>
            <p:nvPr/>
          </p:nvSpPr>
          <p:spPr>
            <a:xfrm>
              <a:off x="994791" y="3559175"/>
              <a:ext cx="2415529" cy="205359"/>
            </a:xfrm>
            <a:prstGeom prst="rect">
              <a:avLst/>
            </a:prstGeom>
            <a:noFill/>
            <a:ln>
              <a:noFill/>
            </a:ln>
          </p:spPr>
          <p:txBody>
            <a:bodyPr wrap="none" lIns="0" tIns="0" rIns="0" bIns="0" anchor="t" anchorCtr="0">
              <a:spAutoFit/>
            </a:bodyPr>
            <a:lstStyle/>
            <a:p>
              <a:pPr algn="l"/>
              <a:r>
                <a:rPr lang="vi" sz="1050" dirty="0">
                  <a:solidFill>
                    <a:srgbClr val="334155"/>
                  </a:solidFill>
                  <a:latin typeface="+mn-lt"/>
                  <a:ea typeface="+mn-ea"/>
                  <a:cs typeface="+mn-cs"/>
                </a:rPr>
                <a:t>hóa giữa các khách hàng rất phân tán.</a:t>
              </a:r>
            </a:p>
          </p:txBody>
        </p:sp>
        <p:sp>
          <p:nvSpPr>
            <p:cNvPr id="21" name="TextBox 21"/>
            <p:cNvSpPr txBox="1"/>
            <p:nvPr/>
          </p:nvSpPr>
          <p:spPr>
            <a:xfrm>
              <a:off x="899541" y="3873500"/>
              <a:ext cx="2432942" cy="205359"/>
            </a:xfrm>
            <a:prstGeom prst="rect">
              <a:avLst/>
            </a:prstGeom>
            <a:noFill/>
            <a:ln>
              <a:noFill/>
            </a:ln>
          </p:spPr>
          <p:txBody>
            <a:bodyPr wrap="none" lIns="0" tIns="0" rIns="0" bIns="0" anchor="t" anchorCtr="0">
              <a:spAutoFit/>
            </a:bodyPr>
            <a:lstStyle/>
            <a:p>
              <a:pPr marL="83730" indent="-83730" algn="l">
                <a:buClr>
                  <a:srgbClr val="334155"/>
                </a:buClr>
                <a:buSzTx/>
                <a:buFontTx/>
                <a:buChar char="•"/>
              </a:pPr>
              <a:r>
                <a:rPr lang="vi" sz="1050" dirty="0">
                  <a:solidFill>
                    <a:srgbClr val="334155"/>
                  </a:solidFill>
                  <a:latin typeface="+mn-lt"/>
                  <a:ea typeface="+mn-ea"/>
                  <a:cs typeface="+mn-cs"/>
                </a:rPr>
                <a:t>Thiếu cơ sở dữ liệu định lượng để xây</a:t>
              </a:r>
            </a:p>
          </p:txBody>
        </p:sp>
        <p:sp>
          <p:nvSpPr>
            <p:cNvPr id="22" name="TextBox 22"/>
            <p:cNvSpPr txBox="1"/>
            <p:nvPr/>
          </p:nvSpPr>
          <p:spPr>
            <a:xfrm>
              <a:off x="994791" y="4083050"/>
              <a:ext cx="2407500" cy="205359"/>
            </a:xfrm>
            <a:prstGeom prst="rect">
              <a:avLst/>
            </a:prstGeom>
            <a:noFill/>
            <a:ln>
              <a:noFill/>
            </a:ln>
          </p:spPr>
          <p:txBody>
            <a:bodyPr wrap="none" lIns="0" tIns="0" rIns="0" bIns="0" anchor="t" anchorCtr="0">
              <a:spAutoFit/>
            </a:bodyPr>
            <a:lstStyle/>
            <a:p>
              <a:pPr algn="l"/>
              <a:r>
                <a:rPr lang="vi" sz="1050" dirty="0">
                  <a:solidFill>
                    <a:srgbClr val="334155"/>
                  </a:solidFill>
                  <a:latin typeface="+mn-lt"/>
                  <a:ea typeface="+mn-ea"/>
                  <a:cs typeface="+mn-cs"/>
                </a:rPr>
                <a:t>dựng chính sách chiết khấu &amp; tồn kho.</a:t>
              </a:r>
            </a:p>
          </p:txBody>
        </p:sp>
        <p:sp>
          <p:nvSpPr>
            <p:cNvPr id="23" name="Rectangle 23"/>
            <p:cNvSpPr/>
            <p:nvPr/>
          </p:nvSpPr>
          <p:spPr>
            <a:xfrm>
              <a:off x="857250" y="5000625"/>
              <a:ext cx="3048000" cy="952500"/>
            </a:xfrm>
            <a:prstGeom prst="roundRect">
              <a:avLst>
                <a:gd name="adj" fmla="val 10000"/>
              </a:avLst>
            </a:prstGeom>
            <a:solidFill>
              <a:srgbClr val="EFF6FF"/>
            </a:solidFill>
            <a:ln w="9525">
              <a:solidFill>
                <a:srgbClr val="BFDBFE"/>
              </a:solidFill>
            </a:ln>
          </p:spPr>
          <p:txBody>
            <a:bodyPr/>
            <a:lstStyle/>
            <a:p>
              <a:endParaRPr lang="en-US"/>
            </a:p>
          </p:txBody>
        </p:sp>
        <p:sp>
          <p:nvSpPr>
            <p:cNvPr id="24" name="TextBox 24"/>
            <p:cNvSpPr txBox="1"/>
            <p:nvPr/>
          </p:nvSpPr>
          <p:spPr>
            <a:xfrm>
              <a:off x="995172" y="5159375"/>
              <a:ext cx="1489140" cy="191643"/>
            </a:xfrm>
            <a:prstGeom prst="rect">
              <a:avLst/>
            </a:prstGeom>
            <a:noFill/>
            <a:ln>
              <a:noFill/>
            </a:ln>
          </p:spPr>
          <p:txBody>
            <a:bodyPr wrap="none" lIns="0" tIns="0" rIns="0" bIns="0" anchor="t" anchorCtr="0">
              <a:spAutoFit/>
            </a:bodyPr>
            <a:lstStyle/>
            <a:p>
              <a:pPr algn="l"/>
              <a:r>
                <a:rPr lang="vi" sz="980" b="1" dirty="0">
                  <a:solidFill>
                    <a:srgbClr val="1E40AF"/>
                  </a:solidFill>
                  <a:latin typeface="+mn-lt"/>
                  <a:ea typeface="+mn-ea"/>
                  <a:cs typeface="+mn-cs"/>
                </a:rPr>
                <a:t>MỤC TIÊU NGHIỆP VỤ</a:t>
              </a:r>
            </a:p>
          </p:txBody>
        </p:sp>
        <p:sp>
          <p:nvSpPr>
            <p:cNvPr id="25" name="TextBox 25"/>
            <p:cNvSpPr txBox="1"/>
            <p:nvPr/>
          </p:nvSpPr>
          <p:spPr>
            <a:xfrm>
              <a:off x="995172" y="5397500"/>
              <a:ext cx="2200423" cy="191643"/>
            </a:xfrm>
            <a:prstGeom prst="rect">
              <a:avLst/>
            </a:prstGeom>
            <a:noFill/>
            <a:ln>
              <a:noFill/>
            </a:ln>
          </p:spPr>
          <p:txBody>
            <a:bodyPr wrap="none" lIns="0" tIns="0" rIns="0" bIns="0" anchor="t" anchorCtr="0">
              <a:spAutoFit/>
            </a:bodyPr>
            <a:lstStyle/>
            <a:p>
              <a:pPr algn="l"/>
              <a:r>
                <a:rPr lang="vi" sz="980" dirty="0">
                  <a:solidFill>
                    <a:srgbClr val="1E3A8A"/>
                  </a:solidFill>
                  <a:latin typeface="+mn-lt"/>
                  <a:ea typeface="+mn-ea"/>
                  <a:cs typeface="+mn-cs"/>
                </a:rPr>
                <a:t>Tự động nhận diện nhóm khách hàng</a:t>
              </a:r>
            </a:p>
          </p:txBody>
        </p:sp>
        <p:sp>
          <p:nvSpPr>
            <p:cNvPr id="26" name="TextBox 26"/>
            <p:cNvSpPr txBox="1"/>
            <p:nvPr/>
          </p:nvSpPr>
          <p:spPr>
            <a:xfrm>
              <a:off x="995172" y="5607050"/>
              <a:ext cx="1880138" cy="191643"/>
            </a:xfrm>
            <a:prstGeom prst="rect">
              <a:avLst/>
            </a:prstGeom>
            <a:noFill/>
            <a:ln>
              <a:noFill/>
            </a:ln>
          </p:spPr>
          <p:txBody>
            <a:bodyPr wrap="none" lIns="0" tIns="0" rIns="0" bIns="0" anchor="t" anchorCtr="0">
              <a:spAutoFit/>
            </a:bodyPr>
            <a:lstStyle/>
            <a:p>
              <a:pPr algn="l"/>
              <a:r>
                <a:rPr lang="vi" sz="980" dirty="0">
                  <a:solidFill>
                    <a:srgbClr val="1E3A8A"/>
                  </a:solidFill>
                  <a:latin typeface="+mn-lt"/>
                  <a:ea typeface="+mn-ea"/>
                  <a:cs typeface="+mn-cs"/>
                </a:rPr>
                <a:t>dựa trên hành vi chi tiêu thực tế.</a:t>
              </a:r>
            </a:p>
          </p:txBody>
        </p:sp>
        <p:sp>
          <p:nvSpPr>
            <p:cNvPr id="27" name="Rectangle 27"/>
            <p:cNvSpPr/>
            <p:nvPr/>
          </p:nvSpPr>
          <p:spPr>
            <a:xfrm>
              <a:off x="4381500" y="1524000"/>
              <a:ext cx="3429000" cy="4619625"/>
            </a:xfrm>
            <a:prstGeom prst="roundRect">
              <a:avLst>
                <a:gd name="adj" fmla="val 3889"/>
              </a:avLst>
            </a:prstGeom>
            <a:solidFill>
              <a:schemeClr val="lt1"/>
            </a:solidFill>
            <a:ln w="14288">
              <a:solidFill>
                <a:srgbClr val="E2E8F0"/>
              </a:solidFill>
            </a:ln>
          </p:spPr>
          <p:txBody>
            <a:bodyPr/>
            <a:lstStyle/>
            <a:p>
              <a:endParaRPr lang="en-US"/>
            </a:p>
          </p:txBody>
        </p:sp>
        <p:sp>
          <p:nvSpPr>
            <p:cNvPr id="28" name="Rectangle 28"/>
            <p:cNvSpPr/>
            <p:nvPr/>
          </p:nvSpPr>
          <p:spPr>
            <a:xfrm>
              <a:off x="4381500" y="1524000"/>
              <a:ext cx="3429000" cy="57150"/>
            </a:xfrm>
            <a:prstGeom prst="roundRect">
              <a:avLst>
                <a:gd name="adj" fmla="val 50000"/>
              </a:avLst>
            </a:prstGeom>
            <a:solidFill>
              <a:srgbClr val="DC2626"/>
            </a:solidFill>
            <a:ln>
              <a:noFill/>
            </a:ln>
          </p:spPr>
          <p:txBody>
            <a:bodyPr/>
            <a:lstStyle/>
            <a:p>
              <a:endParaRPr lang="en-US"/>
            </a:p>
          </p:txBody>
        </p:sp>
        <p:sp>
          <p:nvSpPr>
            <p:cNvPr id="29" name="Ellipse 29"/>
            <p:cNvSpPr/>
            <p:nvPr/>
          </p:nvSpPr>
          <p:spPr>
            <a:xfrm>
              <a:off x="4600575" y="1743075"/>
              <a:ext cx="419100" cy="419100"/>
            </a:xfrm>
            <a:prstGeom prst="ellipse">
              <a:avLst/>
            </a:prstGeom>
            <a:solidFill>
              <a:srgbClr val="FEE2E2"/>
            </a:solidFill>
            <a:ln>
              <a:noFill/>
            </a:ln>
          </p:spPr>
          <p:txBody>
            <a:bodyPr/>
            <a:lstStyle/>
            <a:p>
              <a:endParaRPr lang="en-US"/>
            </a:p>
          </p:txBody>
        </p:sp>
        <p:sp>
          <p:nvSpPr>
            <p:cNvPr id="30" name="TextBox 30"/>
            <p:cNvSpPr txBox="1"/>
            <p:nvPr/>
          </p:nvSpPr>
          <p:spPr>
            <a:xfrm>
              <a:off x="4773008" y="1854200"/>
              <a:ext cx="74234" cy="264033"/>
            </a:xfrm>
            <a:prstGeom prst="rect">
              <a:avLst/>
            </a:prstGeom>
            <a:noFill/>
            <a:ln>
              <a:noFill/>
            </a:ln>
          </p:spPr>
          <p:txBody>
            <a:bodyPr wrap="none" lIns="0" tIns="0" rIns="0" bIns="0" anchor="t" anchorCtr="0">
              <a:spAutoFit/>
            </a:bodyPr>
            <a:lstStyle/>
            <a:p>
              <a:pPr algn="ctr"/>
              <a:r>
                <a:rPr lang="vi" sz="1350" b="1" dirty="0">
                  <a:solidFill>
                    <a:srgbClr val="DC2626"/>
                  </a:solidFill>
                  <a:latin typeface="+mn-lt"/>
                  <a:ea typeface="+mn-ea"/>
                  <a:cs typeface="+mn-cs"/>
                </a:rPr>
                <a:t>!</a:t>
              </a:r>
            </a:p>
          </p:txBody>
        </p:sp>
        <p:sp>
          <p:nvSpPr>
            <p:cNvPr id="31" name="TextBox 31"/>
            <p:cNvSpPr txBox="1"/>
            <p:nvPr/>
          </p:nvSpPr>
          <p:spPr>
            <a:xfrm>
              <a:off x="5136642" y="1844675"/>
              <a:ext cx="2653656" cy="264033"/>
            </a:xfrm>
            <a:prstGeom prst="rect">
              <a:avLst/>
            </a:prstGeom>
            <a:noFill/>
            <a:ln>
              <a:noFill/>
            </a:ln>
          </p:spPr>
          <p:txBody>
            <a:bodyPr wrap="none" lIns="0" tIns="0" rIns="0" bIns="0" anchor="t" anchorCtr="0">
              <a:spAutoFit/>
            </a:bodyPr>
            <a:lstStyle/>
            <a:p>
              <a:pPr algn="l"/>
              <a:r>
                <a:rPr lang="vi" sz="1350" b="1" dirty="0">
                  <a:solidFill>
                    <a:srgbClr val="0F172A"/>
                  </a:solidFill>
                  <a:latin typeface="+mn-lt"/>
                  <a:ea typeface="+mn-ea"/>
                  <a:cs typeface="+mn-cs"/>
                </a:rPr>
                <a:t>Thách Thức Machine Learning</a:t>
              </a:r>
            </a:p>
          </p:txBody>
        </p:sp>
        <p:sp>
          <p:nvSpPr>
            <p:cNvPr id="32" name="TextBox 32"/>
            <p:cNvSpPr txBox="1"/>
            <p:nvPr/>
          </p:nvSpPr>
          <p:spPr>
            <a:xfrm>
              <a:off x="4614291" y="2349500"/>
              <a:ext cx="2110529" cy="205359"/>
            </a:xfrm>
            <a:prstGeom prst="rect">
              <a:avLst/>
            </a:prstGeom>
            <a:noFill/>
            <a:ln>
              <a:noFill/>
            </a:ln>
          </p:spPr>
          <p:txBody>
            <a:bodyPr wrap="none" lIns="0" tIns="0" rIns="0" bIns="0" anchor="t" anchorCtr="0">
              <a:spAutoFit/>
            </a:bodyPr>
            <a:lstStyle/>
            <a:p>
              <a:pPr algn="l"/>
              <a:r>
                <a:rPr lang="vi" sz="1050" b="1" dirty="0">
                  <a:solidFill>
                    <a:srgbClr val="991B1B"/>
                  </a:solidFill>
                  <a:latin typeface="+mn-lt"/>
                  <a:ea typeface="+mn-ea"/>
                  <a:cs typeface="+mn-cs"/>
                </a:rPr>
                <a:t>Độ lệch phân phối (Skewness):</a:t>
              </a:r>
            </a:p>
          </p:txBody>
        </p:sp>
        <p:sp>
          <p:nvSpPr>
            <p:cNvPr id="33" name="TextBox 33"/>
            <p:cNvSpPr txBox="1"/>
            <p:nvPr/>
          </p:nvSpPr>
          <p:spPr>
            <a:xfrm>
              <a:off x="4614291" y="2587625"/>
              <a:ext cx="2283366" cy="205359"/>
            </a:xfrm>
            <a:prstGeom prst="rect">
              <a:avLst/>
            </a:prstGeom>
            <a:noFill/>
            <a:ln>
              <a:noFill/>
            </a:ln>
          </p:spPr>
          <p:txBody>
            <a:bodyPr wrap="none" lIns="0" tIns="0" rIns="0" bIns="0" anchor="t" anchorCtr="0">
              <a:spAutoFit/>
            </a:bodyPr>
            <a:lstStyle/>
            <a:p>
              <a:pPr marL="83730" indent="-83730" algn="l">
                <a:buClr>
                  <a:srgbClr val="334155"/>
                </a:buClr>
                <a:buSzTx/>
                <a:buFontTx/>
                <a:buChar char="•"/>
              </a:pPr>
              <a:r>
                <a:rPr lang="vi" sz="1050" dirty="0">
                  <a:solidFill>
                    <a:srgbClr val="334155"/>
                  </a:solidFill>
                  <a:latin typeface="+mn-lt"/>
                  <a:ea typeface="+mn-ea"/>
                  <a:cs typeface="+mn-cs"/>
                </a:rPr>
                <a:t>Dữ liệu chi tiêu lệch phải cực đoan,</a:t>
              </a:r>
            </a:p>
          </p:txBody>
        </p:sp>
        <p:sp>
          <p:nvSpPr>
            <p:cNvPr id="34" name="TextBox 34"/>
            <p:cNvSpPr txBox="1"/>
            <p:nvPr/>
          </p:nvSpPr>
          <p:spPr>
            <a:xfrm>
              <a:off x="4709541" y="2797175"/>
              <a:ext cx="2563326" cy="205359"/>
            </a:xfrm>
            <a:prstGeom prst="rect">
              <a:avLst/>
            </a:prstGeom>
            <a:noFill/>
            <a:ln>
              <a:noFill/>
            </a:ln>
          </p:spPr>
          <p:txBody>
            <a:bodyPr wrap="none" lIns="0" tIns="0" rIns="0" bIns="0" anchor="t" anchorCtr="0">
              <a:spAutoFit/>
            </a:bodyPr>
            <a:lstStyle/>
            <a:p>
              <a:pPr algn="l"/>
              <a:r>
                <a:rPr lang="vi" sz="1050" dirty="0">
                  <a:solidFill>
                    <a:srgbClr val="334155"/>
                  </a:solidFill>
                  <a:latin typeface="+mn-lt"/>
                  <a:ea typeface="+mn-ea"/>
                  <a:cs typeface="+mn-cs"/>
                </a:rPr>
                <a:t>Delicassen đạt Skewness lên tới +12.12.</a:t>
              </a:r>
            </a:p>
          </p:txBody>
        </p:sp>
        <p:sp>
          <p:nvSpPr>
            <p:cNvPr id="35" name="TextBox 35"/>
            <p:cNvSpPr txBox="1"/>
            <p:nvPr/>
          </p:nvSpPr>
          <p:spPr>
            <a:xfrm>
              <a:off x="4614291" y="3111500"/>
              <a:ext cx="2031714" cy="205359"/>
            </a:xfrm>
            <a:prstGeom prst="rect">
              <a:avLst/>
            </a:prstGeom>
            <a:noFill/>
            <a:ln>
              <a:noFill/>
            </a:ln>
          </p:spPr>
          <p:txBody>
            <a:bodyPr wrap="none" lIns="0" tIns="0" rIns="0" bIns="0" anchor="t" anchorCtr="0">
              <a:spAutoFit/>
            </a:bodyPr>
            <a:lstStyle/>
            <a:p>
              <a:pPr algn="l"/>
              <a:r>
                <a:rPr lang="vi" sz="1050" b="1" dirty="0">
                  <a:solidFill>
                    <a:srgbClr val="991B1B"/>
                  </a:solidFill>
                  <a:latin typeface="+mn-lt"/>
                  <a:ea typeface="+mn-ea"/>
                  <a:cs typeface="+mn-cs"/>
                </a:rPr>
                <a:t>Chênh lệch thang đo (Range):</a:t>
              </a:r>
            </a:p>
          </p:txBody>
        </p:sp>
        <p:sp>
          <p:nvSpPr>
            <p:cNvPr id="36" name="TextBox 36"/>
            <p:cNvSpPr txBox="1"/>
            <p:nvPr/>
          </p:nvSpPr>
          <p:spPr>
            <a:xfrm>
              <a:off x="4614291" y="3349625"/>
              <a:ext cx="2347937" cy="205359"/>
            </a:xfrm>
            <a:prstGeom prst="rect">
              <a:avLst/>
            </a:prstGeom>
            <a:noFill/>
            <a:ln>
              <a:noFill/>
            </a:ln>
          </p:spPr>
          <p:txBody>
            <a:bodyPr wrap="none" lIns="0" tIns="0" rIns="0" bIns="0" anchor="t" anchorCtr="0">
              <a:spAutoFit/>
            </a:bodyPr>
            <a:lstStyle/>
            <a:p>
              <a:pPr marL="83730" indent="-83730" algn="l">
                <a:buClr>
                  <a:srgbClr val="334155"/>
                </a:buClr>
                <a:buSzTx/>
                <a:buFontTx/>
                <a:buChar char="•"/>
              </a:pPr>
              <a:r>
                <a:rPr lang="vi" sz="1050" dirty="0">
                  <a:solidFill>
                    <a:srgbClr val="334155"/>
                  </a:solidFill>
                  <a:latin typeface="+mn-lt"/>
                  <a:ea typeface="+mn-ea"/>
                  <a:cs typeface="+mn-cs"/>
                </a:rPr>
                <a:t>Fresh (tới 112,151) lấn át hoàn toàn</a:t>
              </a:r>
            </a:p>
          </p:txBody>
        </p:sp>
        <p:sp>
          <p:nvSpPr>
            <p:cNvPr id="37" name="TextBox 37"/>
            <p:cNvSpPr txBox="1"/>
            <p:nvPr/>
          </p:nvSpPr>
          <p:spPr>
            <a:xfrm>
              <a:off x="4709541" y="3559175"/>
              <a:ext cx="2569144" cy="205359"/>
            </a:xfrm>
            <a:prstGeom prst="rect">
              <a:avLst/>
            </a:prstGeom>
            <a:noFill/>
            <a:ln>
              <a:noFill/>
            </a:ln>
          </p:spPr>
          <p:txBody>
            <a:bodyPr wrap="none" lIns="0" tIns="0" rIns="0" bIns="0" anchor="t" anchorCtr="0">
              <a:spAutoFit/>
            </a:bodyPr>
            <a:lstStyle/>
            <a:p>
              <a:pPr algn="l"/>
              <a:r>
                <a:rPr lang="vi" sz="1050" dirty="0">
                  <a:solidFill>
                    <a:srgbClr val="334155"/>
                  </a:solidFill>
                  <a:latin typeface="+mn-lt"/>
                  <a:ea typeface="+mn-ea"/>
                  <a:cs typeface="+mn-cs"/>
                </a:rPr>
                <a:t>khoảng cách Euclidean so với biến khác.</a:t>
              </a:r>
            </a:p>
          </p:txBody>
        </p:sp>
        <p:sp>
          <p:nvSpPr>
            <p:cNvPr id="38" name="TextBox 38"/>
            <p:cNvSpPr txBox="1"/>
            <p:nvPr/>
          </p:nvSpPr>
          <p:spPr>
            <a:xfrm>
              <a:off x="4614291" y="3873500"/>
              <a:ext cx="2133784" cy="205359"/>
            </a:xfrm>
            <a:prstGeom prst="rect">
              <a:avLst/>
            </a:prstGeom>
            <a:noFill/>
            <a:ln>
              <a:noFill/>
            </a:ln>
          </p:spPr>
          <p:txBody>
            <a:bodyPr wrap="none" lIns="0" tIns="0" rIns="0" bIns="0" anchor="t" anchorCtr="0">
              <a:spAutoFit/>
            </a:bodyPr>
            <a:lstStyle/>
            <a:p>
              <a:pPr algn="l"/>
              <a:r>
                <a:rPr lang="vi" sz="1050" b="1" dirty="0">
                  <a:solidFill>
                    <a:srgbClr val="991B1B"/>
                  </a:solidFill>
                  <a:latin typeface="+mn-lt"/>
                  <a:ea typeface="+mn-ea"/>
                  <a:cs typeface="+mn-cs"/>
                </a:rPr>
                <a:t>Nguy cơ rò rỉ dữ liệu (Leakage):</a:t>
              </a:r>
            </a:p>
          </p:txBody>
        </p:sp>
        <p:sp>
          <p:nvSpPr>
            <p:cNvPr id="39" name="TextBox 39"/>
            <p:cNvSpPr txBox="1"/>
            <p:nvPr/>
          </p:nvSpPr>
          <p:spPr>
            <a:xfrm>
              <a:off x="4614291" y="4083050"/>
              <a:ext cx="2377651" cy="205359"/>
            </a:xfrm>
            <a:prstGeom prst="rect">
              <a:avLst/>
            </a:prstGeom>
            <a:noFill/>
            <a:ln>
              <a:noFill/>
            </a:ln>
          </p:spPr>
          <p:txBody>
            <a:bodyPr wrap="none" lIns="0" tIns="0" rIns="0" bIns="0" anchor="t" anchorCtr="0">
              <a:spAutoFit/>
            </a:bodyPr>
            <a:lstStyle/>
            <a:p>
              <a:pPr marL="83730" indent="-83730" algn="l">
                <a:buClr>
                  <a:srgbClr val="334155"/>
                </a:buClr>
                <a:buSzTx/>
                <a:buFontTx/>
                <a:buChar char="•"/>
              </a:pPr>
              <a:r>
                <a:rPr lang="vi" sz="1050" dirty="0">
                  <a:solidFill>
                    <a:srgbClr val="334155"/>
                  </a:solidFill>
                  <a:latin typeface="+mn-lt"/>
                  <a:ea typeface="+mn-ea"/>
                  <a:cs typeface="+mn-cs"/>
                </a:rPr>
                <a:t>Tiền xử lý trên toàn bộ tập dữ liệu sẽ</a:t>
              </a:r>
            </a:p>
          </p:txBody>
        </p:sp>
        <p:sp>
          <p:nvSpPr>
            <p:cNvPr id="40" name="TextBox 40"/>
            <p:cNvSpPr txBox="1"/>
            <p:nvPr/>
          </p:nvSpPr>
          <p:spPr>
            <a:xfrm>
              <a:off x="4709541" y="4292600"/>
              <a:ext cx="2430908" cy="205359"/>
            </a:xfrm>
            <a:prstGeom prst="rect">
              <a:avLst/>
            </a:prstGeom>
            <a:noFill/>
            <a:ln>
              <a:noFill/>
            </a:ln>
          </p:spPr>
          <p:txBody>
            <a:bodyPr wrap="none" lIns="0" tIns="0" rIns="0" bIns="0" anchor="t" anchorCtr="0">
              <a:spAutoFit/>
            </a:bodyPr>
            <a:lstStyle/>
            <a:p>
              <a:pPr algn="l"/>
              <a:r>
                <a:rPr lang="vi" sz="1050" dirty="0">
                  <a:solidFill>
                    <a:srgbClr val="334155"/>
                  </a:solidFill>
                  <a:latin typeface="+mn-lt"/>
                  <a:ea typeface="+mn-ea"/>
                  <a:cs typeface="+mn-cs"/>
                </a:rPr>
                <a:t>làm sai lệch kết quả đánh giá mô hình.</a:t>
              </a:r>
            </a:p>
          </p:txBody>
        </p:sp>
        <p:sp>
          <p:nvSpPr>
            <p:cNvPr id="41" name="Rectangle 41"/>
            <p:cNvSpPr/>
            <p:nvPr/>
          </p:nvSpPr>
          <p:spPr>
            <a:xfrm>
              <a:off x="4572000" y="5000625"/>
              <a:ext cx="3048000" cy="952500"/>
            </a:xfrm>
            <a:prstGeom prst="roundRect">
              <a:avLst>
                <a:gd name="adj" fmla="val 10000"/>
              </a:avLst>
            </a:prstGeom>
            <a:solidFill>
              <a:srgbClr val="FEF2F2"/>
            </a:solidFill>
            <a:ln w="9525">
              <a:solidFill>
                <a:srgbClr val="FECACA"/>
              </a:solidFill>
            </a:ln>
          </p:spPr>
          <p:txBody>
            <a:bodyPr/>
            <a:lstStyle/>
            <a:p>
              <a:endParaRPr lang="en-US"/>
            </a:p>
          </p:txBody>
        </p:sp>
        <p:sp>
          <p:nvSpPr>
            <p:cNvPr id="42" name="TextBox 42"/>
            <p:cNvSpPr txBox="1"/>
            <p:nvPr/>
          </p:nvSpPr>
          <p:spPr>
            <a:xfrm>
              <a:off x="4709922" y="5159375"/>
              <a:ext cx="1636146" cy="191643"/>
            </a:xfrm>
            <a:prstGeom prst="rect">
              <a:avLst/>
            </a:prstGeom>
            <a:noFill/>
            <a:ln>
              <a:noFill/>
            </a:ln>
          </p:spPr>
          <p:txBody>
            <a:bodyPr wrap="none" lIns="0" tIns="0" rIns="0" bIns="0" anchor="t" anchorCtr="0">
              <a:spAutoFit/>
            </a:bodyPr>
            <a:lstStyle/>
            <a:p>
              <a:pPr algn="l"/>
              <a:r>
                <a:rPr lang="vi" sz="980" b="1" dirty="0">
                  <a:solidFill>
                    <a:srgbClr val="991B1B"/>
                  </a:solidFill>
                  <a:latin typeface="+mn-lt"/>
                  <a:ea typeface="+mn-ea"/>
                  <a:cs typeface="+mn-cs"/>
                </a:rPr>
                <a:t>RỦI RO CẦN TRIỆT TIÊU</a:t>
              </a:r>
            </a:p>
          </p:txBody>
        </p:sp>
        <p:sp>
          <p:nvSpPr>
            <p:cNvPr id="43" name="TextBox 43"/>
            <p:cNvSpPr txBox="1"/>
            <p:nvPr/>
          </p:nvSpPr>
          <p:spPr>
            <a:xfrm>
              <a:off x="4709922" y="5397500"/>
              <a:ext cx="2390868" cy="191643"/>
            </a:xfrm>
            <a:prstGeom prst="rect">
              <a:avLst/>
            </a:prstGeom>
            <a:noFill/>
            <a:ln>
              <a:noFill/>
            </a:ln>
          </p:spPr>
          <p:txBody>
            <a:bodyPr wrap="none" lIns="0" tIns="0" rIns="0" bIns="0" anchor="t" anchorCtr="0">
              <a:spAutoFit/>
            </a:bodyPr>
            <a:lstStyle/>
            <a:p>
              <a:pPr algn="l"/>
              <a:r>
                <a:rPr lang="vi" sz="980" dirty="0">
                  <a:solidFill>
                    <a:srgbClr val="7F1D1D"/>
                  </a:solidFill>
                  <a:latin typeface="+mn-lt"/>
                  <a:ea typeface="+mn-ea"/>
                  <a:cs typeface="+mn-cs"/>
                </a:rPr>
                <a:t>Không để ngoại lệ chi phối khoảng cách,</a:t>
              </a:r>
            </a:p>
          </p:txBody>
        </p:sp>
        <p:sp>
          <p:nvSpPr>
            <p:cNvPr id="44" name="TextBox 44"/>
            <p:cNvSpPr txBox="1"/>
            <p:nvPr/>
          </p:nvSpPr>
          <p:spPr>
            <a:xfrm>
              <a:off x="4709922" y="5607050"/>
              <a:ext cx="2400909" cy="191643"/>
            </a:xfrm>
            <a:prstGeom prst="rect">
              <a:avLst/>
            </a:prstGeom>
            <a:noFill/>
            <a:ln>
              <a:noFill/>
            </a:ln>
          </p:spPr>
          <p:txBody>
            <a:bodyPr wrap="none" lIns="0" tIns="0" rIns="0" bIns="0" anchor="t" anchorCtr="0">
              <a:spAutoFit/>
            </a:bodyPr>
            <a:lstStyle/>
            <a:p>
              <a:pPr algn="l"/>
              <a:r>
                <a:rPr lang="vi" sz="980" dirty="0">
                  <a:solidFill>
                    <a:srgbClr val="7F1D1D"/>
                  </a:solidFill>
                  <a:latin typeface="+mn-lt"/>
                  <a:ea typeface="+mn-ea"/>
                  <a:cs typeface="+mn-cs"/>
                </a:rPr>
                <a:t>cấm sử dụng nhãn test để chọn mô hình.</a:t>
              </a:r>
            </a:p>
          </p:txBody>
        </p:sp>
        <p:sp>
          <p:nvSpPr>
            <p:cNvPr id="45" name="Rectangle 45"/>
            <p:cNvSpPr/>
            <p:nvPr/>
          </p:nvSpPr>
          <p:spPr>
            <a:xfrm>
              <a:off x="8096250" y="1524000"/>
              <a:ext cx="3429000" cy="4619625"/>
            </a:xfrm>
            <a:prstGeom prst="roundRect">
              <a:avLst>
                <a:gd name="adj" fmla="val 3889"/>
              </a:avLst>
            </a:prstGeom>
            <a:solidFill>
              <a:schemeClr val="lt1"/>
            </a:solidFill>
            <a:ln w="14288">
              <a:solidFill>
                <a:srgbClr val="E2E8F0"/>
              </a:solidFill>
            </a:ln>
          </p:spPr>
          <p:txBody>
            <a:bodyPr/>
            <a:lstStyle/>
            <a:p>
              <a:endParaRPr lang="en-US"/>
            </a:p>
          </p:txBody>
        </p:sp>
        <p:sp>
          <p:nvSpPr>
            <p:cNvPr id="46" name="Rectangle 46"/>
            <p:cNvSpPr/>
            <p:nvPr/>
          </p:nvSpPr>
          <p:spPr>
            <a:xfrm>
              <a:off x="8096250" y="1524000"/>
              <a:ext cx="3429000" cy="57150"/>
            </a:xfrm>
            <a:prstGeom prst="roundRect">
              <a:avLst>
                <a:gd name="adj" fmla="val 50000"/>
              </a:avLst>
            </a:prstGeom>
            <a:solidFill>
              <a:srgbClr val="059669"/>
            </a:solidFill>
            <a:ln>
              <a:noFill/>
            </a:ln>
          </p:spPr>
          <p:txBody>
            <a:bodyPr/>
            <a:lstStyle/>
            <a:p>
              <a:endParaRPr lang="en-US"/>
            </a:p>
          </p:txBody>
        </p:sp>
        <p:sp>
          <p:nvSpPr>
            <p:cNvPr id="47" name="Ellipse 47"/>
            <p:cNvSpPr/>
            <p:nvPr/>
          </p:nvSpPr>
          <p:spPr>
            <a:xfrm>
              <a:off x="8315325" y="1743075"/>
              <a:ext cx="419100" cy="419100"/>
            </a:xfrm>
            <a:prstGeom prst="ellipse">
              <a:avLst/>
            </a:prstGeom>
            <a:solidFill>
              <a:srgbClr val="D1FAE5"/>
            </a:solidFill>
            <a:ln>
              <a:noFill/>
            </a:ln>
          </p:spPr>
          <p:txBody>
            <a:bodyPr/>
            <a:lstStyle/>
            <a:p>
              <a:endParaRPr lang="en-US"/>
            </a:p>
          </p:txBody>
        </p:sp>
        <p:sp>
          <p:nvSpPr>
            <p:cNvPr id="48" name="Freeform 48"/>
            <p:cNvSpPr/>
            <p:nvPr/>
          </p:nvSpPr>
          <p:spPr>
            <a:xfrm>
              <a:off x="8448675" y="1895475"/>
              <a:ext cx="152400" cy="114300"/>
            </a:xfrm>
            <a:custGeom>
              <a:avLst/>
              <a:gdLst/>
              <a:ahLst/>
              <a:cxnLst/>
              <a:rect l="l" t="t" r="r" b="b"/>
              <a:pathLst>
                <a:path w="152400" h="114300">
                  <a:moveTo>
                    <a:pt x="0" y="57150"/>
                  </a:moveTo>
                  <a:lnTo>
                    <a:pt x="57150" y="114300"/>
                  </a:lnTo>
                  <a:lnTo>
                    <a:pt x="152400" y="0"/>
                  </a:lnTo>
                </a:path>
              </a:pathLst>
            </a:custGeom>
            <a:noFill/>
            <a:ln w="23812" cap="rnd">
              <a:solidFill>
                <a:srgbClr val="059669"/>
              </a:solidFill>
            </a:ln>
          </p:spPr>
          <p:txBody>
            <a:bodyPr/>
            <a:lstStyle/>
            <a:p>
              <a:endParaRPr lang="en-US"/>
            </a:p>
          </p:txBody>
        </p:sp>
        <p:sp>
          <p:nvSpPr>
            <p:cNvPr id="49" name="TextBox 49"/>
            <p:cNvSpPr txBox="1"/>
            <p:nvPr/>
          </p:nvSpPr>
          <p:spPr>
            <a:xfrm>
              <a:off x="8851392" y="1844675"/>
              <a:ext cx="1604369" cy="264033"/>
            </a:xfrm>
            <a:prstGeom prst="rect">
              <a:avLst/>
            </a:prstGeom>
            <a:noFill/>
            <a:ln>
              <a:noFill/>
            </a:ln>
          </p:spPr>
          <p:txBody>
            <a:bodyPr wrap="none" lIns="0" tIns="0" rIns="0" bIns="0" anchor="t" anchorCtr="0">
              <a:spAutoFit/>
            </a:bodyPr>
            <a:lstStyle/>
            <a:p>
              <a:pPr algn="l"/>
              <a:r>
                <a:rPr lang="vi" sz="1350" b="1" dirty="0">
                  <a:solidFill>
                    <a:srgbClr val="0F172A"/>
                  </a:solidFill>
                  <a:latin typeface="+mn-lt"/>
                  <a:ea typeface="+mn-ea"/>
                  <a:cs typeface="+mn-cs"/>
                </a:rPr>
                <a:t>Giải Pháp Đề Xuất</a:t>
              </a:r>
            </a:p>
          </p:txBody>
        </p:sp>
        <p:sp>
          <p:nvSpPr>
            <p:cNvPr id="50" name="TextBox 50"/>
            <p:cNvSpPr txBox="1"/>
            <p:nvPr/>
          </p:nvSpPr>
          <p:spPr>
            <a:xfrm>
              <a:off x="8329041" y="2349500"/>
              <a:ext cx="1741682" cy="205359"/>
            </a:xfrm>
            <a:prstGeom prst="rect">
              <a:avLst/>
            </a:prstGeom>
            <a:noFill/>
            <a:ln>
              <a:noFill/>
            </a:ln>
          </p:spPr>
          <p:txBody>
            <a:bodyPr wrap="none" lIns="0" tIns="0" rIns="0" bIns="0" anchor="t" anchorCtr="0">
              <a:spAutoFit/>
            </a:bodyPr>
            <a:lstStyle/>
            <a:p>
              <a:pPr algn="l"/>
              <a:r>
                <a:rPr lang="vi" sz="1050" b="1" dirty="0">
                  <a:solidFill>
                    <a:srgbClr val="065F46"/>
                  </a:solidFill>
                  <a:latin typeface="+mn-lt"/>
                  <a:ea typeface="+mn-ea"/>
                  <a:cs typeface="+mn-cs"/>
                </a:rPr>
                <a:t>Chuẩn hóa &amp; Chống rò rỉ:</a:t>
              </a:r>
            </a:p>
          </p:txBody>
        </p:sp>
        <p:sp>
          <p:nvSpPr>
            <p:cNvPr id="51" name="TextBox 51"/>
            <p:cNvSpPr txBox="1"/>
            <p:nvPr/>
          </p:nvSpPr>
          <p:spPr>
            <a:xfrm>
              <a:off x="8329041" y="2587625"/>
              <a:ext cx="2428015" cy="205359"/>
            </a:xfrm>
            <a:prstGeom prst="rect">
              <a:avLst/>
            </a:prstGeom>
            <a:noFill/>
            <a:ln>
              <a:noFill/>
            </a:ln>
          </p:spPr>
          <p:txBody>
            <a:bodyPr wrap="none" lIns="0" tIns="0" rIns="0" bIns="0" anchor="t" anchorCtr="0">
              <a:spAutoFit/>
            </a:bodyPr>
            <a:lstStyle/>
            <a:p>
              <a:pPr marL="83730" indent="-83730" algn="l">
                <a:buClr>
                  <a:srgbClr val="334155"/>
                </a:buClr>
                <a:buSzTx/>
                <a:buFontTx/>
                <a:buChar char="•"/>
              </a:pPr>
              <a:r>
                <a:rPr lang="vi" sz="1050" dirty="0">
                  <a:solidFill>
                    <a:srgbClr val="334155"/>
                  </a:solidFill>
                  <a:latin typeface="+mn-lt"/>
                  <a:ea typeface="+mn-ea"/>
                  <a:cs typeface="+mn-cs"/>
                </a:rPr>
                <a:t>Split Train/Val/Test (264/88/88) trước</a:t>
              </a:r>
            </a:p>
          </p:txBody>
        </p:sp>
        <p:sp>
          <p:nvSpPr>
            <p:cNvPr id="52" name="TextBox 52"/>
            <p:cNvSpPr txBox="1"/>
            <p:nvPr/>
          </p:nvSpPr>
          <p:spPr>
            <a:xfrm>
              <a:off x="8424291" y="2797175"/>
              <a:ext cx="1802320" cy="205359"/>
            </a:xfrm>
            <a:prstGeom prst="rect">
              <a:avLst/>
            </a:prstGeom>
            <a:noFill/>
            <a:ln>
              <a:noFill/>
            </a:ln>
          </p:spPr>
          <p:txBody>
            <a:bodyPr wrap="none" lIns="0" tIns="0" rIns="0" bIns="0" anchor="t" anchorCtr="0">
              <a:spAutoFit/>
            </a:bodyPr>
            <a:lstStyle/>
            <a:p>
              <a:pPr algn="l"/>
              <a:r>
                <a:rPr lang="vi" sz="1050" dirty="0">
                  <a:solidFill>
                    <a:srgbClr val="334155"/>
                  </a:solidFill>
                  <a:latin typeface="+mn-lt"/>
                  <a:ea typeface="+mn-ea"/>
                  <a:cs typeface="+mn-cs"/>
                </a:rPr>
                <a:t>khi fit bất kỳ bộ biến đổi nào.</a:t>
              </a:r>
            </a:p>
          </p:txBody>
        </p:sp>
        <p:sp>
          <p:nvSpPr>
            <p:cNvPr id="53" name="TextBox 53"/>
            <p:cNvSpPr txBox="1"/>
            <p:nvPr/>
          </p:nvSpPr>
          <p:spPr>
            <a:xfrm>
              <a:off x="8329041" y="3111500"/>
              <a:ext cx="2280686" cy="205359"/>
            </a:xfrm>
            <a:prstGeom prst="rect">
              <a:avLst/>
            </a:prstGeom>
            <a:noFill/>
            <a:ln>
              <a:noFill/>
            </a:ln>
          </p:spPr>
          <p:txBody>
            <a:bodyPr wrap="none" lIns="0" tIns="0" rIns="0" bIns="0" anchor="t" anchorCtr="0">
              <a:spAutoFit/>
            </a:bodyPr>
            <a:lstStyle/>
            <a:p>
              <a:pPr algn="l"/>
              <a:r>
                <a:rPr lang="vi" sz="1050" b="1" dirty="0">
                  <a:solidFill>
                    <a:srgbClr val="065F46"/>
                  </a:solidFill>
                  <a:latin typeface="+mn-lt"/>
                  <a:ea typeface="+mn-ea"/>
                  <a:cs typeface="+mn-cs"/>
                </a:rPr>
                <a:t>Pipeline Log1p + StandardScaler:</a:t>
              </a:r>
            </a:p>
          </p:txBody>
        </p:sp>
        <p:sp>
          <p:nvSpPr>
            <p:cNvPr id="54" name="TextBox 54"/>
            <p:cNvSpPr txBox="1"/>
            <p:nvPr/>
          </p:nvSpPr>
          <p:spPr>
            <a:xfrm>
              <a:off x="8329041" y="3349625"/>
              <a:ext cx="2441466" cy="205359"/>
            </a:xfrm>
            <a:prstGeom prst="rect">
              <a:avLst/>
            </a:prstGeom>
            <a:noFill/>
            <a:ln>
              <a:noFill/>
            </a:ln>
          </p:spPr>
          <p:txBody>
            <a:bodyPr wrap="none" lIns="0" tIns="0" rIns="0" bIns="0" anchor="t" anchorCtr="0">
              <a:spAutoFit/>
            </a:bodyPr>
            <a:lstStyle/>
            <a:p>
              <a:pPr marL="83730" indent="-83730" algn="l">
                <a:buClr>
                  <a:srgbClr val="334155"/>
                </a:buClr>
                <a:buSzTx/>
                <a:buFontTx/>
                <a:buChar char="•"/>
              </a:pPr>
              <a:r>
                <a:rPr lang="vi" sz="1050" dirty="0">
                  <a:solidFill>
                    <a:srgbClr val="334155"/>
                  </a:solidFill>
                  <a:latin typeface="+mn-lt"/>
                  <a:ea typeface="+mn-ea"/>
                  <a:cs typeface="+mn-cs"/>
                </a:rPr>
                <a:t>Nén phân phối đuôi dài và đưa 6 biến</a:t>
              </a:r>
            </a:p>
          </p:txBody>
        </p:sp>
        <p:sp>
          <p:nvSpPr>
            <p:cNvPr id="55" name="TextBox 55"/>
            <p:cNvSpPr txBox="1"/>
            <p:nvPr/>
          </p:nvSpPr>
          <p:spPr>
            <a:xfrm>
              <a:off x="8424291" y="3559175"/>
              <a:ext cx="2061643" cy="205359"/>
            </a:xfrm>
            <a:prstGeom prst="rect">
              <a:avLst/>
            </a:prstGeom>
            <a:noFill/>
            <a:ln>
              <a:noFill/>
            </a:ln>
          </p:spPr>
          <p:txBody>
            <a:bodyPr wrap="none" lIns="0" tIns="0" rIns="0" bIns="0" anchor="t" anchorCtr="0">
              <a:spAutoFit/>
            </a:bodyPr>
            <a:lstStyle/>
            <a:p>
              <a:pPr algn="l"/>
              <a:r>
                <a:rPr lang="vi" sz="1050" dirty="0">
                  <a:solidFill>
                    <a:srgbClr val="334155"/>
                  </a:solidFill>
                  <a:latin typeface="+mn-lt"/>
                  <a:ea typeface="+mn-ea"/>
                  <a:cs typeface="+mn-cs"/>
                </a:rPr>
                <a:t>về cùng thang đo z-score chuẩn.</a:t>
              </a:r>
            </a:p>
          </p:txBody>
        </p:sp>
        <p:sp>
          <p:nvSpPr>
            <p:cNvPr id="56" name="TextBox 56"/>
            <p:cNvSpPr txBox="1"/>
            <p:nvPr/>
          </p:nvSpPr>
          <p:spPr>
            <a:xfrm>
              <a:off x="8329041" y="3873500"/>
              <a:ext cx="1580946" cy="205359"/>
            </a:xfrm>
            <a:prstGeom prst="rect">
              <a:avLst/>
            </a:prstGeom>
            <a:noFill/>
            <a:ln>
              <a:noFill/>
            </a:ln>
          </p:spPr>
          <p:txBody>
            <a:bodyPr wrap="none" lIns="0" tIns="0" rIns="0" bIns="0" anchor="t" anchorCtr="0">
              <a:spAutoFit/>
            </a:bodyPr>
            <a:lstStyle/>
            <a:p>
              <a:pPr algn="l"/>
              <a:r>
                <a:rPr lang="vi" sz="1050" b="1" dirty="0">
                  <a:solidFill>
                    <a:srgbClr val="065F46"/>
                  </a:solidFill>
                  <a:latin typeface="+mn-lt"/>
                  <a:ea typeface="+mn-ea"/>
                  <a:cs typeface="+mn-cs"/>
                </a:rPr>
                <a:t>Đóng gói Web Serving:</a:t>
              </a:r>
            </a:p>
          </p:txBody>
        </p:sp>
        <p:sp>
          <p:nvSpPr>
            <p:cNvPr id="57" name="TextBox 57"/>
            <p:cNvSpPr txBox="1"/>
            <p:nvPr/>
          </p:nvSpPr>
          <p:spPr>
            <a:xfrm>
              <a:off x="8329041" y="4083050"/>
              <a:ext cx="2375180" cy="205359"/>
            </a:xfrm>
            <a:prstGeom prst="rect">
              <a:avLst/>
            </a:prstGeom>
            <a:noFill/>
            <a:ln>
              <a:noFill/>
            </a:ln>
          </p:spPr>
          <p:txBody>
            <a:bodyPr wrap="none" lIns="0" tIns="0" rIns="0" bIns="0" anchor="t" anchorCtr="0">
              <a:spAutoFit/>
            </a:bodyPr>
            <a:lstStyle/>
            <a:p>
              <a:pPr marL="83730" indent="-83730" algn="l">
                <a:buClr>
                  <a:srgbClr val="334155"/>
                </a:buClr>
                <a:buSzTx/>
                <a:buFontTx/>
                <a:buChar char="•"/>
              </a:pPr>
              <a:r>
                <a:rPr lang="vi" sz="1050" dirty="0">
                  <a:solidFill>
                    <a:srgbClr val="334155"/>
                  </a:solidFill>
                  <a:latin typeface="+mn-lt"/>
                  <a:ea typeface="+mn-ea"/>
                  <a:cs typeface="+mn-cs"/>
                </a:rPr>
                <a:t>Đóng băng Model D011, phục vụ dự</a:t>
              </a:r>
            </a:p>
          </p:txBody>
        </p:sp>
        <p:sp>
          <p:nvSpPr>
            <p:cNvPr id="58" name="TextBox 58"/>
            <p:cNvSpPr txBox="1"/>
            <p:nvPr/>
          </p:nvSpPr>
          <p:spPr>
            <a:xfrm>
              <a:off x="8424291" y="4292600"/>
              <a:ext cx="2236461" cy="205359"/>
            </a:xfrm>
            <a:prstGeom prst="rect">
              <a:avLst/>
            </a:prstGeom>
            <a:noFill/>
            <a:ln>
              <a:noFill/>
            </a:ln>
          </p:spPr>
          <p:txBody>
            <a:bodyPr wrap="none" lIns="0" tIns="0" rIns="0" bIns="0" anchor="t" anchorCtr="0">
              <a:spAutoFit/>
            </a:bodyPr>
            <a:lstStyle/>
            <a:p>
              <a:pPr algn="l"/>
              <a:r>
                <a:rPr lang="vi" sz="1050" dirty="0">
                  <a:solidFill>
                    <a:srgbClr val="334155"/>
                  </a:solidFill>
                  <a:latin typeface="+mn-lt"/>
                  <a:ea typeface="+mn-ea"/>
                  <a:cs typeface="+mn-cs"/>
                </a:rPr>
                <a:t>đoán thời gian thực qua REST API.</a:t>
              </a:r>
            </a:p>
          </p:txBody>
        </p:sp>
        <p:sp>
          <p:nvSpPr>
            <p:cNvPr id="59" name="Rectangle 59"/>
            <p:cNvSpPr/>
            <p:nvPr/>
          </p:nvSpPr>
          <p:spPr>
            <a:xfrm>
              <a:off x="8286750" y="5000625"/>
              <a:ext cx="3048000" cy="952500"/>
            </a:xfrm>
            <a:prstGeom prst="roundRect">
              <a:avLst>
                <a:gd name="adj" fmla="val 10000"/>
              </a:avLst>
            </a:prstGeom>
            <a:solidFill>
              <a:srgbClr val="ECFDF5"/>
            </a:solidFill>
            <a:ln w="9525">
              <a:solidFill>
                <a:srgbClr val="A7F3D0"/>
              </a:solidFill>
            </a:ln>
          </p:spPr>
          <p:txBody>
            <a:bodyPr/>
            <a:lstStyle/>
            <a:p>
              <a:endParaRPr lang="en-US"/>
            </a:p>
          </p:txBody>
        </p:sp>
        <p:sp>
          <p:nvSpPr>
            <p:cNvPr id="60" name="TextBox 60"/>
            <p:cNvSpPr txBox="1"/>
            <p:nvPr/>
          </p:nvSpPr>
          <p:spPr>
            <a:xfrm>
              <a:off x="8424672" y="5159375"/>
              <a:ext cx="1396080" cy="191643"/>
            </a:xfrm>
            <a:prstGeom prst="rect">
              <a:avLst/>
            </a:prstGeom>
            <a:noFill/>
            <a:ln>
              <a:noFill/>
            </a:ln>
          </p:spPr>
          <p:txBody>
            <a:bodyPr wrap="none" lIns="0" tIns="0" rIns="0" bIns="0" anchor="t" anchorCtr="0">
              <a:spAutoFit/>
            </a:bodyPr>
            <a:lstStyle/>
            <a:p>
              <a:pPr algn="l"/>
              <a:r>
                <a:rPr lang="vi" sz="980" b="1" dirty="0">
                  <a:solidFill>
                    <a:srgbClr val="065F46"/>
                  </a:solidFill>
                  <a:latin typeface="+mn-lt"/>
                  <a:ea typeface="+mn-ea"/>
                  <a:cs typeface="+mn-cs"/>
                </a:rPr>
                <a:t>KẾT QUẢ MONG ĐỢI</a:t>
              </a:r>
            </a:p>
          </p:txBody>
        </p:sp>
        <p:sp>
          <p:nvSpPr>
            <p:cNvPr id="61" name="TextBox 61"/>
            <p:cNvSpPr txBox="1"/>
            <p:nvPr/>
          </p:nvSpPr>
          <p:spPr>
            <a:xfrm>
              <a:off x="8424672" y="5397500"/>
              <a:ext cx="2067067" cy="191643"/>
            </a:xfrm>
            <a:prstGeom prst="rect">
              <a:avLst/>
            </a:prstGeom>
            <a:noFill/>
            <a:ln>
              <a:noFill/>
            </a:ln>
          </p:spPr>
          <p:txBody>
            <a:bodyPr wrap="none" lIns="0" tIns="0" rIns="0" bIns="0" anchor="t" anchorCtr="0">
              <a:spAutoFit/>
            </a:bodyPr>
            <a:lstStyle/>
            <a:p>
              <a:pPr algn="l"/>
              <a:r>
                <a:rPr lang="vi" sz="980" dirty="0">
                  <a:solidFill>
                    <a:srgbClr val="064E3B"/>
                  </a:solidFill>
                  <a:latin typeface="+mn-lt"/>
                  <a:ea typeface="+mn-ea"/>
                  <a:cs typeface="+mn-cs"/>
                </a:rPr>
                <a:t>K=2 ổn định tuyệt đối (ARI=0.997),</a:t>
              </a:r>
            </a:p>
          </p:txBody>
        </p:sp>
        <p:sp>
          <p:nvSpPr>
            <p:cNvPr id="62" name="TextBox 62"/>
            <p:cNvSpPr txBox="1"/>
            <p:nvPr/>
          </p:nvSpPr>
          <p:spPr>
            <a:xfrm>
              <a:off x="8424672" y="5607050"/>
              <a:ext cx="2349721" cy="191643"/>
            </a:xfrm>
            <a:prstGeom prst="rect">
              <a:avLst/>
            </a:prstGeom>
            <a:noFill/>
            <a:ln>
              <a:noFill/>
            </a:ln>
          </p:spPr>
          <p:txBody>
            <a:bodyPr wrap="none" lIns="0" tIns="0" rIns="0" bIns="0" anchor="t" anchorCtr="0">
              <a:spAutoFit/>
            </a:bodyPr>
            <a:lstStyle/>
            <a:p>
              <a:pPr algn="l"/>
              <a:r>
                <a:rPr lang="vi" sz="980" dirty="0">
                  <a:solidFill>
                    <a:srgbClr val="064E3B"/>
                  </a:solidFill>
                  <a:latin typeface="+mn-lt"/>
                  <a:ea typeface="+mn-ea"/>
                  <a:cs typeface="+mn-cs"/>
                </a:rPr>
                <a:t>phân khúc rõ nét có ý nghĩa kinh doanh.</a:t>
              </a:r>
            </a:p>
          </p:txBody>
        </p:sp>
      </p:grpSp>
      <p:grpSp>
        <p:nvGrpSpPr>
          <p:cNvPr id="67" name="footer"/>
          <p:cNvGrpSpPr/>
          <p:nvPr/>
        </p:nvGrpSpPr>
        <p:grpSpPr>
          <a:xfrm>
            <a:off x="661797" y="6429375"/>
            <a:ext cx="10868406" cy="264668"/>
            <a:chOff x="661797" y="6429375"/>
            <a:chExt cx="10868406" cy="264668"/>
          </a:xfrm>
        </p:grpSpPr>
        <p:sp>
          <p:nvSpPr>
            <p:cNvPr id="64" name="Line 64"/>
            <p:cNvSpPr/>
            <p:nvPr/>
          </p:nvSpPr>
          <p:spPr>
            <a:xfrm>
              <a:off x="666750" y="6429375"/>
              <a:ext cx="10858500" cy="9525"/>
            </a:xfrm>
            <a:custGeom>
              <a:avLst/>
              <a:gdLst/>
              <a:ahLst/>
              <a:cxnLst/>
              <a:rect l="l" t="t" r="r" b="b"/>
              <a:pathLst>
                <a:path w="10858500" h="9525">
                  <a:moveTo>
                    <a:pt x="0" y="0"/>
                  </a:moveTo>
                  <a:lnTo>
                    <a:pt x="10858500" y="0"/>
                  </a:lnTo>
                </a:path>
              </a:pathLst>
            </a:custGeom>
            <a:noFill/>
            <a:ln w="9525">
              <a:solidFill>
                <a:srgbClr val="E2E8F0"/>
              </a:solidFill>
            </a:ln>
          </p:spPr>
          <p:txBody>
            <a:bodyPr/>
            <a:lstStyle/>
            <a:p>
              <a:endParaRPr lang="en-US"/>
            </a:p>
          </p:txBody>
        </p:sp>
        <p:sp>
          <p:nvSpPr>
            <p:cNvPr id="65" name="TextBox 65"/>
            <p:cNvSpPr txBox="1"/>
            <p:nvPr/>
          </p:nvSpPr>
          <p:spPr>
            <a:xfrm>
              <a:off x="661797" y="6502400"/>
              <a:ext cx="5799743"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Đồ Án Machine Learning Phân Khúc Khách Hàng Bán Sỉ • Project 22 (UCI Wholesale Customers)</a:t>
              </a:r>
            </a:p>
          </p:txBody>
        </p:sp>
        <p:sp>
          <p:nvSpPr>
            <p:cNvPr id="66" name="TextBox 66"/>
            <p:cNvSpPr txBox="1"/>
            <p:nvPr/>
          </p:nvSpPr>
          <p:spPr>
            <a:xfrm>
              <a:off x="11116836" y="6502400"/>
              <a:ext cx="413367" cy="191643"/>
            </a:xfrm>
            <a:prstGeom prst="rect">
              <a:avLst/>
            </a:prstGeom>
            <a:noFill/>
            <a:ln>
              <a:noFill/>
            </a:ln>
          </p:spPr>
          <p:txBody>
            <a:bodyPr wrap="none" lIns="0" tIns="0" rIns="0" bIns="0" anchor="t" anchorCtr="0">
              <a:spAutoFit/>
            </a:bodyPr>
            <a:lstStyle/>
            <a:p>
              <a:pPr algn="r"/>
              <a:r>
                <a:rPr lang="vi" sz="980" b="1" dirty="0">
                  <a:solidFill>
                    <a:srgbClr val="475569"/>
                  </a:solidFill>
                  <a:latin typeface="+mn-lt"/>
                  <a:ea typeface="+mn-ea"/>
                  <a:cs typeface="+mn-cs"/>
                </a:rPr>
                <a:t>02 / 15</a:t>
              </a:r>
            </a:p>
          </p:txBody>
        </p:sp>
      </p:grpSp>
    </p:spTree>
  </p:cSld>
  <p:clrMapOvr>
    <a:masterClrMapping/>
  </p:clrMapOvr>
  <mc:AlternateContent xmlns:mc="http://schemas.openxmlformats.org/markup-compatibility/2006">
    <mc:Choice xmlns:p14="http://schemas.microsoft.com/office/powerpoint/2010/main" Requires="p14">
      <p:transition spd="med" p14:dur="600">
        <p:push dir="r"/>
      </p:transition>
    </mc:Choice>
    <mc:Fallback>
      <p:transition spd="med">
        <p:push dir="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400"/>
                            </p:stCondLst>
                            <p:childTnLst>
                              <p:par>
                                <p:cTn id="9" presetID="2" presetClass="entr" presetSubtype="4" fill="hold" nodeType="afterEffect">
                                  <p:stCondLst>
                                    <p:cond delay="500"/>
                                  </p:stCondLst>
                                  <p:childTnLst>
                                    <p:set>
                                      <p:cBhvr>
                                        <p:cTn id="10" dur="1" fill="hold">
                                          <p:stCondLst>
                                            <p:cond delay="0"/>
                                          </p:stCondLst>
                                        </p:cTn>
                                        <p:tgtEl>
                                          <p:spTgt spid="63"/>
                                        </p:tgtEl>
                                        <p:attrNameLst>
                                          <p:attrName>style.visibility</p:attrName>
                                        </p:attrNameLst>
                                      </p:cBhvr>
                                      <p:to>
                                        <p:strVal val="visible"/>
                                      </p:to>
                                    </p:set>
                                    <p:anim calcmode="lin" valueType="num">
                                      <p:cBhvr additive="base">
                                        <p:cTn id="11" dur="700" fill="hold"/>
                                        <p:tgtEl>
                                          <p:spTgt spid="63"/>
                                        </p:tgtEl>
                                        <p:attrNameLst>
                                          <p:attrName>ppt_x</p:attrName>
                                        </p:attrNameLst>
                                      </p:cBhvr>
                                      <p:tavLst>
                                        <p:tav tm="0">
                                          <p:val>
                                            <p:strVal val="#ppt_x"/>
                                          </p:val>
                                        </p:tav>
                                        <p:tav tm="100000">
                                          <p:val>
                                            <p:strVal val="#ppt_x"/>
                                          </p:val>
                                        </p:tav>
                                      </p:tavLst>
                                    </p:anim>
                                    <p:anim calcmode="lin" valueType="num">
                                      <p:cBhvr additive="base">
                                        <p:cTn id="12" dur="700" fill="hold"/>
                                        <p:tgtEl>
                                          <p:spTgt spid="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page-background"/>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8FAFC"/>
            </a:solidFill>
            <a:ln>
              <a:noFill/>
            </a:ln>
          </p:spPr>
          <p:txBody>
            <a:bodyPr/>
            <a:lstStyle/>
            <a:p>
              <a:endParaRPr lang="en-US"/>
            </a:p>
          </p:txBody>
        </p:sp>
        <p:sp>
          <p:nvSpPr>
            <p:cNvPr id="3" name="Rectangle 3"/>
            <p:cNvSpPr/>
            <p:nvPr/>
          </p:nvSpPr>
          <p:spPr>
            <a:xfrm>
              <a:off x="0" y="0"/>
              <a:ext cx="12192000" cy="57150"/>
            </a:xfrm>
            <a:prstGeom prst="rect">
              <a:avLst/>
            </a:prstGeom>
            <a:gradFill>
              <a:gsLst>
                <a:gs pos="0">
                  <a:srgbClr val="1E3A8A"/>
                </a:gs>
                <a:gs pos="50000">
                  <a:schemeClr val="accent1"/>
                </a:gs>
                <a:gs pos="100000">
                  <a:srgbClr val="0EA5E9"/>
                </a:gs>
              </a:gsLst>
              <a:lin ang="0" scaled="1"/>
            </a:gradFill>
            <a:ln>
              <a:noFill/>
            </a:ln>
          </p:spPr>
          <p:txBody>
            <a:bodyPr/>
            <a:lstStyle/>
            <a:p>
              <a:endParaRPr lang="en-US"/>
            </a:p>
          </p:txBody>
        </p:sp>
      </p:grpSp>
      <p:grpSp>
        <p:nvGrpSpPr>
          <p:cNvPr id="9" name="header"/>
          <p:cNvGrpSpPr/>
          <p:nvPr/>
        </p:nvGrpSpPr>
        <p:grpSpPr>
          <a:xfrm>
            <a:off x="654558" y="304800"/>
            <a:ext cx="8730085" cy="899478"/>
            <a:chOff x="654558" y="304800"/>
            <a:chExt cx="8730085" cy="899478"/>
          </a:xfrm>
        </p:grpSpPr>
        <p:sp>
          <p:nvSpPr>
            <p:cNvPr id="5" name="Rectangle 5"/>
            <p:cNvSpPr/>
            <p:nvPr/>
          </p:nvSpPr>
          <p:spPr>
            <a:xfrm>
              <a:off x="666750" y="304800"/>
              <a:ext cx="1657350" cy="247650"/>
            </a:xfrm>
            <a:prstGeom prst="roundRect">
              <a:avLst>
                <a:gd name="adj" fmla="val 23077"/>
              </a:avLst>
            </a:prstGeom>
            <a:solidFill>
              <a:srgbClr val="EFF6FF"/>
            </a:solidFill>
            <a:ln w="9525">
              <a:solidFill>
                <a:srgbClr val="BFDBFE"/>
              </a:solidFill>
            </a:ln>
          </p:spPr>
          <p:txBody>
            <a:bodyPr/>
            <a:lstStyle/>
            <a:p>
              <a:endParaRPr lang="en-US"/>
            </a:p>
          </p:txBody>
        </p:sp>
        <p:sp>
          <p:nvSpPr>
            <p:cNvPr id="6" name="TextBox 6"/>
            <p:cNvSpPr txBox="1"/>
            <p:nvPr/>
          </p:nvSpPr>
          <p:spPr>
            <a:xfrm>
              <a:off x="846912" y="365125"/>
              <a:ext cx="1297026" cy="161925"/>
            </a:xfrm>
            <a:prstGeom prst="rect">
              <a:avLst/>
            </a:prstGeom>
            <a:noFill/>
            <a:ln>
              <a:noFill/>
            </a:ln>
          </p:spPr>
          <p:txBody>
            <a:bodyPr wrap="none" lIns="0" tIns="0" rIns="0" bIns="0" anchor="t" anchorCtr="0">
              <a:spAutoFit/>
            </a:bodyPr>
            <a:lstStyle/>
            <a:p>
              <a:pPr algn="ctr"/>
              <a:r>
                <a:rPr lang="vi" sz="820" b="1" spc="75" dirty="0">
                  <a:solidFill>
                    <a:srgbClr val="1D4ED8"/>
                  </a:solidFill>
                  <a:latin typeface="+mn-lt"/>
                  <a:ea typeface="+mn-ea"/>
                  <a:cs typeface="+mn-cs"/>
                </a:rPr>
                <a:t>KHÁM PHÁ DỮ LIỆU</a:t>
              </a:r>
            </a:p>
          </p:txBody>
        </p:sp>
        <p:sp>
          <p:nvSpPr>
            <p:cNvPr id="7" name="TextBox 7"/>
            <p:cNvSpPr txBox="1"/>
            <p:nvPr/>
          </p:nvSpPr>
          <p:spPr>
            <a:xfrm>
              <a:off x="654558" y="584200"/>
              <a:ext cx="8730085" cy="469392"/>
            </a:xfrm>
            <a:prstGeom prst="rect">
              <a:avLst/>
            </a:prstGeom>
            <a:noFill/>
            <a:ln>
              <a:noFill/>
            </a:ln>
          </p:spPr>
          <p:txBody>
            <a:bodyPr wrap="none" lIns="0" tIns="0" rIns="0" bIns="0" anchor="t" anchorCtr="0">
              <a:spAutoFit/>
            </a:bodyPr>
            <a:lstStyle/>
            <a:p>
              <a:pPr algn="l"/>
              <a:r>
                <a:rPr lang="vi" sz="2400" b="1" dirty="0">
                  <a:solidFill>
                    <a:srgbClr val="0F172A"/>
                  </a:solidFill>
                  <a:latin typeface="+mn-lt"/>
                  <a:ea typeface="+mn-ea"/>
                  <a:cs typeface="+mn-cs"/>
                </a:rPr>
                <a:t>Tập Dữ Liệu Khách Hàng Bán Sỉ (Wholesale Customers)</a:t>
              </a:r>
            </a:p>
          </p:txBody>
        </p:sp>
        <p:sp>
          <p:nvSpPr>
            <p:cNvPr id="8" name="TextBox 8"/>
            <p:cNvSpPr txBox="1"/>
            <p:nvPr/>
          </p:nvSpPr>
          <p:spPr>
            <a:xfrm>
              <a:off x="661035" y="984250"/>
              <a:ext cx="4894386" cy="220028"/>
            </a:xfrm>
            <a:prstGeom prst="rect">
              <a:avLst/>
            </a:prstGeom>
            <a:noFill/>
            <a:ln>
              <a:noFill/>
            </a:ln>
          </p:spPr>
          <p:txBody>
            <a:bodyPr wrap="none" lIns="0" tIns="0" rIns="0" bIns="0" anchor="t" anchorCtr="0">
              <a:spAutoFit/>
            </a:bodyPr>
            <a:lstStyle/>
            <a:p>
              <a:pPr algn="l"/>
              <a:r>
                <a:rPr lang="vi" sz="1120" dirty="0">
                  <a:solidFill>
                    <a:srgbClr val="475569"/>
                  </a:solidFill>
                  <a:latin typeface="+mn-lt"/>
                  <a:ea typeface="+mn-ea"/>
                  <a:cs typeface="+mn-cs"/>
                </a:rPr>
                <a:t>Chi tiết 6 biến chi tiêu monetary units và nguyên tắc cô lập biến phân loại</a:t>
              </a:r>
            </a:p>
          </p:txBody>
        </p:sp>
      </p:grpSp>
      <p:grpSp>
        <p:nvGrpSpPr>
          <p:cNvPr id="19" name="dataset-meta"/>
          <p:cNvGrpSpPr/>
          <p:nvPr/>
        </p:nvGrpSpPr>
        <p:grpSpPr>
          <a:xfrm>
            <a:off x="666750" y="1428750"/>
            <a:ext cx="10858500" cy="571500"/>
            <a:chOff x="666750" y="1428750"/>
            <a:chExt cx="10858500" cy="571500"/>
          </a:xfrm>
        </p:grpSpPr>
        <p:sp>
          <p:nvSpPr>
            <p:cNvPr id="10" name="Rectangle 10"/>
            <p:cNvSpPr/>
            <p:nvPr/>
          </p:nvSpPr>
          <p:spPr>
            <a:xfrm>
              <a:off x="666750" y="1428750"/>
              <a:ext cx="10858500" cy="571500"/>
            </a:xfrm>
            <a:prstGeom prst="roundRect">
              <a:avLst>
                <a:gd name="adj" fmla="val 20000"/>
              </a:avLst>
            </a:prstGeom>
            <a:solidFill>
              <a:schemeClr val="lt1"/>
            </a:solidFill>
            <a:ln w="14288">
              <a:solidFill>
                <a:srgbClr val="E2E8F0"/>
              </a:solidFill>
            </a:ln>
          </p:spPr>
          <p:txBody>
            <a:bodyPr/>
            <a:lstStyle/>
            <a:p>
              <a:endParaRPr lang="en-US"/>
            </a:p>
          </p:txBody>
        </p:sp>
        <p:sp>
          <p:nvSpPr>
            <p:cNvPr id="11" name="TextBox 11"/>
            <p:cNvSpPr txBox="1"/>
            <p:nvPr/>
          </p:nvSpPr>
          <p:spPr>
            <a:xfrm>
              <a:off x="946785" y="1631950"/>
              <a:ext cx="1064589" cy="220028"/>
            </a:xfrm>
            <a:prstGeom prst="rect">
              <a:avLst/>
            </a:prstGeom>
            <a:noFill/>
            <a:ln>
              <a:noFill/>
            </a:ln>
          </p:spPr>
          <p:txBody>
            <a:bodyPr wrap="none" lIns="0" tIns="0" rIns="0" bIns="0" anchor="t" anchorCtr="0">
              <a:spAutoFit/>
            </a:bodyPr>
            <a:lstStyle/>
            <a:p>
              <a:pPr algn="l"/>
              <a:r>
                <a:rPr lang="vi" sz="1120" b="1" dirty="0">
                  <a:solidFill>
                    <a:srgbClr val="1E40AF"/>
                  </a:solidFill>
                  <a:latin typeface="+mn-lt"/>
                  <a:ea typeface="+mn-ea"/>
                  <a:cs typeface="+mn-cs"/>
                </a:rPr>
                <a:t>TẬP DỮ LIỆU:</a:t>
              </a:r>
            </a:p>
          </p:txBody>
        </p:sp>
        <p:sp>
          <p:nvSpPr>
            <p:cNvPr id="12" name="TextBox 12"/>
            <p:cNvSpPr txBox="1"/>
            <p:nvPr/>
          </p:nvSpPr>
          <p:spPr>
            <a:xfrm>
              <a:off x="1994535" y="1631950"/>
              <a:ext cx="2903804" cy="220028"/>
            </a:xfrm>
            <a:prstGeom prst="rect">
              <a:avLst/>
            </a:prstGeom>
            <a:noFill/>
            <a:ln>
              <a:noFill/>
            </a:ln>
          </p:spPr>
          <p:txBody>
            <a:bodyPr wrap="none" lIns="0" tIns="0" rIns="0" bIns="0" anchor="t" anchorCtr="0">
              <a:spAutoFit/>
            </a:bodyPr>
            <a:lstStyle/>
            <a:p>
              <a:pPr algn="l"/>
              <a:r>
                <a:rPr lang="vi" sz="1120" dirty="0">
                  <a:solidFill>
                    <a:srgbClr val="0F172A"/>
                  </a:solidFill>
                  <a:latin typeface="+mn-lt"/>
                  <a:ea typeface="+mn-ea"/>
                  <a:cs typeface="+mn-cs"/>
                </a:rPr>
                <a:t>UCI Machine Learning Repository (ID 292)</a:t>
              </a:r>
            </a:p>
          </p:txBody>
        </p:sp>
        <p:sp>
          <p:nvSpPr>
            <p:cNvPr id="13" name="Line 13"/>
            <p:cNvSpPr/>
            <p:nvPr/>
          </p:nvSpPr>
          <p:spPr>
            <a:xfrm>
              <a:off x="5334000" y="1571625"/>
              <a:ext cx="9525" cy="285750"/>
            </a:xfrm>
            <a:custGeom>
              <a:avLst/>
              <a:gdLst/>
              <a:ahLst/>
              <a:cxnLst/>
              <a:rect l="l" t="t" r="r" b="b"/>
              <a:pathLst>
                <a:path w="9525" h="285750">
                  <a:moveTo>
                    <a:pt x="0" y="0"/>
                  </a:moveTo>
                  <a:lnTo>
                    <a:pt x="0" y="285750"/>
                  </a:lnTo>
                </a:path>
              </a:pathLst>
            </a:custGeom>
            <a:noFill/>
            <a:ln w="9525">
              <a:solidFill>
                <a:srgbClr val="CBD5E1"/>
              </a:solidFill>
            </a:ln>
          </p:spPr>
          <p:txBody>
            <a:bodyPr/>
            <a:lstStyle/>
            <a:p>
              <a:endParaRPr lang="en-US"/>
            </a:p>
          </p:txBody>
        </p:sp>
        <p:sp>
          <p:nvSpPr>
            <p:cNvPr id="14" name="TextBox 14"/>
            <p:cNvSpPr txBox="1"/>
            <p:nvPr/>
          </p:nvSpPr>
          <p:spPr>
            <a:xfrm>
              <a:off x="5614035" y="1631950"/>
              <a:ext cx="710573" cy="220028"/>
            </a:xfrm>
            <a:prstGeom prst="rect">
              <a:avLst/>
            </a:prstGeom>
            <a:noFill/>
            <a:ln>
              <a:noFill/>
            </a:ln>
          </p:spPr>
          <p:txBody>
            <a:bodyPr wrap="none" lIns="0" tIns="0" rIns="0" bIns="0" anchor="t" anchorCtr="0">
              <a:spAutoFit/>
            </a:bodyPr>
            <a:lstStyle/>
            <a:p>
              <a:pPr algn="l"/>
              <a:r>
                <a:rPr lang="vi" sz="1120" b="1" dirty="0">
                  <a:solidFill>
                    <a:srgbClr val="059669"/>
                  </a:solidFill>
                  <a:latin typeface="+mn-lt"/>
                  <a:ea typeface="+mn-ea"/>
                  <a:cs typeface="+mn-cs"/>
                </a:rPr>
                <a:t>QUY MÔ:</a:t>
              </a:r>
            </a:p>
          </p:txBody>
        </p:sp>
        <p:sp>
          <p:nvSpPr>
            <p:cNvPr id="15" name="TextBox 15"/>
            <p:cNvSpPr txBox="1"/>
            <p:nvPr/>
          </p:nvSpPr>
          <p:spPr>
            <a:xfrm>
              <a:off x="6376035" y="1631950"/>
              <a:ext cx="1704928" cy="220028"/>
            </a:xfrm>
            <a:prstGeom prst="rect">
              <a:avLst/>
            </a:prstGeom>
            <a:noFill/>
            <a:ln>
              <a:noFill/>
            </a:ln>
          </p:spPr>
          <p:txBody>
            <a:bodyPr wrap="none" lIns="0" tIns="0" rIns="0" bIns="0" anchor="t" anchorCtr="0">
              <a:spAutoFit/>
            </a:bodyPr>
            <a:lstStyle/>
            <a:p>
              <a:pPr algn="l"/>
              <a:r>
                <a:rPr lang="vi" sz="1120" dirty="0">
                  <a:solidFill>
                    <a:srgbClr val="0F172A"/>
                  </a:solidFill>
                  <a:latin typeface="+mn-lt"/>
                  <a:ea typeface="+mn-ea"/>
                  <a:cs typeface="+mn-cs"/>
                </a:rPr>
                <a:t>440 quan sát khách hàng</a:t>
              </a:r>
            </a:p>
          </p:txBody>
        </p:sp>
        <p:sp>
          <p:nvSpPr>
            <p:cNvPr id="16" name="Line 16"/>
            <p:cNvSpPr/>
            <p:nvPr/>
          </p:nvSpPr>
          <p:spPr>
            <a:xfrm>
              <a:off x="8382000" y="1571625"/>
              <a:ext cx="9525" cy="285750"/>
            </a:xfrm>
            <a:custGeom>
              <a:avLst/>
              <a:gdLst/>
              <a:ahLst/>
              <a:cxnLst/>
              <a:rect l="l" t="t" r="r" b="b"/>
              <a:pathLst>
                <a:path w="9525" h="285750">
                  <a:moveTo>
                    <a:pt x="0" y="0"/>
                  </a:moveTo>
                  <a:lnTo>
                    <a:pt x="0" y="285750"/>
                  </a:lnTo>
                </a:path>
              </a:pathLst>
            </a:custGeom>
            <a:noFill/>
            <a:ln w="9525">
              <a:solidFill>
                <a:srgbClr val="CBD5E1"/>
              </a:solidFill>
            </a:ln>
          </p:spPr>
          <p:txBody>
            <a:bodyPr/>
            <a:lstStyle/>
            <a:p>
              <a:endParaRPr lang="en-US"/>
            </a:p>
          </p:txBody>
        </p:sp>
        <p:sp>
          <p:nvSpPr>
            <p:cNvPr id="17" name="TextBox 17"/>
            <p:cNvSpPr txBox="1"/>
            <p:nvPr/>
          </p:nvSpPr>
          <p:spPr>
            <a:xfrm>
              <a:off x="8662035" y="1631950"/>
              <a:ext cx="1020269" cy="220028"/>
            </a:xfrm>
            <a:prstGeom prst="rect">
              <a:avLst/>
            </a:prstGeom>
            <a:noFill/>
            <a:ln>
              <a:noFill/>
            </a:ln>
          </p:spPr>
          <p:txBody>
            <a:bodyPr wrap="none" lIns="0" tIns="0" rIns="0" bIns="0" anchor="t" anchorCtr="0">
              <a:spAutoFit/>
            </a:bodyPr>
            <a:lstStyle/>
            <a:p>
              <a:pPr algn="l"/>
              <a:r>
                <a:rPr lang="vi" sz="1120" b="1" dirty="0">
                  <a:solidFill>
                    <a:srgbClr val="7C3AED"/>
                  </a:solidFill>
                  <a:latin typeface="+mn-lt"/>
                  <a:ea typeface="+mn-ea"/>
                  <a:cs typeface="+mn-cs"/>
                </a:rPr>
                <a:t>ĐẶC TRƯNG:</a:t>
              </a:r>
            </a:p>
          </p:txBody>
        </p:sp>
        <p:sp>
          <p:nvSpPr>
            <p:cNvPr id="18" name="TextBox 18"/>
            <p:cNvSpPr txBox="1"/>
            <p:nvPr/>
          </p:nvSpPr>
          <p:spPr>
            <a:xfrm>
              <a:off x="9662160" y="1631950"/>
              <a:ext cx="1859804" cy="220028"/>
            </a:xfrm>
            <a:prstGeom prst="rect">
              <a:avLst/>
            </a:prstGeom>
            <a:noFill/>
            <a:ln>
              <a:noFill/>
            </a:ln>
          </p:spPr>
          <p:txBody>
            <a:bodyPr wrap="none" lIns="0" tIns="0" rIns="0" bIns="0" anchor="t" anchorCtr="0">
              <a:spAutoFit/>
            </a:bodyPr>
            <a:lstStyle/>
            <a:p>
              <a:pPr algn="l"/>
              <a:r>
                <a:rPr lang="vi" sz="1120" dirty="0">
                  <a:solidFill>
                    <a:srgbClr val="0F172A"/>
                  </a:solidFill>
                  <a:latin typeface="+mn-lt"/>
                  <a:ea typeface="+mn-ea"/>
                  <a:cs typeface="+mn-cs"/>
                </a:rPr>
                <a:t>6 biến chi tiêu + 2 phân tích</a:t>
              </a:r>
            </a:p>
          </p:txBody>
        </p:sp>
      </p:grpSp>
      <p:grpSp>
        <p:nvGrpSpPr>
          <p:cNvPr id="68" name="spending-features"/>
          <p:cNvGrpSpPr/>
          <p:nvPr/>
        </p:nvGrpSpPr>
        <p:grpSpPr>
          <a:xfrm>
            <a:off x="666750" y="2143125"/>
            <a:ext cx="10858500" cy="3667125"/>
            <a:chOff x="666750" y="2143125"/>
            <a:chExt cx="10858500" cy="3667125"/>
          </a:xfrm>
        </p:grpSpPr>
        <p:sp>
          <p:nvSpPr>
            <p:cNvPr id="20" name="Rectangle 20"/>
            <p:cNvSpPr/>
            <p:nvPr/>
          </p:nvSpPr>
          <p:spPr>
            <a:xfrm>
              <a:off x="666750" y="2143125"/>
              <a:ext cx="3429000" cy="1762125"/>
            </a:xfrm>
            <a:prstGeom prst="roundRect">
              <a:avLst>
                <a:gd name="adj" fmla="val 6486"/>
              </a:avLst>
            </a:prstGeom>
            <a:solidFill>
              <a:schemeClr val="lt1"/>
            </a:solidFill>
            <a:ln w="14288">
              <a:solidFill>
                <a:srgbClr val="E2E8F0"/>
              </a:solidFill>
            </a:ln>
          </p:spPr>
          <p:txBody>
            <a:bodyPr/>
            <a:lstStyle/>
            <a:p>
              <a:endParaRPr lang="en-US"/>
            </a:p>
          </p:txBody>
        </p:sp>
        <p:sp>
          <p:nvSpPr>
            <p:cNvPr id="21" name="Rectangle 21"/>
            <p:cNvSpPr/>
            <p:nvPr/>
          </p:nvSpPr>
          <p:spPr>
            <a:xfrm>
              <a:off x="666750" y="2143125"/>
              <a:ext cx="3429000" cy="38100"/>
            </a:xfrm>
            <a:prstGeom prst="roundRect">
              <a:avLst>
                <a:gd name="adj" fmla="val 50000"/>
              </a:avLst>
            </a:prstGeom>
            <a:solidFill>
              <a:schemeClr val="accent2"/>
            </a:solidFill>
            <a:ln>
              <a:noFill/>
            </a:ln>
          </p:spPr>
          <p:txBody>
            <a:bodyPr/>
            <a:lstStyle/>
            <a:p>
              <a:endParaRPr lang="en-US"/>
            </a:p>
          </p:txBody>
        </p:sp>
        <p:sp>
          <p:nvSpPr>
            <p:cNvPr id="22" name="TextBox 22"/>
            <p:cNvSpPr txBox="1"/>
            <p:nvPr/>
          </p:nvSpPr>
          <p:spPr>
            <a:xfrm>
              <a:off x="898017" y="2292350"/>
              <a:ext cx="2219218" cy="264033"/>
            </a:xfrm>
            <a:prstGeom prst="rect">
              <a:avLst/>
            </a:prstGeom>
            <a:noFill/>
            <a:ln>
              <a:noFill/>
            </a:ln>
          </p:spPr>
          <p:txBody>
            <a:bodyPr wrap="none" lIns="0" tIns="0" rIns="0" bIns="0" anchor="t" anchorCtr="0">
              <a:spAutoFit/>
            </a:bodyPr>
            <a:lstStyle/>
            <a:p>
              <a:pPr algn="l"/>
              <a:r>
                <a:rPr lang="vi" sz="1350" b="1" dirty="0">
                  <a:solidFill>
                    <a:srgbClr val="0F172A"/>
                  </a:solidFill>
                  <a:latin typeface="+mn-lt"/>
                  <a:ea typeface="+mn-ea"/>
                  <a:cs typeface="+mn-cs"/>
                </a:rPr>
                <a:t>1. Fresh (Hàng tươi sống)</a:t>
              </a:r>
            </a:p>
          </p:txBody>
        </p:sp>
        <p:sp>
          <p:nvSpPr>
            <p:cNvPr id="23" name="TextBox 23"/>
            <p:cNvSpPr txBox="1"/>
            <p:nvPr/>
          </p:nvSpPr>
          <p:spPr>
            <a:xfrm>
              <a:off x="899922" y="2587625"/>
              <a:ext cx="2134163"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Rau củ, hoa quả, thịt tươi hằng ngày</a:t>
              </a:r>
            </a:p>
          </p:txBody>
        </p:sp>
        <p:sp>
          <p:nvSpPr>
            <p:cNvPr id="24" name="TextBox 24"/>
            <p:cNvSpPr txBox="1"/>
            <p:nvPr/>
          </p:nvSpPr>
          <p:spPr>
            <a:xfrm>
              <a:off x="899922" y="2968625"/>
              <a:ext cx="1897363"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Trung bình (Mean): </a:t>
              </a:r>
              <a:r>
                <a:rPr lang="vi" sz="980" b="1" dirty="0">
                  <a:solidFill>
                    <a:srgbClr val="059669"/>
                  </a:solidFill>
                  <a:latin typeface="+mn-lt"/>
                  <a:ea typeface="+mn-ea"/>
                  <a:cs typeface="+mn-cs"/>
                </a:rPr>
                <a:t>12,000 m.u.</a:t>
              </a:r>
            </a:p>
          </p:txBody>
        </p:sp>
        <p:sp>
          <p:nvSpPr>
            <p:cNvPr id="25" name="TextBox 25"/>
            <p:cNvSpPr txBox="1"/>
            <p:nvPr/>
          </p:nvSpPr>
          <p:spPr>
            <a:xfrm>
              <a:off x="899922" y="3206750"/>
              <a:ext cx="1764659"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Trung vị (Median): </a:t>
              </a:r>
              <a:r>
                <a:rPr lang="vi" sz="980" b="1" dirty="0">
                  <a:solidFill>
                    <a:srgbClr val="334155"/>
                  </a:solidFill>
                  <a:latin typeface="+mn-lt"/>
                  <a:ea typeface="+mn-ea"/>
                  <a:cs typeface="+mn-cs"/>
                </a:rPr>
                <a:t>8,504 m.u.</a:t>
              </a:r>
            </a:p>
          </p:txBody>
        </p:sp>
        <p:sp>
          <p:nvSpPr>
            <p:cNvPr id="26" name="TextBox 26"/>
            <p:cNvSpPr txBox="1"/>
            <p:nvPr/>
          </p:nvSpPr>
          <p:spPr>
            <a:xfrm>
              <a:off x="899922" y="3444875"/>
              <a:ext cx="2483351"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Khoảng giá trị (Range): </a:t>
              </a:r>
              <a:r>
                <a:rPr lang="vi" sz="980" b="1" dirty="0">
                  <a:solidFill>
                    <a:srgbClr val="DC2626"/>
                  </a:solidFill>
                  <a:latin typeface="+mn-lt"/>
                  <a:ea typeface="+mn-ea"/>
                  <a:cs typeface="+mn-cs"/>
                </a:rPr>
                <a:t>3 → 112,151 m.u.</a:t>
              </a:r>
            </a:p>
          </p:txBody>
        </p:sp>
        <p:sp>
          <p:nvSpPr>
            <p:cNvPr id="27" name="TextBox 27"/>
            <p:cNvSpPr txBox="1"/>
            <p:nvPr/>
          </p:nvSpPr>
          <p:spPr>
            <a:xfrm>
              <a:off x="900112" y="3676650"/>
              <a:ext cx="2276323" cy="176212"/>
            </a:xfrm>
            <a:prstGeom prst="rect">
              <a:avLst/>
            </a:prstGeom>
            <a:noFill/>
            <a:ln>
              <a:noFill/>
            </a:ln>
          </p:spPr>
          <p:txBody>
            <a:bodyPr wrap="none" lIns="0" tIns="0" rIns="0" bIns="0" anchor="t" anchorCtr="0">
              <a:spAutoFit/>
            </a:bodyPr>
            <a:lstStyle/>
            <a:p>
              <a:pPr algn="l"/>
              <a:r>
                <a:rPr lang="vi" sz="900" dirty="0">
                  <a:solidFill>
                    <a:srgbClr val="94A3B8"/>
                  </a:solidFill>
                  <a:latin typeface="+mn-lt"/>
                  <a:ea typeface="+mn-ea"/>
                  <a:cs typeface="+mn-cs"/>
                </a:rPr>
                <a:t>Skewness cực đại trong nhóm chi tiêu cao</a:t>
              </a:r>
            </a:p>
          </p:txBody>
        </p:sp>
        <p:sp>
          <p:nvSpPr>
            <p:cNvPr id="28" name="Rectangle 28"/>
            <p:cNvSpPr/>
            <p:nvPr/>
          </p:nvSpPr>
          <p:spPr>
            <a:xfrm>
              <a:off x="4381500" y="2143125"/>
              <a:ext cx="3429000" cy="1762125"/>
            </a:xfrm>
            <a:prstGeom prst="roundRect">
              <a:avLst>
                <a:gd name="adj" fmla="val 6486"/>
              </a:avLst>
            </a:prstGeom>
            <a:solidFill>
              <a:schemeClr val="lt1"/>
            </a:solidFill>
            <a:ln w="14288">
              <a:solidFill>
                <a:srgbClr val="E2E8F0"/>
              </a:solidFill>
            </a:ln>
          </p:spPr>
          <p:txBody>
            <a:bodyPr/>
            <a:lstStyle/>
            <a:p>
              <a:endParaRPr lang="en-US"/>
            </a:p>
          </p:txBody>
        </p:sp>
        <p:sp>
          <p:nvSpPr>
            <p:cNvPr id="29" name="Rectangle 29"/>
            <p:cNvSpPr/>
            <p:nvPr/>
          </p:nvSpPr>
          <p:spPr>
            <a:xfrm>
              <a:off x="4381500" y="2143125"/>
              <a:ext cx="3429000" cy="38100"/>
            </a:xfrm>
            <a:prstGeom prst="roundRect">
              <a:avLst>
                <a:gd name="adj" fmla="val 50000"/>
              </a:avLst>
            </a:prstGeom>
            <a:solidFill>
              <a:srgbClr val="3B82F6"/>
            </a:solidFill>
            <a:ln>
              <a:noFill/>
            </a:ln>
          </p:spPr>
          <p:txBody>
            <a:bodyPr/>
            <a:lstStyle/>
            <a:p>
              <a:endParaRPr lang="en-US"/>
            </a:p>
          </p:txBody>
        </p:sp>
        <p:sp>
          <p:nvSpPr>
            <p:cNvPr id="30" name="TextBox 30"/>
            <p:cNvSpPr txBox="1"/>
            <p:nvPr/>
          </p:nvSpPr>
          <p:spPr>
            <a:xfrm>
              <a:off x="4612767" y="2292350"/>
              <a:ext cx="2210320" cy="264033"/>
            </a:xfrm>
            <a:prstGeom prst="rect">
              <a:avLst/>
            </a:prstGeom>
            <a:noFill/>
            <a:ln>
              <a:noFill/>
            </a:ln>
          </p:spPr>
          <p:txBody>
            <a:bodyPr wrap="none" lIns="0" tIns="0" rIns="0" bIns="0" anchor="t" anchorCtr="0">
              <a:spAutoFit/>
            </a:bodyPr>
            <a:lstStyle/>
            <a:p>
              <a:pPr algn="l"/>
              <a:r>
                <a:rPr lang="vi" sz="1350" b="1" dirty="0">
                  <a:solidFill>
                    <a:srgbClr val="0F172A"/>
                  </a:solidFill>
                  <a:latin typeface="+mn-lt"/>
                  <a:ea typeface="+mn-ea"/>
                  <a:cs typeface="+mn-cs"/>
                </a:rPr>
                <a:t>2. Milk (Sản phẩm từ sữa)</a:t>
              </a:r>
            </a:p>
          </p:txBody>
        </p:sp>
        <p:sp>
          <p:nvSpPr>
            <p:cNvPr id="31" name="TextBox 31"/>
            <p:cNvSpPr txBox="1"/>
            <p:nvPr/>
          </p:nvSpPr>
          <p:spPr>
            <a:xfrm>
              <a:off x="4614672" y="2587625"/>
              <a:ext cx="1870295"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Sữa tươi, phô mai, bơ, sữa chua</a:t>
              </a:r>
            </a:p>
          </p:txBody>
        </p:sp>
        <p:sp>
          <p:nvSpPr>
            <p:cNvPr id="32" name="TextBox 32"/>
            <p:cNvSpPr txBox="1"/>
            <p:nvPr/>
          </p:nvSpPr>
          <p:spPr>
            <a:xfrm>
              <a:off x="4614672" y="2968625"/>
              <a:ext cx="1823984"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Trung bình (Mean): </a:t>
              </a:r>
              <a:r>
                <a:rPr lang="vi" sz="980" b="1" dirty="0">
                  <a:solidFill>
                    <a:schemeClr val="accent1"/>
                  </a:solidFill>
                  <a:latin typeface="+mn-lt"/>
                  <a:ea typeface="+mn-ea"/>
                  <a:cs typeface="+mn-cs"/>
                </a:rPr>
                <a:t>5,796 m.u.</a:t>
              </a:r>
            </a:p>
          </p:txBody>
        </p:sp>
        <p:sp>
          <p:nvSpPr>
            <p:cNvPr id="33" name="TextBox 33"/>
            <p:cNvSpPr txBox="1"/>
            <p:nvPr/>
          </p:nvSpPr>
          <p:spPr>
            <a:xfrm>
              <a:off x="4614672" y="3206750"/>
              <a:ext cx="1764659"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Trung vị (Median): </a:t>
              </a:r>
              <a:r>
                <a:rPr lang="vi" sz="980" b="1" dirty="0">
                  <a:solidFill>
                    <a:srgbClr val="334155"/>
                  </a:solidFill>
                  <a:latin typeface="+mn-lt"/>
                  <a:ea typeface="+mn-ea"/>
                  <a:cs typeface="+mn-cs"/>
                </a:rPr>
                <a:t>3,627 m.u.</a:t>
              </a:r>
            </a:p>
          </p:txBody>
        </p:sp>
        <p:sp>
          <p:nvSpPr>
            <p:cNvPr id="34" name="TextBox 34"/>
            <p:cNvSpPr txBox="1"/>
            <p:nvPr/>
          </p:nvSpPr>
          <p:spPr>
            <a:xfrm>
              <a:off x="4614672" y="3444875"/>
              <a:ext cx="2483351"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Khoảng giá trị (Range): </a:t>
              </a:r>
              <a:r>
                <a:rPr lang="vi" sz="980" b="1" dirty="0">
                  <a:solidFill>
                    <a:srgbClr val="DC2626"/>
                  </a:solidFill>
                  <a:latin typeface="+mn-lt"/>
                  <a:ea typeface="+mn-ea"/>
                  <a:cs typeface="+mn-cs"/>
                </a:rPr>
                <a:t>55 → 73,498 m.u.</a:t>
              </a:r>
            </a:p>
          </p:txBody>
        </p:sp>
        <p:sp>
          <p:nvSpPr>
            <p:cNvPr id="35" name="TextBox 35"/>
            <p:cNvSpPr txBox="1"/>
            <p:nvPr/>
          </p:nvSpPr>
          <p:spPr>
            <a:xfrm>
              <a:off x="4614862" y="3676650"/>
              <a:ext cx="2487881" cy="176212"/>
            </a:xfrm>
            <a:prstGeom prst="rect">
              <a:avLst/>
            </a:prstGeom>
            <a:noFill/>
            <a:ln>
              <a:noFill/>
            </a:ln>
          </p:spPr>
          <p:txBody>
            <a:bodyPr wrap="none" lIns="0" tIns="0" rIns="0" bIns="0" anchor="t" anchorCtr="0">
              <a:spAutoFit/>
            </a:bodyPr>
            <a:lstStyle/>
            <a:p>
              <a:pPr algn="l"/>
              <a:r>
                <a:rPr lang="vi" sz="900" dirty="0">
                  <a:solidFill>
                    <a:srgbClr val="94A3B8"/>
                  </a:solidFill>
                  <a:latin typeface="+mn-lt"/>
                  <a:ea typeface="+mn-ea"/>
                  <a:cs typeface="+mn-cs"/>
                </a:rPr>
                <a:t>Skewness thô: +4.28 (Đặc trưng nhóm bán lẻ)</a:t>
              </a:r>
            </a:p>
          </p:txBody>
        </p:sp>
        <p:sp>
          <p:nvSpPr>
            <p:cNvPr id="36" name="Rectangle 36"/>
            <p:cNvSpPr/>
            <p:nvPr/>
          </p:nvSpPr>
          <p:spPr>
            <a:xfrm>
              <a:off x="8096250" y="2143125"/>
              <a:ext cx="3429000" cy="1762125"/>
            </a:xfrm>
            <a:prstGeom prst="roundRect">
              <a:avLst>
                <a:gd name="adj" fmla="val 6486"/>
              </a:avLst>
            </a:prstGeom>
            <a:solidFill>
              <a:schemeClr val="lt1"/>
            </a:solidFill>
            <a:ln w="14288">
              <a:solidFill>
                <a:srgbClr val="E2E8F0"/>
              </a:solidFill>
            </a:ln>
          </p:spPr>
          <p:txBody>
            <a:bodyPr/>
            <a:lstStyle/>
            <a:p>
              <a:endParaRPr lang="en-US"/>
            </a:p>
          </p:txBody>
        </p:sp>
        <p:sp>
          <p:nvSpPr>
            <p:cNvPr id="37" name="Rectangle 37"/>
            <p:cNvSpPr/>
            <p:nvPr/>
          </p:nvSpPr>
          <p:spPr>
            <a:xfrm>
              <a:off x="8096250" y="2143125"/>
              <a:ext cx="3429000" cy="38100"/>
            </a:xfrm>
            <a:prstGeom prst="roundRect">
              <a:avLst>
                <a:gd name="adj" fmla="val 50000"/>
              </a:avLst>
            </a:prstGeom>
            <a:solidFill>
              <a:srgbClr val="F59E0B"/>
            </a:solidFill>
            <a:ln>
              <a:noFill/>
            </a:ln>
          </p:spPr>
          <p:txBody>
            <a:bodyPr/>
            <a:lstStyle/>
            <a:p>
              <a:endParaRPr lang="en-US"/>
            </a:p>
          </p:txBody>
        </p:sp>
        <p:sp>
          <p:nvSpPr>
            <p:cNvPr id="38" name="TextBox 38"/>
            <p:cNvSpPr txBox="1"/>
            <p:nvPr/>
          </p:nvSpPr>
          <p:spPr>
            <a:xfrm>
              <a:off x="8327517" y="2292350"/>
              <a:ext cx="2250173" cy="264033"/>
            </a:xfrm>
            <a:prstGeom prst="rect">
              <a:avLst/>
            </a:prstGeom>
            <a:noFill/>
            <a:ln>
              <a:noFill/>
            </a:ln>
          </p:spPr>
          <p:txBody>
            <a:bodyPr wrap="none" lIns="0" tIns="0" rIns="0" bIns="0" anchor="t" anchorCtr="0">
              <a:spAutoFit/>
            </a:bodyPr>
            <a:lstStyle/>
            <a:p>
              <a:pPr algn="l"/>
              <a:r>
                <a:rPr lang="vi" sz="1350" b="1" dirty="0">
                  <a:solidFill>
                    <a:srgbClr val="0F172A"/>
                  </a:solidFill>
                  <a:latin typeface="+mn-lt"/>
                  <a:ea typeface="+mn-ea"/>
                  <a:cs typeface="+mn-cs"/>
                </a:rPr>
                <a:t>3. Grocery (Hàng tạp hóa)</a:t>
              </a:r>
            </a:p>
          </p:txBody>
        </p:sp>
        <p:sp>
          <p:nvSpPr>
            <p:cNvPr id="39" name="TextBox 39"/>
            <p:cNvSpPr txBox="1"/>
            <p:nvPr/>
          </p:nvSpPr>
          <p:spPr>
            <a:xfrm>
              <a:off x="8329422" y="2587625"/>
              <a:ext cx="2097574"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Gia vị, đồ đóng hộp, thực phẩm khô</a:t>
              </a:r>
            </a:p>
          </p:txBody>
        </p:sp>
        <p:sp>
          <p:nvSpPr>
            <p:cNvPr id="40" name="TextBox 40"/>
            <p:cNvSpPr txBox="1"/>
            <p:nvPr/>
          </p:nvSpPr>
          <p:spPr>
            <a:xfrm>
              <a:off x="8329422" y="2968625"/>
              <a:ext cx="1823984"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Trung bình (Mean): </a:t>
              </a:r>
              <a:r>
                <a:rPr lang="vi" sz="980" b="1" dirty="0">
                  <a:solidFill>
                    <a:srgbClr val="D97706"/>
                  </a:solidFill>
                  <a:latin typeface="+mn-lt"/>
                  <a:ea typeface="+mn-ea"/>
                  <a:cs typeface="+mn-cs"/>
                </a:rPr>
                <a:t>7,951 m.u.</a:t>
              </a:r>
            </a:p>
          </p:txBody>
        </p:sp>
        <p:sp>
          <p:nvSpPr>
            <p:cNvPr id="41" name="TextBox 41"/>
            <p:cNvSpPr txBox="1"/>
            <p:nvPr/>
          </p:nvSpPr>
          <p:spPr>
            <a:xfrm>
              <a:off x="8329422" y="3206750"/>
              <a:ext cx="1764659"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Trung vị (Median): </a:t>
              </a:r>
              <a:r>
                <a:rPr lang="vi" sz="980" b="1" dirty="0">
                  <a:solidFill>
                    <a:srgbClr val="334155"/>
                  </a:solidFill>
                  <a:latin typeface="+mn-lt"/>
                  <a:ea typeface="+mn-ea"/>
                  <a:cs typeface="+mn-cs"/>
                </a:rPr>
                <a:t>4,755 m.u.</a:t>
              </a:r>
            </a:p>
          </p:txBody>
        </p:sp>
        <p:sp>
          <p:nvSpPr>
            <p:cNvPr id="42" name="TextBox 42"/>
            <p:cNvSpPr txBox="1"/>
            <p:nvPr/>
          </p:nvSpPr>
          <p:spPr>
            <a:xfrm>
              <a:off x="8329422" y="3444875"/>
              <a:ext cx="2409973"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Khoảng giá trị (Range): </a:t>
              </a:r>
              <a:r>
                <a:rPr lang="vi" sz="980" b="1" dirty="0">
                  <a:solidFill>
                    <a:srgbClr val="DC2626"/>
                  </a:solidFill>
                  <a:latin typeface="+mn-lt"/>
                  <a:ea typeface="+mn-ea"/>
                  <a:cs typeface="+mn-cs"/>
                </a:rPr>
                <a:t>3 → 59,598 m.u.</a:t>
              </a:r>
            </a:p>
          </p:txBody>
        </p:sp>
        <p:sp>
          <p:nvSpPr>
            <p:cNvPr id="43" name="TextBox 43"/>
            <p:cNvSpPr txBox="1"/>
            <p:nvPr/>
          </p:nvSpPr>
          <p:spPr>
            <a:xfrm>
              <a:off x="8329612" y="3676650"/>
              <a:ext cx="2210623" cy="176212"/>
            </a:xfrm>
            <a:prstGeom prst="rect">
              <a:avLst/>
            </a:prstGeom>
            <a:noFill/>
            <a:ln>
              <a:noFill/>
            </a:ln>
          </p:spPr>
          <p:txBody>
            <a:bodyPr wrap="none" lIns="0" tIns="0" rIns="0" bIns="0" anchor="t" anchorCtr="0">
              <a:spAutoFit/>
            </a:bodyPr>
            <a:lstStyle/>
            <a:p>
              <a:pPr algn="l"/>
              <a:r>
                <a:rPr lang="vi" sz="900" dirty="0">
                  <a:solidFill>
                    <a:srgbClr val="94A3B8"/>
                  </a:solidFill>
                  <a:latin typeface="+mn-lt"/>
                  <a:ea typeface="+mn-ea"/>
                  <a:cs typeface="+mn-cs"/>
                </a:rPr>
                <a:t>Tương quan mạnh với Detergents_Paper</a:t>
              </a:r>
            </a:p>
          </p:txBody>
        </p:sp>
        <p:sp>
          <p:nvSpPr>
            <p:cNvPr id="44" name="Rectangle 44"/>
            <p:cNvSpPr/>
            <p:nvPr/>
          </p:nvSpPr>
          <p:spPr>
            <a:xfrm>
              <a:off x="666750" y="4048125"/>
              <a:ext cx="3429000" cy="1762125"/>
            </a:xfrm>
            <a:prstGeom prst="roundRect">
              <a:avLst>
                <a:gd name="adj" fmla="val 6486"/>
              </a:avLst>
            </a:prstGeom>
            <a:solidFill>
              <a:schemeClr val="lt1"/>
            </a:solidFill>
            <a:ln w="14288">
              <a:solidFill>
                <a:srgbClr val="E2E8F0"/>
              </a:solidFill>
            </a:ln>
          </p:spPr>
          <p:txBody>
            <a:bodyPr/>
            <a:lstStyle/>
            <a:p>
              <a:endParaRPr lang="en-US"/>
            </a:p>
          </p:txBody>
        </p:sp>
        <p:sp>
          <p:nvSpPr>
            <p:cNvPr id="45" name="Rectangle 45"/>
            <p:cNvSpPr/>
            <p:nvPr/>
          </p:nvSpPr>
          <p:spPr>
            <a:xfrm>
              <a:off x="666750" y="4048125"/>
              <a:ext cx="3429000" cy="38100"/>
            </a:xfrm>
            <a:prstGeom prst="roundRect">
              <a:avLst>
                <a:gd name="adj" fmla="val 50000"/>
              </a:avLst>
            </a:prstGeom>
            <a:solidFill>
              <a:srgbClr val="06B6D4"/>
            </a:solidFill>
            <a:ln>
              <a:noFill/>
            </a:ln>
          </p:spPr>
          <p:txBody>
            <a:bodyPr/>
            <a:lstStyle/>
            <a:p>
              <a:endParaRPr lang="en-US"/>
            </a:p>
          </p:txBody>
        </p:sp>
        <p:sp>
          <p:nvSpPr>
            <p:cNvPr id="46" name="TextBox 46"/>
            <p:cNvSpPr txBox="1"/>
            <p:nvPr/>
          </p:nvSpPr>
          <p:spPr>
            <a:xfrm>
              <a:off x="898017" y="4197350"/>
              <a:ext cx="2885542" cy="264033"/>
            </a:xfrm>
            <a:prstGeom prst="rect">
              <a:avLst/>
            </a:prstGeom>
            <a:noFill/>
            <a:ln>
              <a:noFill/>
            </a:ln>
          </p:spPr>
          <p:txBody>
            <a:bodyPr wrap="none" lIns="0" tIns="0" rIns="0" bIns="0" anchor="t" anchorCtr="0">
              <a:spAutoFit/>
            </a:bodyPr>
            <a:lstStyle/>
            <a:p>
              <a:pPr algn="l"/>
              <a:r>
                <a:rPr lang="vi" sz="1350" b="1" dirty="0">
                  <a:solidFill>
                    <a:srgbClr val="0F172A"/>
                  </a:solidFill>
                  <a:latin typeface="+mn-lt"/>
                  <a:ea typeface="+mn-ea"/>
                  <a:cs typeface="+mn-cs"/>
                </a:rPr>
                <a:t>4. Frozen (Thực phẩm đông lạnh)</a:t>
              </a:r>
            </a:p>
          </p:txBody>
        </p:sp>
        <p:sp>
          <p:nvSpPr>
            <p:cNvPr id="47" name="TextBox 47"/>
            <p:cNvSpPr txBox="1"/>
            <p:nvPr/>
          </p:nvSpPr>
          <p:spPr>
            <a:xfrm>
              <a:off x="899922" y="4492625"/>
              <a:ext cx="2508303"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Thịt, hải sản và đồ đông lạnh bảo quản lâu</a:t>
              </a:r>
            </a:p>
          </p:txBody>
        </p:sp>
        <p:sp>
          <p:nvSpPr>
            <p:cNvPr id="48" name="TextBox 48"/>
            <p:cNvSpPr txBox="1"/>
            <p:nvPr/>
          </p:nvSpPr>
          <p:spPr>
            <a:xfrm>
              <a:off x="899922" y="4873625"/>
              <a:ext cx="1823984"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Trung bình (Mean): </a:t>
              </a:r>
              <a:r>
                <a:rPr lang="vi" sz="980" b="1" dirty="0">
                  <a:solidFill>
                    <a:srgbClr val="0891B2"/>
                  </a:solidFill>
                  <a:latin typeface="+mn-lt"/>
                  <a:ea typeface="+mn-ea"/>
                  <a:cs typeface="+mn-cs"/>
                </a:rPr>
                <a:t>3,071 m.u.</a:t>
              </a:r>
            </a:p>
          </p:txBody>
        </p:sp>
        <p:sp>
          <p:nvSpPr>
            <p:cNvPr id="49" name="TextBox 49"/>
            <p:cNvSpPr txBox="1"/>
            <p:nvPr/>
          </p:nvSpPr>
          <p:spPr>
            <a:xfrm>
              <a:off x="899922" y="5111750"/>
              <a:ext cx="1764659"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Trung vị (Median): </a:t>
              </a:r>
              <a:r>
                <a:rPr lang="vi" sz="980" b="1" dirty="0">
                  <a:solidFill>
                    <a:srgbClr val="334155"/>
                  </a:solidFill>
                  <a:latin typeface="+mn-lt"/>
                  <a:ea typeface="+mn-ea"/>
                  <a:cs typeface="+mn-cs"/>
                </a:rPr>
                <a:t>1,526 m.u.</a:t>
              </a:r>
            </a:p>
          </p:txBody>
        </p:sp>
        <p:sp>
          <p:nvSpPr>
            <p:cNvPr id="50" name="TextBox 50"/>
            <p:cNvSpPr txBox="1"/>
            <p:nvPr/>
          </p:nvSpPr>
          <p:spPr>
            <a:xfrm>
              <a:off x="899922" y="5349875"/>
              <a:ext cx="2483351"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Khoảng giá trị (Range): </a:t>
              </a:r>
              <a:r>
                <a:rPr lang="vi" sz="980" b="1" dirty="0">
                  <a:solidFill>
                    <a:srgbClr val="334155"/>
                  </a:solidFill>
                  <a:latin typeface="+mn-lt"/>
                  <a:ea typeface="+mn-ea"/>
                  <a:cs typeface="+mn-cs"/>
                </a:rPr>
                <a:t>25 → 60,869 m.u.</a:t>
              </a:r>
            </a:p>
          </p:txBody>
        </p:sp>
        <p:sp>
          <p:nvSpPr>
            <p:cNvPr id="51" name="TextBox 51"/>
            <p:cNvSpPr txBox="1"/>
            <p:nvPr/>
          </p:nvSpPr>
          <p:spPr>
            <a:xfrm>
              <a:off x="900112" y="5581650"/>
              <a:ext cx="1143530" cy="176212"/>
            </a:xfrm>
            <a:prstGeom prst="rect">
              <a:avLst/>
            </a:prstGeom>
            <a:noFill/>
            <a:ln>
              <a:noFill/>
            </a:ln>
          </p:spPr>
          <p:txBody>
            <a:bodyPr wrap="none" lIns="0" tIns="0" rIns="0" bIns="0" anchor="t" anchorCtr="0">
              <a:spAutoFit/>
            </a:bodyPr>
            <a:lstStyle/>
            <a:p>
              <a:pPr algn="l"/>
              <a:r>
                <a:rPr lang="vi" sz="900" dirty="0">
                  <a:solidFill>
                    <a:srgbClr val="94A3B8"/>
                  </a:solidFill>
                  <a:latin typeface="+mn-lt"/>
                  <a:ea typeface="+mn-ea"/>
                  <a:cs typeface="+mn-cs"/>
                </a:rPr>
                <a:t>Skewness thô: +3.53</a:t>
              </a:r>
            </a:p>
          </p:txBody>
        </p:sp>
        <p:sp>
          <p:nvSpPr>
            <p:cNvPr id="52" name="Rectangle 52"/>
            <p:cNvSpPr/>
            <p:nvPr/>
          </p:nvSpPr>
          <p:spPr>
            <a:xfrm>
              <a:off x="4381500" y="4048125"/>
              <a:ext cx="3429000" cy="1762125"/>
            </a:xfrm>
            <a:prstGeom prst="roundRect">
              <a:avLst>
                <a:gd name="adj" fmla="val 6486"/>
              </a:avLst>
            </a:prstGeom>
            <a:solidFill>
              <a:schemeClr val="lt1"/>
            </a:solidFill>
            <a:ln w="14288">
              <a:solidFill>
                <a:srgbClr val="E2E8F0"/>
              </a:solidFill>
            </a:ln>
          </p:spPr>
          <p:txBody>
            <a:bodyPr/>
            <a:lstStyle/>
            <a:p>
              <a:endParaRPr lang="en-US"/>
            </a:p>
          </p:txBody>
        </p:sp>
        <p:sp>
          <p:nvSpPr>
            <p:cNvPr id="53" name="Rectangle 53"/>
            <p:cNvSpPr/>
            <p:nvPr/>
          </p:nvSpPr>
          <p:spPr>
            <a:xfrm>
              <a:off x="4381500" y="4048125"/>
              <a:ext cx="3429000" cy="38100"/>
            </a:xfrm>
            <a:prstGeom prst="roundRect">
              <a:avLst>
                <a:gd name="adj" fmla="val 50000"/>
              </a:avLst>
            </a:prstGeom>
            <a:solidFill>
              <a:schemeClr val="accent3"/>
            </a:solidFill>
            <a:ln>
              <a:noFill/>
            </a:ln>
          </p:spPr>
          <p:txBody>
            <a:bodyPr/>
            <a:lstStyle/>
            <a:p>
              <a:endParaRPr lang="en-US"/>
            </a:p>
          </p:txBody>
        </p:sp>
        <p:sp>
          <p:nvSpPr>
            <p:cNvPr id="54" name="TextBox 54"/>
            <p:cNvSpPr txBox="1"/>
            <p:nvPr/>
          </p:nvSpPr>
          <p:spPr>
            <a:xfrm>
              <a:off x="4612767" y="4197350"/>
              <a:ext cx="3314606" cy="264033"/>
            </a:xfrm>
            <a:prstGeom prst="rect">
              <a:avLst/>
            </a:prstGeom>
            <a:noFill/>
            <a:ln>
              <a:noFill/>
            </a:ln>
          </p:spPr>
          <p:txBody>
            <a:bodyPr wrap="none" lIns="0" tIns="0" rIns="0" bIns="0" anchor="t" anchorCtr="0">
              <a:spAutoFit/>
            </a:bodyPr>
            <a:lstStyle/>
            <a:p>
              <a:pPr algn="l"/>
              <a:r>
                <a:rPr lang="vi" sz="1350" b="1" dirty="0">
                  <a:solidFill>
                    <a:srgbClr val="0F172A"/>
                  </a:solidFill>
                  <a:latin typeface="+mn-lt"/>
                  <a:ea typeface="+mn-ea"/>
                  <a:cs typeface="+mn-cs"/>
                </a:rPr>
                <a:t>5. Detergents_Paper (Chất tẩy &amp; Giấy)</a:t>
              </a:r>
            </a:p>
          </p:txBody>
        </p:sp>
        <p:sp>
          <p:nvSpPr>
            <p:cNvPr id="55" name="TextBox 55"/>
            <p:cNvSpPr txBox="1"/>
            <p:nvPr/>
          </p:nvSpPr>
          <p:spPr>
            <a:xfrm>
              <a:off x="4614672" y="4492625"/>
              <a:ext cx="2382859"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Nước tẩy rửa, giấy vệ sinh, vật tư vệ sinh</a:t>
              </a:r>
            </a:p>
          </p:txBody>
        </p:sp>
        <p:sp>
          <p:nvSpPr>
            <p:cNvPr id="56" name="TextBox 56"/>
            <p:cNvSpPr txBox="1"/>
            <p:nvPr/>
          </p:nvSpPr>
          <p:spPr>
            <a:xfrm>
              <a:off x="4614672" y="4873625"/>
              <a:ext cx="1823984"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Trung bình (Mean): </a:t>
              </a:r>
              <a:r>
                <a:rPr lang="vi" sz="980" b="1" dirty="0">
                  <a:solidFill>
                    <a:srgbClr val="7C3AED"/>
                  </a:solidFill>
                  <a:latin typeface="+mn-lt"/>
                  <a:ea typeface="+mn-ea"/>
                  <a:cs typeface="+mn-cs"/>
                </a:rPr>
                <a:t>2,881 m.u.</a:t>
              </a:r>
            </a:p>
          </p:txBody>
        </p:sp>
        <p:sp>
          <p:nvSpPr>
            <p:cNvPr id="57" name="TextBox 57"/>
            <p:cNvSpPr txBox="1"/>
            <p:nvPr/>
          </p:nvSpPr>
          <p:spPr>
            <a:xfrm>
              <a:off x="4614672" y="5111750"/>
              <a:ext cx="1654631"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Trung vị (Median): </a:t>
              </a:r>
              <a:r>
                <a:rPr lang="vi" sz="980" b="1" dirty="0">
                  <a:solidFill>
                    <a:srgbClr val="334155"/>
                  </a:solidFill>
                  <a:latin typeface="+mn-lt"/>
                  <a:ea typeface="+mn-ea"/>
                  <a:cs typeface="+mn-cs"/>
                </a:rPr>
                <a:t>816 m.u.</a:t>
              </a:r>
            </a:p>
          </p:txBody>
        </p:sp>
        <p:sp>
          <p:nvSpPr>
            <p:cNvPr id="58" name="TextBox 58"/>
            <p:cNvSpPr txBox="1"/>
            <p:nvPr/>
          </p:nvSpPr>
          <p:spPr>
            <a:xfrm>
              <a:off x="4614672" y="5349875"/>
              <a:ext cx="2409973"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Khoảng giá trị (Range): </a:t>
              </a:r>
              <a:r>
                <a:rPr lang="vi" sz="980" b="1" dirty="0">
                  <a:solidFill>
                    <a:srgbClr val="334155"/>
                  </a:solidFill>
                  <a:latin typeface="+mn-lt"/>
                  <a:ea typeface="+mn-ea"/>
                  <a:cs typeface="+mn-cs"/>
                </a:rPr>
                <a:t>3 → 40,827 m.u.</a:t>
              </a:r>
            </a:p>
          </p:txBody>
        </p:sp>
        <p:sp>
          <p:nvSpPr>
            <p:cNvPr id="59" name="TextBox 59"/>
            <p:cNvSpPr txBox="1"/>
            <p:nvPr/>
          </p:nvSpPr>
          <p:spPr>
            <a:xfrm>
              <a:off x="4614862" y="5581650"/>
              <a:ext cx="2188563" cy="176212"/>
            </a:xfrm>
            <a:prstGeom prst="rect">
              <a:avLst/>
            </a:prstGeom>
            <a:noFill/>
            <a:ln>
              <a:noFill/>
            </a:ln>
          </p:spPr>
          <p:txBody>
            <a:bodyPr wrap="none" lIns="0" tIns="0" rIns="0" bIns="0" anchor="t" anchorCtr="0">
              <a:spAutoFit/>
            </a:bodyPr>
            <a:lstStyle/>
            <a:p>
              <a:pPr algn="l"/>
              <a:r>
                <a:rPr lang="vi" sz="900" dirty="0">
                  <a:solidFill>
                    <a:srgbClr val="94A3B8"/>
                  </a:solidFill>
                  <a:latin typeface="+mn-lt"/>
                  <a:ea typeface="+mn-ea"/>
                  <a:cs typeface="+mn-cs"/>
                </a:rPr>
                <a:t>Trung vị rất thấp, chi phối bởi siêu thị lớn</a:t>
              </a:r>
            </a:p>
          </p:txBody>
        </p:sp>
        <p:sp>
          <p:nvSpPr>
            <p:cNvPr id="60" name="Rectangle 60"/>
            <p:cNvSpPr/>
            <p:nvPr/>
          </p:nvSpPr>
          <p:spPr>
            <a:xfrm>
              <a:off x="8096250" y="4048125"/>
              <a:ext cx="3429000" cy="1762125"/>
            </a:xfrm>
            <a:prstGeom prst="roundRect">
              <a:avLst>
                <a:gd name="adj" fmla="val 6486"/>
              </a:avLst>
            </a:prstGeom>
            <a:solidFill>
              <a:schemeClr val="lt1"/>
            </a:solidFill>
            <a:ln w="14288">
              <a:solidFill>
                <a:srgbClr val="E2E8F0"/>
              </a:solidFill>
            </a:ln>
          </p:spPr>
          <p:txBody>
            <a:bodyPr/>
            <a:lstStyle/>
            <a:p>
              <a:endParaRPr lang="en-US"/>
            </a:p>
          </p:txBody>
        </p:sp>
        <p:sp>
          <p:nvSpPr>
            <p:cNvPr id="61" name="Rectangle 61"/>
            <p:cNvSpPr/>
            <p:nvPr/>
          </p:nvSpPr>
          <p:spPr>
            <a:xfrm>
              <a:off x="8096250" y="4048125"/>
              <a:ext cx="3429000" cy="38100"/>
            </a:xfrm>
            <a:prstGeom prst="roundRect">
              <a:avLst>
                <a:gd name="adj" fmla="val 50000"/>
              </a:avLst>
            </a:prstGeom>
            <a:solidFill>
              <a:srgbClr val="EC4899"/>
            </a:solidFill>
            <a:ln>
              <a:noFill/>
            </a:ln>
          </p:spPr>
          <p:txBody>
            <a:bodyPr/>
            <a:lstStyle/>
            <a:p>
              <a:endParaRPr lang="en-US"/>
            </a:p>
          </p:txBody>
        </p:sp>
        <p:sp>
          <p:nvSpPr>
            <p:cNvPr id="62" name="TextBox 62"/>
            <p:cNvSpPr txBox="1"/>
            <p:nvPr/>
          </p:nvSpPr>
          <p:spPr>
            <a:xfrm>
              <a:off x="8327517" y="4197350"/>
              <a:ext cx="3135501" cy="264033"/>
            </a:xfrm>
            <a:prstGeom prst="rect">
              <a:avLst/>
            </a:prstGeom>
            <a:noFill/>
            <a:ln>
              <a:noFill/>
            </a:ln>
          </p:spPr>
          <p:txBody>
            <a:bodyPr wrap="none" lIns="0" tIns="0" rIns="0" bIns="0" anchor="t" anchorCtr="0">
              <a:spAutoFit/>
            </a:bodyPr>
            <a:lstStyle/>
            <a:p>
              <a:pPr algn="l"/>
              <a:r>
                <a:rPr lang="vi" sz="1350" b="1" dirty="0">
                  <a:solidFill>
                    <a:srgbClr val="0F172A"/>
                  </a:solidFill>
                  <a:latin typeface="+mn-lt"/>
                  <a:ea typeface="+mn-ea"/>
                  <a:cs typeface="+mn-cs"/>
                </a:rPr>
                <a:t>6. Delicassen (Đồ nguội &amp; Tinh hoa)</a:t>
              </a:r>
            </a:p>
          </p:txBody>
        </p:sp>
        <p:sp>
          <p:nvSpPr>
            <p:cNvPr id="63" name="TextBox 63"/>
            <p:cNvSpPr txBox="1"/>
            <p:nvPr/>
          </p:nvSpPr>
          <p:spPr>
            <a:xfrm>
              <a:off x="8329422" y="4492625"/>
              <a:ext cx="2464107"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Thực phẩm chế biến sẵn cao cấp, jambon</a:t>
              </a:r>
            </a:p>
          </p:txBody>
        </p:sp>
        <p:sp>
          <p:nvSpPr>
            <p:cNvPr id="64" name="TextBox 64"/>
            <p:cNvSpPr txBox="1"/>
            <p:nvPr/>
          </p:nvSpPr>
          <p:spPr>
            <a:xfrm>
              <a:off x="8329422" y="4873625"/>
              <a:ext cx="1823984"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Trung bình (Mean): </a:t>
              </a:r>
              <a:r>
                <a:rPr lang="vi" sz="980" b="1" dirty="0">
                  <a:solidFill>
                    <a:srgbClr val="DB2777"/>
                  </a:solidFill>
                  <a:latin typeface="+mn-lt"/>
                  <a:ea typeface="+mn-ea"/>
                  <a:cs typeface="+mn-cs"/>
                </a:rPr>
                <a:t>1,524 m.u.</a:t>
              </a:r>
            </a:p>
          </p:txBody>
        </p:sp>
        <p:sp>
          <p:nvSpPr>
            <p:cNvPr id="65" name="TextBox 65"/>
            <p:cNvSpPr txBox="1"/>
            <p:nvPr/>
          </p:nvSpPr>
          <p:spPr>
            <a:xfrm>
              <a:off x="8329422" y="5111750"/>
              <a:ext cx="1654631"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Trung vị (Median): </a:t>
              </a:r>
              <a:r>
                <a:rPr lang="vi" sz="980" b="1" dirty="0">
                  <a:solidFill>
                    <a:srgbClr val="334155"/>
                  </a:solidFill>
                  <a:latin typeface="+mn-lt"/>
                  <a:ea typeface="+mn-ea"/>
                  <a:cs typeface="+mn-cs"/>
                </a:rPr>
                <a:t>965 m.u.</a:t>
              </a:r>
            </a:p>
          </p:txBody>
        </p:sp>
        <p:sp>
          <p:nvSpPr>
            <p:cNvPr id="66" name="TextBox 66"/>
            <p:cNvSpPr txBox="1"/>
            <p:nvPr/>
          </p:nvSpPr>
          <p:spPr>
            <a:xfrm>
              <a:off x="8329422" y="5349875"/>
              <a:ext cx="2409973"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Khoảng giá trị (Range): </a:t>
              </a:r>
              <a:r>
                <a:rPr lang="vi" sz="980" b="1" dirty="0">
                  <a:solidFill>
                    <a:srgbClr val="DC2626"/>
                  </a:solidFill>
                  <a:latin typeface="+mn-lt"/>
                  <a:ea typeface="+mn-ea"/>
                  <a:cs typeface="+mn-cs"/>
                </a:rPr>
                <a:t>7 → 47,943 m.u.</a:t>
              </a:r>
            </a:p>
          </p:txBody>
        </p:sp>
        <p:sp>
          <p:nvSpPr>
            <p:cNvPr id="67" name="TextBox 67"/>
            <p:cNvSpPr txBox="1"/>
            <p:nvPr/>
          </p:nvSpPr>
          <p:spPr>
            <a:xfrm>
              <a:off x="8329612" y="5581650"/>
              <a:ext cx="2555795" cy="176212"/>
            </a:xfrm>
            <a:prstGeom prst="rect">
              <a:avLst/>
            </a:prstGeom>
            <a:noFill/>
            <a:ln>
              <a:noFill/>
            </a:ln>
          </p:spPr>
          <p:txBody>
            <a:bodyPr wrap="none" lIns="0" tIns="0" rIns="0" bIns="0" anchor="t" anchorCtr="0">
              <a:spAutoFit/>
            </a:bodyPr>
            <a:lstStyle/>
            <a:p>
              <a:pPr algn="l"/>
              <a:r>
                <a:rPr lang="vi" sz="900" b="1" dirty="0">
                  <a:solidFill>
                    <a:srgbClr val="DC2626"/>
                  </a:solidFill>
                  <a:latin typeface="+mn-lt"/>
                  <a:ea typeface="+mn-ea"/>
                  <a:cs typeface="+mn-cs"/>
                </a:rPr>
                <a:t>Skewness cao kỷ lục: +12.12 (Bắt buộc nén)</a:t>
              </a:r>
            </a:p>
          </p:txBody>
        </p:sp>
      </p:grpSp>
      <p:grpSp>
        <p:nvGrpSpPr>
          <p:cNvPr id="74" name="profiling-variables"/>
          <p:cNvGrpSpPr/>
          <p:nvPr/>
        </p:nvGrpSpPr>
        <p:grpSpPr>
          <a:xfrm>
            <a:off x="666750" y="5924550"/>
            <a:ext cx="10858500" cy="400050"/>
            <a:chOff x="666750" y="5924550"/>
            <a:chExt cx="10858500" cy="400050"/>
          </a:xfrm>
        </p:grpSpPr>
        <p:sp>
          <p:nvSpPr>
            <p:cNvPr id="69" name="Rectangle 69"/>
            <p:cNvSpPr/>
            <p:nvPr/>
          </p:nvSpPr>
          <p:spPr>
            <a:xfrm>
              <a:off x="666750" y="5924550"/>
              <a:ext cx="10858500" cy="400050"/>
            </a:xfrm>
            <a:prstGeom prst="roundRect">
              <a:avLst>
                <a:gd name="adj" fmla="val 19048"/>
              </a:avLst>
            </a:prstGeom>
            <a:solidFill>
              <a:srgbClr val="F1F5F9"/>
            </a:solidFill>
            <a:ln w="9525">
              <a:solidFill>
                <a:srgbClr val="CBD5E1"/>
              </a:solidFill>
            </a:ln>
          </p:spPr>
          <p:txBody>
            <a:bodyPr/>
            <a:lstStyle/>
            <a:p>
              <a:endParaRPr lang="en-US"/>
            </a:p>
          </p:txBody>
        </p:sp>
        <p:sp>
          <p:nvSpPr>
            <p:cNvPr id="70" name="TextBox 70"/>
            <p:cNvSpPr txBox="1"/>
            <p:nvPr/>
          </p:nvSpPr>
          <p:spPr>
            <a:xfrm>
              <a:off x="852297" y="6045200"/>
              <a:ext cx="2129861" cy="191643"/>
            </a:xfrm>
            <a:prstGeom prst="rect">
              <a:avLst/>
            </a:prstGeom>
            <a:noFill/>
            <a:ln>
              <a:noFill/>
            </a:ln>
          </p:spPr>
          <p:txBody>
            <a:bodyPr wrap="none" lIns="0" tIns="0" rIns="0" bIns="0" anchor="t" anchorCtr="0">
              <a:spAutoFit/>
            </a:bodyPr>
            <a:lstStyle/>
            <a:p>
              <a:pPr algn="l"/>
              <a:r>
                <a:rPr lang="vi" sz="980" b="1" dirty="0">
                  <a:solidFill>
                    <a:srgbClr val="0F172A"/>
                  </a:solidFill>
                  <a:latin typeface="+mn-lt"/>
                  <a:ea typeface="+mn-ea"/>
                  <a:cs typeface="+mn-cs"/>
                </a:rPr>
                <a:t>2 Biến Phân Tích (Profiling Only):</a:t>
              </a:r>
            </a:p>
          </p:txBody>
        </p:sp>
        <p:sp>
          <p:nvSpPr>
            <p:cNvPr id="71" name="TextBox 71"/>
            <p:cNvSpPr txBox="1"/>
            <p:nvPr/>
          </p:nvSpPr>
          <p:spPr>
            <a:xfrm>
              <a:off x="3043047" y="6045200"/>
              <a:ext cx="3842278"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b="1" dirty="0">
                  <a:solidFill>
                    <a:srgbClr val="334155"/>
                  </a:solidFill>
                  <a:latin typeface="+mn-lt"/>
                  <a:ea typeface="+mn-ea"/>
                  <a:cs typeface="+mn-cs"/>
                </a:rPr>
                <a:t>Channel:</a:t>
              </a:r>
              <a:r>
                <a:rPr lang="vi" sz="980" dirty="0">
                  <a:solidFill>
                    <a:srgbClr val="334155"/>
                  </a:solidFill>
                  <a:latin typeface="+mn-lt"/>
                  <a:ea typeface="+mn-ea"/>
                  <a:cs typeface="+mn-cs"/>
                </a:rPr>
                <a:t> Horeca (298 mẫu - 67.7%) | Retail (142 mẫu - 32.3%)</a:t>
              </a:r>
            </a:p>
          </p:txBody>
        </p:sp>
        <p:sp>
          <p:nvSpPr>
            <p:cNvPr id="72" name="TextBox 72"/>
            <p:cNvSpPr txBox="1"/>
            <p:nvPr/>
          </p:nvSpPr>
          <p:spPr>
            <a:xfrm>
              <a:off x="7043547" y="6045200"/>
              <a:ext cx="2867308"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b="1" dirty="0">
                  <a:solidFill>
                    <a:srgbClr val="334155"/>
                  </a:solidFill>
                  <a:latin typeface="+mn-lt"/>
                  <a:ea typeface="+mn-ea"/>
                  <a:cs typeface="+mn-cs"/>
                </a:rPr>
                <a:t>Region:</a:t>
              </a:r>
              <a:r>
                <a:rPr lang="vi" sz="980" dirty="0">
                  <a:solidFill>
                    <a:srgbClr val="334155"/>
                  </a:solidFill>
                  <a:latin typeface="+mn-lt"/>
                  <a:ea typeface="+mn-ea"/>
                  <a:cs typeface="+mn-cs"/>
                </a:rPr>
                <a:t> Lisbon (77) | Oporto (47) | Other (316)</a:t>
              </a:r>
            </a:p>
          </p:txBody>
        </p:sp>
        <p:sp>
          <p:nvSpPr>
            <p:cNvPr id="73" name="TextBox 73"/>
            <p:cNvSpPr txBox="1"/>
            <p:nvPr/>
          </p:nvSpPr>
          <p:spPr>
            <a:xfrm>
              <a:off x="9139238" y="6057900"/>
              <a:ext cx="2099668" cy="176212"/>
            </a:xfrm>
            <a:prstGeom prst="rect">
              <a:avLst/>
            </a:prstGeom>
            <a:noFill/>
            <a:ln>
              <a:noFill/>
            </a:ln>
          </p:spPr>
          <p:txBody>
            <a:bodyPr wrap="none" lIns="0" tIns="0" rIns="0" bIns="0" anchor="t" anchorCtr="0">
              <a:spAutoFit/>
            </a:bodyPr>
            <a:lstStyle/>
            <a:p>
              <a:pPr algn="l"/>
              <a:r>
                <a:rPr lang="vi" sz="900" b="1" dirty="0">
                  <a:solidFill>
                    <a:srgbClr val="DC2626"/>
                  </a:solidFill>
                  <a:latin typeface="+mn-lt"/>
                  <a:ea typeface="+mn-ea"/>
                  <a:cs typeface="+mn-cs"/>
                </a:rPr>
                <a:t>✗ KHÔNG DÙNG ĐỂ FIT MÔ HÌNH</a:t>
              </a:r>
            </a:p>
          </p:txBody>
        </p:sp>
      </p:grpSp>
      <p:grpSp>
        <p:nvGrpSpPr>
          <p:cNvPr id="78" name="footer"/>
          <p:cNvGrpSpPr/>
          <p:nvPr/>
        </p:nvGrpSpPr>
        <p:grpSpPr>
          <a:xfrm>
            <a:off x="661797" y="6429375"/>
            <a:ext cx="10868406" cy="264668"/>
            <a:chOff x="661797" y="6429375"/>
            <a:chExt cx="10868406" cy="264668"/>
          </a:xfrm>
        </p:grpSpPr>
        <p:sp>
          <p:nvSpPr>
            <p:cNvPr id="75" name="Line 75"/>
            <p:cNvSpPr/>
            <p:nvPr/>
          </p:nvSpPr>
          <p:spPr>
            <a:xfrm>
              <a:off x="666750" y="6429375"/>
              <a:ext cx="10858500" cy="9525"/>
            </a:xfrm>
            <a:custGeom>
              <a:avLst/>
              <a:gdLst/>
              <a:ahLst/>
              <a:cxnLst/>
              <a:rect l="l" t="t" r="r" b="b"/>
              <a:pathLst>
                <a:path w="10858500" h="9525">
                  <a:moveTo>
                    <a:pt x="0" y="0"/>
                  </a:moveTo>
                  <a:lnTo>
                    <a:pt x="10858500" y="0"/>
                  </a:lnTo>
                </a:path>
              </a:pathLst>
            </a:custGeom>
            <a:noFill/>
            <a:ln w="9525">
              <a:solidFill>
                <a:srgbClr val="E2E8F0"/>
              </a:solidFill>
            </a:ln>
          </p:spPr>
          <p:txBody>
            <a:bodyPr/>
            <a:lstStyle/>
            <a:p>
              <a:endParaRPr lang="en-US"/>
            </a:p>
          </p:txBody>
        </p:sp>
        <p:sp>
          <p:nvSpPr>
            <p:cNvPr id="76" name="TextBox 76"/>
            <p:cNvSpPr txBox="1"/>
            <p:nvPr/>
          </p:nvSpPr>
          <p:spPr>
            <a:xfrm>
              <a:off x="661797" y="6502400"/>
              <a:ext cx="5799743"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Đồ Án Machine Learning Phân Khúc Khách Hàng Bán Sỉ • Project 22 (UCI Wholesale Customers)</a:t>
              </a:r>
            </a:p>
          </p:txBody>
        </p:sp>
        <p:sp>
          <p:nvSpPr>
            <p:cNvPr id="77" name="TextBox 77"/>
            <p:cNvSpPr txBox="1"/>
            <p:nvPr/>
          </p:nvSpPr>
          <p:spPr>
            <a:xfrm>
              <a:off x="11116836" y="6502400"/>
              <a:ext cx="413367" cy="191643"/>
            </a:xfrm>
            <a:prstGeom prst="rect">
              <a:avLst/>
            </a:prstGeom>
            <a:noFill/>
            <a:ln>
              <a:noFill/>
            </a:ln>
          </p:spPr>
          <p:txBody>
            <a:bodyPr wrap="none" lIns="0" tIns="0" rIns="0" bIns="0" anchor="t" anchorCtr="0">
              <a:spAutoFit/>
            </a:bodyPr>
            <a:lstStyle/>
            <a:p>
              <a:pPr algn="r"/>
              <a:r>
                <a:rPr lang="vi" sz="980" b="1" dirty="0">
                  <a:solidFill>
                    <a:srgbClr val="475569"/>
                  </a:solidFill>
                  <a:latin typeface="+mn-lt"/>
                  <a:ea typeface="+mn-ea"/>
                  <a:cs typeface="+mn-cs"/>
                </a:rPr>
                <a:t>03 / 15</a:t>
              </a:r>
            </a:p>
          </p:txBody>
        </p:sp>
      </p:grpSp>
    </p:spTree>
  </p:cSld>
  <p:clrMapOvr>
    <a:masterClrMapping/>
  </p:clrMapOvr>
  <mc:AlternateContent xmlns:mc="http://schemas.openxmlformats.org/markup-compatibility/2006">
    <mc:Choice xmlns:p14="http://schemas.microsoft.com/office/powerpoint/2010/main" Requires="p14">
      <p:transition spd="med" p14:dur="600">
        <p:push dir="r"/>
      </p:transition>
    </mc:Choice>
    <mc:Fallback>
      <p:transition spd="med">
        <p:push dir="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400"/>
                            </p:stCondLst>
                            <p:childTnLst>
                              <p:par>
                                <p:cTn id="9" presetID="10" presetClass="entr" presetSubtype="0" fill="hold" nodeType="afterEffect">
                                  <p:stCondLst>
                                    <p:cond delay="50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childTnLst>
                                </p:cTn>
                              </p:par>
                            </p:childTnLst>
                          </p:cTn>
                        </p:par>
                        <p:par>
                          <p:cTn id="12" fill="hold">
                            <p:stCondLst>
                              <p:cond delay="1400"/>
                            </p:stCondLst>
                            <p:childTnLst>
                              <p:par>
                                <p:cTn id="13" presetID="2" presetClass="entr" presetSubtype="4" fill="hold" nodeType="afterEffect">
                                  <p:stCondLst>
                                    <p:cond delay="500"/>
                                  </p:stCondLst>
                                  <p:childTnLst>
                                    <p:set>
                                      <p:cBhvr>
                                        <p:cTn id="14" dur="1" fill="hold">
                                          <p:stCondLst>
                                            <p:cond delay="0"/>
                                          </p:stCondLst>
                                        </p:cTn>
                                        <p:tgtEl>
                                          <p:spTgt spid="68"/>
                                        </p:tgtEl>
                                        <p:attrNameLst>
                                          <p:attrName>style.visibility</p:attrName>
                                        </p:attrNameLst>
                                      </p:cBhvr>
                                      <p:to>
                                        <p:strVal val="visible"/>
                                      </p:to>
                                    </p:set>
                                    <p:anim calcmode="lin" valueType="num">
                                      <p:cBhvr additive="base">
                                        <p:cTn id="15" dur="800" fill="hold"/>
                                        <p:tgtEl>
                                          <p:spTgt spid="68"/>
                                        </p:tgtEl>
                                        <p:attrNameLst>
                                          <p:attrName>ppt_x</p:attrName>
                                        </p:attrNameLst>
                                      </p:cBhvr>
                                      <p:tavLst>
                                        <p:tav tm="0">
                                          <p:val>
                                            <p:strVal val="#ppt_x"/>
                                          </p:val>
                                        </p:tav>
                                        <p:tav tm="100000">
                                          <p:val>
                                            <p:strVal val="#ppt_x"/>
                                          </p:val>
                                        </p:tav>
                                      </p:tavLst>
                                    </p:anim>
                                    <p:anim calcmode="lin" valueType="num">
                                      <p:cBhvr additive="base">
                                        <p:cTn id="16" dur="800" fill="hold"/>
                                        <p:tgtEl>
                                          <p:spTgt spid="68"/>
                                        </p:tgtEl>
                                        <p:attrNameLst>
                                          <p:attrName>ppt_y</p:attrName>
                                        </p:attrNameLst>
                                      </p:cBhvr>
                                      <p:tavLst>
                                        <p:tav tm="0">
                                          <p:val>
                                            <p:strVal val="1+#ppt_h/2"/>
                                          </p:val>
                                        </p:tav>
                                        <p:tav tm="100000">
                                          <p:val>
                                            <p:strVal val="#ppt_y"/>
                                          </p:val>
                                        </p:tav>
                                      </p:tavLst>
                                    </p:anim>
                                  </p:childTnLst>
                                </p:cTn>
                              </p:par>
                            </p:childTnLst>
                          </p:cTn>
                        </p:par>
                        <p:par>
                          <p:cTn id="17" fill="hold">
                            <p:stCondLst>
                              <p:cond delay="2700"/>
                            </p:stCondLst>
                            <p:childTnLst>
                              <p:par>
                                <p:cTn id="18" presetID="22" presetClass="entr" presetSubtype="4" fill="hold" nodeType="afterEffect">
                                  <p:stCondLst>
                                    <p:cond delay="500"/>
                                  </p:stCondLst>
                                  <p:childTnLst>
                                    <p:set>
                                      <p:cBhvr>
                                        <p:cTn id="19" dur="1" fill="hold">
                                          <p:stCondLst>
                                            <p:cond delay="0"/>
                                          </p:stCondLst>
                                        </p:cTn>
                                        <p:tgtEl>
                                          <p:spTgt spid="74"/>
                                        </p:tgtEl>
                                        <p:attrNameLst>
                                          <p:attrName>style.visibility</p:attrName>
                                        </p:attrNameLst>
                                      </p:cBhvr>
                                      <p:to>
                                        <p:strVal val="visible"/>
                                      </p:to>
                                    </p:set>
                                    <p:animEffect transition="in" filter="wipe(down)">
                                      <p:cBhvr>
                                        <p:cTn id="20" dur="6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page-background"/>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8FAFC"/>
            </a:solidFill>
            <a:ln>
              <a:noFill/>
            </a:ln>
          </p:spPr>
          <p:txBody>
            <a:bodyPr/>
            <a:lstStyle/>
            <a:p>
              <a:endParaRPr lang="en-US"/>
            </a:p>
          </p:txBody>
        </p:sp>
        <p:sp>
          <p:nvSpPr>
            <p:cNvPr id="3" name="Rectangle 3"/>
            <p:cNvSpPr/>
            <p:nvPr/>
          </p:nvSpPr>
          <p:spPr>
            <a:xfrm>
              <a:off x="0" y="0"/>
              <a:ext cx="12192000" cy="57150"/>
            </a:xfrm>
            <a:prstGeom prst="rect">
              <a:avLst/>
            </a:prstGeom>
            <a:gradFill>
              <a:gsLst>
                <a:gs pos="0">
                  <a:srgbClr val="1E3A8A"/>
                </a:gs>
                <a:gs pos="50000">
                  <a:schemeClr val="accent1"/>
                </a:gs>
                <a:gs pos="100000">
                  <a:srgbClr val="0EA5E9"/>
                </a:gs>
              </a:gsLst>
              <a:lin ang="0" scaled="1"/>
            </a:gradFill>
            <a:ln>
              <a:noFill/>
            </a:ln>
          </p:spPr>
          <p:txBody>
            <a:bodyPr/>
            <a:lstStyle/>
            <a:p>
              <a:endParaRPr lang="en-US"/>
            </a:p>
          </p:txBody>
        </p:sp>
      </p:grpSp>
      <p:grpSp>
        <p:nvGrpSpPr>
          <p:cNvPr id="9" name="header"/>
          <p:cNvGrpSpPr/>
          <p:nvPr/>
        </p:nvGrpSpPr>
        <p:grpSpPr>
          <a:xfrm>
            <a:off x="654558" y="304800"/>
            <a:ext cx="8938147" cy="899478"/>
            <a:chOff x="654558" y="304800"/>
            <a:chExt cx="8938147" cy="899478"/>
          </a:xfrm>
        </p:grpSpPr>
        <p:sp>
          <p:nvSpPr>
            <p:cNvPr id="5" name="Rectangle 5"/>
            <p:cNvSpPr/>
            <p:nvPr/>
          </p:nvSpPr>
          <p:spPr>
            <a:xfrm>
              <a:off x="666750" y="304800"/>
              <a:ext cx="1828800" cy="247650"/>
            </a:xfrm>
            <a:prstGeom prst="roundRect">
              <a:avLst>
                <a:gd name="adj" fmla="val 23077"/>
              </a:avLst>
            </a:prstGeom>
            <a:solidFill>
              <a:srgbClr val="EFF6FF"/>
            </a:solidFill>
            <a:ln w="9525">
              <a:solidFill>
                <a:srgbClr val="BFDBFE"/>
              </a:solidFill>
            </a:ln>
          </p:spPr>
          <p:txBody>
            <a:bodyPr/>
            <a:lstStyle/>
            <a:p>
              <a:endParaRPr lang="en-US"/>
            </a:p>
          </p:txBody>
        </p:sp>
        <p:sp>
          <p:nvSpPr>
            <p:cNvPr id="6" name="TextBox 6"/>
            <p:cNvSpPr txBox="1"/>
            <p:nvPr/>
          </p:nvSpPr>
          <p:spPr>
            <a:xfrm>
              <a:off x="886266" y="365125"/>
              <a:ext cx="1389767" cy="161925"/>
            </a:xfrm>
            <a:prstGeom prst="rect">
              <a:avLst/>
            </a:prstGeom>
            <a:noFill/>
            <a:ln>
              <a:noFill/>
            </a:ln>
          </p:spPr>
          <p:txBody>
            <a:bodyPr wrap="none" lIns="0" tIns="0" rIns="0" bIns="0" anchor="t" anchorCtr="0">
              <a:spAutoFit/>
            </a:bodyPr>
            <a:lstStyle/>
            <a:p>
              <a:pPr algn="ctr"/>
              <a:r>
                <a:rPr lang="vi" sz="820" b="1" spc="75" dirty="0">
                  <a:solidFill>
                    <a:srgbClr val="1D4ED8"/>
                  </a:solidFill>
                  <a:latin typeface="+mn-lt"/>
                  <a:ea typeface="+mn-ea"/>
                  <a:cs typeface="+mn-cs"/>
                </a:rPr>
                <a:t>KIẾN TRÚC PIPELINE</a:t>
              </a:r>
            </a:p>
          </p:txBody>
        </p:sp>
        <p:sp>
          <p:nvSpPr>
            <p:cNvPr id="7" name="TextBox 7"/>
            <p:cNvSpPr txBox="1"/>
            <p:nvPr/>
          </p:nvSpPr>
          <p:spPr>
            <a:xfrm>
              <a:off x="654558" y="584200"/>
              <a:ext cx="8938147" cy="469392"/>
            </a:xfrm>
            <a:prstGeom prst="rect">
              <a:avLst/>
            </a:prstGeom>
            <a:noFill/>
            <a:ln>
              <a:noFill/>
            </a:ln>
          </p:spPr>
          <p:txBody>
            <a:bodyPr wrap="none" lIns="0" tIns="0" rIns="0" bIns="0" anchor="t" anchorCtr="0">
              <a:spAutoFit/>
            </a:bodyPr>
            <a:lstStyle/>
            <a:p>
              <a:pPr algn="l"/>
              <a:r>
                <a:rPr lang="vi" sz="2400" b="1" dirty="0">
                  <a:solidFill>
                    <a:srgbClr val="0F172A"/>
                  </a:solidFill>
                  <a:latin typeface="+mn-lt"/>
                  <a:ea typeface="+mn-ea"/>
                  <a:cs typeface="+mn-cs"/>
                </a:rPr>
                <a:t>Quy Trình Huấn Luyện &amp; Kiểm Soát Chống Rò Rỉ Dữ Liệu</a:t>
              </a:r>
            </a:p>
          </p:txBody>
        </p:sp>
        <p:sp>
          <p:nvSpPr>
            <p:cNvPr id="8" name="TextBox 8"/>
            <p:cNvSpPr txBox="1"/>
            <p:nvPr/>
          </p:nvSpPr>
          <p:spPr>
            <a:xfrm>
              <a:off x="661035" y="984250"/>
              <a:ext cx="4887246" cy="220028"/>
            </a:xfrm>
            <a:prstGeom prst="rect">
              <a:avLst/>
            </a:prstGeom>
            <a:noFill/>
            <a:ln>
              <a:noFill/>
            </a:ln>
          </p:spPr>
          <p:txBody>
            <a:bodyPr wrap="none" lIns="0" tIns="0" rIns="0" bIns="0" anchor="t" anchorCtr="0">
              <a:spAutoFit/>
            </a:bodyPr>
            <a:lstStyle/>
            <a:p>
              <a:pPr algn="l"/>
              <a:r>
                <a:rPr lang="vi" sz="1120" dirty="0">
                  <a:solidFill>
                    <a:srgbClr val="475569"/>
                  </a:solidFill>
                  <a:latin typeface="+mn-lt"/>
                  <a:ea typeface="+mn-ea"/>
                  <a:cs typeface="+mn-cs"/>
                </a:rPr>
                <a:t>Quy chuẩn chia tách 60/20/20 và nguyên tắc bảo vệ tập kiểm thử độc lập</a:t>
              </a:r>
            </a:p>
          </p:txBody>
        </p:sp>
      </p:grpSp>
      <p:grpSp>
        <p:nvGrpSpPr>
          <p:cNvPr id="15" name="leakage-guard"/>
          <p:cNvGrpSpPr/>
          <p:nvPr/>
        </p:nvGrpSpPr>
        <p:grpSpPr>
          <a:xfrm>
            <a:off x="666750" y="1428750"/>
            <a:ext cx="10858500" cy="666750"/>
            <a:chOff x="666750" y="1428750"/>
            <a:chExt cx="10858500" cy="666750"/>
          </a:xfrm>
        </p:grpSpPr>
        <p:sp>
          <p:nvSpPr>
            <p:cNvPr id="10" name="Rectangle 10"/>
            <p:cNvSpPr/>
            <p:nvPr/>
          </p:nvSpPr>
          <p:spPr>
            <a:xfrm>
              <a:off x="666750" y="1428750"/>
              <a:ext cx="10858500" cy="666750"/>
            </a:xfrm>
            <a:prstGeom prst="roundRect">
              <a:avLst>
                <a:gd name="adj" fmla="val 17143"/>
              </a:avLst>
            </a:prstGeom>
            <a:solidFill>
              <a:srgbClr val="FEF2F2"/>
            </a:solidFill>
            <a:ln w="19050">
              <a:solidFill>
                <a:srgbClr val="DC2626"/>
              </a:solidFill>
            </a:ln>
          </p:spPr>
          <p:txBody>
            <a:bodyPr/>
            <a:lstStyle/>
            <a:p>
              <a:endParaRPr lang="en-US"/>
            </a:p>
          </p:txBody>
        </p:sp>
        <p:sp>
          <p:nvSpPr>
            <p:cNvPr id="11" name="Ellipse 11"/>
            <p:cNvSpPr/>
            <p:nvPr/>
          </p:nvSpPr>
          <p:spPr>
            <a:xfrm>
              <a:off x="885825" y="1552575"/>
              <a:ext cx="419100" cy="419100"/>
            </a:xfrm>
            <a:prstGeom prst="ellipse">
              <a:avLst/>
            </a:prstGeom>
            <a:solidFill>
              <a:srgbClr val="FEE2E2"/>
            </a:solidFill>
            <a:ln>
              <a:noFill/>
            </a:ln>
          </p:spPr>
          <p:txBody>
            <a:bodyPr/>
            <a:lstStyle/>
            <a:p>
              <a:endParaRPr lang="en-US"/>
            </a:p>
          </p:txBody>
        </p:sp>
        <p:sp>
          <p:nvSpPr>
            <p:cNvPr id="12" name="Freeform 12"/>
            <p:cNvSpPr/>
            <p:nvPr/>
          </p:nvSpPr>
          <p:spPr>
            <a:xfrm>
              <a:off x="1095375" y="1638300"/>
              <a:ext cx="9525" cy="247650"/>
            </a:xfrm>
            <a:custGeom>
              <a:avLst/>
              <a:gdLst/>
              <a:ahLst/>
              <a:cxnLst/>
              <a:rect l="l" t="t" r="r" b="b"/>
              <a:pathLst>
                <a:path w="9525" h="247650">
                  <a:moveTo>
                    <a:pt x="0" y="0"/>
                  </a:moveTo>
                  <a:lnTo>
                    <a:pt x="0" y="152400"/>
                  </a:lnTo>
                  <a:moveTo>
                    <a:pt x="0" y="209550"/>
                  </a:moveTo>
                  <a:lnTo>
                    <a:pt x="0" y="247650"/>
                  </a:lnTo>
                </a:path>
              </a:pathLst>
            </a:custGeom>
            <a:solidFill>
              <a:srgbClr val="000000"/>
            </a:solidFill>
            <a:ln w="28575" cap="rnd">
              <a:solidFill>
                <a:srgbClr val="DC2626"/>
              </a:solidFill>
            </a:ln>
          </p:spPr>
          <p:txBody>
            <a:bodyPr/>
            <a:lstStyle/>
            <a:p>
              <a:endParaRPr lang="en-US"/>
            </a:p>
          </p:txBody>
        </p:sp>
        <p:sp>
          <p:nvSpPr>
            <p:cNvPr id="13" name="TextBox 13"/>
            <p:cNvSpPr txBox="1"/>
            <p:nvPr/>
          </p:nvSpPr>
          <p:spPr>
            <a:xfrm>
              <a:off x="1470660" y="1546225"/>
              <a:ext cx="5277255" cy="220028"/>
            </a:xfrm>
            <a:prstGeom prst="rect">
              <a:avLst/>
            </a:prstGeom>
            <a:noFill/>
            <a:ln>
              <a:noFill/>
            </a:ln>
          </p:spPr>
          <p:txBody>
            <a:bodyPr wrap="none" lIns="0" tIns="0" rIns="0" bIns="0" anchor="t" anchorCtr="0">
              <a:spAutoFit/>
            </a:bodyPr>
            <a:lstStyle/>
            <a:p>
              <a:pPr algn="l"/>
              <a:r>
                <a:rPr lang="vi" sz="1120" b="1" dirty="0">
                  <a:solidFill>
                    <a:srgbClr val="991B1B"/>
                  </a:solidFill>
                  <a:latin typeface="+mn-lt"/>
                  <a:ea typeface="+mn-ea"/>
                  <a:cs typeface="+mn-cs"/>
                </a:rPr>
                <a:t>NGUYÊN TẮC VÀNG CHỐNG RÒ RỈ DỮ LIỆU (ANTI-DATA-LEAKAGE):</a:t>
              </a:r>
            </a:p>
          </p:txBody>
        </p:sp>
        <p:sp>
          <p:nvSpPr>
            <p:cNvPr id="14" name="TextBox 14"/>
            <p:cNvSpPr txBox="1"/>
            <p:nvPr/>
          </p:nvSpPr>
          <p:spPr>
            <a:xfrm>
              <a:off x="1471041" y="1797050"/>
              <a:ext cx="7942165" cy="205359"/>
            </a:xfrm>
            <a:prstGeom prst="rect">
              <a:avLst/>
            </a:prstGeom>
            <a:noFill/>
            <a:ln>
              <a:noFill/>
            </a:ln>
          </p:spPr>
          <p:txBody>
            <a:bodyPr wrap="none" lIns="0" tIns="0" rIns="0" bIns="0" anchor="t" anchorCtr="0">
              <a:spAutoFit/>
            </a:bodyPr>
            <a:lstStyle/>
            <a:p>
              <a:pPr algn="l"/>
              <a:r>
                <a:rPr lang="vi" sz="1050" dirty="0">
                  <a:solidFill>
                    <a:srgbClr val="7F1D1D"/>
                  </a:solidFill>
                  <a:latin typeface="+mn-lt"/>
                  <a:ea typeface="+mn-ea"/>
                  <a:cs typeface="+mn-cs"/>
                </a:rPr>
                <a:t>Tuyệt đối phân chia tập dữ liệu (Split) trước khi fit bất kỳ bộ biến đổi nào. Tập Test được giữ độc lập và chỉ đánh giá đúng 1 lần.</a:t>
              </a:r>
            </a:p>
          </p:txBody>
        </p:sp>
      </p:grpSp>
      <p:grpSp>
        <p:nvGrpSpPr>
          <p:cNvPr id="69" name="pipeline-flow"/>
          <p:cNvGrpSpPr/>
          <p:nvPr/>
        </p:nvGrpSpPr>
        <p:grpSpPr>
          <a:xfrm>
            <a:off x="666750" y="2381250"/>
            <a:ext cx="10858500" cy="2190750"/>
            <a:chOff x="666750" y="2381250"/>
            <a:chExt cx="10858500" cy="2190750"/>
          </a:xfrm>
        </p:grpSpPr>
        <p:sp>
          <p:nvSpPr>
            <p:cNvPr id="16" name="Rectangle 16"/>
            <p:cNvSpPr/>
            <p:nvPr/>
          </p:nvSpPr>
          <p:spPr>
            <a:xfrm>
              <a:off x="666750" y="2381250"/>
              <a:ext cx="1905000" cy="2190750"/>
            </a:xfrm>
            <a:prstGeom prst="roundRect">
              <a:avLst>
                <a:gd name="adj" fmla="val 6000"/>
              </a:avLst>
            </a:prstGeom>
            <a:solidFill>
              <a:schemeClr val="lt1"/>
            </a:solidFill>
            <a:ln w="14288">
              <a:solidFill>
                <a:srgbClr val="E2E8F0"/>
              </a:solidFill>
            </a:ln>
          </p:spPr>
          <p:txBody>
            <a:bodyPr/>
            <a:lstStyle/>
            <a:p>
              <a:endParaRPr lang="en-US"/>
            </a:p>
          </p:txBody>
        </p:sp>
        <p:sp>
          <p:nvSpPr>
            <p:cNvPr id="17" name="Rectangle 17"/>
            <p:cNvSpPr/>
            <p:nvPr/>
          </p:nvSpPr>
          <p:spPr>
            <a:xfrm>
              <a:off x="666750" y="2381250"/>
              <a:ext cx="1905000" cy="57150"/>
            </a:xfrm>
            <a:prstGeom prst="roundRect">
              <a:avLst>
                <a:gd name="adj" fmla="val 50000"/>
              </a:avLst>
            </a:prstGeom>
            <a:solidFill>
              <a:schemeClr val="accent1"/>
            </a:solidFill>
            <a:ln>
              <a:noFill/>
            </a:ln>
          </p:spPr>
          <p:txBody>
            <a:bodyPr/>
            <a:lstStyle/>
            <a:p>
              <a:endParaRPr lang="en-US"/>
            </a:p>
          </p:txBody>
        </p:sp>
        <p:sp>
          <p:nvSpPr>
            <p:cNvPr id="18" name="TextBox 18"/>
            <p:cNvSpPr txBox="1"/>
            <p:nvPr/>
          </p:nvSpPr>
          <p:spPr>
            <a:xfrm>
              <a:off x="852297" y="2587625"/>
              <a:ext cx="536597" cy="191643"/>
            </a:xfrm>
            <a:prstGeom prst="rect">
              <a:avLst/>
            </a:prstGeom>
            <a:noFill/>
            <a:ln>
              <a:noFill/>
            </a:ln>
          </p:spPr>
          <p:txBody>
            <a:bodyPr wrap="none" lIns="0" tIns="0" rIns="0" bIns="0" anchor="t" anchorCtr="0">
              <a:spAutoFit/>
            </a:bodyPr>
            <a:lstStyle/>
            <a:p>
              <a:pPr algn="l"/>
              <a:r>
                <a:rPr lang="vi" sz="980" b="1" dirty="0">
                  <a:solidFill>
                    <a:srgbClr val="1E40AF"/>
                  </a:solidFill>
                  <a:latin typeface="+mn-lt"/>
                  <a:ea typeface="+mn-ea"/>
                  <a:cs typeface="+mn-cs"/>
                </a:rPr>
                <a:t>BƯỚC 1</a:t>
              </a:r>
            </a:p>
          </p:txBody>
        </p:sp>
        <p:sp>
          <p:nvSpPr>
            <p:cNvPr id="19" name="TextBox 19"/>
            <p:cNvSpPr txBox="1"/>
            <p:nvPr/>
          </p:nvSpPr>
          <p:spPr>
            <a:xfrm>
              <a:off x="850392" y="2835275"/>
              <a:ext cx="845054" cy="264033"/>
            </a:xfrm>
            <a:prstGeom prst="rect">
              <a:avLst/>
            </a:prstGeom>
            <a:noFill/>
            <a:ln>
              <a:noFill/>
            </a:ln>
          </p:spPr>
          <p:txBody>
            <a:bodyPr wrap="none" lIns="0" tIns="0" rIns="0" bIns="0" anchor="t" anchorCtr="0">
              <a:spAutoFit/>
            </a:bodyPr>
            <a:lstStyle/>
            <a:p>
              <a:pPr algn="l"/>
              <a:r>
                <a:rPr lang="vi" sz="1350" b="1" dirty="0">
                  <a:solidFill>
                    <a:srgbClr val="0F172A"/>
                  </a:solidFill>
                  <a:latin typeface="+mn-lt"/>
                  <a:ea typeface="+mn-ea"/>
                  <a:cs typeface="+mn-cs"/>
                </a:rPr>
                <a:t>Raw Data</a:t>
              </a:r>
            </a:p>
          </p:txBody>
        </p:sp>
        <p:sp>
          <p:nvSpPr>
            <p:cNvPr id="20" name="TextBox 20"/>
            <p:cNvSpPr txBox="1"/>
            <p:nvPr/>
          </p:nvSpPr>
          <p:spPr>
            <a:xfrm>
              <a:off x="852297" y="3159125"/>
              <a:ext cx="1320364" cy="191643"/>
            </a:xfrm>
            <a:prstGeom prst="rect">
              <a:avLst/>
            </a:prstGeom>
            <a:noFill/>
            <a:ln>
              <a:noFill/>
            </a:ln>
          </p:spPr>
          <p:txBody>
            <a:bodyPr wrap="none" lIns="0" tIns="0" rIns="0" bIns="0" anchor="t" anchorCtr="0">
              <a:spAutoFit/>
            </a:bodyPr>
            <a:lstStyle/>
            <a:p>
              <a:pPr marL="78148" indent="-78148" algn="l">
                <a:buClr>
                  <a:srgbClr val="64748B"/>
                </a:buClr>
                <a:buSzTx/>
                <a:buFontTx/>
                <a:buChar char="•"/>
              </a:pPr>
              <a:r>
                <a:rPr lang="vi" sz="980" dirty="0">
                  <a:solidFill>
                    <a:srgbClr val="64748B"/>
                  </a:solidFill>
                  <a:latin typeface="+mn-lt"/>
                  <a:ea typeface="+mn-ea"/>
                  <a:cs typeface="+mn-cs"/>
                </a:rPr>
                <a:t>440 mẫu khách hàng</a:t>
              </a:r>
            </a:p>
          </p:txBody>
        </p:sp>
        <p:sp>
          <p:nvSpPr>
            <p:cNvPr id="21" name="TextBox 21"/>
            <p:cNvSpPr txBox="1"/>
            <p:nvPr/>
          </p:nvSpPr>
          <p:spPr>
            <a:xfrm>
              <a:off x="852297" y="3397250"/>
              <a:ext cx="1265739" cy="191643"/>
            </a:xfrm>
            <a:prstGeom prst="rect">
              <a:avLst/>
            </a:prstGeom>
            <a:noFill/>
            <a:ln>
              <a:noFill/>
            </a:ln>
          </p:spPr>
          <p:txBody>
            <a:bodyPr wrap="none" lIns="0" tIns="0" rIns="0" bIns="0" anchor="t" anchorCtr="0">
              <a:spAutoFit/>
            </a:bodyPr>
            <a:lstStyle/>
            <a:p>
              <a:pPr marL="78148" indent="-78148" algn="l">
                <a:buClr>
                  <a:srgbClr val="64748B"/>
                </a:buClr>
                <a:buSzTx/>
                <a:buFontTx/>
                <a:buChar char="•"/>
              </a:pPr>
              <a:r>
                <a:rPr lang="vi" sz="980" dirty="0">
                  <a:solidFill>
                    <a:srgbClr val="64748B"/>
                  </a:solidFill>
                  <a:latin typeface="+mn-lt"/>
                  <a:ea typeface="+mn-ea"/>
                  <a:cs typeface="+mn-cs"/>
                </a:rPr>
                <a:t>Kiểm tra missing (0)</a:t>
              </a:r>
            </a:p>
          </p:txBody>
        </p:sp>
        <p:sp>
          <p:nvSpPr>
            <p:cNvPr id="22" name="TextBox 22"/>
            <p:cNvSpPr txBox="1"/>
            <p:nvPr/>
          </p:nvSpPr>
          <p:spPr>
            <a:xfrm>
              <a:off x="852297" y="3635375"/>
              <a:ext cx="1449598" cy="191643"/>
            </a:xfrm>
            <a:prstGeom prst="rect">
              <a:avLst/>
            </a:prstGeom>
            <a:noFill/>
            <a:ln>
              <a:noFill/>
            </a:ln>
          </p:spPr>
          <p:txBody>
            <a:bodyPr wrap="none" lIns="0" tIns="0" rIns="0" bIns="0" anchor="t" anchorCtr="0">
              <a:spAutoFit/>
            </a:bodyPr>
            <a:lstStyle/>
            <a:p>
              <a:pPr marL="78148" indent="-78148" algn="l">
                <a:buClr>
                  <a:srgbClr val="64748B"/>
                </a:buClr>
                <a:buSzTx/>
                <a:buFontTx/>
                <a:buChar char="•"/>
              </a:pPr>
              <a:r>
                <a:rPr lang="vi" sz="980" dirty="0">
                  <a:solidFill>
                    <a:srgbClr val="64748B"/>
                  </a:solidFill>
                  <a:latin typeface="+mn-lt"/>
                  <a:ea typeface="+mn-ea"/>
                  <a:cs typeface="+mn-cs"/>
                </a:rPr>
                <a:t>Giữ nguyên đơn vị m.u.</a:t>
              </a:r>
            </a:p>
          </p:txBody>
        </p:sp>
        <p:sp>
          <p:nvSpPr>
            <p:cNvPr id="23" name="Rectangle 23"/>
            <p:cNvSpPr/>
            <p:nvPr/>
          </p:nvSpPr>
          <p:spPr>
            <a:xfrm>
              <a:off x="809625" y="4048125"/>
              <a:ext cx="1619250" cy="342900"/>
            </a:xfrm>
            <a:prstGeom prst="roundRect">
              <a:avLst>
                <a:gd name="adj" fmla="val 16667"/>
              </a:avLst>
            </a:prstGeom>
            <a:solidFill>
              <a:srgbClr val="EFF6FF"/>
            </a:solidFill>
            <a:ln>
              <a:noFill/>
            </a:ln>
          </p:spPr>
          <p:txBody>
            <a:bodyPr/>
            <a:lstStyle/>
            <a:p>
              <a:endParaRPr lang="en-US"/>
            </a:p>
          </p:txBody>
        </p:sp>
        <p:sp>
          <p:nvSpPr>
            <p:cNvPr id="24" name="TextBox 24"/>
            <p:cNvSpPr txBox="1"/>
            <p:nvPr/>
          </p:nvSpPr>
          <p:spPr>
            <a:xfrm>
              <a:off x="1221266" y="4152900"/>
              <a:ext cx="795969" cy="176212"/>
            </a:xfrm>
            <a:prstGeom prst="rect">
              <a:avLst/>
            </a:prstGeom>
            <a:noFill/>
            <a:ln>
              <a:noFill/>
            </a:ln>
          </p:spPr>
          <p:txBody>
            <a:bodyPr wrap="none" lIns="0" tIns="0" rIns="0" bIns="0" anchor="t" anchorCtr="0">
              <a:spAutoFit/>
            </a:bodyPr>
            <a:lstStyle/>
            <a:p>
              <a:pPr algn="ctr"/>
              <a:r>
                <a:rPr lang="vi" sz="900" b="1" dirty="0">
                  <a:solidFill>
                    <a:srgbClr val="1E40AF"/>
                  </a:solidFill>
                  <a:latin typeface="+mn-lt"/>
                  <a:ea typeface="+mn-ea"/>
                  <a:cs typeface="+mn-cs"/>
                </a:rPr>
                <a:t>Input: 440 × 8</a:t>
              </a:r>
            </a:p>
          </p:txBody>
        </p:sp>
        <p:sp>
          <p:nvSpPr>
            <p:cNvPr id="25" name="Freeform 25"/>
            <p:cNvSpPr/>
            <p:nvPr/>
          </p:nvSpPr>
          <p:spPr>
            <a:xfrm>
              <a:off x="2667000" y="3476625"/>
              <a:ext cx="238125" cy="9525"/>
            </a:xfrm>
            <a:custGeom>
              <a:avLst/>
              <a:gdLst/>
              <a:ahLst/>
              <a:cxnLst/>
              <a:rect l="l" t="t" r="r" b="b"/>
              <a:pathLst>
                <a:path w="238125" h="9525">
                  <a:moveTo>
                    <a:pt x="0" y="0"/>
                  </a:moveTo>
                  <a:lnTo>
                    <a:pt x="238125" y="0"/>
                  </a:lnTo>
                </a:path>
              </a:pathLst>
            </a:custGeom>
            <a:solidFill>
              <a:srgbClr val="000000"/>
            </a:solidFill>
            <a:ln w="19050" cap="rnd">
              <a:solidFill>
                <a:srgbClr val="94A3B8"/>
              </a:solidFill>
            </a:ln>
          </p:spPr>
          <p:txBody>
            <a:bodyPr/>
            <a:lstStyle/>
            <a:p>
              <a:endParaRPr lang="en-US"/>
            </a:p>
          </p:txBody>
        </p:sp>
        <p:sp>
          <p:nvSpPr>
            <p:cNvPr id="26" name="Polygon 26"/>
            <p:cNvSpPr/>
            <p:nvPr/>
          </p:nvSpPr>
          <p:spPr>
            <a:xfrm>
              <a:off x="2905125" y="3429000"/>
              <a:ext cx="95250" cy="95250"/>
            </a:xfrm>
            <a:custGeom>
              <a:avLst/>
              <a:gdLst/>
              <a:ahLst/>
              <a:cxnLst/>
              <a:rect l="l" t="t" r="r" b="b"/>
              <a:pathLst>
                <a:path w="95250" h="95250">
                  <a:moveTo>
                    <a:pt x="0" y="0"/>
                  </a:moveTo>
                  <a:lnTo>
                    <a:pt x="95250" y="47625"/>
                  </a:lnTo>
                  <a:lnTo>
                    <a:pt x="0" y="95250"/>
                  </a:lnTo>
                  <a:close/>
                </a:path>
              </a:pathLst>
            </a:custGeom>
            <a:solidFill>
              <a:srgbClr val="94A3B8"/>
            </a:solidFill>
            <a:ln>
              <a:noFill/>
            </a:ln>
          </p:spPr>
          <p:txBody>
            <a:bodyPr/>
            <a:lstStyle/>
            <a:p>
              <a:endParaRPr lang="en-US"/>
            </a:p>
          </p:txBody>
        </p:sp>
        <p:sp>
          <p:nvSpPr>
            <p:cNvPr id="27" name="Rectangle 27"/>
            <p:cNvSpPr/>
            <p:nvPr/>
          </p:nvSpPr>
          <p:spPr>
            <a:xfrm>
              <a:off x="3000375" y="2381250"/>
              <a:ext cx="1905000" cy="2190750"/>
            </a:xfrm>
            <a:prstGeom prst="roundRect">
              <a:avLst>
                <a:gd name="adj" fmla="val 6000"/>
              </a:avLst>
            </a:prstGeom>
            <a:solidFill>
              <a:schemeClr val="lt1"/>
            </a:solidFill>
            <a:ln w="19050">
              <a:solidFill>
                <a:srgbClr val="3B82F6"/>
              </a:solidFill>
            </a:ln>
          </p:spPr>
          <p:txBody>
            <a:bodyPr/>
            <a:lstStyle/>
            <a:p>
              <a:endParaRPr lang="en-US"/>
            </a:p>
          </p:txBody>
        </p:sp>
        <p:sp>
          <p:nvSpPr>
            <p:cNvPr id="28" name="Rectangle 28"/>
            <p:cNvSpPr/>
            <p:nvPr/>
          </p:nvSpPr>
          <p:spPr>
            <a:xfrm>
              <a:off x="3000375" y="2381250"/>
              <a:ext cx="1905000" cy="57150"/>
            </a:xfrm>
            <a:prstGeom prst="roundRect">
              <a:avLst>
                <a:gd name="adj" fmla="val 50000"/>
              </a:avLst>
            </a:prstGeom>
            <a:solidFill>
              <a:srgbClr val="3B82F6"/>
            </a:solidFill>
            <a:ln>
              <a:noFill/>
            </a:ln>
          </p:spPr>
          <p:txBody>
            <a:bodyPr/>
            <a:lstStyle/>
            <a:p>
              <a:endParaRPr lang="en-US"/>
            </a:p>
          </p:txBody>
        </p:sp>
        <p:sp>
          <p:nvSpPr>
            <p:cNvPr id="29" name="TextBox 29"/>
            <p:cNvSpPr txBox="1"/>
            <p:nvPr/>
          </p:nvSpPr>
          <p:spPr>
            <a:xfrm>
              <a:off x="3185922" y="2587625"/>
              <a:ext cx="536597" cy="191643"/>
            </a:xfrm>
            <a:prstGeom prst="rect">
              <a:avLst/>
            </a:prstGeom>
            <a:noFill/>
            <a:ln>
              <a:noFill/>
            </a:ln>
          </p:spPr>
          <p:txBody>
            <a:bodyPr wrap="none" lIns="0" tIns="0" rIns="0" bIns="0" anchor="t" anchorCtr="0">
              <a:spAutoFit/>
            </a:bodyPr>
            <a:lstStyle/>
            <a:p>
              <a:pPr algn="l"/>
              <a:r>
                <a:rPr lang="vi" sz="980" b="1" dirty="0">
                  <a:solidFill>
                    <a:srgbClr val="1D4ED8"/>
                  </a:solidFill>
                  <a:latin typeface="+mn-lt"/>
                  <a:ea typeface="+mn-ea"/>
                  <a:cs typeface="+mn-cs"/>
                </a:rPr>
                <a:t>BƯỚC 2</a:t>
              </a:r>
            </a:p>
          </p:txBody>
        </p:sp>
        <p:sp>
          <p:nvSpPr>
            <p:cNvPr id="30" name="TextBox 30"/>
            <p:cNvSpPr txBox="1"/>
            <p:nvPr/>
          </p:nvSpPr>
          <p:spPr>
            <a:xfrm>
              <a:off x="3184017" y="2835275"/>
              <a:ext cx="1382653" cy="264033"/>
            </a:xfrm>
            <a:prstGeom prst="rect">
              <a:avLst/>
            </a:prstGeom>
            <a:noFill/>
            <a:ln>
              <a:noFill/>
            </a:ln>
          </p:spPr>
          <p:txBody>
            <a:bodyPr wrap="none" lIns="0" tIns="0" rIns="0" bIns="0" anchor="t" anchorCtr="0">
              <a:spAutoFit/>
            </a:bodyPr>
            <a:lstStyle/>
            <a:p>
              <a:pPr algn="l"/>
              <a:r>
                <a:rPr lang="vi" sz="1350" b="1" dirty="0">
                  <a:solidFill>
                    <a:srgbClr val="0F172A"/>
                  </a:solidFill>
                  <a:latin typeface="+mn-lt"/>
                  <a:ea typeface="+mn-ea"/>
                  <a:cs typeface="+mn-cs"/>
                </a:rPr>
                <a:t>Split 60 / 20 / 20</a:t>
              </a:r>
            </a:p>
          </p:txBody>
        </p:sp>
        <p:sp>
          <p:nvSpPr>
            <p:cNvPr id="31" name="TextBox 31"/>
            <p:cNvSpPr txBox="1"/>
            <p:nvPr/>
          </p:nvSpPr>
          <p:spPr>
            <a:xfrm>
              <a:off x="3185922" y="3159125"/>
              <a:ext cx="1382803" cy="191643"/>
            </a:xfrm>
            <a:prstGeom prst="rect">
              <a:avLst/>
            </a:prstGeom>
            <a:noFill/>
            <a:ln>
              <a:noFill/>
            </a:ln>
          </p:spPr>
          <p:txBody>
            <a:bodyPr wrap="none" lIns="0" tIns="0" rIns="0" bIns="0" anchor="t" anchorCtr="0">
              <a:spAutoFit/>
            </a:bodyPr>
            <a:lstStyle/>
            <a:p>
              <a:pPr marL="78148" indent="-78148" algn="l">
                <a:buClr>
                  <a:srgbClr val="1E40AF"/>
                </a:buClr>
                <a:buSzTx/>
                <a:buFontTx/>
                <a:buChar char="•"/>
              </a:pPr>
              <a:r>
                <a:rPr lang="vi" sz="980" dirty="0">
                  <a:solidFill>
                    <a:srgbClr val="1E40AF"/>
                  </a:solidFill>
                  <a:latin typeface="+mn-lt"/>
                  <a:ea typeface="+mn-ea"/>
                  <a:cs typeface="+mn-cs"/>
                </a:rPr>
                <a:t>Train: </a:t>
              </a:r>
              <a:r>
                <a:rPr lang="vi" sz="980" b="1" dirty="0">
                  <a:solidFill>
                    <a:srgbClr val="1E40AF"/>
                  </a:solidFill>
                  <a:latin typeface="+mn-lt"/>
                  <a:ea typeface="+mn-ea"/>
                  <a:cs typeface="+mn-cs"/>
                </a:rPr>
                <a:t>264 mẫu</a:t>
              </a:r>
              <a:r>
                <a:rPr lang="vi" sz="980" dirty="0">
                  <a:solidFill>
                    <a:srgbClr val="1E40AF"/>
                  </a:solidFill>
                  <a:latin typeface="+mn-lt"/>
                  <a:ea typeface="+mn-ea"/>
                  <a:cs typeface="+mn-cs"/>
                </a:rPr>
                <a:t> (60%)</a:t>
              </a:r>
            </a:p>
          </p:txBody>
        </p:sp>
        <p:sp>
          <p:nvSpPr>
            <p:cNvPr id="32" name="TextBox 32"/>
            <p:cNvSpPr txBox="1"/>
            <p:nvPr/>
          </p:nvSpPr>
          <p:spPr>
            <a:xfrm>
              <a:off x="3185922" y="3397250"/>
              <a:ext cx="1200277" cy="191643"/>
            </a:xfrm>
            <a:prstGeom prst="rect">
              <a:avLst/>
            </a:prstGeom>
            <a:noFill/>
            <a:ln>
              <a:noFill/>
            </a:ln>
          </p:spPr>
          <p:txBody>
            <a:bodyPr wrap="none" lIns="0" tIns="0" rIns="0" bIns="0" anchor="t" anchorCtr="0">
              <a:spAutoFit/>
            </a:bodyPr>
            <a:lstStyle/>
            <a:p>
              <a:pPr marL="78148" indent="-78148" algn="l">
                <a:buClr>
                  <a:srgbClr val="059669"/>
                </a:buClr>
                <a:buSzTx/>
                <a:buFontTx/>
                <a:buChar char="•"/>
              </a:pPr>
              <a:r>
                <a:rPr lang="vi" sz="980" dirty="0">
                  <a:solidFill>
                    <a:srgbClr val="059669"/>
                  </a:solidFill>
                  <a:latin typeface="+mn-lt"/>
                  <a:ea typeface="+mn-ea"/>
                  <a:cs typeface="+mn-cs"/>
                </a:rPr>
                <a:t>Val: </a:t>
              </a:r>
              <a:r>
                <a:rPr lang="vi" sz="980" b="1" dirty="0">
                  <a:solidFill>
                    <a:srgbClr val="059669"/>
                  </a:solidFill>
                  <a:latin typeface="+mn-lt"/>
                  <a:ea typeface="+mn-ea"/>
                  <a:cs typeface="+mn-cs"/>
                </a:rPr>
                <a:t>88 mẫu</a:t>
              </a:r>
              <a:r>
                <a:rPr lang="vi" sz="980" dirty="0">
                  <a:solidFill>
                    <a:srgbClr val="059669"/>
                  </a:solidFill>
                  <a:latin typeface="+mn-lt"/>
                  <a:ea typeface="+mn-ea"/>
                  <a:cs typeface="+mn-cs"/>
                </a:rPr>
                <a:t> (20%)</a:t>
              </a:r>
            </a:p>
          </p:txBody>
        </p:sp>
        <p:sp>
          <p:nvSpPr>
            <p:cNvPr id="33" name="TextBox 33"/>
            <p:cNvSpPr txBox="1"/>
            <p:nvPr/>
          </p:nvSpPr>
          <p:spPr>
            <a:xfrm>
              <a:off x="3185922" y="3635375"/>
              <a:ext cx="1265849" cy="191643"/>
            </a:xfrm>
            <a:prstGeom prst="rect">
              <a:avLst/>
            </a:prstGeom>
            <a:noFill/>
            <a:ln>
              <a:noFill/>
            </a:ln>
          </p:spPr>
          <p:txBody>
            <a:bodyPr wrap="none" lIns="0" tIns="0" rIns="0" bIns="0" anchor="t" anchorCtr="0">
              <a:spAutoFit/>
            </a:bodyPr>
            <a:lstStyle/>
            <a:p>
              <a:pPr marL="78148" indent="-78148" algn="l">
                <a:buClr>
                  <a:srgbClr val="DC2626"/>
                </a:buClr>
                <a:buSzTx/>
                <a:buFontTx/>
                <a:buChar char="•"/>
              </a:pPr>
              <a:r>
                <a:rPr lang="vi" sz="980" dirty="0">
                  <a:solidFill>
                    <a:srgbClr val="DC2626"/>
                  </a:solidFill>
                  <a:latin typeface="+mn-lt"/>
                  <a:ea typeface="+mn-ea"/>
                  <a:cs typeface="+mn-cs"/>
                </a:rPr>
                <a:t>Test: </a:t>
              </a:r>
              <a:r>
                <a:rPr lang="vi" sz="980" b="1" dirty="0">
                  <a:solidFill>
                    <a:srgbClr val="DC2626"/>
                  </a:solidFill>
                  <a:latin typeface="+mn-lt"/>
                  <a:ea typeface="+mn-ea"/>
                  <a:cs typeface="+mn-cs"/>
                </a:rPr>
                <a:t>88 mẫu</a:t>
              </a:r>
              <a:r>
                <a:rPr lang="vi" sz="980" dirty="0">
                  <a:solidFill>
                    <a:srgbClr val="DC2626"/>
                  </a:solidFill>
                  <a:latin typeface="+mn-lt"/>
                  <a:ea typeface="+mn-ea"/>
                  <a:cs typeface="+mn-cs"/>
                </a:rPr>
                <a:t> (20%)</a:t>
              </a:r>
            </a:p>
          </p:txBody>
        </p:sp>
        <p:sp>
          <p:nvSpPr>
            <p:cNvPr id="34" name="Rectangle 34"/>
            <p:cNvSpPr/>
            <p:nvPr/>
          </p:nvSpPr>
          <p:spPr>
            <a:xfrm>
              <a:off x="3143250" y="4048125"/>
              <a:ext cx="1619250" cy="342900"/>
            </a:xfrm>
            <a:prstGeom prst="roundRect">
              <a:avLst>
                <a:gd name="adj" fmla="val 16667"/>
              </a:avLst>
            </a:prstGeom>
            <a:solidFill>
              <a:srgbClr val="DBEAFE"/>
            </a:solidFill>
            <a:ln>
              <a:noFill/>
            </a:ln>
          </p:spPr>
          <p:txBody>
            <a:bodyPr/>
            <a:lstStyle/>
            <a:p>
              <a:endParaRPr lang="en-US"/>
            </a:p>
          </p:txBody>
        </p:sp>
        <p:sp>
          <p:nvSpPr>
            <p:cNvPr id="35" name="TextBox 35"/>
            <p:cNvSpPr txBox="1"/>
            <p:nvPr/>
          </p:nvSpPr>
          <p:spPr>
            <a:xfrm>
              <a:off x="3296481" y="4152900"/>
              <a:ext cx="1312788" cy="176212"/>
            </a:xfrm>
            <a:prstGeom prst="rect">
              <a:avLst/>
            </a:prstGeom>
            <a:noFill/>
            <a:ln>
              <a:noFill/>
            </a:ln>
          </p:spPr>
          <p:txBody>
            <a:bodyPr wrap="none" lIns="0" tIns="0" rIns="0" bIns="0" anchor="t" anchorCtr="0">
              <a:spAutoFit/>
            </a:bodyPr>
            <a:lstStyle/>
            <a:p>
              <a:pPr algn="ctr"/>
              <a:r>
                <a:rPr lang="vi" sz="900" b="1" dirty="0">
                  <a:solidFill>
                    <a:srgbClr val="1E40AF"/>
                  </a:solidFill>
                  <a:latin typeface="+mn-lt"/>
                  <a:ea typeface="+mn-ea"/>
                  <a:cs typeface="+mn-cs"/>
                </a:rPr>
                <a:t>Chia tách nghiêm ngặt</a:t>
              </a:r>
            </a:p>
          </p:txBody>
        </p:sp>
        <p:sp>
          <p:nvSpPr>
            <p:cNvPr id="36" name="Freeform 36"/>
            <p:cNvSpPr/>
            <p:nvPr/>
          </p:nvSpPr>
          <p:spPr>
            <a:xfrm>
              <a:off x="5000625" y="3476625"/>
              <a:ext cx="238125" cy="9525"/>
            </a:xfrm>
            <a:custGeom>
              <a:avLst/>
              <a:gdLst/>
              <a:ahLst/>
              <a:cxnLst/>
              <a:rect l="l" t="t" r="r" b="b"/>
              <a:pathLst>
                <a:path w="238125" h="9525">
                  <a:moveTo>
                    <a:pt x="0" y="0"/>
                  </a:moveTo>
                  <a:lnTo>
                    <a:pt x="238125" y="0"/>
                  </a:lnTo>
                </a:path>
              </a:pathLst>
            </a:custGeom>
            <a:solidFill>
              <a:srgbClr val="000000"/>
            </a:solidFill>
            <a:ln w="19050" cap="rnd">
              <a:solidFill>
                <a:srgbClr val="94A3B8"/>
              </a:solidFill>
            </a:ln>
          </p:spPr>
          <p:txBody>
            <a:bodyPr/>
            <a:lstStyle/>
            <a:p>
              <a:endParaRPr lang="en-US"/>
            </a:p>
          </p:txBody>
        </p:sp>
        <p:sp>
          <p:nvSpPr>
            <p:cNvPr id="37" name="Polygon 37"/>
            <p:cNvSpPr/>
            <p:nvPr/>
          </p:nvSpPr>
          <p:spPr>
            <a:xfrm>
              <a:off x="5238750" y="3429000"/>
              <a:ext cx="95250" cy="95250"/>
            </a:xfrm>
            <a:custGeom>
              <a:avLst/>
              <a:gdLst/>
              <a:ahLst/>
              <a:cxnLst/>
              <a:rect l="l" t="t" r="r" b="b"/>
              <a:pathLst>
                <a:path w="95250" h="95250">
                  <a:moveTo>
                    <a:pt x="0" y="0"/>
                  </a:moveTo>
                  <a:lnTo>
                    <a:pt x="95250" y="47625"/>
                  </a:lnTo>
                  <a:lnTo>
                    <a:pt x="0" y="95250"/>
                  </a:lnTo>
                  <a:close/>
                </a:path>
              </a:pathLst>
            </a:custGeom>
            <a:solidFill>
              <a:srgbClr val="94A3B8"/>
            </a:solidFill>
            <a:ln>
              <a:noFill/>
            </a:ln>
          </p:spPr>
          <p:txBody>
            <a:bodyPr/>
            <a:lstStyle/>
            <a:p>
              <a:endParaRPr lang="en-US"/>
            </a:p>
          </p:txBody>
        </p:sp>
        <p:sp>
          <p:nvSpPr>
            <p:cNvPr id="38" name="Rectangle 38"/>
            <p:cNvSpPr/>
            <p:nvPr/>
          </p:nvSpPr>
          <p:spPr>
            <a:xfrm>
              <a:off x="5334000" y="2381250"/>
              <a:ext cx="1905000" cy="2190750"/>
            </a:xfrm>
            <a:prstGeom prst="roundRect">
              <a:avLst>
                <a:gd name="adj" fmla="val 6000"/>
              </a:avLst>
            </a:prstGeom>
            <a:solidFill>
              <a:schemeClr val="lt1"/>
            </a:solidFill>
            <a:ln w="14288">
              <a:solidFill>
                <a:srgbClr val="E2E8F0"/>
              </a:solidFill>
            </a:ln>
          </p:spPr>
          <p:txBody>
            <a:bodyPr/>
            <a:lstStyle/>
            <a:p>
              <a:endParaRPr lang="en-US"/>
            </a:p>
          </p:txBody>
        </p:sp>
        <p:sp>
          <p:nvSpPr>
            <p:cNvPr id="39" name="Rectangle 39"/>
            <p:cNvSpPr/>
            <p:nvPr/>
          </p:nvSpPr>
          <p:spPr>
            <a:xfrm>
              <a:off x="5334000" y="2381250"/>
              <a:ext cx="1905000" cy="57150"/>
            </a:xfrm>
            <a:prstGeom prst="roundRect">
              <a:avLst>
                <a:gd name="adj" fmla="val 50000"/>
              </a:avLst>
            </a:prstGeom>
            <a:solidFill>
              <a:schemeClr val="accent2"/>
            </a:solidFill>
            <a:ln>
              <a:noFill/>
            </a:ln>
          </p:spPr>
          <p:txBody>
            <a:bodyPr/>
            <a:lstStyle/>
            <a:p>
              <a:endParaRPr lang="en-US"/>
            </a:p>
          </p:txBody>
        </p:sp>
        <p:sp>
          <p:nvSpPr>
            <p:cNvPr id="40" name="TextBox 40"/>
            <p:cNvSpPr txBox="1"/>
            <p:nvPr/>
          </p:nvSpPr>
          <p:spPr>
            <a:xfrm>
              <a:off x="5519547" y="2587625"/>
              <a:ext cx="536597" cy="191643"/>
            </a:xfrm>
            <a:prstGeom prst="rect">
              <a:avLst/>
            </a:prstGeom>
            <a:noFill/>
            <a:ln>
              <a:noFill/>
            </a:ln>
          </p:spPr>
          <p:txBody>
            <a:bodyPr wrap="none" lIns="0" tIns="0" rIns="0" bIns="0" anchor="t" anchorCtr="0">
              <a:spAutoFit/>
            </a:bodyPr>
            <a:lstStyle/>
            <a:p>
              <a:pPr algn="l"/>
              <a:r>
                <a:rPr lang="vi" sz="980" b="1" dirty="0">
                  <a:solidFill>
                    <a:srgbClr val="065F46"/>
                  </a:solidFill>
                  <a:latin typeface="+mn-lt"/>
                  <a:ea typeface="+mn-ea"/>
                  <a:cs typeface="+mn-cs"/>
                </a:rPr>
                <a:t>BƯỚC 3</a:t>
              </a:r>
            </a:p>
          </p:txBody>
        </p:sp>
        <p:sp>
          <p:nvSpPr>
            <p:cNvPr id="41" name="TextBox 41"/>
            <p:cNvSpPr txBox="1"/>
            <p:nvPr/>
          </p:nvSpPr>
          <p:spPr>
            <a:xfrm>
              <a:off x="5517642" y="2835275"/>
              <a:ext cx="1559674" cy="264033"/>
            </a:xfrm>
            <a:prstGeom prst="rect">
              <a:avLst/>
            </a:prstGeom>
            <a:noFill/>
            <a:ln>
              <a:noFill/>
            </a:ln>
          </p:spPr>
          <p:txBody>
            <a:bodyPr wrap="none" lIns="0" tIns="0" rIns="0" bIns="0" anchor="t" anchorCtr="0">
              <a:spAutoFit/>
            </a:bodyPr>
            <a:lstStyle/>
            <a:p>
              <a:pPr algn="l"/>
              <a:r>
                <a:rPr lang="vi" sz="1350" b="1" dirty="0">
                  <a:solidFill>
                    <a:srgbClr val="0F172A"/>
                  </a:solidFill>
                  <a:latin typeface="+mn-lt"/>
                  <a:ea typeface="+mn-ea"/>
                  <a:cs typeface="+mn-cs"/>
                </a:rPr>
                <a:t>Fit Preprocessing</a:t>
              </a:r>
            </a:p>
          </p:txBody>
        </p:sp>
        <p:sp>
          <p:nvSpPr>
            <p:cNvPr id="42" name="TextBox 42"/>
            <p:cNvSpPr txBox="1"/>
            <p:nvPr/>
          </p:nvSpPr>
          <p:spPr>
            <a:xfrm>
              <a:off x="5519547" y="3159125"/>
              <a:ext cx="1137095"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b="1" dirty="0">
                  <a:solidFill>
                    <a:srgbClr val="334155"/>
                  </a:solidFill>
                  <a:latin typeface="+mn-lt"/>
                  <a:ea typeface="+mn-ea"/>
                  <a:cs typeface="+mn-cs"/>
                </a:rPr>
                <a:t>CHỈ fit trên Train</a:t>
              </a:r>
            </a:p>
          </p:txBody>
        </p:sp>
        <p:sp>
          <p:nvSpPr>
            <p:cNvPr id="43" name="TextBox 43"/>
            <p:cNvSpPr txBox="1"/>
            <p:nvPr/>
          </p:nvSpPr>
          <p:spPr>
            <a:xfrm>
              <a:off x="5519547" y="3397250"/>
              <a:ext cx="1386275"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log1p(x) nén lệch phải</a:t>
              </a:r>
            </a:p>
          </p:txBody>
        </p:sp>
        <p:sp>
          <p:nvSpPr>
            <p:cNvPr id="44" name="TextBox 44"/>
            <p:cNvSpPr txBox="1"/>
            <p:nvPr/>
          </p:nvSpPr>
          <p:spPr>
            <a:xfrm>
              <a:off x="5519547" y="3635375"/>
              <a:ext cx="1658524"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StandardScaler: mean, std</a:t>
              </a:r>
            </a:p>
          </p:txBody>
        </p:sp>
        <p:sp>
          <p:nvSpPr>
            <p:cNvPr id="45" name="Rectangle 45"/>
            <p:cNvSpPr/>
            <p:nvPr/>
          </p:nvSpPr>
          <p:spPr>
            <a:xfrm>
              <a:off x="5476875" y="4048125"/>
              <a:ext cx="1619250" cy="342900"/>
            </a:xfrm>
            <a:prstGeom prst="roundRect">
              <a:avLst>
                <a:gd name="adj" fmla="val 16667"/>
              </a:avLst>
            </a:prstGeom>
            <a:solidFill>
              <a:srgbClr val="DCFCE7"/>
            </a:solidFill>
            <a:ln>
              <a:noFill/>
            </a:ln>
          </p:spPr>
          <p:txBody>
            <a:bodyPr/>
            <a:lstStyle/>
            <a:p>
              <a:endParaRPr lang="en-US"/>
            </a:p>
          </p:txBody>
        </p:sp>
        <p:sp>
          <p:nvSpPr>
            <p:cNvPr id="46" name="TextBox 46"/>
            <p:cNvSpPr txBox="1"/>
            <p:nvPr/>
          </p:nvSpPr>
          <p:spPr>
            <a:xfrm>
              <a:off x="5665955" y="4152900"/>
              <a:ext cx="1241090" cy="176212"/>
            </a:xfrm>
            <a:prstGeom prst="rect">
              <a:avLst/>
            </a:prstGeom>
            <a:noFill/>
            <a:ln>
              <a:noFill/>
            </a:ln>
          </p:spPr>
          <p:txBody>
            <a:bodyPr wrap="none" lIns="0" tIns="0" rIns="0" bIns="0" anchor="t" anchorCtr="0">
              <a:spAutoFit/>
            </a:bodyPr>
            <a:lstStyle/>
            <a:p>
              <a:pPr algn="ctr"/>
              <a:r>
                <a:rPr lang="vi" sz="900" b="1" dirty="0">
                  <a:solidFill>
                    <a:srgbClr val="065F46"/>
                  </a:solidFill>
                  <a:latin typeface="+mn-lt"/>
                  <a:ea typeface="+mn-ea"/>
                  <a:cs typeface="+mn-cs"/>
                </a:rPr>
                <a:t>Transform Val &amp; Test</a:t>
              </a:r>
            </a:p>
          </p:txBody>
        </p:sp>
        <p:sp>
          <p:nvSpPr>
            <p:cNvPr id="47" name="Freeform 47"/>
            <p:cNvSpPr/>
            <p:nvPr/>
          </p:nvSpPr>
          <p:spPr>
            <a:xfrm>
              <a:off x="7334250" y="3476625"/>
              <a:ext cx="238125" cy="9525"/>
            </a:xfrm>
            <a:custGeom>
              <a:avLst/>
              <a:gdLst/>
              <a:ahLst/>
              <a:cxnLst/>
              <a:rect l="l" t="t" r="r" b="b"/>
              <a:pathLst>
                <a:path w="238125" h="9525">
                  <a:moveTo>
                    <a:pt x="0" y="0"/>
                  </a:moveTo>
                  <a:lnTo>
                    <a:pt x="238125" y="0"/>
                  </a:lnTo>
                </a:path>
              </a:pathLst>
            </a:custGeom>
            <a:solidFill>
              <a:srgbClr val="000000"/>
            </a:solidFill>
            <a:ln w="19050" cap="rnd">
              <a:solidFill>
                <a:srgbClr val="94A3B8"/>
              </a:solidFill>
            </a:ln>
          </p:spPr>
          <p:txBody>
            <a:bodyPr/>
            <a:lstStyle/>
            <a:p>
              <a:endParaRPr lang="en-US"/>
            </a:p>
          </p:txBody>
        </p:sp>
        <p:sp>
          <p:nvSpPr>
            <p:cNvPr id="48" name="Polygon 48"/>
            <p:cNvSpPr/>
            <p:nvPr/>
          </p:nvSpPr>
          <p:spPr>
            <a:xfrm>
              <a:off x="7572375" y="3429000"/>
              <a:ext cx="95250" cy="95250"/>
            </a:xfrm>
            <a:custGeom>
              <a:avLst/>
              <a:gdLst/>
              <a:ahLst/>
              <a:cxnLst/>
              <a:rect l="l" t="t" r="r" b="b"/>
              <a:pathLst>
                <a:path w="95250" h="95250">
                  <a:moveTo>
                    <a:pt x="0" y="0"/>
                  </a:moveTo>
                  <a:lnTo>
                    <a:pt x="95250" y="47625"/>
                  </a:lnTo>
                  <a:lnTo>
                    <a:pt x="0" y="95250"/>
                  </a:lnTo>
                  <a:close/>
                </a:path>
              </a:pathLst>
            </a:custGeom>
            <a:solidFill>
              <a:srgbClr val="94A3B8"/>
            </a:solidFill>
            <a:ln>
              <a:noFill/>
            </a:ln>
          </p:spPr>
          <p:txBody>
            <a:bodyPr/>
            <a:lstStyle/>
            <a:p>
              <a:endParaRPr lang="en-US"/>
            </a:p>
          </p:txBody>
        </p:sp>
        <p:sp>
          <p:nvSpPr>
            <p:cNvPr id="49" name="Rectangle 49"/>
            <p:cNvSpPr/>
            <p:nvPr/>
          </p:nvSpPr>
          <p:spPr>
            <a:xfrm>
              <a:off x="7667625" y="2381250"/>
              <a:ext cx="1905000" cy="2190750"/>
            </a:xfrm>
            <a:prstGeom prst="roundRect">
              <a:avLst>
                <a:gd name="adj" fmla="val 6000"/>
              </a:avLst>
            </a:prstGeom>
            <a:solidFill>
              <a:schemeClr val="lt1"/>
            </a:solidFill>
            <a:ln w="14288">
              <a:solidFill>
                <a:srgbClr val="E2E8F0"/>
              </a:solidFill>
            </a:ln>
          </p:spPr>
          <p:txBody>
            <a:bodyPr/>
            <a:lstStyle/>
            <a:p>
              <a:endParaRPr lang="en-US"/>
            </a:p>
          </p:txBody>
        </p:sp>
        <p:sp>
          <p:nvSpPr>
            <p:cNvPr id="50" name="Rectangle 50"/>
            <p:cNvSpPr/>
            <p:nvPr/>
          </p:nvSpPr>
          <p:spPr>
            <a:xfrm>
              <a:off x="7667625" y="2381250"/>
              <a:ext cx="1905000" cy="57150"/>
            </a:xfrm>
            <a:prstGeom prst="roundRect">
              <a:avLst>
                <a:gd name="adj" fmla="val 50000"/>
              </a:avLst>
            </a:prstGeom>
            <a:solidFill>
              <a:srgbClr val="F59E0B"/>
            </a:solidFill>
            <a:ln>
              <a:noFill/>
            </a:ln>
          </p:spPr>
          <p:txBody>
            <a:bodyPr/>
            <a:lstStyle/>
            <a:p>
              <a:endParaRPr lang="en-US"/>
            </a:p>
          </p:txBody>
        </p:sp>
        <p:sp>
          <p:nvSpPr>
            <p:cNvPr id="51" name="TextBox 51"/>
            <p:cNvSpPr txBox="1"/>
            <p:nvPr/>
          </p:nvSpPr>
          <p:spPr>
            <a:xfrm>
              <a:off x="7853172" y="2587625"/>
              <a:ext cx="536597" cy="191643"/>
            </a:xfrm>
            <a:prstGeom prst="rect">
              <a:avLst/>
            </a:prstGeom>
            <a:noFill/>
            <a:ln>
              <a:noFill/>
            </a:ln>
          </p:spPr>
          <p:txBody>
            <a:bodyPr wrap="none" lIns="0" tIns="0" rIns="0" bIns="0" anchor="t" anchorCtr="0">
              <a:spAutoFit/>
            </a:bodyPr>
            <a:lstStyle/>
            <a:p>
              <a:pPr algn="l"/>
              <a:r>
                <a:rPr lang="vi" sz="980" b="1" dirty="0">
                  <a:solidFill>
                    <a:srgbClr val="92400E"/>
                  </a:solidFill>
                  <a:latin typeface="+mn-lt"/>
                  <a:ea typeface="+mn-ea"/>
                  <a:cs typeface="+mn-cs"/>
                </a:rPr>
                <a:t>BƯỚC 4</a:t>
              </a:r>
            </a:p>
          </p:txBody>
        </p:sp>
        <p:sp>
          <p:nvSpPr>
            <p:cNvPr id="52" name="TextBox 52"/>
            <p:cNvSpPr txBox="1"/>
            <p:nvPr/>
          </p:nvSpPr>
          <p:spPr>
            <a:xfrm>
              <a:off x="7851267" y="2835275"/>
              <a:ext cx="1367040" cy="264033"/>
            </a:xfrm>
            <a:prstGeom prst="rect">
              <a:avLst/>
            </a:prstGeom>
            <a:noFill/>
            <a:ln>
              <a:noFill/>
            </a:ln>
          </p:spPr>
          <p:txBody>
            <a:bodyPr wrap="none" lIns="0" tIns="0" rIns="0" bIns="0" anchor="t" anchorCtr="0">
              <a:spAutoFit/>
            </a:bodyPr>
            <a:lstStyle/>
            <a:p>
              <a:pPr algn="l"/>
              <a:r>
                <a:rPr lang="vi" sz="1350" b="1" dirty="0">
                  <a:solidFill>
                    <a:srgbClr val="0F172A"/>
                  </a:solidFill>
                  <a:latin typeface="+mn-lt"/>
                  <a:ea typeface="+mn-ea"/>
                  <a:cs typeface="+mn-cs"/>
                </a:rPr>
                <a:t>Thực Nghiệm K</a:t>
              </a:r>
            </a:p>
          </p:txBody>
        </p:sp>
        <p:sp>
          <p:nvSpPr>
            <p:cNvPr id="53" name="TextBox 53"/>
            <p:cNvSpPr txBox="1"/>
            <p:nvPr/>
          </p:nvSpPr>
          <p:spPr>
            <a:xfrm>
              <a:off x="7853172" y="3159125"/>
              <a:ext cx="1414345"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K-Means Lloyd K=2..8</a:t>
              </a:r>
            </a:p>
          </p:txBody>
        </p:sp>
        <p:sp>
          <p:nvSpPr>
            <p:cNvPr id="54" name="TextBox 54"/>
            <p:cNvSpPr txBox="1"/>
            <p:nvPr/>
          </p:nvSpPr>
          <p:spPr>
            <a:xfrm>
              <a:off x="7853172" y="3397250"/>
              <a:ext cx="1334048"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Đánh giá Elbow &amp; Sil</a:t>
              </a:r>
            </a:p>
          </p:txBody>
        </p:sp>
        <p:sp>
          <p:nvSpPr>
            <p:cNvPr id="55" name="TextBox 55"/>
            <p:cNvSpPr txBox="1"/>
            <p:nvPr/>
          </p:nvSpPr>
          <p:spPr>
            <a:xfrm>
              <a:off x="7853172" y="3635375"/>
              <a:ext cx="1430458"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10 seed kiểm định ARI</a:t>
              </a:r>
            </a:p>
          </p:txBody>
        </p:sp>
        <p:sp>
          <p:nvSpPr>
            <p:cNvPr id="56" name="Rectangle 56"/>
            <p:cNvSpPr/>
            <p:nvPr/>
          </p:nvSpPr>
          <p:spPr>
            <a:xfrm>
              <a:off x="7810500" y="4048125"/>
              <a:ext cx="1619250" cy="342900"/>
            </a:xfrm>
            <a:prstGeom prst="roundRect">
              <a:avLst>
                <a:gd name="adj" fmla="val 16667"/>
              </a:avLst>
            </a:prstGeom>
            <a:solidFill>
              <a:srgbClr val="FEF3C7"/>
            </a:solidFill>
            <a:ln>
              <a:noFill/>
            </a:ln>
          </p:spPr>
          <p:txBody>
            <a:bodyPr/>
            <a:lstStyle/>
            <a:p>
              <a:endParaRPr lang="en-US"/>
            </a:p>
          </p:txBody>
        </p:sp>
        <p:sp>
          <p:nvSpPr>
            <p:cNvPr id="57" name="TextBox 57"/>
            <p:cNvSpPr txBox="1"/>
            <p:nvPr/>
          </p:nvSpPr>
          <p:spPr>
            <a:xfrm>
              <a:off x="8115183" y="4152900"/>
              <a:ext cx="1009884" cy="176212"/>
            </a:xfrm>
            <a:prstGeom prst="rect">
              <a:avLst/>
            </a:prstGeom>
            <a:noFill/>
            <a:ln>
              <a:noFill/>
            </a:ln>
          </p:spPr>
          <p:txBody>
            <a:bodyPr wrap="none" lIns="0" tIns="0" rIns="0" bIns="0" anchor="t" anchorCtr="0">
              <a:spAutoFit/>
            </a:bodyPr>
            <a:lstStyle/>
            <a:p>
              <a:pPr algn="ctr"/>
              <a:r>
                <a:rPr lang="vi" sz="900" b="1" dirty="0">
                  <a:solidFill>
                    <a:srgbClr val="92400E"/>
                  </a:solidFill>
                  <a:latin typeface="+mn-lt"/>
                  <a:ea typeface="+mn-ea"/>
                  <a:cs typeface="+mn-cs"/>
                </a:rPr>
                <a:t>Chọn D011 (K=2)</a:t>
              </a:r>
            </a:p>
          </p:txBody>
        </p:sp>
        <p:sp>
          <p:nvSpPr>
            <p:cNvPr id="58" name="Freeform 58"/>
            <p:cNvSpPr/>
            <p:nvPr/>
          </p:nvSpPr>
          <p:spPr>
            <a:xfrm>
              <a:off x="9667875" y="3476625"/>
              <a:ext cx="238125" cy="9525"/>
            </a:xfrm>
            <a:custGeom>
              <a:avLst/>
              <a:gdLst/>
              <a:ahLst/>
              <a:cxnLst/>
              <a:rect l="l" t="t" r="r" b="b"/>
              <a:pathLst>
                <a:path w="238125" h="9525">
                  <a:moveTo>
                    <a:pt x="0" y="0"/>
                  </a:moveTo>
                  <a:lnTo>
                    <a:pt x="238125" y="0"/>
                  </a:lnTo>
                </a:path>
              </a:pathLst>
            </a:custGeom>
            <a:solidFill>
              <a:srgbClr val="000000"/>
            </a:solidFill>
            <a:ln w="19050" cap="rnd">
              <a:solidFill>
                <a:srgbClr val="94A3B8"/>
              </a:solidFill>
            </a:ln>
          </p:spPr>
          <p:txBody>
            <a:bodyPr/>
            <a:lstStyle/>
            <a:p>
              <a:endParaRPr lang="en-US"/>
            </a:p>
          </p:txBody>
        </p:sp>
        <p:sp>
          <p:nvSpPr>
            <p:cNvPr id="59" name="Polygon 59"/>
            <p:cNvSpPr/>
            <p:nvPr/>
          </p:nvSpPr>
          <p:spPr>
            <a:xfrm>
              <a:off x="9906000" y="3429000"/>
              <a:ext cx="95250" cy="95250"/>
            </a:xfrm>
            <a:custGeom>
              <a:avLst/>
              <a:gdLst/>
              <a:ahLst/>
              <a:cxnLst/>
              <a:rect l="l" t="t" r="r" b="b"/>
              <a:pathLst>
                <a:path w="95250" h="95250">
                  <a:moveTo>
                    <a:pt x="0" y="0"/>
                  </a:moveTo>
                  <a:lnTo>
                    <a:pt x="95250" y="47625"/>
                  </a:lnTo>
                  <a:lnTo>
                    <a:pt x="0" y="95250"/>
                  </a:lnTo>
                  <a:close/>
                </a:path>
              </a:pathLst>
            </a:custGeom>
            <a:solidFill>
              <a:srgbClr val="94A3B8"/>
            </a:solidFill>
            <a:ln>
              <a:noFill/>
            </a:ln>
          </p:spPr>
          <p:txBody>
            <a:bodyPr/>
            <a:lstStyle/>
            <a:p>
              <a:endParaRPr lang="en-US"/>
            </a:p>
          </p:txBody>
        </p:sp>
        <p:sp>
          <p:nvSpPr>
            <p:cNvPr id="60" name="Rectangle 60"/>
            <p:cNvSpPr/>
            <p:nvPr/>
          </p:nvSpPr>
          <p:spPr>
            <a:xfrm>
              <a:off x="10001250" y="2381250"/>
              <a:ext cx="1524000" cy="2190750"/>
            </a:xfrm>
            <a:prstGeom prst="roundRect">
              <a:avLst>
                <a:gd name="adj" fmla="val 7500"/>
              </a:avLst>
            </a:prstGeom>
            <a:solidFill>
              <a:schemeClr val="lt1"/>
            </a:solidFill>
            <a:ln w="19050">
              <a:solidFill>
                <a:schemeClr val="accent3"/>
              </a:solidFill>
            </a:ln>
          </p:spPr>
          <p:txBody>
            <a:bodyPr/>
            <a:lstStyle/>
            <a:p>
              <a:endParaRPr lang="en-US"/>
            </a:p>
          </p:txBody>
        </p:sp>
        <p:sp>
          <p:nvSpPr>
            <p:cNvPr id="61" name="Rectangle 61"/>
            <p:cNvSpPr/>
            <p:nvPr/>
          </p:nvSpPr>
          <p:spPr>
            <a:xfrm>
              <a:off x="10001250" y="2381250"/>
              <a:ext cx="1524000" cy="57150"/>
            </a:xfrm>
            <a:prstGeom prst="roundRect">
              <a:avLst>
                <a:gd name="adj" fmla="val 50000"/>
              </a:avLst>
            </a:prstGeom>
            <a:solidFill>
              <a:schemeClr val="accent3"/>
            </a:solidFill>
            <a:ln>
              <a:noFill/>
            </a:ln>
          </p:spPr>
          <p:txBody>
            <a:bodyPr/>
            <a:lstStyle/>
            <a:p>
              <a:endParaRPr lang="en-US"/>
            </a:p>
          </p:txBody>
        </p:sp>
        <p:sp>
          <p:nvSpPr>
            <p:cNvPr id="62" name="TextBox 62"/>
            <p:cNvSpPr txBox="1"/>
            <p:nvPr/>
          </p:nvSpPr>
          <p:spPr>
            <a:xfrm>
              <a:off x="10186797" y="2587625"/>
              <a:ext cx="536597" cy="191643"/>
            </a:xfrm>
            <a:prstGeom prst="rect">
              <a:avLst/>
            </a:prstGeom>
            <a:noFill/>
            <a:ln>
              <a:noFill/>
            </a:ln>
          </p:spPr>
          <p:txBody>
            <a:bodyPr wrap="none" lIns="0" tIns="0" rIns="0" bIns="0" anchor="t" anchorCtr="0">
              <a:spAutoFit/>
            </a:bodyPr>
            <a:lstStyle/>
            <a:p>
              <a:pPr algn="l"/>
              <a:r>
                <a:rPr lang="vi" sz="980" b="1" dirty="0">
                  <a:solidFill>
                    <a:srgbClr val="6B21A8"/>
                  </a:solidFill>
                  <a:latin typeface="+mn-lt"/>
                  <a:ea typeface="+mn-ea"/>
                  <a:cs typeface="+mn-cs"/>
                </a:rPr>
                <a:t>BƯỚC 5</a:t>
              </a:r>
            </a:p>
          </p:txBody>
        </p:sp>
        <p:sp>
          <p:nvSpPr>
            <p:cNvPr id="63" name="TextBox 63"/>
            <p:cNvSpPr txBox="1"/>
            <p:nvPr/>
          </p:nvSpPr>
          <p:spPr>
            <a:xfrm>
              <a:off x="10184892" y="2835275"/>
              <a:ext cx="996524" cy="264033"/>
            </a:xfrm>
            <a:prstGeom prst="rect">
              <a:avLst/>
            </a:prstGeom>
            <a:noFill/>
            <a:ln>
              <a:noFill/>
            </a:ln>
          </p:spPr>
          <p:txBody>
            <a:bodyPr wrap="none" lIns="0" tIns="0" rIns="0" bIns="0" anchor="t" anchorCtr="0">
              <a:spAutoFit/>
            </a:bodyPr>
            <a:lstStyle/>
            <a:p>
              <a:pPr algn="l"/>
              <a:r>
                <a:rPr lang="vi" sz="1350" b="1" dirty="0">
                  <a:solidFill>
                    <a:srgbClr val="0F172A"/>
                  </a:solidFill>
                  <a:latin typeface="+mn-lt"/>
                  <a:ea typeface="+mn-ea"/>
                  <a:cs typeface="+mn-cs"/>
                </a:rPr>
                <a:t>Đóng Băng</a:t>
              </a:r>
            </a:p>
          </p:txBody>
        </p:sp>
        <p:sp>
          <p:nvSpPr>
            <p:cNvPr id="64" name="TextBox 64"/>
            <p:cNvSpPr txBox="1"/>
            <p:nvPr/>
          </p:nvSpPr>
          <p:spPr>
            <a:xfrm>
              <a:off x="10186797" y="3159125"/>
              <a:ext cx="1207969"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Fit lại 352 mẫu dev</a:t>
              </a:r>
            </a:p>
          </p:txBody>
        </p:sp>
        <p:sp>
          <p:nvSpPr>
            <p:cNvPr id="65" name="TextBox 65"/>
            <p:cNvSpPr txBox="1"/>
            <p:nvPr/>
          </p:nvSpPr>
          <p:spPr>
            <a:xfrm>
              <a:off x="10186797" y="3397250"/>
              <a:ext cx="1241408"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Đánh giá Test 1 lần</a:t>
              </a:r>
            </a:p>
          </p:txBody>
        </p:sp>
        <p:sp>
          <p:nvSpPr>
            <p:cNvPr id="66" name="TextBox 66"/>
            <p:cNvSpPr txBox="1"/>
            <p:nvPr/>
          </p:nvSpPr>
          <p:spPr>
            <a:xfrm>
              <a:off x="10186797" y="3635375"/>
              <a:ext cx="1103996"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Xuất model.joblib</a:t>
              </a:r>
            </a:p>
          </p:txBody>
        </p:sp>
        <p:sp>
          <p:nvSpPr>
            <p:cNvPr id="67" name="Rectangle 67"/>
            <p:cNvSpPr/>
            <p:nvPr/>
          </p:nvSpPr>
          <p:spPr>
            <a:xfrm>
              <a:off x="10144125" y="4048125"/>
              <a:ext cx="1238250" cy="342900"/>
            </a:xfrm>
            <a:prstGeom prst="roundRect">
              <a:avLst>
                <a:gd name="adj" fmla="val 16667"/>
              </a:avLst>
            </a:prstGeom>
            <a:solidFill>
              <a:srgbClr val="F3E8FF"/>
            </a:solidFill>
            <a:ln>
              <a:noFill/>
            </a:ln>
          </p:spPr>
          <p:txBody>
            <a:bodyPr/>
            <a:lstStyle/>
            <a:p>
              <a:endParaRPr lang="en-US"/>
            </a:p>
          </p:txBody>
        </p:sp>
        <p:sp>
          <p:nvSpPr>
            <p:cNvPr id="68" name="TextBox 68"/>
            <p:cNvSpPr txBox="1"/>
            <p:nvPr/>
          </p:nvSpPr>
          <p:spPr>
            <a:xfrm>
              <a:off x="10392435" y="4152900"/>
              <a:ext cx="741630" cy="176212"/>
            </a:xfrm>
            <a:prstGeom prst="rect">
              <a:avLst/>
            </a:prstGeom>
            <a:noFill/>
            <a:ln>
              <a:noFill/>
            </a:ln>
          </p:spPr>
          <p:txBody>
            <a:bodyPr wrap="none" lIns="0" tIns="0" rIns="0" bIns="0" anchor="t" anchorCtr="0">
              <a:spAutoFit/>
            </a:bodyPr>
            <a:lstStyle/>
            <a:p>
              <a:pPr algn="ctr"/>
              <a:r>
                <a:rPr lang="vi" sz="900" b="1" dirty="0">
                  <a:solidFill>
                    <a:srgbClr val="6B21A8"/>
                  </a:solidFill>
                  <a:latin typeface="+mn-lt"/>
                  <a:ea typeface="+mn-ea"/>
                  <a:cs typeface="+mn-cs"/>
                </a:rPr>
                <a:t>Frozen D011</a:t>
              </a:r>
            </a:p>
          </p:txBody>
        </p:sp>
      </p:grpSp>
      <p:grpSp>
        <p:nvGrpSpPr>
          <p:cNvPr id="84" name="split-evidence"/>
          <p:cNvGrpSpPr/>
          <p:nvPr/>
        </p:nvGrpSpPr>
        <p:grpSpPr>
          <a:xfrm>
            <a:off x="666750" y="4810125"/>
            <a:ext cx="10858500" cy="1476375"/>
            <a:chOff x="666750" y="4810125"/>
            <a:chExt cx="10858500" cy="1476375"/>
          </a:xfrm>
        </p:grpSpPr>
        <p:sp>
          <p:nvSpPr>
            <p:cNvPr id="70" name="Rectangle 70"/>
            <p:cNvSpPr/>
            <p:nvPr/>
          </p:nvSpPr>
          <p:spPr>
            <a:xfrm>
              <a:off x="666750" y="4810125"/>
              <a:ext cx="10858500" cy="1476375"/>
            </a:xfrm>
            <a:prstGeom prst="roundRect">
              <a:avLst>
                <a:gd name="adj" fmla="val 7742"/>
              </a:avLst>
            </a:prstGeom>
            <a:solidFill>
              <a:schemeClr val="lt1"/>
            </a:solidFill>
            <a:ln w="14288">
              <a:solidFill>
                <a:srgbClr val="E2E8F0"/>
              </a:solidFill>
            </a:ln>
          </p:spPr>
          <p:txBody>
            <a:bodyPr/>
            <a:lstStyle/>
            <a:p>
              <a:endParaRPr lang="en-US"/>
            </a:p>
          </p:txBody>
        </p:sp>
        <p:sp>
          <p:nvSpPr>
            <p:cNvPr id="71" name="TextBox 71"/>
            <p:cNvSpPr txBox="1"/>
            <p:nvPr/>
          </p:nvSpPr>
          <p:spPr>
            <a:xfrm>
              <a:off x="946785" y="4984750"/>
              <a:ext cx="4144601" cy="220028"/>
            </a:xfrm>
            <a:prstGeom prst="rect">
              <a:avLst/>
            </a:prstGeom>
            <a:noFill/>
            <a:ln>
              <a:noFill/>
            </a:ln>
          </p:spPr>
          <p:txBody>
            <a:bodyPr wrap="none" lIns="0" tIns="0" rIns="0" bIns="0" anchor="t" anchorCtr="0">
              <a:spAutoFit/>
            </a:bodyPr>
            <a:lstStyle/>
            <a:p>
              <a:pPr algn="l"/>
              <a:r>
                <a:rPr lang="vi" sz="1120" b="1" dirty="0">
                  <a:solidFill>
                    <a:srgbClr val="0F172A"/>
                  </a:solidFill>
                  <a:latin typeface="+mn-lt"/>
                  <a:ea typeface="+mn-ea"/>
                  <a:cs typeface="+mn-cs"/>
                </a:rPr>
                <a:t>BẰNG CHỨNG PHÂN TẬP DỮ LIỆU &amp; TÍNH TOÀN VẸN:</a:t>
              </a:r>
            </a:p>
          </p:txBody>
        </p:sp>
        <p:sp>
          <p:nvSpPr>
            <p:cNvPr id="72" name="Rectangle 72"/>
            <p:cNvSpPr/>
            <p:nvPr/>
          </p:nvSpPr>
          <p:spPr>
            <a:xfrm>
              <a:off x="952500" y="5286375"/>
              <a:ext cx="3238500" cy="809625"/>
            </a:xfrm>
            <a:prstGeom prst="roundRect">
              <a:avLst>
                <a:gd name="adj" fmla="val 9412"/>
              </a:avLst>
            </a:prstGeom>
            <a:solidFill>
              <a:srgbClr val="F8FAFC"/>
            </a:solidFill>
            <a:ln w="9525">
              <a:solidFill>
                <a:srgbClr val="E2E8F0"/>
              </a:solidFill>
            </a:ln>
          </p:spPr>
          <p:txBody>
            <a:bodyPr/>
            <a:lstStyle/>
            <a:p>
              <a:endParaRPr lang="en-US"/>
            </a:p>
          </p:txBody>
        </p:sp>
        <p:sp>
          <p:nvSpPr>
            <p:cNvPr id="73" name="TextBox 73"/>
            <p:cNvSpPr txBox="1"/>
            <p:nvPr/>
          </p:nvSpPr>
          <p:spPr>
            <a:xfrm>
              <a:off x="1138047" y="5416550"/>
              <a:ext cx="1818864" cy="191643"/>
            </a:xfrm>
            <a:prstGeom prst="rect">
              <a:avLst/>
            </a:prstGeom>
            <a:noFill/>
            <a:ln>
              <a:noFill/>
            </a:ln>
          </p:spPr>
          <p:txBody>
            <a:bodyPr wrap="none" lIns="0" tIns="0" rIns="0" bIns="0" anchor="t" anchorCtr="0">
              <a:spAutoFit/>
            </a:bodyPr>
            <a:lstStyle/>
            <a:p>
              <a:pPr algn="l"/>
              <a:r>
                <a:rPr lang="vi" sz="980" b="1" dirty="0">
                  <a:solidFill>
                    <a:srgbClr val="1E40AF"/>
                  </a:solidFill>
                  <a:latin typeface="+mn-lt"/>
                  <a:ea typeface="+mn-ea"/>
                  <a:cs typeface="+mn-cs"/>
                </a:rPr>
                <a:t>TẬP TRAIN (264 mẫu - 60%)</a:t>
              </a:r>
            </a:p>
          </p:txBody>
        </p:sp>
        <p:sp>
          <p:nvSpPr>
            <p:cNvPr id="74" name="TextBox 74"/>
            <p:cNvSpPr txBox="1"/>
            <p:nvPr/>
          </p:nvSpPr>
          <p:spPr>
            <a:xfrm>
              <a:off x="1138238" y="5648325"/>
              <a:ext cx="1322781" cy="176212"/>
            </a:xfrm>
            <a:prstGeom prst="rect">
              <a:avLst/>
            </a:prstGeom>
            <a:noFill/>
            <a:ln>
              <a:noFill/>
            </a:ln>
          </p:spPr>
          <p:txBody>
            <a:bodyPr wrap="none" lIns="0" tIns="0" rIns="0" bIns="0" anchor="t" anchorCtr="0">
              <a:spAutoFit/>
            </a:bodyPr>
            <a:lstStyle/>
            <a:p>
              <a:pPr algn="l"/>
              <a:r>
                <a:rPr lang="vi" sz="900" dirty="0">
                  <a:solidFill>
                    <a:srgbClr val="64748B"/>
                  </a:solidFill>
                  <a:latin typeface="+mn-lt"/>
                  <a:ea typeface="+mn-ea"/>
                  <a:cs typeface="+mn-cs"/>
                </a:rPr>
                <a:t>data/processed/train.csv</a:t>
              </a:r>
            </a:p>
          </p:txBody>
        </p:sp>
        <p:sp>
          <p:nvSpPr>
            <p:cNvPr id="75" name="TextBox 75"/>
            <p:cNvSpPr txBox="1"/>
            <p:nvPr/>
          </p:nvSpPr>
          <p:spPr>
            <a:xfrm>
              <a:off x="1138238" y="5838825"/>
              <a:ext cx="1932964" cy="176212"/>
            </a:xfrm>
            <a:prstGeom prst="rect">
              <a:avLst/>
            </a:prstGeom>
            <a:noFill/>
            <a:ln>
              <a:noFill/>
            </a:ln>
          </p:spPr>
          <p:txBody>
            <a:bodyPr wrap="none" lIns="0" tIns="0" rIns="0" bIns="0" anchor="t" anchorCtr="0">
              <a:spAutoFit/>
            </a:bodyPr>
            <a:lstStyle/>
            <a:p>
              <a:pPr algn="l"/>
              <a:r>
                <a:rPr lang="vi" sz="900" dirty="0">
                  <a:solidFill>
                    <a:srgbClr val="059669"/>
                  </a:solidFill>
                  <a:latin typeface="+mn-lt"/>
                  <a:ea typeface="+mn-ea"/>
                  <a:cs typeface="+mn-cs"/>
                </a:rPr>
                <a:t>Dùng học tham số scaler &amp; tìm cụm</a:t>
              </a:r>
            </a:p>
          </p:txBody>
        </p:sp>
        <p:sp>
          <p:nvSpPr>
            <p:cNvPr id="76" name="Rectangle 76"/>
            <p:cNvSpPr/>
            <p:nvPr/>
          </p:nvSpPr>
          <p:spPr>
            <a:xfrm>
              <a:off x="4476750" y="5286375"/>
              <a:ext cx="3238500" cy="809625"/>
            </a:xfrm>
            <a:prstGeom prst="roundRect">
              <a:avLst>
                <a:gd name="adj" fmla="val 9412"/>
              </a:avLst>
            </a:prstGeom>
            <a:solidFill>
              <a:srgbClr val="F8FAFC"/>
            </a:solidFill>
            <a:ln w="9525">
              <a:solidFill>
                <a:srgbClr val="E2E8F0"/>
              </a:solidFill>
            </a:ln>
          </p:spPr>
          <p:txBody>
            <a:bodyPr/>
            <a:lstStyle/>
            <a:p>
              <a:endParaRPr lang="en-US"/>
            </a:p>
          </p:txBody>
        </p:sp>
        <p:sp>
          <p:nvSpPr>
            <p:cNvPr id="77" name="TextBox 77"/>
            <p:cNvSpPr txBox="1"/>
            <p:nvPr/>
          </p:nvSpPr>
          <p:spPr>
            <a:xfrm>
              <a:off x="4662297" y="5416550"/>
              <a:ext cx="2172150" cy="191643"/>
            </a:xfrm>
            <a:prstGeom prst="rect">
              <a:avLst/>
            </a:prstGeom>
            <a:noFill/>
            <a:ln>
              <a:noFill/>
            </a:ln>
          </p:spPr>
          <p:txBody>
            <a:bodyPr wrap="none" lIns="0" tIns="0" rIns="0" bIns="0" anchor="t" anchorCtr="0">
              <a:spAutoFit/>
            </a:bodyPr>
            <a:lstStyle/>
            <a:p>
              <a:pPr algn="l"/>
              <a:r>
                <a:rPr lang="vi" sz="980" b="1" dirty="0">
                  <a:solidFill>
                    <a:srgbClr val="059669"/>
                  </a:solidFill>
                  <a:latin typeface="+mn-lt"/>
                  <a:ea typeface="+mn-ea"/>
                  <a:cs typeface="+mn-cs"/>
                </a:rPr>
                <a:t>TẬP VALIDATION (88 mẫu - 20%)</a:t>
              </a:r>
            </a:p>
          </p:txBody>
        </p:sp>
        <p:sp>
          <p:nvSpPr>
            <p:cNvPr id="78" name="TextBox 78"/>
            <p:cNvSpPr txBox="1"/>
            <p:nvPr/>
          </p:nvSpPr>
          <p:spPr>
            <a:xfrm>
              <a:off x="4662488" y="5648325"/>
              <a:ext cx="1599021" cy="176212"/>
            </a:xfrm>
            <a:prstGeom prst="rect">
              <a:avLst/>
            </a:prstGeom>
            <a:noFill/>
            <a:ln>
              <a:noFill/>
            </a:ln>
          </p:spPr>
          <p:txBody>
            <a:bodyPr wrap="none" lIns="0" tIns="0" rIns="0" bIns="0" anchor="t" anchorCtr="0">
              <a:spAutoFit/>
            </a:bodyPr>
            <a:lstStyle/>
            <a:p>
              <a:pPr algn="l"/>
              <a:r>
                <a:rPr lang="vi" sz="900" dirty="0">
                  <a:solidFill>
                    <a:srgbClr val="64748B"/>
                  </a:solidFill>
                  <a:latin typeface="+mn-lt"/>
                  <a:ea typeface="+mn-ea"/>
                  <a:cs typeface="+mn-cs"/>
                </a:rPr>
                <a:t>data/processed/validation.csv</a:t>
              </a:r>
            </a:p>
          </p:txBody>
        </p:sp>
        <p:sp>
          <p:nvSpPr>
            <p:cNvPr id="79" name="TextBox 79"/>
            <p:cNvSpPr txBox="1"/>
            <p:nvPr/>
          </p:nvSpPr>
          <p:spPr>
            <a:xfrm>
              <a:off x="4662488" y="5838825"/>
              <a:ext cx="2058253" cy="176212"/>
            </a:xfrm>
            <a:prstGeom prst="rect">
              <a:avLst/>
            </a:prstGeom>
            <a:noFill/>
            <a:ln>
              <a:noFill/>
            </a:ln>
          </p:spPr>
          <p:txBody>
            <a:bodyPr wrap="none" lIns="0" tIns="0" rIns="0" bIns="0" anchor="t" anchorCtr="0">
              <a:spAutoFit/>
            </a:bodyPr>
            <a:lstStyle/>
            <a:p>
              <a:pPr algn="l"/>
              <a:r>
                <a:rPr lang="vi" sz="900" dirty="0">
                  <a:solidFill>
                    <a:srgbClr val="059669"/>
                  </a:solidFill>
                  <a:latin typeface="+mn-lt"/>
                  <a:ea typeface="+mn-ea"/>
                  <a:cs typeface="+mn-cs"/>
                </a:rPr>
                <a:t>Dùng so sánh chọn K tối ưu &amp; stability</a:t>
              </a:r>
            </a:p>
          </p:txBody>
        </p:sp>
        <p:sp>
          <p:nvSpPr>
            <p:cNvPr id="80" name="Rectangle 80"/>
            <p:cNvSpPr/>
            <p:nvPr/>
          </p:nvSpPr>
          <p:spPr>
            <a:xfrm>
              <a:off x="8001000" y="5286375"/>
              <a:ext cx="3238500" cy="809625"/>
            </a:xfrm>
            <a:prstGeom prst="roundRect">
              <a:avLst>
                <a:gd name="adj" fmla="val 9412"/>
              </a:avLst>
            </a:prstGeom>
            <a:solidFill>
              <a:srgbClr val="F8FAFC"/>
            </a:solidFill>
            <a:ln w="9525">
              <a:solidFill>
                <a:srgbClr val="E2E8F0"/>
              </a:solidFill>
            </a:ln>
          </p:spPr>
          <p:txBody>
            <a:bodyPr/>
            <a:lstStyle/>
            <a:p>
              <a:endParaRPr lang="en-US"/>
            </a:p>
          </p:txBody>
        </p:sp>
        <p:sp>
          <p:nvSpPr>
            <p:cNvPr id="81" name="TextBox 81"/>
            <p:cNvSpPr txBox="1"/>
            <p:nvPr/>
          </p:nvSpPr>
          <p:spPr>
            <a:xfrm>
              <a:off x="8186547" y="5416550"/>
              <a:ext cx="1671373" cy="191643"/>
            </a:xfrm>
            <a:prstGeom prst="rect">
              <a:avLst/>
            </a:prstGeom>
            <a:noFill/>
            <a:ln>
              <a:noFill/>
            </a:ln>
          </p:spPr>
          <p:txBody>
            <a:bodyPr wrap="none" lIns="0" tIns="0" rIns="0" bIns="0" anchor="t" anchorCtr="0">
              <a:spAutoFit/>
            </a:bodyPr>
            <a:lstStyle/>
            <a:p>
              <a:pPr algn="l"/>
              <a:r>
                <a:rPr lang="vi" sz="980" b="1" dirty="0">
                  <a:solidFill>
                    <a:srgbClr val="DC2626"/>
                  </a:solidFill>
                  <a:latin typeface="+mn-lt"/>
                  <a:ea typeface="+mn-ea"/>
                  <a:cs typeface="+mn-cs"/>
                </a:rPr>
                <a:t>TẬP TEST (88 mẫu - 20%)</a:t>
              </a:r>
            </a:p>
          </p:txBody>
        </p:sp>
        <p:sp>
          <p:nvSpPr>
            <p:cNvPr id="82" name="TextBox 82"/>
            <p:cNvSpPr txBox="1"/>
            <p:nvPr/>
          </p:nvSpPr>
          <p:spPr>
            <a:xfrm>
              <a:off x="8186738" y="5648325"/>
              <a:ext cx="1282362" cy="176212"/>
            </a:xfrm>
            <a:prstGeom prst="rect">
              <a:avLst/>
            </a:prstGeom>
            <a:noFill/>
            <a:ln>
              <a:noFill/>
            </a:ln>
          </p:spPr>
          <p:txBody>
            <a:bodyPr wrap="none" lIns="0" tIns="0" rIns="0" bIns="0" anchor="t" anchorCtr="0">
              <a:spAutoFit/>
            </a:bodyPr>
            <a:lstStyle/>
            <a:p>
              <a:pPr algn="l"/>
              <a:r>
                <a:rPr lang="vi" sz="900" dirty="0">
                  <a:solidFill>
                    <a:srgbClr val="64748B"/>
                  </a:solidFill>
                  <a:latin typeface="+mn-lt"/>
                  <a:ea typeface="+mn-ea"/>
                  <a:cs typeface="+mn-cs"/>
                </a:rPr>
                <a:t>data/processed/test.csv</a:t>
              </a:r>
            </a:p>
          </p:txBody>
        </p:sp>
        <p:sp>
          <p:nvSpPr>
            <p:cNvPr id="83" name="TextBox 83"/>
            <p:cNvSpPr txBox="1"/>
            <p:nvPr/>
          </p:nvSpPr>
          <p:spPr>
            <a:xfrm>
              <a:off x="8186738" y="5838825"/>
              <a:ext cx="2216188" cy="176212"/>
            </a:xfrm>
            <a:prstGeom prst="rect">
              <a:avLst/>
            </a:prstGeom>
            <a:noFill/>
            <a:ln>
              <a:noFill/>
            </a:ln>
          </p:spPr>
          <p:txBody>
            <a:bodyPr wrap="none" lIns="0" tIns="0" rIns="0" bIns="0" anchor="t" anchorCtr="0">
              <a:spAutoFit/>
            </a:bodyPr>
            <a:lstStyle/>
            <a:p>
              <a:pPr algn="l"/>
              <a:r>
                <a:rPr lang="vi" sz="900" dirty="0">
                  <a:solidFill>
                    <a:srgbClr val="DC2626"/>
                  </a:solidFill>
                  <a:latin typeface="+mn-lt"/>
                  <a:ea typeface="+mn-ea"/>
                  <a:cs typeface="+mn-cs"/>
                </a:rPr>
                <a:t>Bảo mật tuyệt đối, chỉ mở sau đóng băng</a:t>
              </a:r>
            </a:p>
          </p:txBody>
        </p:sp>
      </p:grpSp>
      <p:grpSp>
        <p:nvGrpSpPr>
          <p:cNvPr id="88" name="footer"/>
          <p:cNvGrpSpPr/>
          <p:nvPr/>
        </p:nvGrpSpPr>
        <p:grpSpPr>
          <a:xfrm>
            <a:off x="661797" y="6429375"/>
            <a:ext cx="10868406" cy="264668"/>
            <a:chOff x="661797" y="6429375"/>
            <a:chExt cx="10868406" cy="264668"/>
          </a:xfrm>
        </p:grpSpPr>
        <p:sp>
          <p:nvSpPr>
            <p:cNvPr id="85" name="Line 85"/>
            <p:cNvSpPr/>
            <p:nvPr/>
          </p:nvSpPr>
          <p:spPr>
            <a:xfrm>
              <a:off x="666750" y="6429375"/>
              <a:ext cx="10858500" cy="9525"/>
            </a:xfrm>
            <a:custGeom>
              <a:avLst/>
              <a:gdLst/>
              <a:ahLst/>
              <a:cxnLst/>
              <a:rect l="l" t="t" r="r" b="b"/>
              <a:pathLst>
                <a:path w="10858500" h="9525">
                  <a:moveTo>
                    <a:pt x="0" y="0"/>
                  </a:moveTo>
                  <a:lnTo>
                    <a:pt x="10858500" y="0"/>
                  </a:lnTo>
                </a:path>
              </a:pathLst>
            </a:custGeom>
            <a:noFill/>
            <a:ln w="9525">
              <a:solidFill>
                <a:srgbClr val="E2E8F0"/>
              </a:solidFill>
            </a:ln>
          </p:spPr>
          <p:txBody>
            <a:bodyPr/>
            <a:lstStyle/>
            <a:p>
              <a:endParaRPr lang="en-US"/>
            </a:p>
          </p:txBody>
        </p:sp>
        <p:sp>
          <p:nvSpPr>
            <p:cNvPr id="86" name="TextBox 86"/>
            <p:cNvSpPr txBox="1"/>
            <p:nvPr/>
          </p:nvSpPr>
          <p:spPr>
            <a:xfrm>
              <a:off x="661797" y="6502400"/>
              <a:ext cx="5799743"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Đồ Án Machine Learning Phân Khúc Khách Hàng Bán Sỉ • Project 22 (UCI Wholesale Customers)</a:t>
              </a:r>
            </a:p>
          </p:txBody>
        </p:sp>
        <p:sp>
          <p:nvSpPr>
            <p:cNvPr id="87" name="TextBox 87"/>
            <p:cNvSpPr txBox="1"/>
            <p:nvPr/>
          </p:nvSpPr>
          <p:spPr>
            <a:xfrm>
              <a:off x="11116836" y="6502400"/>
              <a:ext cx="413367" cy="191643"/>
            </a:xfrm>
            <a:prstGeom prst="rect">
              <a:avLst/>
            </a:prstGeom>
            <a:noFill/>
            <a:ln>
              <a:noFill/>
            </a:ln>
          </p:spPr>
          <p:txBody>
            <a:bodyPr wrap="none" lIns="0" tIns="0" rIns="0" bIns="0" anchor="t" anchorCtr="0">
              <a:spAutoFit/>
            </a:bodyPr>
            <a:lstStyle/>
            <a:p>
              <a:pPr algn="r"/>
              <a:r>
                <a:rPr lang="vi" sz="980" b="1" dirty="0">
                  <a:solidFill>
                    <a:srgbClr val="475569"/>
                  </a:solidFill>
                  <a:latin typeface="+mn-lt"/>
                  <a:ea typeface="+mn-ea"/>
                  <a:cs typeface="+mn-cs"/>
                </a:rPr>
                <a:t>04 / 15</a:t>
              </a:r>
            </a:p>
          </p:txBody>
        </p:sp>
      </p:grpSp>
    </p:spTree>
  </p:cSld>
  <p:clrMapOvr>
    <a:masterClrMapping/>
  </p:clrMapOvr>
  <mc:AlternateContent xmlns:mc="http://schemas.openxmlformats.org/markup-compatibility/2006">
    <mc:Choice xmlns:p14="http://schemas.microsoft.com/office/powerpoint/2010/main" Requires="p14">
      <p:transition spd="med" p14:dur="600">
        <p:wipe dir="r"/>
      </p:transition>
    </mc:Choice>
    <mc:Fallback>
      <p:transition spd="med">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400"/>
                            </p:stCondLst>
                            <p:childTnLst>
                              <p:par>
                                <p:cTn id="9" presetID="23" presetClass="entr" presetSubtype="16" fill="hold" nodeType="afterEffect">
                                  <p:stCondLst>
                                    <p:cond delay="500"/>
                                  </p:stCondLst>
                                  <p:childTnLst>
                                    <p:set>
                                      <p:cBhvr>
                                        <p:cTn id="10" dur="1" fill="hold">
                                          <p:stCondLst>
                                            <p:cond delay="0"/>
                                          </p:stCondLst>
                                        </p:cTn>
                                        <p:tgtEl>
                                          <p:spTgt spid="15"/>
                                        </p:tgtEl>
                                        <p:attrNameLst>
                                          <p:attrName>style.visibility</p:attrName>
                                        </p:attrNameLst>
                                      </p:cBhvr>
                                      <p:to>
                                        <p:strVal val="visible"/>
                                      </p:to>
                                    </p:set>
                                    <p:anim calcmode="lin" valueType="num">
                                      <p:cBhvr>
                                        <p:cTn id="11" dur="600" fill="hold"/>
                                        <p:tgtEl>
                                          <p:spTgt spid="15"/>
                                        </p:tgtEl>
                                        <p:attrNameLst>
                                          <p:attrName>ppt_w</p:attrName>
                                        </p:attrNameLst>
                                      </p:cBhvr>
                                      <p:tavLst>
                                        <p:tav tm="0">
                                          <p:val>
                                            <p:fltVal val="0"/>
                                          </p:val>
                                        </p:tav>
                                        <p:tav tm="100000">
                                          <p:val>
                                            <p:strVal val="#ppt_w"/>
                                          </p:val>
                                        </p:tav>
                                      </p:tavLst>
                                    </p:anim>
                                    <p:anim calcmode="lin" valueType="num">
                                      <p:cBhvr>
                                        <p:cTn id="12" dur="600" fill="hold"/>
                                        <p:tgtEl>
                                          <p:spTgt spid="15"/>
                                        </p:tgtEl>
                                        <p:attrNameLst>
                                          <p:attrName>ppt_h</p:attrName>
                                        </p:attrNameLst>
                                      </p:cBhvr>
                                      <p:tavLst>
                                        <p:tav tm="0">
                                          <p:val>
                                            <p:fltVal val="0"/>
                                          </p:val>
                                        </p:tav>
                                        <p:tav tm="100000">
                                          <p:val>
                                            <p:strVal val="#ppt_h"/>
                                          </p:val>
                                        </p:tav>
                                      </p:tavLst>
                                    </p:anim>
                                  </p:childTnLst>
                                </p:cTn>
                              </p:par>
                            </p:childTnLst>
                          </p:cTn>
                        </p:par>
                        <p:par>
                          <p:cTn id="13" fill="hold">
                            <p:stCondLst>
                              <p:cond delay="1500"/>
                            </p:stCondLst>
                            <p:childTnLst>
                              <p:par>
                                <p:cTn id="14" presetID="2" presetClass="entr" presetSubtype="4" fill="hold" nodeType="afterEffect">
                                  <p:stCondLst>
                                    <p:cond delay="500"/>
                                  </p:stCondLst>
                                  <p:childTnLst>
                                    <p:set>
                                      <p:cBhvr>
                                        <p:cTn id="15" dur="1" fill="hold">
                                          <p:stCondLst>
                                            <p:cond delay="0"/>
                                          </p:stCondLst>
                                        </p:cTn>
                                        <p:tgtEl>
                                          <p:spTgt spid="69"/>
                                        </p:tgtEl>
                                        <p:attrNameLst>
                                          <p:attrName>style.visibility</p:attrName>
                                        </p:attrNameLst>
                                      </p:cBhvr>
                                      <p:to>
                                        <p:strVal val="visible"/>
                                      </p:to>
                                    </p:set>
                                    <p:anim calcmode="lin" valueType="num">
                                      <p:cBhvr additive="base">
                                        <p:cTn id="16" dur="800" fill="hold"/>
                                        <p:tgtEl>
                                          <p:spTgt spid="69"/>
                                        </p:tgtEl>
                                        <p:attrNameLst>
                                          <p:attrName>ppt_x</p:attrName>
                                        </p:attrNameLst>
                                      </p:cBhvr>
                                      <p:tavLst>
                                        <p:tav tm="0">
                                          <p:val>
                                            <p:strVal val="#ppt_x"/>
                                          </p:val>
                                        </p:tav>
                                        <p:tav tm="100000">
                                          <p:val>
                                            <p:strVal val="#ppt_x"/>
                                          </p:val>
                                        </p:tav>
                                      </p:tavLst>
                                    </p:anim>
                                    <p:anim calcmode="lin" valueType="num">
                                      <p:cBhvr additive="base">
                                        <p:cTn id="17" dur="800" fill="hold"/>
                                        <p:tgtEl>
                                          <p:spTgt spid="69"/>
                                        </p:tgtEl>
                                        <p:attrNameLst>
                                          <p:attrName>ppt_y</p:attrName>
                                        </p:attrNameLst>
                                      </p:cBhvr>
                                      <p:tavLst>
                                        <p:tav tm="0">
                                          <p:val>
                                            <p:strVal val="1+#ppt_h/2"/>
                                          </p:val>
                                        </p:tav>
                                        <p:tav tm="100000">
                                          <p:val>
                                            <p:strVal val="#ppt_y"/>
                                          </p:val>
                                        </p:tav>
                                      </p:tavLst>
                                    </p:anim>
                                  </p:childTnLst>
                                </p:cTn>
                              </p:par>
                            </p:childTnLst>
                          </p:cTn>
                        </p:par>
                        <p:par>
                          <p:cTn id="18" fill="hold">
                            <p:stCondLst>
                              <p:cond delay="2800"/>
                            </p:stCondLst>
                            <p:childTnLst>
                              <p:par>
                                <p:cTn id="19" presetID="10" presetClass="entr" presetSubtype="0" fill="hold" nodeType="afterEffect">
                                  <p:stCondLst>
                                    <p:cond delay="500"/>
                                  </p:stCondLst>
                                  <p:childTnLst>
                                    <p:set>
                                      <p:cBhvr>
                                        <p:cTn id="20" dur="1" fill="hold">
                                          <p:stCondLst>
                                            <p:cond delay="0"/>
                                          </p:stCondLst>
                                        </p:cTn>
                                        <p:tgtEl>
                                          <p:spTgt spid="84"/>
                                        </p:tgtEl>
                                        <p:attrNameLst>
                                          <p:attrName>style.visibility</p:attrName>
                                        </p:attrNameLst>
                                      </p:cBhvr>
                                      <p:to>
                                        <p:strVal val="visible"/>
                                      </p:to>
                                    </p:set>
                                    <p:animEffect transition="in" filter="fade">
                                      <p:cBhvr>
                                        <p:cTn id="21" dur="6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page-background"/>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8FAFC"/>
            </a:solidFill>
            <a:ln>
              <a:noFill/>
            </a:ln>
          </p:spPr>
          <p:txBody>
            <a:bodyPr/>
            <a:lstStyle/>
            <a:p>
              <a:endParaRPr lang="en-US"/>
            </a:p>
          </p:txBody>
        </p:sp>
        <p:sp>
          <p:nvSpPr>
            <p:cNvPr id="3" name="Rectangle 3"/>
            <p:cNvSpPr/>
            <p:nvPr/>
          </p:nvSpPr>
          <p:spPr>
            <a:xfrm>
              <a:off x="0" y="0"/>
              <a:ext cx="12192000" cy="57150"/>
            </a:xfrm>
            <a:prstGeom prst="rect">
              <a:avLst/>
            </a:prstGeom>
            <a:gradFill>
              <a:gsLst>
                <a:gs pos="0">
                  <a:srgbClr val="1E3A8A"/>
                </a:gs>
                <a:gs pos="50000">
                  <a:schemeClr val="accent1"/>
                </a:gs>
                <a:gs pos="100000">
                  <a:srgbClr val="0EA5E9"/>
                </a:gs>
              </a:gsLst>
              <a:lin ang="0" scaled="1"/>
            </a:gradFill>
            <a:ln>
              <a:noFill/>
            </a:ln>
          </p:spPr>
          <p:txBody>
            <a:bodyPr/>
            <a:lstStyle/>
            <a:p>
              <a:endParaRPr lang="en-US"/>
            </a:p>
          </p:txBody>
        </p:sp>
      </p:grpSp>
      <p:grpSp>
        <p:nvGrpSpPr>
          <p:cNvPr id="9" name="header"/>
          <p:cNvGrpSpPr/>
          <p:nvPr/>
        </p:nvGrpSpPr>
        <p:grpSpPr>
          <a:xfrm>
            <a:off x="654558" y="304800"/>
            <a:ext cx="9065132" cy="899478"/>
            <a:chOff x="654558" y="304800"/>
            <a:chExt cx="9065132" cy="899478"/>
          </a:xfrm>
        </p:grpSpPr>
        <p:sp>
          <p:nvSpPr>
            <p:cNvPr id="5" name="Rectangle 5"/>
            <p:cNvSpPr/>
            <p:nvPr/>
          </p:nvSpPr>
          <p:spPr>
            <a:xfrm>
              <a:off x="666750" y="304800"/>
              <a:ext cx="1524000" cy="247650"/>
            </a:xfrm>
            <a:prstGeom prst="roundRect">
              <a:avLst>
                <a:gd name="adj" fmla="val 23077"/>
              </a:avLst>
            </a:prstGeom>
            <a:solidFill>
              <a:srgbClr val="EFF6FF"/>
            </a:solidFill>
            <a:ln w="9525">
              <a:solidFill>
                <a:srgbClr val="BFDBFE"/>
              </a:solidFill>
            </a:ln>
          </p:spPr>
          <p:txBody>
            <a:bodyPr/>
            <a:lstStyle/>
            <a:p>
              <a:endParaRPr lang="en-US"/>
            </a:p>
          </p:txBody>
        </p:sp>
        <p:sp>
          <p:nvSpPr>
            <p:cNvPr id="6" name="TextBox 6"/>
            <p:cNvSpPr txBox="1"/>
            <p:nvPr/>
          </p:nvSpPr>
          <p:spPr>
            <a:xfrm>
              <a:off x="862123" y="365125"/>
              <a:ext cx="1133253" cy="161925"/>
            </a:xfrm>
            <a:prstGeom prst="rect">
              <a:avLst/>
            </a:prstGeom>
            <a:noFill/>
            <a:ln>
              <a:noFill/>
            </a:ln>
          </p:spPr>
          <p:txBody>
            <a:bodyPr wrap="none" lIns="0" tIns="0" rIns="0" bIns="0" anchor="t" anchorCtr="0">
              <a:spAutoFit/>
            </a:bodyPr>
            <a:lstStyle/>
            <a:p>
              <a:pPr algn="ctr"/>
              <a:r>
                <a:rPr lang="vi" sz="820" b="1" spc="75" dirty="0">
                  <a:solidFill>
                    <a:srgbClr val="1D4ED8"/>
                  </a:solidFill>
                  <a:latin typeface="+mn-lt"/>
                  <a:ea typeface="+mn-ea"/>
                  <a:cs typeface="+mn-cs"/>
                </a:rPr>
                <a:t>THỰC NGHIỆM 01</a:t>
              </a:r>
            </a:p>
          </p:txBody>
        </p:sp>
        <p:sp>
          <p:nvSpPr>
            <p:cNvPr id="7" name="TextBox 7"/>
            <p:cNvSpPr txBox="1"/>
            <p:nvPr/>
          </p:nvSpPr>
          <p:spPr>
            <a:xfrm>
              <a:off x="654558" y="584200"/>
              <a:ext cx="9065132" cy="469392"/>
            </a:xfrm>
            <a:prstGeom prst="rect">
              <a:avLst/>
            </a:prstGeom>
            <a:noFill/>
            <a:ln>
              <a:noFill/>
            </a:ln>
          </p:spPr>
          <p:txBody>
            <a:bodyPr wrap="none" lIns="0" tIns="0" rIns="0" bIns="0" anchor="t" anchorCtr="0">
              <a:spAutoFit/>
            </a:bodyPr>
            <a:lstStyle/>
            <a:p>
              <a:pPr algn="l"/>
              <a:r>
                <a:rPr lang="vi" sz="2400" b="1" dirty="0">
                  <a:solidFill>
                    <a:srgbClr val="0F172A"/>
                  </a:solidFill>
                  <a:latin typeface="+mn-lt"/>
                  <a:ea typeface="+mn-ea"/>
                  <a:cs typeface="+mn-cs"/>
                </a:rPr>
                <a:t>So Sánh Tiền Xử Lý: Dữ Liệu Thô (Raw) vs Log1p + Scaler</a:t>
              </a:r>
            </a:p>
          </p:txBody>
        </p:sp>
        <p:sp>
          <p:nvSpPr>
            <p:cNvPr id="8" name="TextBox 8"/>
            <p:cNvSpPr txBox="1"/>
            <p:nvPr/>
          </p:nvSpPr>
          <p:spPr>
            <a:xfrm>
              <a:off x="661035" y="984250"/>
              <a:ext cx="5472997" cy="220028"/>
            </a:xfrm>
            <a:prstGeom prst="rect">
              <a:avLst/>
            </a:prstGeom>
            <a:noFill/>
            <a:ln>
              <a:noFill/>
            </a:ln>
          </p:spPr>
          <p:txBody>
            <a:bodyPr wrap="none" lIns="0" tIns="0" rIns="0" bIns="0" anchor="t" anchorCtr="0">
              <a:spAutoFit/>
            </a:bodyPr>
            <a:lstStyle/>
            <a:p>
              <a:pPr algn="l"/>
              <a:r>
                <a:rPr lang="vi" sz="1120" dirty="0">
                  <a:solidFill>
                    <a:srgbClr val="475569"/>
                  </a:solidFill>
                  <a:latin typeface="+mn-lt"/>
                  <a:ea typeface="+mn-ea"/>
                  <a:cs typeface="+mn-cs"/>
                </a:rPr>
                <a:t>Triệt tiêu độ lệch phải cực đoan và chuẩn hóa toàn diện không gian vector chi tiêu</a:t>
              </a:r>
            </a:p>
          </p:txBody>
        </p:sp>
      </p:grpSp>
      <p:grpSp>
        <p:nvGrpSpPr>
          <p:cNvPr id="39" name="raw-issues"/>
          <p:cNvGrpSpPr/>
          <p:nvPr/>
        </p:nvGrpSpPr>
        <p:grpSpPr>
          <a:xfrm>
            <a:off x="666750" y="1428750"/>
            <a:ext cx="4953000" cy="4905375"/>
            <a:chOff x="666750" y="1428750"/>
            <a:chExt cx="4953000" cy="4905375"/>
          </a:xfrm>
        </p:grpSpPr>
        <p:sp>
          <p:nvSpPr>
            <p:cNvPr id="10" name="Rectangle 10"/>
            <p:cNvSpPr/>
            <p:nvPr/>
          </p:nvSpPr>
          <p:spPr>
            <a:xfrm>
              <a:off x="666750" y="1428750"/>
              <a:ext cx="4953000" cy="4905375"/>
            </a:xfrm>
            <a:prstGeom prst="roundRect">
              <a:avLst>
                <a:gd name="adj" fmla="val 2718"/>
              </a:avLst>
            </a:prstGeom>
            <a:solidFill>
              <a:schemeClr val="lt1"/>
            </a:solidFill>
            <a:ln w="14288">
              <a:solidFill>
                <a:srgbClr val="FECACA"/>
              </a:solidFill>
            </a:ln>
          </p:spPr>
          <p:txBody>
            <a:bodyPr/>
            <a:lstStyle/>
            <a:p>
              <a:endParaRPr lang="en-US"/>
            </a:p>
          </p:txBody>
        </p:sp>
        <p:sp>
          <p:nvSpPr>
            <p:cNvPr id="11" name="Rectangle 11"/>
            <p:cNvSpPr/>
            <p:nvPr/>
          </p:nvSpPr>
          <p:spPr>
            <a:xfrm>
              <a:off x="666750" y="1428750"/>
              <a:ext cx="4953000" cy="57150"/>
            </a:xfrm>
            <a:prstGeom prst="roundRect">
              <a:avLst>
                <a:gd name="adj" fmla="val 50000"/>
              </a:avLst>
            </a:prstGeom>
            <a:solidFill>
              <a:srgbClr val="DC2626"/>
            </a:solidFill>
            <a:ln>
              <a:noFill/>
            </a:ln>
          </p:spPr>
          <p:txBody>
            <a:bodyPr/>
            <a:lstStyle/>
            <a:p>
              <a:endParaRPr lang="en-US"/>
            </a:p>
          </p:txBody>
        </p:sp>
        <p:sp>
          <p:nvSpPr>
            <p:cNvPr id="12" name="Rectangle 12"/>
            <p:cNvSpPr/>
            <p:nvPr/>
          </p:nvSpPr>
          <p:spPr>
            <a:xfrm>
              <a:off x="904875" y="1666875"/>
              <a:ext cx="2095500" cy="323850"/>
            </a:xfrm>
            <a:prstGeom prst="roundRect">
              <a:avLst>
                <a:gd name="adj" fmla="val 50000"/>
              </a:avLst>
            </a:prstGeom>
            <a:solidFill>
              <a:srgbClr val="FEE2E2"/>
            </a:solidFill>
            <a:ln>
              <a:noFill/>
            </a:ln>
          </p:spPr>
          <p:txBody>
            <a:bodyPr/>
            <a:lstStyle/>
            <a:p>
              <a:endParaRPr lang="en-US"/>
            </a:p>
          </p:txBody>
        </p:sp>
        <p:sp>
          <p:nvSpPr>
            <p:cNvPr id="13" name="Ellipse 13"/>
            <p:cNvSpPr/>
            <p:nvPr/>
          </p:nvSpPr>
          <p:spPr>
            <a:xfrm>
              <a:off x="962025" y="1724025"/>
              <a:ext cx="209550" cy="209550"/>
            </a:xfrm>
            <a:prstGeom prst="ellipse">
              <a:avLst/>
            </a:prstGeom>
            <a:solidFill>
              <a:srgbClr val="DC2626"/>
            </a:solidFill>
            <a:ln>
              <a:noFill/>
            </a:ln>
          </p:spPr>
          <p:txBody>
            <a:bodyPr/>
            <a:lstStyle/>
            <a:p>
              <a:endParaRPr lang="en-US"/>
            </a:p>
          </p:txBody>
        </p:sp>
        <p:sp>
          <p:nvSpPr>
            <p:cNvPr id="14" name="TextBox 14"/>
            <p:cNvSpPr txBox="1"/>
            <p:nvPr/>
          </p:nvSpPr>
          <p:spPr>
            <a:xfrm>
              <a:off x="1019344" y="1762125"/>
              <a:ext cx="94912" cy="176212"/>
            </a:xfrm>
            <a:prstGeom prst="rect">
              <a:avLst/>
            </a:prstGeom>
            <a:noFill/>
            <a:ln>
              <a:noFill/>
            </a:ln>
          </p:spPr>
          <p:txBody>
            <a:bodyPr wrap="none" lIns="0" tIns="0" rIns="0" bIns="0" anchor="t" anchorCtr="0">
              <a:spAutoFit/>
            </a:bodyPr>
            <a:lstStyle/>
            <a:p>
              <a:pPr algn="ctr"/>
              <a:r>
                <a:rPr lang="vi" sz="900" b="1" dirty="0">
                  <a:solidFill>
                    <a:srgbClr val="FFFFFF"/>
                  </a:solidFill>
                  <a:latin typeface="+mn-lt"/>
                  <a:ea typeface="+mn-ea"/>
                  <a:cs typeface="+mn-cs"/>
                </a:rPr>
                <a:t>X</a:t>
              </a:r>
            </a:p>
          </p:txBody>
        </p:sp>
        <p:sp>
          <p:nvSpPr>
            <p:cNvPr id="15" name="TextBox 15"/>
            <p:cNvSpPr txBox="1"/>
            <p:nvPr/>
          </p:nvSpPr>
          <p:spPr>
            <a:xfrm>
              <a:off x="1280541" y="1749425"/>
              <a:ext cx="1918759" cy="205359"/>
            </a:xfrm>
            <a:prstGeom prst="rect">
              <a:avLst/>
            </a:prstGeom>
            <a:noFill/>
            <a:ln>
              <a:noFill/>
            </a:ln>
          </p:spPr>
          <p:txBody>
            <a:bodyPr wrap="none" lIns="0" tIns="0" rIns="0" bIns="0" anchor="t" anchorCtr="0">
              <a:spAutoFit/>
            </a:bodyPr>
            <a:lstStyle/>
            <a:p>
              <a:pPr algn="l"/>
              <a:r>
                <a:rPr lang="vi" sz="1050" b="1" dirty="0">
                  <a:solidFill>
                    <a:srgbClr val="991B1B"/>
                  </a:solidFill>
                  <a:latin typeface="+mn-lt"/>
                  <a:ea typeface="+mn-ea"/>
                  <a:cs typeface="+mn-cs"/>
                </a:rPr>
                <a:t>DỮ LIỆU THÔ (RAW DATA)</a:t>
              </a:r>
            </a:p>
          </p:txBody>
        </p:sp>
        <p:sp>
          <p:nvSpPr>
            <p:cNvPr id="16" name="TextBox 16"/>
            <p:cNvSpPr txBox="1"/>
            <p:nvPr/>
          </p:nvSpPr>
          <p:spPr>
            <a:xfrm>
              <a:off x="899160" y="2146300"/>
              <a:ext cx="2092856" cy="220028"/>
            </a:xfrm>
            <a:prstGeom prst="rect">
              <a:avLst/>
            </a:prstGeom>
            <a:noFill/>
            <a:ln>
              <a:noFill/>
            </a:ln>
          </p:spPr>
          <p:txBody>
            <a:bodyPr wrap="none" lIns="0" tIns="0" rIns="0" bIns="0" anchor="t" anchorCtr="0">
              <a:spAutoFit/>
            </a:bodyPr>
            <a:lstStyle/>
            <a:p>
              <a:pPr algn="l"/>
              <a:r>
                <a:rPr lang="vi" sz="1120" b="1" dirty="0">
                  <a:solidFill>
                    <a:srgbClr val="0F172A"/>
                  </a:solidFill>
                  <a:latin typeface="+mn-lt"/>
                  <a:ea typeface="+mn-ea"/>
                  <a:cs typeface="+mn-cs"/>
                </a:rPr>
                <a:t>Độ lệch (Skewness) cực cao:</a:t>
              </a:r>
            </a:p>
          </p:txBody>
        </p:sp>
        <p:sp>
          <p:nvSpPr>
            <p:cNvPr id="17" name="TextBox 17"/>
            <p:cNvSpPr txBox="1"/>
            <p:nvPr/>
          </p:nvSpPr>
          <p:spPr>
            <a:xfrm>
              <a:off x="900112" y="2362200"/>
              <a:ext cx="1976040" cy="176212"/>
            </a:xfrm>
            <a:prstGeom prst="rect">
              <a:avLst/>
            </a:prstGeom>
            <a:noFill/>
            <a:ln>
              <a:noFill/>
            </a:ln>
          </p:spPr>
          <p:txBody>
            <a:bodyPr wrap="none" lIns="0" tIns="0" rIns="0" bIns="0" anchor="t" anchorCtr="0">
              <a:spAutoFit/>
            </a:bodyPr>
            <a:lstStyle/>
            <a:p>
              <a:pPr algn="l"/>
              <a:r>
                <a:rPr lang="vi" sz="900" dirty="0">
                  <a:solidFill>
                    <a:srgbClr val="64748B"/>
                  </a:solidFill>
                  <a:latin typeface="+mn-lt"/>
                  <a:ea typeface="+mn-ea"/>
                  <a:cs typeface="+mn-cs"/>
                </a:rPr>
                <a:t>reports/data/eda/train_skewness.csv</a:t>
              </a:r>
            </a:p>
          </p:txBody>
        </p:sp>
        <p:sp>
          <p:nvSpPr>
            <p:cNvPr id="18" name="TextBox 18"/>
            <p:cNvSpPr txBox="1"/>
            <p:nvPr/>
          </p:nvSpPr>
          <p:spPr>
            <a:xfrm>
              <a:off x="899922" y="2682875"/>
              <a:ext cx="695726"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Delicassen:</a:t>
              </a:r>
            </a:p>
          </p:txBody>
        </p:sp>
        <p:sp>
          <p:nvSpPr>
            <p:cNvPr id="19" name="Rectangle 19"/>
            <p:cNvSpPr/>
            <p:nvPr/>
          </p:nvSpPr>
          <p:spPr>
            <a:xfrm>
              <a:off x="1762125" y="2686050"/>
              <a:ext cx="2190750" cy="171450"/>
            </a:xfrm>
            <a:prstGeom prst="roundRect">
              <a:avLst>
                <a:gd name="adj" fmla="val 22222"/>
              </a:avLst>
            </a:prstGeom>
            <a:solidFill>
              <a:srgbClr val="EF4444"/>
            </a:solidFill>
            <a:ln>
              <a:noFill/>
            </a:ln>
          </p:spPr>
          <p:txBody>
            <a:bodyPr/>
            <a:lstStyle/>
            <a:p>
              <a:endParaRPr lang="en-US"/>
            </a:p>
          </p:txBody>
        </p:sp>
        <p:sp>
          <p:nvSpPr>
            <p:cNvPr id="20" name="TextBox 20"/>
            <p:cNvSpPr txBox="1"/>
            <p:nvPr/>
          </p:nvSpPr>
          <p:spPr>
            <a:xfrm>
              <a:off x="4043172" y="2692400"/>
              <a:ext cx="1100247" cy="191643"/>
            </a:xfrm>
            <a:prstGeom prst="rect">
              <a:avLst/>
            </a:prstGeom>
            <a:noFill/>
            <a:ln>
              <a:noFill/>
            </a:ln>
          </p:spPr>
          <p:txBody>
            <a:bodyPr wrap="none" lIns="0" tIns="0" rIns="0" bIns="0" anchor="t" anchorCtr="0">
              <a:spAutoFit/>
            </a:bodyPr>
            <a:lstStyle/>
            <a:p>
              <a:pPr algn="l"/>
              <a:r>
                <a:rPr lang="vi" sz="980" b="1" dirty="0">
                  <a:solidFill>
                    <a:srgbClr val="DC2626"/>
                  </a:solidFill>
                  <a:latin typeface="+mn-lt"/>
                  <a:ea typeface="+mn-ea"/>
                  <a:cs typeface="+mn-cs"/>
                </a:rPr>
                <a:t>+12.12 (Cực lệch)</a:t>
              </a:r>
            </a:p>
          </p:txBody>
        </p:sp>
        <p:sp>
          <p:nvSpPr>
            <p:cNvPr id="21" name="TextBox 21"/>
            <p:cNvSpPr txBox="1"/>
            <p:nvPr/>
          </p:nvSpPr>
          <p:spPr>
            <a:xfrm>
              <a:off x="899922" y="2968625"/>
              <a:ext cx="284880"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Milk:</a:t>
              </a:r>
            </a:p>
          </p:txBody>
        </p:sp>
        <p:sp>
          <p:nvSpPr>
            <p:cNvPr id="22" name="Rectangle 22"/>
            <p:cNvSpPr/>
            <p:nvPr/>
          </p:nvSpPr>
          <p:spPr>
            <a:xfrm>
              <a:off x="1762125" y="2971800"/>
              <a:ext cx="857250" cy="171450"/>
            </a:xfrm>
            <a:prstGeom prst="roundRect">
              <a:avLst>
                <a:gd name="adj" fmla="val 22222"/>
              </a:avLst>
            </a:prstGeom>
            <a:solidFill>
              <a:srgbClr val="F97316"/>
            </a:solidFill>
            <a:ln>
              <a:noFill/>
            </a:ln>
          </p:spPr>
          <p:txBody>
            <a:bodyPr/>
            <a:lstStyle/>
            <a:p>
              <a:endParaRPr lang="en-US"/>
            </a:p>
          </p:txBody>
        </p:sp>
        <p:sp>
          <p:nvSpPr>
            <p:cNvPr id="23" name="TextBox 23"/>
            <p:cNvSpPr txBox="1"/>
            <p:nvPr/>
          </p:nvSpPr>
          <p:spPr>
            <a:xfrm>
              <a:off x="2709672" y="2978150"/>
              <a:ext cx="343736" cy="191643"/>
            </a:xfrm>
            <a:prstGeom prst="rect">
              <a:avLst/>
            </a:prstGeom>
            <a:noFill/>
            <a:ln>
              <a:noFill/>
            </a:ln>
          </p:spPr>
          <p:txBody>
            <a:bodyPr wrap="none" lIns="0" tIns="0" rIns="0" bIns="0" anchor="t" anchorCtr="0">
              <a:spAutoFit/>
            </a:bodyPr>
            <a:lstStyle/>
            <a:p>
              <a:pPr algn="l"/>
              <a:r>
                <a:rPr lang="vi" sz="980" b="1" dirty="0">
                  <a:solidFill>
                    <a:srgbClr val="C2410C"/>
                  </a:solidFill>
                  <a:latin typeface="+mn-lt"/>
                  <a:ea typeface="+mn-ea"/>
                  <a:cs typeface="+mn-cs"/>
                </a:rPr>
                <a:t>+4.28</a:t>
              </a:r>
            </a:p>
          </p:txBody>
        </p:sp>
        <p:sp>
          <p:nvSpPr>
            <p:cNvPr id="24" name="TextBox 24"/>
            <p:cNvSpPr txBox="1"/>
            <p:nvPr/>
          </p:nvSpPr>
          <p:spPr>
            <a:xfrm>
              <a:off x="899922" y="3254375"/>
              <a:ext cx="461386"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Frozen:</a:t>
              </a:r>
            </a:p>
          </p:txBody>
        </p:sp>
        <p:sp>
          <p:nvSpPr>
            <p:cNvPr id="25" name="Rectangle 25"/>
            <p:cNvSpPr/>
            <p:nvPr/>
          </p:nvSpPr>
          <p:spPr>
            <a:xfrm>
              <a:off x="1762125" y="3257550"/>
              <a:ext cx="714375" cy="171450"/>
            </a:xfrm>
            <a:prstGeom prst="roundRect">
              <a:avLst>
                <a:gd name="adj" fmla="val 22222"/>
              </a:avLst>
            </a:prstGeom>
            <a:solidFill>
              <a:srgbClr val="F97316"/>
            </a:solidFill>
            <a:ln>
              <a:noFill/>
            </a:ln>
          </p:spPr>
          <p:txBody>
            <a:bodyPr/>
            <a:lstStyle/>
            <a:p>
              <a:endParaRPr lang="en-US"/>
            </a:p>
          </p:txBody>
        </p:sp>
        <p:sp>
          <p:nvSpPr>
            <p:cNvPr id="26" name="TextBox 26"/>
            <p:cNvSpPr txBox="1"/>
            <p:nvPr/>
          </p:nvSpPr>
          <p:spPr>
            <a:xfrm>
              <a:off x="2566797" y="3263900"/>
              <a:ext cx="343736" cy="191643"/>
            </a:xfrm>
            <a:prstGeom prst="rect">
              <a:avLst/>
            </a:prstGeom>
            <a:noFill/>
            <a:ln>
              <a:noFill/>
            </a:ln>
          </p:spPr>
          <p:txBody>
            <a:bodyPr wrap="none" lIns="0" tIns="0" rIns="0" bIns="0" anchor="t" anchorCtr="0">
              <a:spAutoFit/>
            </a:bodyPr>
            <a:lstStyle/>
            <a:p>
              <a:pPr algn="l"/>
              <a:r>
                <a:rPr lang="vi" sz="980" b="1" dirty="0">
                  <a:solidFill>
                    <a:srgbClr val="C2410C"/>
                  </a:solidFill>
                  <a:latin typeface="+mn-lt"/>
                  <a:ea typeface="+mn-ea"/>
                  <a:cs typeface="+mn-cs"/>
                </a:rPr>
                <a:t>+3.53</a:t>
              </a:r>
            </a:p>
          </p:txBody>
        </p:sp>
        <p:sp>
          <p:nvSpPr>
            <p:cNvPr id="27" name="TextBox 27"/>
            <p:cNvSpPr txBox="1"/>
            <p:nvPr/>
          </p:nvSpPr>
          <p:spPr>
            <a:xfrm>
              <a:off x="899922" y="3540125"/>
              <a:ext cx="519807"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Grocery:</a:t>
              </a:r>
            </a:p>
          </p:txBody>
        </p:sp>
        <p:sp>
          <p:nvSpPr>
            <p:cNvPr id="28" name="Rectangle 28"/>
            <p:cNvSpPr/>
            <p:nvPr/>
          </p:nvSpPr>
          <p:spPr>
            <a:xfrm>
              <a:off x="1762125" y="3543300"/>
              <a:ext cx="571500" cy="171450"/>
            </a:xfrm>
            <a:prstGeom prst="roundRect">
              <a:avLst>
                <a:gd name="adj" fmla="val 22222"/>
              </a:avLst>
            </a:prstGeom>
            <a:solidFill>
              <a:srgbClr val="FBBF24"/>
            </a:solidFill>
            <a:ln>
              <a:noFill/>
            </a:ln>
          </p:spPr>
          <p:txBody>
            <a:bodyPr/>
            <a:lstStyle/>
            <a:p>
              <a:endParaRPr lang="en-US"/>
            </a:p>
          </p:txBody>
        </p:sp>
        <p:sp>
          <p:nvSpPr>
            <p:cNvPr id="29" name="TextBox 29"/>
            <p:cNvSpPr txBox="1"/>
            <p:nvPr/>
          </p:nvSpPr>
          <p:spPr>
            <a:xfrm>
              <a:off x="2423922" y="3549650"/>
              <a:ext cx="343736" cy="191643"/>
            </a:xfrm>
            <a:prstGeom prst="rect">
              <a:avLst/>
            </a:prstGeom>
            <a:noFill/>
            <a:ln>
              <a:noFill/>
            </a:ln>
          </p:spPr>
          <p:txBody>
            <a:bodyPr wrap="none" lIns="0" tIns="0" rIns="0" bIns="0" anchor="t" anchorCtr="0">
              <a:spAutoFit/>
            </a:bodyPr>
            <a:lstStyle/>
            <a:p>
              <a:pPr algn="l"/>
              <a:r>
                <a:rPr lang="vi" sz="980" b="1" dirty="0">
                  <a:solidFill>
                    <a:srgbClr val="B45309"/>
                  </a:solidFill>
                  <a:latin typeface="+mn-lt"/>
                  <a:ea typeface="+mn-ea"/>
                  <a:cs typeface="+mn-cs"/>
                </a:rPr>
                <a:t>+2.76</a:t>
              </a:r>
            </a:p>
          </p:txBody>
        </p:sp>
        <p:sp>
          <p:nvSpPr>
            <p:cNvPr id="30" name="TextBox 30"/>
            <p:cNvSpPr txBox="1"/>
            <p:nvPr/>
          </p:nvSpPr>
          <p:spPr>
            <a:xfrm>
              <a:off x="899160" y="3956050"/>
              <a:ext cx="1825901" cy="220028"/>
            </a:xfrm>
            <a:prstGeom prst="rect">
              <a:avLst/>
            </a:prstGeom>
            <a:noFill/>
            <a:ln>
              <a:noFill/>
            </a:ln>
          </p:spPr>
          <p:txBody>
            <a:bodyPr wrap="none" lIns="0" tIns="0" rIns="0" bIns="0" anchor="t" anchorCtr="0">
              <a:spAutoFit/>
            </a:bodyPr>
            <a:lstStyle/>
            <a:p>
              <a:pPr algn="l"/>
              <a:r>
                <a:rPr lang="vi" sz="1120" b="1" dirty="0">
                  <a:solidFill>
                    <a:srgbClr val="0F172A"/>
                  </a:solidFill>
                  <a:latin typeface="+mn-lt"/>
                  <a:ea typeface="+mn-ea"/>
                  <a:cs typeface="+mn-cs"/>
                </a:rPr>
                <a:t>Chênh lệch thang đo lớn:</a:t>
              </a:r>
            </a:p>
          </p:txBody>
        </p:sp>
        <p:sp>
          <p:nvSpPr>
            <p:cNvPr id="31" name="Rectangle 31"/>
            <p:cNvSpPr/>
            <p:nvPr/>
          </p:nvSpPr>
          <p:spPr>
            <a:xfrm>
              <a:off x="904875" y="4238625"/>
              <a:ext cx="4476750" cy="619125"/>
            </a:xfrm>
            <a:prstGeom prst="roundRect">
              <a:avLst>
                <a:gd name="adj" fmla="val 12308"/>
              </a:avLst>
            </a:prstGeom>
            <a:solidFill>
              <a:srgbClr val="F8FAFC"/>
            </a:solidFill>
            <a:ln w="9525">
              <a:solidFill>
                <a:srgbClr val="E2E8F0"/>
              </a:solidFill>
            </a:ln>
          </p:spPr>
          <p:txBody>
            <a:bodyPr/>
            <a:lstStyle/>
            <a:p>
              <a:endParaRPr lang="en-US"/>
            </a:p>
          </p:txBody>
        </p:sp>
        <p:sp>
          <p:nvSpPr>
            <p:cNvPr id="32" name="TextBox 32"/>
            <p:cNvSpPr txBox="1"/>
            <p:nvPr/>
          </p:nvSpPr>
          <p:spPr>
            <a:xfrm>
              <a:off x="1090422" y="4368800"/>
              <a:ext cx="3309746"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Fresh: </a:t>
              </a:r>
              <a:r>
                <a:rPr lang="vi" sz="980" b="1" dirty="0">
                  <a:solidFill>
                    <a:srgbClr val="0F172A"/>
                  </a:solidFill>
                  <a:latin typeface="+mn-lt"/>
                  <a:ea typeface="+mn-ea"/>
                  <a:cs typeface="+mn-cs"/>
                </a:rPr>
                <a:t>3 → 112,151 m.u.</a:t>
              </a:r>
              <a:r>
                <a:rPr lang="vi" sz="980" dirty="0">
                  <a:solidFill>
                    <a:srgbClr val="334155"/>
                  </a:solidFill>
                  <a:latin typeface="+mn-lt"/>
                  <a:ea typeface="+mn-ea"/>
                  <a:cs typeface="+mn-cs"/>
                </a:rPr>
                <a:t> (Biên độ gấp hàng nghìn lần)</a:t>
              </a:r>
            </a:p>
          </p:txBody>
        </p:sp>
        <p:sp>
          <p:nvSpPr>
            <p:cNvPr id="33" name="TextBox 33"/>
            <p:cNvSpPr txBox="1"/>
            <p:nvPr/>
          </p:nvSpPr>
          <p:spPr>
            <a:xfrm>
              <a:off x="1090422" y="4587875"/>
              <a:ext cx="3284404"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Milk: </a:t>
              </a:r>
              <a:r>
                <a:rPr lang="vi" sz="980" b="1" dirty="0">
                  <a:solidFill>
                    <a:srgbClr val="334155"/>
                  </a:solidFill>
                  <a:latin typeface="+mn-lt"/>
                  <a:ea typeface="+mn-ea"/>
                  <a:cs typeface="+mn-cs"/>
                </a:rPr>
                <a:t>55 → 73,498 m.u.</a:t>
              </a:r>
              <a:r>
                <a:rPr lang="vi" sz="980" dirty="0">
                  <a:solidFill>
                    <a:srgbClr val="334155"/>
                  </a:solidFill>
                  <a:latin typeface="+mn-lt"/>
                  <a:ea typeface="+mn-ea"/>
                  <a:cs typeface="+mn-cs"/>
                </a:rPr>
                <a:t> | Delicassen: </a:t>
              </a:r>
              <a:r>
                <a:rPr lang="vi" sz="980" b="1" dirty="0">
                  <a:solidFill>
                    <a:srgbClr val="334155"/>
                  </a:solidFill>
                  <a:latin typeface="+mn-lt"/>
                  <a:ea typeface="+mn-ea"/>
                  <a:cs typeface="+mn-cs"/>
                </a:rPr>
                <a:t>7 → 47,943 m.u.</a:t>
              </a:r>
            </a:p>
          </p:txBody>
        </p:sp>
        <p:sp>
          <p:nvSpPr>
            <p:cNvPr id="34" name="Rectangle 34"/>
            <p:cNvSpPr/>
            <p:nvPr/>
          </p:nvSpPr>
          <p:spPr>
            <a:xfrm>
              <a:off x="904875" y="5048250"/>
              <a:ext cx="4476750" cy="1047750"/>
            </a:xfrm>
            <a:prstGeom prst="roundRect">
              <a:avLst>
                <a:gd name="adj" fmla="val 9091"/>
              </a:avLst>
            </a:prstGeom>
            <a:solidFill>
              <a:srgbClr val="FEF2F2"/>
            </a:solidFill>
            <a:ln w="14288">
              <a:solidFill>
                <a:srgbClr val="FCA5A5"/>
              </a:solidFill>
            </a:ln>
          </p:spPr>
          <p:txBody>
            <a:bodyPr/>
            <a:lstStyle/>
            <a:p>
              <a:endParaRPr lang="en-US"/>
            </a:p>
          </p:txBody>
        </p:sp>
        <p:sp>
          <p:nvSpPr>
            <p:cNvPr id="35" name="TextBox 35"/>
            <p:cNvSpPr txBox="1"/>
            <p:nvPr/>
          </p:nvSpPr>
          <p:spPr>
            <a:xfrm>
              <a:off x="1090041" y="5207000"/>
              <a:ext cx="2657424" cy="205359"/>
            </a:xfrm>
            <a:prstGeom prst="rect">
              <a:avLst/>
            </a:prstGeom>
            <a:noFill/>
            <a:ln>
              <a:noFill/>
            </a:ln>
          </p:spPr>
          <p:txBody>
            <a:bodyPr wrap="none" lIns="0" tIns="0" rIns="0" bIns="0" anchor="t" anchorCtr="0">
              <a:spAutoFit/>
            </a:bodyPr>
            <a:lstStyle/>
            <a:p>
              <a:pPr algn="l"/>
              <a:r>
                <a:rPr lang="vi" sz="1050" b="1" dirty="0">
                  <a:solidFill>
                    <a:srgbClr val="991B1B"/>
                  </a:solidFill>
                  <a:latin typeface="+mn-lt"/>
                  <a:ea typeface="+mn-ea"/>
                  <a:cs typeface="+mn-cs"/>
                </a:rPr>
                <a:t>HỆ QUẢ KỸ THUẬT NGHIÊM TRỌNG:</a:t>
              </a:r>
            </a:p>
          </p:txBody>
        </p:sp>
        <p:sp>
          <p:nvSpPr>
            <p:cNvPr id="36" name="TextBox 36"/>
            <p:cNvSpPr txBox="1"/>
            <p:nvPr/>
          </p:nvSpPr>
          <p:spPr>
            <a:xfrm>
              <a:off x="1090422" y="5445125"/>
              <a:ext cx="3928907" cy="191643"/>
            </a:xfrm>
            <a:prstGeom prst="rect">
              <a:avLst/>
            </a:prstGeom>
            <a:noFill/>
            <a:ln>
              <a:noFill/>
            </a:ln>
          </p:spPr>
          <p:txBody>
            <a:bodyPr wrap="none" lIns="0" tIns="0" rIns="0" bIns="0" anchor="t" anchorCtr="0">
              <a:spAutoFit/>
            </a:bodyPr>
            <a:lstStyle/>
            <a:p>
              <a:pPr algn="l"/>
              <a:r>
                <a:rPr lang="vi" sz="980" dirty="0">
                  <a:solidFill>
                    <a:srgbClr val="7F1D1D"/>
                  </a:solidFill>
                  <a:latin typeface="+mn-lt"/>
                  <a:ea typeface="+mn-ea"/>
                  <a:cs typeface="+mn-cs"/>
                </a:rPr>
                <a:t>✗ Khoảng cách Euclidean bị chi phối hoàn toàn bởi Fresh/Grocery</a:t>
              </a:r>
            </a:p>
          </p:txBody>
        </p:sp>
        <p:sp>
          <p:nvSpPr>
            <p:cNvPr id="37" name="TextBox 37"/>
            <p:cNvSpPr txBox="1"/>
            <p:nvPr/>
          </p:nvSpPr>
          <p:spPr>
            <a:xfrm>
              <a:off x="1090422" y="5664200"/>
              <a:ext cx="4027647" cy="191643"/>
            </a:xfrm>
            <a:prstGeom prst="rect">
              <a:avLst/>
            </a:prstGeom>
            <a:noFill/>
            <a:ln>
              <a:noFill/>
            </a:ln>
          </p:spPr>
          <p:txBody>
            <a:bodyPr wrap="none" lIns="0" tIns="0" rIns="0" bIns="0" anchor="t" anchorCtr="0">
              <a:spAutoFit/>
            </a:bodyPr>
            <a:lstStyle/>
            <a:p>
              <a:pPr algn="l"/>
              <a:r>
                <a:rPr lang="vi" sz="980" dirty="0">
                  <a:solidFill>
                    <a:srgbClr val="7F1D1D"/>
                  </a:solidFill>
                  <a:latin typeface="+mn-lt"/>
                  <a:ea typeface="+mn-ea"/>
                  <a:cs typeface="+mn-cs"/>
                </a:rPr>
                <a:t>✗ K-Means trên Raw bị méo mó, nuốt cụm nhỏ (K&gt;=4 có cụm &lt;1%)</a:t>
              </a:r>
            </a:p>
          </p:txBody>
        </p:sp>
        <p:sp>
          <p:nvSpPr>
            <p:cNvPr id="38" name="TextBox 38"/>
            <p:cNvSpPr txBox="1"/>
            <p:nvPr/>
          </p:nvSpPr>
          <p:spPr>
            <a:xfrm>
              <a:off x="1090422" y="5854700"/>
              <a:ext cx="2941269" cy="191643"/>
            </a:xfrm>
            <a:prstGeom prst="rect">
              <a:avLst/>
            </a:prstGeom>
            <a:noFill/>
            <a:ln>
              <a:noFill/>
            </a:ln>
          </p:spPr>
          <p:txBody>
            <a:bodyPr wrap="none" lIns="0" tIns="0" rIns="0" bIns="0" anchor="t" anchorCtr="0">
              <a:spAutoFit/>
            </a:bodyPr>
            <a:lstStyle/>
            <a:p>
              <a:pPr algn="l"/>
              <a:r>
                <a:rPr lang="vi" sz="980" dirty="0">
                  <a:solidFill>
                    <a:srgbClr val="7F1D1D"/>
                  </a:solidFill>
                  <a:latin typeface="+mn-lt"/>
                  <a:ea typeface="+mn-ea"/>
                  <a:cs typeface="+mn-cs"/>
                </a:rPr>
                <a:t>✗ Không phản ánh đúng cơ cấu chi tiêu tương đối</a:t>
              </a:r>
            </a:p>
          </p:txBody>
        </p:sp>
      </p:grpSp>
      <p:grpSp>
        <p:nvGrpSpPr>
          <p:cNvPr id="46" name="transform-bridge"/>
          <p:cNvGrpSpPr/>
          <p:nvPr/>
        </p:nvGrpSpPr>
        <p:grpSpPr>
          <a:xfrm>
            <a:off x="5762625" y="2667000"/>
            <a:ext cx="666750" cy="1714500"/>
            <a:chOff x="5762625" y="2667000"/>
            <a:chExt cx="666750" cy="1714500"/>
          </a:xfrm>
        </p:grpSpPr>
        <p:sp>
          <p:nvSpPr>
            <p:cNvPr id="40" name="Rectangle 40"/>
            <p:cNvSpPr/>
            <p:nvPr/>
          </p:nvSpPr>
          <p:spPr>
            <a:xfrm>
              <a:off x="5762625" y="2667000"/>
              <a:ext cx="666750" cy="1714500"/>
            </a:xfrm>
            <a:prstGeom prst="roundRect">
              <a:avLst>
                <a:gd name="adj" fmla="val 50000"/>
              </a:avLst>
            </a:prstGeom>
            <a:solidFill>
              <a:srgbClr val="EFF6FF"/>
            </a:solidFill>
            <a:ln w="19050">
              <a:solidFill>
                <a:srgbClr val="3B82F6"/>
              </a:solidFill>
            </a:ln>
          </p:spPr>
          <p:txBody>
            <a:bodyPr/>
            <a:lstStyle/>
            <a:p>
              <a:endParaRPr lang="en-US"/>
            </a:p>
          </p:txBody>
        </p:sp>
        <p:sp>
          <p:nvSpPr>
            <p:cNvPr id="41" name="TextBox 41"/>
            <p:cNvSpPr txBox="1"/>
            <p:nvPr/>
          </p:nvSpPr>
          <p:spPr>
            <a:xfrm>
              <a:off x="5876609" y="2994025"/>
              <a:ext cx="438781" cy="161925"/>
            </a:xfrm>
            <a:prstGeom prst="rect">
              <a:avLst/>
            </a:prstGeom>
            <a:noFill/>
            <a:ln>
              <a:noFill/>
            </a:ln>
          </p:spPr>
          <p:txBody>
            <a:bodyPr wrap="none" lIns="0" tIns="0" rIns="0" bIns="0" anchor="t" anchorCtr="0">
              <a:spAutoFit/>
            </a:bodyPr>
            <a:lstStyle/>
            <a:p>
              <a:pPr algn="ctr"/>
              <a:r>
                <a:rPr lang="vi" sz="820" b="1" dirty="0">
                  <a:solidFill>
                    <a:srgbClr val="1D4ED8"/>
                  </a:solidFill>
                  <a:latin typeface="+mn-lt"/>
                  <a:ea typeface="+mn-ea"/>
                  <a:cs typeface="+mn-cs"/>
                </a:rPr>
                <a:t>log1p(x)</a:t>
              </a:r>
            </a:p>
          </p:txBody>
        </p:sp>
        <p:sp>
          <p:nvSpPr>
            <p:cNvPr id="42" name="Freeform 42"/>
            <p:cNvSpPr/>
            <p:nvPr/>
          </p:nvSpPr>
          <p:spPr>
            <a:xfrm>
              <a:off x="6096000" y="3286125"/>
              <a:ext cx="9525" cy="285750"/>
            </a:xfrm>
            <a:custGeom>
              <a:avLst/>
              <a:gdLst/>
              <a:ahLst/>
              <a:cxnLst/>
              <a:rect l="l" t="t" r="r" b="b"/>
              <a:pathLst>
                <a:path w="9525" h="285750">
                  <a:moveTo>
                    <a:pt x="0" y="0"/>
                  </a:moveTo>
                  <a:lnTo>
                    <a:pt x="0" y="285750"/>
                  </a:lnTo>
                </a:path>
              </a:pathLst>
            </a:custGeom>
            <a:solidFill>
              <a:srgbClr val="000000"/>
            </a:solidFill>
            <a:ln w="28575" cap="rnd">
              <a:solidFill>
                <a:srgbClr val="3B82F6"/>
              </a:solidFill>
            </a:ln>
          </p:spPr>
          <p:txBody>
            <a:bodyPr/>
            <a:lstStyle/>
            <a:p>
              <a:endParaRPr lang="en-US"/>
            </a:p>
          </p:txBody>
        </p:sp>
        <p:sp>
          <p:nvSpPr>
            <p:cNvPr id="43" name="Polygon 43"/>
            <p:cNvSpPr/>
            <p:nvPr/>
          </p:nvSpPr>
          <p:spPr>
            <a:xfrm>
              <a:off x="6048375" y="3571875"/>
              <a:ext cx="95250" cy="95250"/>
            </a:xfrm>
            <a:custGeom>
              <a:avLst/>
              <a:gdLst/>
              <a:ahLst/>
              <a:cxnLst/>
              <a:rect l="l" t="t" r="r" b="b"/>
              <a:pathLst>
                <a:path w="95250" h="95250">
                  <a:moveTo>
                    <a:pt x="0" y="0"/>
                  </a:moveTo>
                  <a:lnTo>
                    <a:pt x="47625" y="95250"/>
                  </a:lnTo>
                  <a:lnTo>
                    <a:pt x="95250" y="0"/>
                  </a:lnTo>
                  <a:close/>
                </a:path>
              </a:pathLst>
            </a:custGeom>
            <a:solidFill>
              <a:srgbClr val="3B82F6"/>
            </a:solidFill>
            <a:ln>
              <a:noFill/>
            </a:ln>
          </p:spPr>
          <p:txBody>
            <a:bodyPr/>
            <a:lstStyle/>
            <a:p>
              <a:endParaRPr lang="en-US"/>
            </a:p>
          </p:txBody>
        </p:sp>
        <p:sp>
          <p:nvSpPr>
            <p:cNvPr id="44" name="TextBox 44"/>
            <p:cNvSpPr txBox="1"/>
            <p:nvPr/>
          </p:nvSpPr>
          <p:spPr>
            <a:xfrm>
              <a:off x="5850333" y="3851275"/>
              <a:ext cx="491333" cy="161925"/>
            </a:xfrm>
            <a:prstGeom prst="rect">
              <a:avLst/>
            </a:prstGeom>
            <a:noFill/>
            <a:ln>
              <a:noFill/>
            </a:ln>
          </p:spPr>
          <p:txBody>
            <a:bodyPr wrap="none" lIns="0" tIns="0" rIns="0" bIns="0" anchor="t" anchorCtr="0">
              <a:spAutoFit/>
            </a:bodyPr>
            <a:lstStyle/>
            <a:p>
              <a:pPr algn="ctr"/>
              <a:r>
                <a:rPr lang="vi" sz="820" b="1" dirty="0">
                  <a:solidFill>
                    <a:srgbClr val="059669"/>
                  </a:solidFill>
                  <a:latin typeface="+mn-lt"/>
                  <a:ea typeface="+mn-ea"/>
                  <a:cs typeface="+mn-cs"/>
                </a:rPr>
                <a:t>Standard</a:t>
              </a:r>
            </a:p>
          </p:txBody>
        </p:sp>
        <p:sp>
          <p:nvSpPr>
            <p:cNvPr id="45" name="TextBox 45"/>
            <p:cNvSpPr txBox="1"/>
            <p:nvPr/>
          </p:nvSpPr>
          <p:spPr>
            <a:xfrm>
              <a:off x="5923948" y="4013200"/>
              <a:ext cx="344104" cy="161925"/>
            </a:xfrm>
            <a:prstGeom prst="rect">
              <a:avLst/>
            </a:prstGeom>
            <a:noFill/>
            <a:ln>
              <a:noFill/>
            </a:ln>
          </p:spPr>
          <p:txBody>
            <a:bodyPr wrap="none" lIns="0" tIns="0" rIns="0" bIns="0" anchor="t" anchorCtr="0">
              <a:spAutoFit/>
            </a:bodyPr>
            <a:lstStyle/>
            <a:p>
              <a:pPr algn="ctr"/>
              <a:r>
                <a:rPr lang="vi" sz="820" b="1" dirty="0">
                  <a:solidFill>
                    <a:srgbClr val="059669"/>
                  </a:solidFill>
                  <a:latin typeface="+mn-lt"/>
                  <a:ea typeface="+mn-ea"/>
                  <a:cs typeface="+mn-cs"/>
                </a:rPr>
                <a:t>Scaler</a:t>
              </a:r>
            </a:p>
          </p:txBody>
        </p:sp>
      </p:grpSp>
      <p:grpSp>
        <p:nvGrpSpPr>
          <p:cNvPr id="80" name="log1p-solution"/>
          <p:cNvGrpSpPr/>
          <p:nvPr/>
        </p:nvGrpSpPr>
        <p:grpSpPr>
          <a:xfrm>
            <a:off x="6572250" y="1428750"/>
            <a:ext cx="4953000" cy="4905375"/>
            <a:chOff x="6572250" y="1428750"/>
            <a:chExt cx="4953000" cy="4905375"/>
          </a:xfrm>
        </p:grpSpPr>
        <p:sp>
          <p:nvSpPr>
            <p:cNvPr id="47" name="Rectangle 47"/>
            <p:cNvSpPr/>
            <p:nvPr/>
          </p:nvSpPr>
          <p:spPr>
            <a:xfrm>
              <a:off x="6572250" y="1428750"/>
              <a:ext cx="4953000" cy="4905375"/>
            </a:xfrm>
            <a:prstGeom prst="roundRect">
              <a:avLst>
                <a:gd name="adj" fmla="val 2718"/>
              </a:avLst>
            </a:prstGeom>
            <a:solidFill>
              <a:schemeClr val="lt1"/>
            </a:solidFill>
            <a:ln w="14288">
              <a:solidFill>
                <a:srgbClr val="BBF7D0"/>
              </a:solidFill>
            </a:ln>
          </p:spPr>
          <p:txBody>
            <a:bodyPr/>
            <a:lstStyle/>
            <a:p>
              <a:endParaRPr lang="en-US"/>
            </a:p>
          </p:txBody>
        </p:sp>
        <p:sp>
          <p:nvSpPr>
            <p:cNvPr id="48" name="Rectangle 48"/>
            <p:cNvSpPr/>
            <p:nvPr/>
          </p:nvSpPr>
          <p:spPr>
            <a:xfrm>
              <a:off x="6572250" y="1428750"/>
              <a:ext cx="4953000" cy="57150"/>
            </a:xfrm>
            <a:prstGeom prst="roundRect">
              <a:avLst>
                <a:gd name="adj" fmla="val 50000"/>
              </a:avLst>
            </a:prstGeom>
            <a:solidFill>
              <a:srgbClr val="059669"/>
            </a:solidFill>
            <a:ln>
              <a:noFill/>
            </a:ln>
          </p:spPr>
          <p:txBody>
            <a:bodyPr/>
            <a:lstStyle/>
            <a:p>
              <a:endParaRPr lang="en-US"/>
            </a:p>
          </p:txBody>
        </p:sp>
        <p:sp>
          <p:nvSpPr>
            <p:cNvPr id="49" name="Rectangle 49"/>
            <p:cNvSpPr/>
            <p:nvPr/>
          </p:nvSpPr>
          <p:spPr>
            <a:xfrm>
              <a:off x="6810375" y="1666875"/>
              <a:ext cx="2667000" cy="323850"/>
            </a:xfrm>
            <a:prstGeom prst="roundRect">
              <a:avLst>
                <a:gd name="adj" fmla="val 50000"/>
              </a:avLst>
            </a:prstGeom>
            <a:solidFill>
              <a:srgbClr val="DCFCE7"/>
            </a:solidFill>
            <a:ln>
              <a:noFill/>
            </a:ln>
          </p:spPr>
          <p:txBody>
            <a:bodyPr/>
            <a:lstStyle/>
            <a:p>
              <a:endParaRPr lang="en-US"/>
            </a:p>
          </p:txBody>
        </p:sp>
        <p:sp>
          <p:nvSpPr>
            <p:cNvPr id="50" name="Ellipse 50"/>
            <p:cNvSpPr/>
            <p:nvPr/>
          </p:nvSpPr>
          <p:spPr>
            <a:xfrm>
              <a:off x="6867525" y="1724025"/>
              <a:ext cx="209550" cy="209550"/>
            </a:xfrm>
            <a:prstGeom prst="ellipse">
              <a:avLst/>
            </a:prstGeom>
            <a:solidFill>
              <a:srgbClr val="059669"/>
            </a:solidFill>
            <a:ln>
              <a:noFill/>
            </a:ln>
          </p:spPr>
          <p:txBody>
            <a:bodyPr/>
            <a:lstStyle/>
            <a:p>
              <a:endParaRPr lang="en-US"/>
            </a:p>
          </p:txBody>
        </p:sp>
        <p:sp>
          <p:nvSpPr>
            <p:cNvPr id="51" name="Freeform 51"/>
            <p:cNvSpPr/>
            <p:nvPr/>
          </p:nvSpPr>
          <p:spPr>
            <a:xfrm>
              <a:off x="6924675" y="1790700"/>
              <a:ext cx="95250" cy="76200"/>
            </a:xfrm>
            <a:custGeom>
              <a:avLst/>
              <a:gdLst/>
              <a:ahLst/>
              <a:cxnLst/>
              <a:rect l="l" t="t" r="r" b="b"/>
              <a:pathLst>
                <a:path w="95250" h="76200">
                  <a:moveTo>
                    <a:pt x="0" y="38100"/>
                  </a:moveTo>
                  <a:lnTo>
                    <a:pt x="38100" y="76200"/>
                  </a:lnTo>
                  <a:lnTo>
                    <a:pt x="95250" y="0"/>
                  </a:lnTo>
                </a:path>
              </a:pathLst>
            </a:custGeom>
            <a:noFill/>
            <a:ln w="19050" cap="rnd">
              <a:solidFill>
                <a:srgbClr val="FFFFFF"/>
              </a:solidFill>
            </a:ln>
          </p:spPr>
          <p:txBody>
            <a:bodyPr/>
            <a:lstStyle/>
            <a:p>
              <a:endParaRPr lang="en-US"/>
            </a:p>
          </p:txBody>
        </p:sp>
        <p:sp>
          <p:nvSpPr>
            <p:cNvPr id="52" name="TextBox 52"/>
            <p:cNvSpPr txBox="1"/>
            <p:nvPr/>
          </p:nvSpPr>
          <p:spPr>
            <a:xfrm>
              <a:off x="7157466" y="1749425"/>
              <a:ext cx="2180663" cy="205359"/>
            </a:xfrm>
            <a:prstGeom prst="rect">
              <a:avLst/>
            </a:prstGeom>
            <a:noFill/>
            <a:ln>
              <a:noFill/>
            </a:ln>
          </p:spPr>
          <p:txBody>
            <a:bodyPr wrap="none" lIns="0" tIns="0" rIns="0" bIns="0" anchor="t" anchorCtr="0">
              <a:spAutoFit/>
            </a:bodyPr>
            <a:lstStyle/>
            <a:p>
              <a:pPr algn="l"/>
              <a:r>
                <a:rPr lang="vi" sz="1050" b="1" dirty="0">
                  <a:solidFill>
                    <a:srgbClr val="065F46"/>
                  </a:solidFill>
                  <a:latin typeface="+mn-lt"/>
                  <a:ea typeface="+mn-ea"/>
                  <a:cs typeface="+mn-cs"/>
                </a:rPr>
                <a:t>LOG1P + STANDARD SCALER</a:t>
              </a:r>
            </a:p>
          </p:txBody>
        </p:sp>
        <p:sp>
          <p:nvSpPr>
            <p:cNvPr id="53" name="TextBox 53"/>
            <p:cNvSpPr txBox="1"/>
            <p:nvPr/>
          </p:nvSpPr>
          <p:spPr>
            <a:xfrm>
              <a:off x="6804660" y="2146300"/>
              <a:ext cx="2787664" cy="220028"/>
            </a:xfrm>
            <a:prstGeom prst="rect">
              <a:avLst/>
            </a:prstGeom>
            <a:noFill/>
            <a:ln>
              <a:noFill/>
            </a:ln>
          </p:spPr>
          <p:txBody>
            <a:bodyPr wrap="none" lIns="0" tIns="0" rIns="0" bIns="0" anchor="t" anchorCtr="0">
              <a:spAutoFit/>
            </a:bodyPr>
            <a:lstStyle/>
            <a:p>
              <a:pPr algn="l"/>
              <a:r>
                <a:rPr lang="vi" sz="1120" b="1" dirty="0">
                  <a:solidFill>
                    <a:srgbClr val="0F172A"/>
                  </a:solidFill>
                  <a:latin typeface="+mn-lt"/>
                  <a:ea typeface="+mn-ea"/>
                  <a:cs typeface="+mn-cs"/>
                </a:rPr>
                <a:t>Triệt tiêu Skewness (Giảm đến 92.6%):</a:t>
              </a:r>
            </a:p>
          </p:txBody>
        </p:sp>
        <p:sp>
          <p:nvSpPr>
            <p:cNvPr id="54" name="TextBox 54"/>
            <p:cNvSpPr txBox="1"/>
            <p:nvPr/>
          </p:nvSpPr>
          <p:spPr>
            <a:xfrm>
              <a:off x="6805612" y="2362200"/>
              <a:ext cx="2595715" cy="176212"/>
            </a:xfrm>
            <a:prstGeom prst="rect">
              <a:avLst/>
            </a:prstGeom>
            <a:noFill/>
            <a:ln>
              <a:noFill/>
            </a:ln>
          </p:spPr>
          <p:txBody>
            <a:bodyPr wrap="none" lIns="0" tIns="0" rIns="0" bIns="0" anchor="t" anchorCtr="0">
              <a:spAutoFit/>
            </a:bodyPr>
            <a:lstStyle/>
            <a:p>
              <a:pPr algn="l"/>
              <a:r>
                <a:rPr lang="vi" sz="900" dirty="0">
                  <a:solidFill>
                    <a:srgbClr val="64748B"/>
                  </a:solidFill>
                  <a:latin typeface="+mn-lt"/>
                  <a:ea typeface="+mn-ea"/>
                  <a:cs typeface="+mn-cs"/>
                </a:rPr>
                <a:t>reports/data/eda/preprocessing_comparison.csv</a:t>
              </a:r>
            </a:p>
          </p:txBody>
        </p:sp>
        <p:sp>
          <p:nvSpPr>
            <p:cNvPr id="55" name="TextBox 55"/>
            <p:cNvSpPr txBox="1"/>
            <p:nvPr/>
          </p:nvSpPr>
          <p:spPr>
            <a:xfrm>
              <a:off x="6805422" y="2682875"/>
              <a:ext cx="695726"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Delicassen:</a:t>
              </a:r>
            </a:p>
          </p:txBody>
        </p:sp>
        <p:sp>
          <p:nvSpPr>
            <p:cNvPr id="56" name="Rectangle 56"/>
            <p:cNvSpPr/>
            <p:nvPr/>
          </p:nvSpPr>
          <p:spPr>
            <a:xfrm>
              <a:off x="7667625" y="2686050"/>
              <a:ext cx="238125" cy="171450"/>
            </a:xfrm>
            <a:prstGeom prst="roundRect">
              <a:avLst>
                <a:gd name="adj" fmla="val 22222"/>
              </a:avLst>
            </a:prstGeom>
            <a:solidFill>
              <a:schemeClr val="accent2"/>
            </a:solidFill>
            <a:ln>
              <a:noFill/>
            </a:ln>
          </p:spPr>
          <p:txBody>
            <a:bodyPr/>
            <a:lstStyle/>
            <a:p>
              <a:endParaRPr lang="en-US"/>
            </a:p>
          </p:txBody>
        </p:sp>
        <p:sp>
          <p:nvSpPr>
            <p:cNvPr id="57" name="TextBox 57"/>
            <p:cNvSpPr txBox="1"/>
            <p:nvPr/>
          </p:nvSpPr>
          <p:spPr>
            <a:xfrm>
              <a:off x="7996047" y="2692400"/>
              <a:ext cx="1427284" cy="191643"/>
            </a:xfrm>
            <a:prstGeom prst="rect">
              <a:avLst/>
            </a:prstGeom>
            <a:noFill/>
            <a:ln>
              <a:noFill/>
            </a:ln>
          </p:spPr>
          <p:txBody>
            <a:bodyPr wrap="none" lIns="0" tIns="0" rIns="0" bIns="0" anchor="t" anchorCtr="0">
              <a:spAutoFit/>
            </a:bodyPr>
            <a:lstStyle/>
            <a:p>
              <a:pPr algn="l"/>
              <a:r>
                <a:rPr lang="vi" sz="980" b="1" dirty="0">
                  <a:solidFill>
                    <a:srgbClr val="059669"/>
                  </a:solidFill>
                  <a:latin typeface="+mn-lt"/>
                  <a:ea typeface="+mn-ea"/>
                  <a:cs typeface="+mn-cs"/>
                </a:rPr>
                <a:t>-0.90 (Giảm từ +12.12!)</a:t>
              </a:r>
            </a:p>
          </p:txBody>
        </p:sp>
        <p:sp>
          <p:nvSpPr>
            <p:cNvPr id="58" name="TextBox 58"/>
            <p:cNvSpPr txBox="1"/>
            <p:nvPr/>
          </p:nvSpPr>
          <p:spPr>
            <a:xfrm>
              <a:off x="6805422" y="2968625"/>
              <a:ext cx="284880"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Milk:</a:t>
              </a:r>
            </a:p>
          </p:txBody>
        </p:sp>
        <p:sp>
          <p:nvSpPr>
            <p:cNvPr id="59" name="Rectangle 59"/>
            <p:cNvSpPr/>
            <p:nvPr/>
          </p:nvSpPr>
          <p:spPr>
            <a:xfrm>
              <a:off x="7667625" y="2971800"/>
              <a:ext cx="95250" cy="171450"/>
            </a:xfrm>
            <a:prstGeom prst="roundRect">
              <a:avLst>
                <a:gd name="adj" fmla="val 40000"/>
              </a:avLst>
            </a:prstGeom>
            <a:solidFill>
              <a:schemeClr val="accent2"/>
            </a:solidFill>
            <a:ln>
              <a:noFill/>
            </a:ln>
          </p:spPr>
          <p:txBody>
            <a:bodyPr/>
            <a:lstStyle/>
            <a:p>
              <a:endParaRPr lang="en-US"/>
            </a:p>
          </p:txBody>
        </p:sp>
        <p:sp>
          <p:nvSpPr>
            <p:cNvPr id="60" name="TextBox 60"/>
            <p:cNvSpPr txBox="1"/>
            <p:nvPr/>
          </p:nvSpPr>
          <p:spPr>
            <a:xfrm>
              <a:off x="7853172" y="2978150"/>
              <a:ext cx="1563068" cy="191643"/>
            </a:xfrm>
            <a:prstGeom prst="rect">
              <a:avLst/>
            </a:prstGeom>
            <a:noFill/>
            <a:ln>
              <a:noFill/>
            </a:ln>
          </p:spPr>
          <p:txBody>
            <a:bodyPr wrap="none" lIns="0" tIns="0" rIns="0" bIns="0" anchor="t" anchorCtr="0">
              <a:spAutoFit/>
            </a:bodyPr>
            <a:lstStyle/>
            <a:p>
              <a:pPr algn="l"/>
              <a:r>
                <a:rPr lang="vi" sz="980" b="1" dirty="0">
                  <a:solidFill>
                    <a:srgbClr val="059669"/>
                  </a:solidFill>
                  <a:latin typeface="+mn-lt"/>
                  <a:ea typeface="+mn-ea"/>
                  <a:cs typeface="+mn-cs"/>
                </a:rPr>
                <a:t>-0.17 (Gần như đối xứng)</a:t>
              </a:r>
            </a:p>
          </p:txBody>
        </p:sp>
        <p:sp>
          <p:nvSpPr>
            <p:cNvPr id="61" name="TextBox 61"/>
            <p:cNvSpPr txBox="1"/>
            <p:nvPr/>
          </p:nvSpPr>
          <p:spPr>
            <a:xfrm>
              <a:off x="6805422" y="3254375"/>
              <a:ext cx="461386"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Frozen:</a:t>
              </a:r>
            </a:p>
          </p:txBody>
        </p:sp>
        <p:sp>
          <p:nvSpPr>
            <p:cNvPr id="62" name="Rectangle 62"/>
            <p:cNvSpPr/>
            <p:nvPr/>
          </p:nvSpPr>
          <p:spPr>
            <a:xfrm>
              <a:off x="7667625" y="3257550"/>
              <a:ext cx="142875" cy="171450"/>
            </a:xfrm>
            <a:prstGeom prst="roundRect">
              <a:avLst>
                <a:gd name="adj" fmla="val 26667"/>
              </a:avLst>
            </a:prstGeom>
            <a:solidFill>
              <a:schemeClr val="accent2"/>
            </a:solidFill>
            <a:ln>
              <a:noFill/>
            </a:ln>
          </p:spPr>
          <p:txBody>
            <a:bodyPr/>
            <a:lstStyle/>
            <a:p>
              <a:endParaRPr lang="en-US"/>
            </a:p>
          </p:txBody>
        </p:sp>
        <p:sp>
          <p:nvSpPr>
            <p:cNvPr id="63" name="TextBox 63"/>
            <p:cNvSpPr txBox="1"/>
            <p:nvPr/>
          </p:nvSpPr>
          <p:spPr>
            <a:xfrm>
              <a:off x="7900797" y="3263900"/>
              <a:ext cx="310622" cy="191643"/>
            </a:xfrm>
            <a:prstGeom prst="rect">
              <a:avLst/>
            </a:prstGeom>
            <a:noFill/>
            <a:ln>
              <a:noFill/>
            </a:ln>
          </p:spPr>
          <p:txBody>
            <a:bodyPr wrap="none" lIns="0" tIns="0" rIns="0" bIns="0" anchor="t" anchorCtr="0">
              <a:spAutoFit/>
            </a:bodyPr>
            <a:lstStyle/>
            <a:p>
              <a:pPr algn="l"/>
              <a:r>
                <a:rPr lang="vi" sz="980" b="1" dirty="0">
                  <a:solidFill>
                    <a:srgbClr val="059669"/>
                  </a:solidFill>
                  <a:latin typeface="+mn-lt"/>
                  <a:ea typeface="+mn-ea"/>
                  <a:cs typeface="+mn-cs"/>
                </a:rPr>
                <a:t>-0.46</a:t>
              </a:r>
            </a:p>
          </p:txBody>
        </p:sp>
        <p:sp>
          <p:nvSpPr>
            <p:cNvPr id="64" name="TextBox 64"/>
            <p:cNvSpPr txBox="1"/>
            <p:nvPr/>
          </p:nvSpPr>
          <p:spPr>
            <a:xfrm>
              <a:off x="6805422" y="3540125"/>
              <a:ext cx="519807"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Grocery:</a:t>
              </a:r>
            </a:p>
          </p:txBody>
        </p:sp>
        <p:sp>
          <p:nvSpPr>
            <p:cNvPr id="65" name="Rectangle 65"/>
            <p:cNvSpPr/>
            <p:nvPr/>
          </p:nvSpPr>
          <p:spPr>
            <a:xfrm>
              <a:off x="7667625" y="3543300"/>
              <a:ext cx="209550" cy="171450"/>
            </a:xfrm>
            <a:prstGeom prst="roundRect">
              <a:avLst>
                <a:gd name="adj" fmla="val 22222"/>
              </a:avLst>
            </a:prstGeom>
            <a:solidFill>
              <a:schemeClr val="accent2"/>
            </a:solidFill>
            <a:ln>
              <a:noFill/>
            </a:ln>
          </p:spPr>
          <p:txBody>
            <a:bodyPr/>
            <a:lstStyle/>
            <a:p>
              <a:endParaRPr lang="en-US"/>
            </a:p>
          </p:txBody>
        </p:sp>
        <p:sp>
          <p:nvSpPr>
            <p:cNvPr id="66" name="TextBox 66"/>
            <p:cNvSpPr txBox="1"/>
            <p:nvPr/>
          </p:nvSpPr>
          <p:spPr>
            <a:xfrm>
              <a:off x="7967472" y="3549650"/>
              <a:ext cx="310622" cy="191643"/>
            </a:xfrm>
            <a:prstGeom prst="rect">
              <a:avLst/>
            </a:prstGeom>
            <a:noFill/>
            <a:ln>
              <a:noFill/>
            </a:ln>
          </p:spPr>
          <p:txBody>
            <a:bodyPr wrap="none" lIns="0" tIns="0" rIns="0" bIns="0" anchor="t" anchorCtr="0">
              <a:spAutoFit/>
            </a:bodyPr>
            <a:lstStyle/>
            <a:p>
              <a:pPr algn="l"/>
              <a:r>
                <a:rPr lang="vi" sz="980" b="1" dirty="0">
                  <a:solidFill>
                    <a:srgbClr val="059669"/>
                  </a:solidFill>
                  <a:latin typeface="+mn-lt"/>
                  <a:ea typeface="+mn-ea"/>
                  <a:cs typeface="+mn-cs"/>
                </a:rPr>
                <a:t>-0.94</a:t>
              </a:r>
            </a:p>
          </p:txBody>
        </p:sp>
        <p:sp>
          <p:nvSpPr>
            <p:cNvPr id="67" name="TextBox 67"/>
            <p:cNvSpPr txBox="1"/>
            <p:nvPr/>
          </p:nvSpPr>
          <p:spPr>
            <a:xfrm>
              <a:off x="6804660" y="3956050"/>
              <a:ext cx="2144500" cy="220028"/>
            </a:xfrm>
            <a:prstGeom prst="rect">
              <a:avLst/>
            </a:prstGeom>
            <a:noFill/>
            <a:ln>
              <a:noFill/>
            </a:ln>
          </p:spPr>
          <p:txBody>
            <a:bodyPr wrap="none" lIns="0" tIns="0" rIns="0" bIns="0" anchor="t" anchorCtr="0">
              <a:spAutoFit/>
            </a:bodyPr>
            <a:lstStyle/>
            <a:p>
              <a:pPr algn="l"/>
              <a:r>
                <a:rPr lang="vi" sz="1120" b="1" dirty="0">
                  <a:solidFill>
                    <a:srgbClr val="0F172A"/>
                  </a:solidFill>
                  <a:latin typeface="+mn-lt"/>
                  <a:ea typeface="+mn-ea"/>
                  <a:cs typeface="+mn-cs"/>
                </a:rPr>
                <a:t>Cân bằng thang đo hoàn hảo:</a:t>
              </a:r>
            </a:p>
          </p:txBody>
        </p:sp>
        <p:sp>
          <p:nvSpPr>
            <p:cNvPr id="68" name="Rectangle 68"/>
            <p:cNvSpPr/>
            <p:nvPr/>
          </p:nvSpPr>
          <p:spPr>
            <a:xfrm>
              <a:off x="6810375" y="4238625"/>
              <a:ext cx="4476750" cy="619125"/>
            </a:xfrm>
            <a:prstGeom prst="roundRect">
              <a:avLst>
                <a:gd name="adj" fmla="val 12308"/>
              </a:avLst>
            </a:prstGeom>
            <a:solidFill>
              <a:srgbClr val="F0FDF4"/>
            </a:solidFill>
            <a:ln w="9525">
              <a:solidFill>
                <a:srgbClr val="DCFCE7"/>
              </a:solidFill>
            </a:ln>
          </p:spPr>
          <p:txBody>
            <a:bodyPr/>
            <a:lstStyle/>
            <a:p>
              <a:endParaRPr lang="en-US"/>
            </a:p>
          </p:txBody>
        </p:sp>
        <p:sp>
          <p:nvSpPr>
            <p:cNvPr id="69" name="TextBox 69"/>
            <p:cNvSpPr txBox="1"/>
            <p:nvPr/>
          </p:nvSpPr>
          <p:spPr>
            <a:xfrm>
              <a:off x="6995922" y="4368800"/>
              <a:ext cx="2520435" cy="191643"/>
            </a:xfrm>
            <a:prstGeom prst="rect">
              <a:avLst/>
            </a:prstGeom>
            <a:noFill/>
            <a:ln>
              <a:noFill/>
            </a:ln>
          </p:spPr>
          <p:txBody>
            <a:bodyPr wrap="none" lIns="0" tIns="0" rIns="0" bIns="0" anchor="t" anchorCtr="0">
              <a:spAutoFit/>
            </a:bodyPr>
            <a:lstStyle/>
            <a:p>
              <a:pPr algn="l"/>
              <a:r>
                <a:rPr lang="vi" sz="980" dirty="0">
                  <a:solidFill>
                    <a:srgbClr val="065F46"/>
                  </a:solidFill>
                  <a:latin typeface="+mn-lt"/>
                  <a:ea typeface="+mn-ea"/>
                  <a:cs typeface="+mn-cs"/>
                </a:rPr>
                <a:t>✓ Tất cả 6 đặc trưng: </a:t>
              </a:r>
              <a:r>
                <a:rPr lang="vi" sz="980" b="1" dirty="0">
                  <a:solidFill>
                    <a:srgbClr val="065F46"/>
                  </a:solidFill>
                  <a:latin typeface="+mn-lt"/>
                  <a:ea typeface="+mn-ea"/>
                  <a:cs typeface="+mn-cs"/>
                </a:rPr>
                <a:t>Mean = 0, Std = 1.0</a:t>
              </a:r>
            </a:p>
          </p:txBody>
        </p:sp>
        <p:sp>
          <p:nvSpPr>
            <p:cNvPr id="70" name="TextBox 70"/>
            <p:cNvSpPr txBox="1"/>
            <p:nvPr/>
          </p:nvSpPr>
          <p:spPr>
            <a:xfrm>
              <a:off x="6995922" y="4587875"/>
              <a:ext cx="4056089" cy="191643"/>
            </a:xfrm>
            <a:prstGeom prst="rect">
              <a:avLst/>
            </a:prstGeom>
            <a:noFill/>
            <a:ln>
              <a:noFill/>
            </a:ln>
          </p:spPr>
          <p:txBody>
            <a:bodyPr wrap="none" lIns="0" tIns="0" rIns="0" bIns="0" anchor="t" anchorCtr="0">
              <a:spAutoFit/>
            </a:bodyPr>
            <a:lstStyle/>
            <a:p>
              <a:pPr algn="l"/>
              <a:r>
                <a:rPr lang="vi" sz="980" dirty="0">
                  <a:solidFill>
                    <a:srgbClr val="065F46"/>
                  </a:solidFill>
                  <a:latin typeface="+mn-lt"/>
                  <a:ea typeface="+mn-ea"/>
                  <a:cs typeface="+mn-cs"/>
                </a:rPr>
                <a:t>✓ Trọng số các biến đóng góp đồng đều vào khoảng cách phân cụm</a:t>
              </a:r>
            </a:p>
          </p:txBody>
        </p:sp>
        <p:grpSp>
          <p:nvGrpSpPr>
            <p:cNvPr id="79" name="preproc-kpi"/>
            <p:cNvGrpSpPr/>
            <p:nvPr/>
          </p:nvGrpSpPr>
          <p:grpSpPr>
            <a:xfrm>
              <a:off x="6810375" y="5048250"/>
              <a:ext cx="4476750" cy="1047750"/>
              <a:chOff x="6810375" y="5048250"/>
              <a:chExt cx="4476750" cy="1047750"/>
            </a:xfrm>
          </p:grpSpPr>
          <p:sp>
            <p:nvSpPr>
              <p:cNvPr id="71" name="Rectangle 71"/>
              <p:cNvSpPr/>
              <p:nvPr/>
            </p:nvSpPr>
            <p:spPr>
              <a:xfrm>
                <a:off x="6810375" y="5048250"/>
                <a:ext cx="2143125" cy="1047750"/>
              </a:xfrm>
              <a:prstGeom prst="roundRect">
                <a:avLst>
                  <a:gd name="adj" fmla="val 9091"/>
                </a:avLst>
              </a:prstGeom>
              <a:solidFill>
                <a:srgbClr val="ECFDF5"/>
              </a:solidFill>
              <a:ln w="14288">
                <a:solidFill>
                  <a:srgbClr val="A7F3D0"/>
                </a:solidFill>
              </a:ln>
            </p:spPr>
            <p:txBody>
              <a:bodyPr/>
              <a:lstStyle/>
              <a:p>
                <a:endParaRPr lang="en-US"/>
              </a:p>
            </p:txBody>
          </p:sp>
          <p:sp>
            <p:nvSpPr>
              <p:cNvPr id="72" name="TextBox 72"/>
              <p:cNvSpPr txBox="1"/>
              <p:nvPr/>
            </p:nvSpPr>
            <p:spPr>
              <a:xfrm>
                <a:off x="6995922" y="5207000"/>
                <a:ext cx="1655773" cy="191643"/>
              </a:xfrm>
              <a:prstGeom prst="rect">
                <a:avLst/>
              </a:prstGeom>
              <a:noFill/>
              <a:ln>
                <a:noFill/>
              </a:ln>
            </p:spPr>
            <p:txBody>
              <a:bodyPr wrap="none" lIns="0" tIns="0" rIns="0" bIns="0" anchor="t" anchorCtr="0">
                <a:spAutoFit/>
              </a:bodyPr>
              <a:lstStyle/>
              <a:p>
                <a:pPr algn="l"/>
                <a:r>
                  <a:rPr lang="vi" sz="980" b="1" dirty="0">
                    <a:solidFill>
                      <a:srgbClr val="065F46"/>
                    </a:solidFill>
                    <a:latin typeface="+mn-lt"/>
                    <a:ea typeface="+mn-ea"/>
                    <a:cs typeface="+mn-cs"/>
                  </a:rPr>
                  <a:t>ĐỘ ỔN ĐỊNH SEED (K=2)</a:t>
                </a:r>
              </a:p>
            </p:txBody>
          </p:sp>
          <p:sp>
            <p:nvSpPr>
              <p:cNvPr id="73" name="TextBox 73"/>
              <p:cNvSpPr txBox="1"/>
              <p:nvPr/>
            </p:nvSpPr>
            <p:spPr>
              <a:xfrm>
                <a:off x="6988683" y="5422900"/>
                <a:ext cx="1675142" cy="469392"/>
              </a:xfrm>
              <a:prstGeom prst="rect">
                <a:avLst/>
              </a:prstGeom>
              <a:noFill/>
              <a:ln>
                <a:noFill/>
              </a:ln>
            </p:spPr>
            <p:txBody>
              <a:bodyPr wrap="none" lIns="0" tIns="0" rIns="0" bIns="0" anchor="t" anchorCtr="0">
                <a:spAutoFit/>
              </a:bodyPr>
              <a:lstStyle/>
              <a:p>
                <a:pPr algn="l"/>
                <a:r>
                  <a:rPr lang="vi" sz="2400" b="1" dirty="0">
                    <a:solidFill>
                      <a:srgbClr val="059669"/>
                    </a:solidFill>
                    <a:latin typeface="+mn-lt"/>
                    <a:ea typeface="+mn-ea"/>
                    <a:cs typeface="+mn-cs"/>
                  </a:rPr>
                  <a:t>ARI: 0.997</a:t>
                </a:r>
              </a:p>
            </p:txBody>
          </p:sp>
          <p:sp>
            <p:nvSpPr>
              <p:cNvPr id="74" name="TextBox 74"/>
              <p:cNvSpPr txBox="1"/>
              <p:nvPr/>
            </p:nvSpPr>
            <p:spPr>
              <a:xfrm>
                <a:off x="6996112" y="5838825"/>
                <a:ext cx="1632994" cy="176212"/>
              </a:xfrm>
              <a:prstGeom prst="rect">
                <a:avLst/>
              </a:prstGeom>
              <a:noFill/>
              <a:ln>
                <a:noFill/>
              </a:ln>
            </p:spPr>
            <p:txBody>
              <a:bodyPr wrap="none" lIns="0" tIns="0" rIns="0" bIns="0" anchor="t" anchorCtr="0">
                <a:spAutoFit/>
              </a:bodyPr>
              <a:lstStyle/>
              <a:p>
                <a:pPr algn="l"/>
                <a:r>
                  <a:rPr lang="vi" sz="900" dirty="0">
                    <a:solidFill>
                      <a:srgbClr val="064E3B"/>
                    </a:solidFill>
                    <a:latin typeface="+mn-lt"/>
                    <a:ea typeface="+mn-ea"/>
                    <a:cs typeface="+mn-cs"/>
                  </a:rPr>
                  <a:t>100% agreement qua 10 seed</a:t>
                </a:r>
              </a:p>
            </p:txBody>
          </p:sp>
          <p:sp>
            <p:nvSpPr>
              <p:cNvPr id="75" name="Rectangle 75"/>
              <p:cNvSpPr/>
              <p:nvPr/>
            </p:nvSpPr>
            <p:spPr>
              <a:xfrm>
                <a:off x="9144000" y="5048250"/>
                <a:ext cx="2143125" cy="1047750"/>
              </a:xfrm>
              <a:prstGeom prst="roundRect">
                <a:avLst>
                  <a:gd name="adj" fmla="val 9091"/>
                </a:avLst>
              </a:prstGeom>
              <a:solidFill>
                <a:srgbClr val="EFF6FF"/>
              </a:solidFill>
              <a:ln w="14288">
                <a:solidFill>
                  <a:srgbClr val="BFDBFE"/>
                </a:solidFill>
              </a:ln>
            </p:spPr>
            <p:txBody>
              <a:bodyPr/>
              <a:lstStyle/>
              <a:p>
                <a:endParaRPr lang="en-US"/>
              </a:p>
            </p:txBody>
          </p:sp>
          <p:sp>
            <p:nvSpPr>
              <p:cNvPr id="76" name="TextBox 76"/>
              <p:cNvSpPr txBox="1"/>
              <p:nvPr/>
            </p:nvSpPr>
            <p:spPr>
              <a:xfrm>
                <a:off x="9329547" y="5207000"/>
                <a:ext cx="1783292" cy="191643"/>
              </a:xfrm>
              <a:prstGeom prst="rect">
                <a:avLst/>
              </a:prstGeom>
              <a:noFill/>
              <a:ln>
                <a:noFill/>
              </a:ln>
            </p:spPr>
            <p:txBody>
              <a:bodyPr wrap="none" lIns="0" tIns="0" rIns="0" bIns="0" anchor="t" anchorCtr="0">
                <a:spAutoFit/>
              </a:bodyPr>
              <a:lstStyle/>
              <a:p>
                <a:pPr algn="l"/>
                <a:r>
                  <a:rPr lang="vi" sz="980" b="1" dirty="0">
                    <a:solidFill>
                      <a:srgbClr val="1E40AF"/>
                    </a:solidFill>
                    <a:latin typeface="+mn-lt"/>
                    <a:ea typeface="+mn-ea"/>
                    <a:cs typeface="+mn-cs"/>
                  </a:rPr>
                  <a:t>SILHOUETTE VALIDATION</a:t>
                </a:r>
              </a:p>
            </p:txBody>
          </p:sp>
          <p:sp>
            <p:nvSpPr>
              <p:cNvPr id="77" name="TextBox 77"/>
              <p:cNvSpPr txBox="1"/>
              <p:nvPr/>
            </p:nvSpPr>
            <p:spPr>
              <a:xfrm>
                <a:off x="9322308" y="5422900"/>
                <a:ext cx="832944" cy="469392"/>
              </a:xfrm>
              <a:prstGeom prst="rect">
                <a:avLst/>
              </a:prstGeom>
              <a:noFill/>
              <a:ln>
                <a:noFill/>
              </a:ln>
            </p:spPr>
            <p:txBody>
              <a:bodyPr wrap="none" lIns="0" tIns="0" rIns="0" bIns="0" anchor="t" anchorCtr="0">
                <a:spAutoFit/>
              </a:bodyPr>
              <a:lstStyle/>
              <a:p>
                <a:pPr algn="l"/>
                <a:r>
                  <a:rPr lang="vi" sz="2400" b="1" dirty="0">
                    <a:solidFill>
                      <a:schemeClr val="accent1"/>
                    </a:solidFill>
                    <a:latin typeface="+mn-lt"/>
                    <a:ea typeface="+mn-ea"/>
                    <a:cs typeface="+mn-cs"/>
                  </a:rPr>
                  <a:t>0.307</a:t>
                </a:r>
              </a:p>
            </p:txBody>
          </p:sp>
          <p:sp>
            <p:nvSpPr>
              <p:cNvPr id="78" name="TextBox 78"/>
              <p:cNvSpPr txBox="1"/>
              <p:nvPr/>
            </p:nvSpPr>
            <p:spPr>
              <a:xfrm>
                <a:off x="9329738" y="5838825"/>
                <a:ext cx="1899918" cy="176212"/>
              </a:xfrm>
              <a:prstGeom prst="rect">
                <a:avLst/>
              </a:prstGeom>
              <a:noFill/>
              <a:ln>
                <a:noFill/>
              </a:ln>
            </p:spPr>
            <p:txBody>
              <a:bodyPr wrap="none" lIns="0" tIns="0" rIns="0" bIns="0" anchor="t" anchorCtr="0">
                <a:spAutoFit/>
              </a:bodyPr>
              <a:lstStyle/>
              <a:p>
                <a:pPr algn="l"/>
                <a:r>
                  <a:rPr lang="vi" sz="900" dirty="0">
                    <a:solidFill>
                      <a:srgbClr val="1E3A8A"/>
                    </a:solidFill>
                    <a:latin typeface="+mn-lt"/>
                    <a:ea typeface="+mn-ea"/>
                    <a:cs typeface="+mn-cs"/>
                  </a:rPr>
                  <a:t>Tách cụm rõ &amp; phân phối cân bằng</a:t>
                </a:r>
              </a:p>
            </p:txBody>
          </p:sp>
        </p:grpSp>
      </p:grpSp>
      <p:grpSp>
        <p:nvGrpSpPr>
          <p:cNvPr id="84" name="footer"/>
          <p:cNvGrpSpPr/>
          <p:nvPr/>
        </p:nvGrpSpPr>
        <p:grpSpPr>
          <a:xfrm>
            <a:off x="661797" y="6429375"/>
            <a:ext cx="10868406" cy="264668"/>
            <a:chOff x="661797" y="6429375"/>
            <a:chExt cx="10868406" cy="264668"/>
          </a:xfrm>
        </p:grpSpPr>
        <p:sp>
          <p:nvSpPr>
            <p:cNvPr id="81" name="Line 81"/>
            <p:cNvSpPr/>
            <p:nvPr/>
          </p:nvSpPr>
          <p:spPr>
            <a:xfrm>
              <a:off x="666750" y="6429375"/>
              <a:ext cx="10858500" cy="9525"/>
            </a:xfrm>
            <a:custGeom>
              <a:avLst/>
              <a:gdLst/>
              <a:ahLst/>
              <a:cxnLst/>
              <a:rect l="l" t="t" r="r" b="b"/>
              <a:pathLst>
                <a:path w="10858500" h="9525">
                  <a:moveTo>
                    <a:pt x="0" y="0"/>
                  </a:moveTo>
                  <a:lnTo>
                    <a:pt x="10858500" y="0"/>
                  </a:lnTo>
                </a:path>
              </a:pathLst>
            </a:custGeom>
            <a:noFill/>
            <a:ln w="9525">
              <a:solidFill>
                <a:srgbClr val="E2E8F0"/>
              </a:solidFill>
            </a:ln>
          </p:spPr>
          <p:txBody>
            <a:bodyPr/>
            <a:lstStyle/>
            <a:p>
              <a:endParaRPr lang="en-US"/>
            </a:p>
          </p:txBody>
        </p:sp>
        <p:sp>
          <p:nvSpPr>
            <p:cNvPr id="82" name="TextBox 82"/>
            <p:cNvSpPr txBox="1"/>
            <p:nvPr/>
          </p:nvSpPr>
          <p:spPr>
            <a:xfrm>
              <a:off x="661797" y="6502400"/>
              <a:ext cx="5494748"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Quyết định đóng băng D011: Lựa chọn log1p + StandardScaler cho toàn bộ hệ thống phục vụ</a:t>
              </a:r>
            </a:p>
          </p:txBody>
        </p:sp>
        <p:sp>
          <p:nvSpPr>
            <p:cNvPr id="83" name="TextBox 83"/>
            <p:cNvSpPr txBox="1"/>
            <p:nvPr/>
          </p:nvSpPr>
          <p:spPr>
            <a:xfrm>
              <a:off x="11116836" y="6502400"/>
              <a:ext cx="413367" cy="191643"/>
            </a:xfrm>
            <a:prstGeom prst="rect">
              <a:avLst/>
            </a:prstGeom>
            <a:noFill/>
            <a:ln>
              <a:noFill/>
            </a:ln>
          </p:spPr>
          <p:txBody>
            <a:bodyPr wrap="none" lIns="0" tIns="0" rIns="0" bIns="0" anchor="t" anchorCtr="0">
              <a:spAutoFit/>
            </a:bodyPr>
            <a:lstStyle/>
            <a:p>
              <a:pPr algn="r"/>
              <a:r>
                <a:rPr lang="vi" sz="980" b="1" dirty="0">
                  <a:solidFill>
                    <a:srgbClr val="475569"/>
                  </a:solidFill>
                  <a:latin typeface="+mn-lt"/>
                  <a:ea typeface="+mn-ea"/>
                  <a:cs typeface="+mn-cs"/>
                </a:rPr>
                <a:t>05 / 15</a:t>
              </a:r>
            </a:p>
          </p:txBody>
        </p:sp>
      </p:grpSp>
    </p:spTree>
  </p:cSld>
  <p:clrMapOvr>
    <a:masterClrMapping/>
  </p:clrMapOvr>
  <mc:AlternateContent xmlns:mc="http://schemas.openxmlformats.org/markup-compatibility/2006" xmlns:p14="http://schemas.microsoft.com/office/powerpoint/2010/main">
    <mc:Choice Requires="p14">
      <p:transition spd="med" p14:dur="700">
        <p14:reveal dir="r"/>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400"/>
                            </p:stCondLst>
                            <p:childTnLst>
                              <p:par>
                                <p:cTn id="9" presetID="2" presetClass="entr" presetSubtype="4" fill="hold" nodeType="afterEffect">
                                  <p:stCondLst>
                                    <p:cond delay="500"/>
                                  </p:stCondLst>
                                  <p:childTnLst>
                                    <p:set>
                                      <p:cBhvr>
                                        <p:cTn id="10" dur="1" fill="hold">
                                          <p:stCondLst>
                                            <p:cond delay="0"/>
                                          </p:stCondLst>
                                        </p:cTn>
                                        <p:tgtEl>
                                          <p:spTgt spid="39"/>
                                        </p:tgtEl>
                                        <p:attrNameLst>
                                          <p:attrName>style.visibility</p:attrName>
                                        </p:attrNameLst>
                                      </p:cBhvr>
                                      <p:to>
                                        <p:strVal val="visible"/>
                                      </p:to>
                                    </p:set>
                                    <p:anim calcmode="lin" valueType="num">
                                      <p:cBhvr additive="base">
                                        <p:cTn id="11" dur="700" fill="hold"/>
                                        <p:tgtEl>
                                          <p:spTgt spid="39"/>
                                        </p:tgtEl>
                                        <p:attrNameLst>
                                          <p:attrName>ppt_x</p:attrName>
                                        </p:attrNameLst>
                                      </p:cBhvr>
                                      <p:tavLst>
                                        <p:tav tm="0">
                                          <p:val>
                                            <p:strVal val="#ppt_x"/>
                                          </p:val>
                                        </p:tav>
                                        <p:tav tm="100000">
                                          <p:val>
                                            <p:strVal val="#ppt_x"/>
                                          </p:val>
                                        </p:tav>
                                      </p:tavLst>
                                    </p:anim>
                                    <p:anim calcmode="lin" valueType="num">
                                      <p:cBhvr additive="base">
                                        <p:cTn id="12" dur="700" fill="hold"/>
                                        <p:tgtEl>
                                          <p:spTgt spid="39"/>
                                        </p:tgtEl>
                                        <p:attrNameLst>
                                          <p:attrName>ppt_y</p:attrName>
                                        </p:attrNameLst>
                                      </p:cBhvr>
                                      <p:tavLst>
                                        <p:tav tm="0">
                                          <p:val>
                                            <p:strVal val="1+#ppt_h/2"/>
                                          </p:val>
                                        </p:tav>
                                        <p:tav tm="100000">
                                          <p:val>
                                            <p:strVal val="#ppt_y"/>
                                          </p:val>
                                        </p:tav>
                                      </p:tavLst>
                                    </p:anim>
                                  </p:childTnLst>
                                </p:cTn>
                              </p:par>
                            </p:childTnLst>
                          </p:cTn>
                        </p:par>
                        <p:par>
                          <p:cTn id="13" fill="hold">
                            <p:stCondLst>
                              <p:cond delay="1600"/>
                            </p:stCondLst>
                            <p:childTnLst>
                              <p:par>
                                <p:cTn id="14" presetID="23" presetClass="entr" presetSubtype="16" fill="hold" nodeType="afterEffect">
                                  <p:stCondLst>
                                    <p:cond delay="500"/>
                                  </p:stCondLst>
                                  <p:childTnLst>
                                    <p:set>
                                      <p:cBhvr>
                                        <p:cTn id="15" dur="1" fill="hold">
                                          <p:stCondLst>
                                            <p:cond delay="0"/>
                                          </p:stCondLst>
                                        </p:cTn>
                                        <p:tgtEl>
                                          <p:spTgt spid="46"/>
                                        </p:tgtEl>
                                        <p:attrNameLst>
                                          <p:attrName>style.visibility</p:attrName>
                                        </p:attrNameLst>
                                      </p:cBhvr>
                                      <p:to>
                                        <p:strVal val="visible"/>
                                      </p:to>
                                    </p:set>
                                    <p:anim calcmode="lin" valueType="num">
                                      <p:cBhvr>
                                        <p:cTn id="16" dur="600" fill="hold"/>
                                        <p:tgtEl>
                                          <p:spTgt spid="46"/>
                                        </p:tgtEl>
                                        <p:attrNameLst>
                                          <p:attrName>ppt_w</p:attrName>
                                        </p:attrNameLst>
                                      </p:cBhvr>
                                      <p:tavLst>
                                        <p:tav tm="0">
                                          <p:val>
                                            <p:fltVal val="0"/>
                                          </p:val>
                                        </p:tav>
                                        <p:tav tm="100000">
                                          <p:val>
                                            <p:strVal val="#ppt_w"/>
                                          </p:val>
                                        </p:tav>
                                      </p:tavLst>
                                    </p:anim>
                                    <p:anim calcmode="lin" valueType="num">
                                      <p:cBhvr>
                                        <p:cTn id="17" dur="600" fill="hold"/>
                                        <p:tgtEl>
                                          <p:spTgt spid="46"/>
                                        </p:tgtEl>
                                        <p:attrNameLst>
                                          <p:attrName>ppt_h</p:attrName>
                                        </p:attrNameLst>
                                      </p:cBhvr>
                                      <p:tavLst>
                                        <p:tav tm="0">
                                          <p:val>
                                            <p:fltVal val="0"/>
                                          </p:val>
                                        </p:tav>
                                        <p:tav tm="100000">
                                          <p:val>
                                            <p:strVal val="#ppt_h"/>
                                          </p:val>
                                        </p:tav>
                                      </p:tavLst>
                                    </p:anim>
                                  </p:childTnLst>
                                </p:cTn>
                              </p:par>
                            </p:childTnLst>
                          </p:cTn>
                        </p:par>
                        <p:par>
                          <p:cTn id="18" fill="hold">
                            <p:stCondLst>
                              <p:cond delay="2700"/>
                            </p:stCondLst>
                            <p:childTnLst>
                              <p:par>
                                <p:cTn id="19" presetID="2" presetClass="entr" presetSubtype="4" fill="hold" nodeType="afterEffect">
                                  <p:stCondLst>
                                    <p:cond delay="500"/>
                                  </p:stCondLst>
                                  <p:childTnLst>
                                    <p:set>
                                      <p:cBhvr>
                                        <p:cTn id="20" dur="1" fill="hold">
                                          <p:stCondLst>
                                            <p:cond delay="0"/>
                                          </p:stCondLst>
                                        </p:cTn>
                                        <p:tgtEl>
                                          <p:spTgt spid="80"/>
                                        </p:tgtEl>
                                        <p:attrNameLst>
                                          <p:attrName>style.visibility</p:attrName>
                                        </p:attrNameLst>
                                      </p:cBhvr>
                                      <p:to>
                                        <p:strVal val="visible"/>
                                      </p:to>
                                    </p:set>
                                    <p:anim calcmode="lin" valueType="num">
                                      <p:cBhvr additive="base">
                                        <p:cTn id="21" dur="700" fill="hold"/>
                                        <p:tgtEl>
                                          <p:spTgt spid="80"/>
                                        </p:tgtEl>
                                        <p:attrNameLst>
                                          <p:attrName>ppt_x</p:attrName>
                                        </p:attrNameLst>
                                      </p:cBhvr>
                                      <p:tavLst>
                                        <p:tav tm="0">
                                          <p:val>
                                            <p:strVal val="#ppt_x"/>
                                          </p:val>
                                        </p:tav>
                                        <p:tav tm="100000">
                                          <p:val>
                                            <p:strVal val="#ppt_x"/>
                                          </p:val>
                                        </p:tav>
                                      </p:tavLst>
                                    </p:anim>
                                    <p:anim calcmode="lin" valueType="num">
                                      <p:cBhvr additive="base">
                                        <p:cTn id="22" dur="700" fill="hold"/>
                                        <p:tgtEl>
                                          <p:spTgt spid="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page-background"/>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8FAFC"/>
            </a:solidFill>
            <a:ln>
              <a:noFill/>
            </a:ln>
          </p:spPr>
          <p:txBody>
            <a:bodyPr/>
            <a:lstStyle/>
            <a:p>
              <a:endParaRPr lang="en-US"/>
            </a:p>
          </p:txBody>
        </p:sp>
        <p:sp>
          <p:nvSpPr>
            <p:cNvPr id="3" name="Rectangle 3"/>
            <p:cNvSpPr/>
            <p:nvPr/>
          </p:nvSpPr>
          <p:spPr>
            <a:xfrm>
              <a:off x="0" y="0"/>
              <a:ext cx="12192000" cy="57150"/>
            </a:xfrm>
            <a:prstGeom prst="rect">
              <a:avLst/>
            </a:prstGeom>
            <a:gradFill>
              <a:gsLst>
                <a:gs pos="0">
                  <a:srgbClr val="1E3A8A"/>
                </a:gs>
                <a:gs pos="50000">
                  <a:schemeClr val="accent1"/>
                </a:gs>
                <a:gs pos="100000">
                  <a:srgbClr val="0EA5E9"/>
                </a:gs>
              </a:gsLst>
              <a:lin ang="0" scaled="1"/>
            </a:gradFill>
            <a:ln>
              <a:noFill/>
            </a:ln>
          </p:spPr>
          <p:txBody>
            <a:bodyPr/>
            <a:lstStyle/>
            <a:p>
              <a:endParaRPr lang="en-US"/>
            </a:p>
          </p:txBody>
        </p:sp>
      </p:grpSp>
      <p:grpSp>
        <p:nvGrpSpPr>
          <p:cNvPr id="9" name="header"/>
          <p:cNvGrpSpPr/>
          <p:nvPr/>
        </p:nvGrpSpPr>
        <p:grpSpPr>
          <a:xfrm>
            <a:off x="654558" y="304800"/>
            <a:ext cx="8254116" cy="899478"/>
            <a:chOff x="654558" y="304800"/>
            <a:chExt cx="8254116" cy="899478"/>
          </a:xfrm>
        </p:grpSpPr>
        <p:sp>
          <p:nvSpPr>
            <p:cNvPr id="5" name="Rectangle 5"/>
            <p:cNvSpPr/>
            <p:nvPr/>
          </p:nvSpPr>
          <p:spPr>
            <a:xfrm>
              <a:off x="666750" y="304800"/>
              <a:ext cx="1524000" cy="247650"/>
            </a:xfrm>
            <a:prstGeom prst="roundRect">
              <a:avLst>
                <a:gd name="adj" fmla="val 23077"/>
              </a:avLst>
            </a:prstGeom>
            <a:solidFill>
              <a:srgbClr val="EFF6FF"/>
            </a:solidFill>
            <a:ln w="9525">
              <a:solidFill>
                <a:srgbClr val="BFDBFE"/>
              </a:solidFill>
            </a:ln>
          </p:spPr>
          <p:txBody>
            <a:bodyPr/>
            <a:lstStyle/>
            <a:p>
              <a:endParaRPr lang="en-US"/>
            </a:p>
          </p:txBody>
        </p:sp>
        <p:sp>
          <p:nvSpPr>
            <p:cNvPr id="6" name="TextBox 6"/>
            <p:cNvSpPr txBox="1"/>
            <p:nvPr/>
          </p:nvSpPr>
          <p:spPr>
            <a:xfrm>
              <a:off x="862123" y="365125"/>
              <a:ext cx="1133253" cy="161925"/>
            </a:xfrm>
            <a:prstGeom prst="rect">
              <a:avLst/>
            </a:prstGeom>
            <a:noFill/>
            <a:ln>
              <a:noFill/>
            </a:ln>
          </p:spPr>
          <p:txBody>
            <a:bodyPr wrap="none" lIns="0" tIns="0" rIns="0" bIns="0" anchor="t" anchorCtr="0">
              <a:spAutoFit/>
            </a:bodyPr>
            <a:lstStyle/>
            <a:p>
              <a:pPr algn="ctr"/>
              <a:r>
                <a:rPr lang="vi" sz="820" b="1" spc="75" dirty="0">
                  <a:solidFill>
                    <a:srgbClr val="1D4ED8"/>
                  </a:solidFill>
                  <a:latin typeface="+mn-lt"/>
                  <a:ea typeface="+mn-ea"/>
                  <a:cs typeface="+mn-cs"/>
                </a:rPr>
                <a:t>THỰC NGHIỆM 02</a:t>
              </a:r>
            </a:p>
          </p:txBody>
        </p:sp>
        <p:sp>
          <p:nvSpPr>
            <p:cNvPr id="7" name="TextBox 7"/>
            <p:cNvSpPr txBox="1"/>
            <p:nvPr/>
          </p:nvSpPr>
          <p:spPr>
            <a:xfrm>
              <a:off x="654558" y="584200"/>
              <a:ext cx="8254116" cy="469392"/>
            </a:xfrm>
            <a:prstGeom prst="rect">
              <a:avLst/>
            </a:prstGeom>
            <a:noFill/>
            <a:ln>
              <a:noFill/>
            </a:ln>
          </p:spPr>
          <p:txBody>
            <a:bodyPr wrap="none" lIns="0" tIns="0" rIns="0" bIns="0" anchor="t" anchorCtr="0">
              <a:spAutoFit/>
            </a:bodyPr>
            <a:lstStyle/>
            <a:p>
              <a:pPr algn="l"/>
              <a:r>
                <a:rPr lang="vi" sz="2400" b="1" dirty="0">
                  <a:solidFill>
                    <a:srgbClr val="0F172A"/>
                  </a:solidFill>
                  <a:latin typeface="+mn-lt"/>
                  <a:ea typeface="+mn-ea"/>
                  <a:cs typeface="+mn-cs"/>
                </a:rPr>
                <a:t>Xác Định K Tối Ưu: Phương Pháp Elbow (SSE Curve)</a:t>
              </a:r>
            </a:p>
          </p:txBody>
        </p:sp>
        <p:sp>
          <p:nvSpPr>
            <p:cNvPr id="8" name="TextBox 8"/>
            <p:cNvSpPr txBox="1"/>
            <p:nvPr/>
          </p:nvSpPr>
          <p:spPr>
            <a:xfrm>
              <a:off x="661035" y="984250"/>
              <a:ext cx="5406217" cy="220028"/>
            </a:xfrm>
            <a:prstGeom prst="rect">
              <a:avLst/>
            </a:prstGeom>
            <a:noFill/>
            <a:ln>
              <a:noFill/>
            </a:ln>
          </p:spPr>
          <p:txBody>
            <a:bodyPr wrap="none" lIns="0" tIns="0" rIns="0" bIns="0" anchor="t" anchorCtr="0">
              <a:spAutoFit/>
            </a:bodyPr>
            <a:lstStyle/>
            <a:p>
              <a:pPr algn="l"/>
              <a:r>
                <a:rPr lang="vi" sz="1120" dirty="0">
                  <a:solidFill>
                    <a:srgbClr val="475569"/>
                  </a:solidFill>
                  <a:latin typeface="+mn-lt"/>
                  <a:ea typeface="+mn-ea"/>
                  <a:cs typeface="+mn-cs"/>
                </a:rPr>
                <a:t>Phân tích đường cong độ suy giảm quán tính để tìm điểm cân bằng cụm tự nhiên</a:t>
              </a:r>
            </a:p>
          </p:txBody>
        </p:sp>
      </p:grpSp>
      <p:grpSp>
        <p:nvGrpSpPr>
          <p:cNvPr id="49" name="elbow-chart"/>
          <p:cNvGrpSpPr/>
          <p:nvPr/>
        </p:nvGrpSpPr>
        <p:grpSpPr>
          <a:xfrm>
            <a:off x="666750" y="1428750"/>
            <a:ext cx="6381750" cy="4905375"/>
            <a:chOff x="666750" y="1428750"/>
            <a:chExt cx="6381750" cy="4905375"/>
          </a:xfrm>
        </p:grpSpPr>
        <p:sp>
          <p:nvSpPr>
            <p:cNvPr id="10" name="Rectangle 10"/>
            <p:cNvSpPr/>
            <p:nvPr/>
          </p:nvSpPr>
          <p:spPr>
            <a:xfrm>
              <a:off x="666750" y="1428750"/>
              <a:ext cx="6381750" cy="4905375"/>
            </a:xfrm>
            <a:prstGeom prst="roundRect">
              <a:avLst>
                <a:gd name="adj" fmla="val 2718"/>
              </a:avLst>
            </a:prstGeom>
            <a:solidFill>
              <a:schemeClr val="lt1"/>
            </a:solidFill>
            <a:ln w="14288">
              <a:solidFill>
                <a:srgbClr val="E2E8F0"/>
              </a:solidFill>
            </a:ln>
          </p:spPr>
          <p:txBody>
            <a:bodyPr/>
            <a:lstStyle/>
            <a:p>
              <a:endParaRPr lang="en-US"/>
            </a:p>
          </p:txBody>
        </p:sp>
        <p:sp>
          <p:nvSpPr>
            <p:cNvPr id="11" name="TextBox 11"/>
            <p:cNvSpPr txBox="1"/>
            <p:nvPr/>
          </p:nvSpPr>
          <p:spPr>
            <a:xfrm>
              <a:off x="945642" y="1644650"/>
              <a:ext cx="4666388" cy="264033"/>
            </a:xfrm>
            <a:prstGeom prst="rect">
              <a:avLst/>
            </a:prstGeom>
            <a:noFill/>
            <a:ln>
              <a:noFill/>
            </a:ln>
          </p:spPr>
          <p:txBody>
            <a:bodyPr wrap="none" lIns="0" tIns="0" rIns="0" bIns="0" anchor="t" anchorCtr="0">
              <a:spAutoFit/>
            </a:bodyPr>
            <a:lstStyle/>
            <a:p>
              <a:pPr algn="l"/>
              <a:r>
                <a:rPr lang="vi" sz="1350" b="1" dirty="0">
                  <a:solidFill>
                    <a:srgbClr val="0F172A"/>
                  </a:solidFill>
                  <a:latin typeface="+mn-lt"/>
                  <a:ea typeface="+mn-ea"/>
                  <a:cs typeface="+mn-cs"/>
                </a:rPr>
                <a:t>Đồ Thị Quán Tính (Inertia SSE) Theo Số Cụm K = 2..8</a:t>
              </a:r>
            </a:p>
          </p:txBody>
        </p:sp>
        <p:sp>
          <p:nvSpPr>
            <p:cNvPr id="12" name="TextBox 12"/>
            <p:cNvSpPr txBox="1"/>
            <p:nvPr/>
          </p:nvSpPr>
          <p:spPr>
            <a:xfrm>
              <a:off x="947547" y="1892300"/>
              <a:ext cx="4110539"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reports/data/experiments/selection_evidence.csv (Tập Train 264 mẫu)</a:t>
              </a:r>
            </a:p>
          </p:txBody>
        </p:sp>
        <p:grpSp>
          <p:nvGrpSpPr>
            <p:cNvPr id="48" name="Group 48"/>
            <p:cNvGrpSpPr/>
            <p:nvPr/>
          </p:nvGrpSpPr>
          <p:grpSpPr>
            <a:xfrm>
              <a:off x="814354" y="2286000"/>
              <a:ext cx="5567396" cy="3303143"/>
              <a:chOff x="814354" y="2286000"/>
              <a:chExt cx="5567396" cy="3303143"/>
            </a:xfrm>
          </p:grpSpPr>
          <p:sp>
            <p:nvSpPr>
              <p:cNvPr id="13" name="Line 13"/>
              <p:cNvSpPr/>
              <p:nvPr/>
            </p:nvSpPr>
            <p:spPr>
              <a:xfrm>
                <a:off x="1238250" y="5334000"/>
                <a:ext cx="5143500" cy="9525"/>
              </a:xfrm>
              <a:custGeom>
                <a:avLst/>
                <a:gdLst/>
                <a:ahLst/>
                <a:cxnLst/>
                <a:rect l="l" t="t" r="r" b="b"/>
                <a:pathLst>
                  <a:path w="5143500" h="9525">
                    <a:moveTo>
                      <a:pt x="0" y="0"/>
                    </a:moveTo>
                    <a:lnTo>
                      <a:pt x="5143500" y="0"/>
                    </a:lnTo>
                  </a:path>
                </a:pathLst>
              </a:custGeom>
              <a:noFill/>
              <a:ln w="14288">
                <a:solidFill>
                  <a:srgbClr val="CBD5E1"/>
                </a:solidFill>
              </a:ln>
            </p:spPr>
            <p:txBody>
              <a:bodyPr/>
              <a:lstStyle/>
              <a:p>
                <a:endParaRPr lang="en-US"/>
              </a:p>
            </p:txBody>
          </p:sp>
          <p:sp>
            <p:nvSpPr>
              <p:cNvPr id="14" name="Line 14"/>
              <p:cNvSpPr/>
              <p:nvPr/>
            </p:nvSpPr>
            <p:spPr>
              <a:xfrm>
                <a:off x="1238250" y="2286000"/>
                <a:ext cx="9525" cy="3048000"/>
              </a:xfrm>
              <a:custGeom>
                <a:avLst/>
                <a:gdLst/>
                <a:ahLst/>
                <a:cxnLst/>
                <a:rect l="l" t="t" r="r" b="b"/>
                <a:pathLst>
                  <a:path w="9525" h="3048000">
                    <a:moveTo>
                      <a:pt x="0" y="0"/>
                    </a:moveTo>
                    <a:lnTo>
                      <a:pt x="0" y="3048000"/>
                    </a:lnTo>
                  </a:path>
                </a:pathLst>
              </a:custGeom>
              <a:noFill/>
              <a:ln w="14288">
                <a:solidFill>
                  <a:srgbClr val="CBD5E1"/>
                </a:solidFill>
              </a:ln>
            </p:spPr>
            <p:txBody>
              <a:bodyPr/>
              <a:lstStyle/>
              <a:p>
                <a:endParaRPr lang="en-US"/>
              </a:p>
            </p:txBody>
          </p:sp>
          <p:sp>
            <p:nvSpPr>
              <p:cNvPr id="15" name="Line 15"/>
              <p:cNvSpPr/>
              <p:nvPr/>
            </p:nvSpPr>
            <p:spPr>
              <a:xfrm>
                <a:off x="1238250" y="2857500"/>
                <a:ext cx="5143500" cy="9525"/>
              </a:xfrm>
              <a:custGeom>
                <a:avLst/>
                <a:gdLst/>
                <a:ahLst/>
                <a:cxnLst/>
                <a:rect l="l" t="t" r="r" b="b"/>
                <a:pathLst>
                  <a:path w="5143500" h="9525">
                    <a:moveTo>
                      <a:pt x="0" y="0"/>
                    </a:moveTo>
                    <a:lnTo>
                      <a:pt x="5143500" y="0"/>
                    </a:lnTo>
                  </a:path>
                </a:pathLst>
              </a:custGeom>
              <a:noFill/>
              <a:ln w="9525">
                <a:solidFill>
                  <a:srgbClr val="F1F5F9"/>
                </a:solidFill>
              </a:ln>
            </p:spPr>
            <p:txBody>
              <a:bodyPr/>
              <a:lstStyle/>
              <a:p>
                <a:endParaRPr lang="en-US"/>
              </a:p>
            </p:txBody>
          </p:sp>
          <p:sp>
            <p:nvSpPr>
              <p:cNvPr id="16" name="TextBox 16"/>
              <p:cNvSpPr txBox="1"/>
              <p:nvPr/>
            </p:nvSpPr>
            <p:spPr>
              <a:xfrm>
                <a:off x="814354" y="2803525"/>
                <a:ext cx="285783" cy="161925"/>
              </a:xfrm>
              <a:prstGeom prst="rect">
                <a:avLst/>
              </a:prstGeom>
              <a:noFill/>
              <a:ln>
                <a:noFill/>
              </a:ln>
            </p:spPr>
            <p:txBody>
              <a:bodyPr wrap="none" lIns="0" tIns="0" rIns="0" bIns="0" anchor="t" anchorCtr="0">
                <a:spAutoFit/>
              </a:bodyPr>
              <a:lstStyle/>
              <a:p>
                <a:pPr algn="r"/>
                <a:r>
                  <a:rPr lang="vi" sz="820" dirty="0">
                    <a:solidFill>
                      <a:srgbClr val="94A3B8"/>
                    </a:solidFill>
                    <a:latin typeface="+mn-lt"/>
                    <a:ea typeface="+mn-ea"/>
                    <a:cs typeface="+mn-cs"/>
                  </a:rPr>
                  <a:t>1,200</a:t>
                </a:r>
              </a:p>
            </p:txBody>
          </p:sp>
          <p:sp>
            <p:nvSpPr>
              <p:cNvPr id="17" name="Line 17"/>
              <p:cNvSpPr/>
              <p:nvPr/>
            </p:nvSpPr>
            <p:spPr>
              <a:xfrm>
                <a:off x="1238250" y="3619500"/>
                <a:ext cx="5143500" cy="9525"/>
              </a:xfrm>
              <a:custGeom>
                <a:avLst/>
                <a:gdLst/>
                <a:ahLst/>
                <a:cxnLst/>
                <a:rect l="l" t="t" r="r" b="b"/>
                <a:pathLst>
                  <a:path w="5143500" h="9525">
                    <a:moveTo>
                      <a:pt x="0" y="0"/>
                    </a:moveTo>
                    <a:lnTo>
                      <a:pt x="5143500" y="0"/>
                    </a:lnTo>
                  </a:path>
                </a:pathLst>
              </a:custGeom>
              <a:noFill/>
              <a:ln w="9525">
                <a:solidFill>
                  <a:srgbClr val="F1F5F9"/>
                </a:solidFill>
              </a:ln>
            </p:spPr>
            <p:txBody>
              <a:bodyPr/>
              <a:lstStyle/>
              <a:p>
                <a:endParaRPr lang="en-US"/>
              </a:p>
            </p:txBody>
          </p:sp>
          <p:sp>
            <p:nvSpPr>
              <p:cNvPr id="18" name="TextBox 18"/>
              <p:cNvSpPr txBox="1"/>
              <p:nvPr/>
            </p:nvSpPr>
            <p:spPr>
              <a:xfrm>
                <a:off x="814354" y="3565525"/>
                <a:ext cx="285783" cy="161925"/>
              </a:xfrm>
              <a:prstGeom prst="rect">
                <a:avLst/>
              </a:prstGeom>
              <a:noFill/>
              <a:ln>
                <a:noFill/>
              </a:ln>
            </p:spPr>
            <p:txBody>
              <a:bodyPr wrap="none" lIns="0" tIns="0" rIns="0" bIns="0" anchor="t" anchorCtr="0">
                <a:spAutoFit/>
              </a:bodyPr>
              <a:lstStyle/>
              <a:p>
                <a:pPr algn="r"/>
                <a:r>
                  <a:rPr lang="vi" sz="820" dirty="0">
                    <a:solidFill>
                      <a:srgbClr val="94A3B8"/>
                    </a:solidFill>
                    <a:latin typeface="+mn-lt"/>
                    <a:ea typeface="+mn-ea"/>
                    <a:cs typeface="+mn-cs"/>
                  </a:rPr>
                  <a:t>1,000</a:t>
                </a:r>
              </a:p>
            </p:txBody>
          </p:sp>
          <p:sp>
            <p:nvSpPr>
              <p:cNvPr id="19" name="Line 19"/>
              <p:cNvSpPr/>
              <p:nvPr/>
            </p:nvSpPr>
            <p:spPr>
              <a:xfrm>
                <a:off x="1238250" y="4381500"/>
                <a:ext cx="5143500" cy="9525"/>
              </a:xfrm>
              <a:custGeom>
                <a:avLst/>
                <a:gdLst/>
                <a:ahLst/>
                <a:cxnLst/>
                <a:rect l="l" t="t" r="r" b="b"/>
                <a:pathLst>
                  <a:path w="5143500" h="9525">
                    <a:moveTo>
                      <a:pt x="0" y="0"/>
                    </a:moveTo>
                    <a:lnTo>
                      <a:pt x="5143500" y="0"/>
                    </a:lnTo>
                  </a:path>
                </a:pathLst>
              </a:custGeom>
              <a:noFill/>
              <a:ln w="9525">
                <a:solidFill>
                  <a:srgbClr val="F1F5F9"/>
                </a:solidFill>
              </a:ln>
            </p:spPr>
            <p:txBody>
              <a:bodyPr/>
              <a:lstStyle/>
              <a:p>
                <a:endParaRPr lang="en-US"/>
              </a:p>
            </p:txBody>
          </p:sp>
          <p:sp>
            <p:nvSpPr>
              <p:cNvPr id="20" name="TextBox 20"/>
              <p:cNvSpPr txBox="1"/>
              <p:nvPr/>
            </p:nvSpPr>
            <p:spPr>
              <a:xfrm>
                <a:off x="906418" y="4327525"/>
                <a:ext cx="193719" cy="161925"/>
              </a:xfrm>
              <a:prstGeom prst="rect">
                <a:avLst/>
              </a:prstGeom>
              <a:noFill/>
              <a:ln>
                <a:noFill/>
              </a:ln>
            </p:spPr>
            <p:txBody>
              <a:bodyPr wrap="none" lIns="0" tIns="0" rIns="0" bIns="0" anchor="t" anchorCtr="0">
                <a:spAutoFit/>
              </a:bodyPr>
              <a:lstStyle/>
              <a:p>
                <a:pPr algn="r"/>
                <a:r>
                  <a:rPr lang="vi" sz="820" dirty="0">
                    <a:solidFill>
                      <a:srgbClr val="94A3B8"/>
                    </a:solidFill>
                    <a:latin typeface="+mn-lt"/>
                    <a:ea typeface="+mn-ea"/>
                    <a:cs typeface="+mn-cs"/>
                  </a:rPr>
                  <a:t>800</a:t>
                </a:r>
              </a:p>
            </p:txBody>
          </p:sp>
          <p:sp>
            <p:nvSpPr>
              <p:cNvPr id="21" name="Line 21"/>
              <p:cNvSpPr/>
              <p:nvPr/>
            </p:nvSpPr>
            <p:spPr>
              <a:xfrm>
                <a:off x="1238250" y="5143500"/>
                <a:ext cx="5143500" cy="9525"/>
              </a:xfrm>
              <a:custGeom>
                <a:avLst/>
                <a:gdLst/>
                <a:ahLst/>
                <a:cxnLst/>
                <a:rect l="l" t="t" r="r" b="b"/>
                <a:pathLst>
                  <a:path w="5143500" h="9525">
                    <a:moveTo>
                      <a:pt x="0" y="0"/>
                    </a:moveTo>
                    <a:lnTo>
                      <a:pt x="5143500" y="0"/>
                    </a:lnTo>
                  </a:path>
                </a:pathLst>
              </a:custGeom>
              <a:noFill/>
              <a:ln w="9525">
                <a:solidFill>
                  <a:srgbClr val="F1F5F9"/>
                </a:solidFill>
              </a:ln>
            </p:spPr>
            <p:txBody>
              <a:bodyPr/>
              <a:lstStyle/>
              <a:p>
                <a:endParaRPr lang="en-US"/>
              </a:p>
            </p:txBody>
          </p:sp>
          <p:sp>
            <p:nvSpPr>
              <p:cNvPr id="22" name="TextBox 22"/>
              <p:cNvSpPr txBox="1"/>
              <p:nvPr/>
            </p:nvSpPr>
            <p:spPr>
              <a:xfrm>
                <a:off x="906418" y="5089525"/>
                <a:ext cx="193719" cy="161925"/>
              </a:xfrm>
              <a:prstGeom prst="rect">
                <a:avLst/>
              </a:prstGeom>
              <a:noFill/>
              <a:ln>
                <a:noFill/>
              </a:ln>
            </p:spPr>
            <p:txBody>
              <a:bodyPr wrap="none" lIns="0" tIns="0" rIns="0" bIns="0" anchor="t" anchorCtr="0">
                <a:spAutoFit/>
              </a:bodyPr>
              <a:lstStyle/>
              <a:p>
                <a:pPr algn="r"/>
                <a:r>
                  <a:rPr lang="vi" sz="820" dirty="0">
                    <a:solidFill>
                      <a:srgbClr val="94A3B8"/>
                    </a:solidFill>
                    <a:latin typeface="+mn-lt"/>
                    <a:ea typeface="+mn-ea"/>
                    <a:cs typeface="+mn-cs"/>
                  </a:rPr>
                  <a:t>600</a:t>
                </a:r>
              </a:p>
            </p:txBody>
          </p:sp>
          <p:sp>
            <p:nvSpPr>
              <p:cNvPr id="23" name="Polygon 23"/>
              <p:cNvSpPr/>
              <p:nvPr/>
            </p:nvSpPr>
            <p:spPr>
              <a:xfrm>
                <a:off x="1714500" y="3143250"/>
                <a:ext cx="4286250" cy="2190750"/>
              </a:xfrm>
              <a:custGeom>
                <a:avLst/>
                <a:gdLst/>
                <a:ahLst/>
                <a:cxnLst/>
                <a:rect l="l" t="t" r="r" b="b"/>
                <a:pathLst>
                  <a:path w="4286250" h="2190750">
                    <a:moveTo>
                      <a:pt x="0" y="0"/>
                    </a:moveTo>
                    <a:lnTo>
                      <a:pt x="714375" y="666750"/>
                    </a:lnTo>
                    <a:lnTo>
                      <a:pt x="1428750" y="1095375"/>
                    </a:lnTo>
                    <a:lnTo>
                      <a:pt x="2143125" y="1381125"/>
                    </a:lnTo>
                    <a:lnTo>
                      <a:pt x="2857500" y="1619250"/>
                    </a:lnTo>
                    <a:lnTo>
                      <a:pt x="3571875" y="1809750"/>
                    </a:lnTo>
                    <a:lnTo>
                      <a:pt x="4286250" y="1962150"/>
                    </a:lnTo>
                    <a:lnTo>
                      <a:pt x="4286250" y="2190750"/>
                    </a:lnTo>
                    <a:lnTo>
                      <a:pt x="0" y="2190750"/>
                    </a:lnTo>
                    <a:close/>
                  </a:path>
                </a:pathLst>
              </a:custGeom>
              <a:solidFill>
                <a:srgbClr val="3B82F6">
                  <a:alpha val="12000"/>
                </a:srgbClr>
              </a:solidFill>
              <a:ln>
                <a:noFill/>
              </a:ln>
            </p:spPr>
            <p:txBody>
              <a:bodyPr/>
              <a:lstStyle/>
              <a:p>
                <a:endParaRPr lang="en-US"/>
              </a:p>
            </p:txBody>
          </p:sp>
          <p:sp>
            <p:nvSpPr>
              <p:cNvPr id="24" name="Freeform 24"/>
              <p:cNvSpPr/>
              <p:nvPr/>
            </p:nvSpPr>
            <p:spPr>
              <a:xfrm>
                <a:off x="1714500" y="3143250"/>
                <a:ext cx="4286250" cy="1962150"/>
              </a:xfrm>
              <a:custGeom>
                <a:avLst/>
                <a:gdLst/>
                <a:ahLst/>
                <a:cxnLst/>
                <a:rect l="l" t="t" r="r" b="b"/>
                <a:pathLst>
                  <a:path w="4286250" h="1962150">
                    <a:moveTo>
                      <a:pt x="0" y="0"/>
                    </a:moveTo>
                    <a:lnTo>
                      <a:pt x="714375" y="666750"/>
                    </a:lnTo>
                    <a:lnTo>
                      <a:pt x="1428750" y="1095375"/>
                    </a:lnTo>
                    <a:lnTo>
                      <a:pt x="2143125" y="1381125"/>
                    </a:lnTo>
                    <a:lnTo>
                      <a:pt x="2857500" y="1619250"/>
                    </a:lnTo>
                    <a:lnTo>
                      <a:pt x="3571875" y="1809750"/>
                    </a:lnTo>
                    <a:lnTo>
                      <a:pt x="4286250" y="1962150"/>
                    </a:lnTo>
                  </a:path>
                </a:pathLst>
              </a:custGeom>
              <a:noFill/>
              <a:ln w="33338" cap="rnd">
                <a:solidFill>
                  <a:schemeClr val="accent1"/>
                </a:solidFill>
              </a:ln>
            </p:spPr>
            <p:txBody>
              <a:bodyPr/>
              <a:lstStyle/>
              <a:p>
                <a:endParaRPr lang="en-US"/>
              </a:p>
            </p:txBody>
          </p:sp>
          <p:sp>
            <p:nvSpPr>
              <p:cNvPr id="25" name="Ellipse 25"/>
              <p:cNvSpPr/>
              <p:nvPr/>
            </p:nvSpPr>
            <p:spPr>
              <a:xfrm>
                <a:off x="1638300" y="3067050"/>
                <a:ext cx="152400" cy="152400"/>
              </a:xfrm>
              <a:prstGeom prst="ellipse">
                <a:avLst/>
              </a:prstGeom>
              <a:solidFill>
                <a:schemeClr val="lt1"/>
              </a:solidFill>
              <a:ln w="28575">
                <a:solidFill>
                  <a:srgbClr val="DC2626"/>
                </a:solidFill>
              </a:ln>
            </p:spPr>
            <p:txBody>
              <a:bodyPr/>
              <a:lstStyle/>
              <a:p>
                <a:endParaRPr lang="en-US"/>
              </a:p>
            </p:txBody>
          </p:sp>
          <p:sp>
            <p:nvSpPr>
              <p:cNvPr id="26" name="TextBox 26"/>
              <p:cNvSpPr txBox="1"/>
              <p:nvPr/>
            </p:nvSpPr>
            <p:spPr>
              <a:xfrm>
                <a:off x="1489452" y="2825750"/>
                <a:ext cx="450096" cy="191643"/>
              </a:xfrm>
              <a:prstGeom prst="rect">
                <a:avLst/>
              </a:prstGeom>
              <a:noFill/>
              <a:ln>
                <a:noFill/>
              </a:ln>
            </p:spPr>
            <p:txBody>
              <a:bodyPr wrap="none" lIns="0" tIns="0" rIns="0" bIns="0" anchor="t" anchorCtr="0">
                <a:spAutoFit/>
              </a:bodyPr>
              <a:lstStyle/>
              <a:p>
                <a:pPr algn="ctr"/>
                <a:r>
                  <a:rPr lang="vi" sz="980" b="1" dirty="0">
                    <a:solidFill>
                      <a:srgbClr val="DC2626"/>
                    </a:solidFill>
                    <a:latin typeface="+mn-lt"/>
                    <a:ea typeface="+mn-ea"/>
                    <a:cs typeface="+mn-cs"/>
                  </a:rPr>
                  <a:t>1,116.6</a:t>
                </a:r>
              </a:p>
            </p:txBody>
          </p:sp>
          <p:sp>
            <p:nvSpPr>
              <p:cNvPr id="27" name="TextBox 27"/>
              <p:cNvSpPr txBox="1"/>
              <p:nvPr/>
            </p:nvSpPr>
            <p:spPr>
              <a:xfrm>
                <a:off x="1579742" y="5397500"/>
                <a:ext cx="269516" cy="191643"/>
              </a:xfrm>
              <a:prstGeom prst="rect">
                <a:avLst/>
              </a:prstGeom>
              <a:noFill/>
              <a:ln>
                <a:noFill/>
              </a:ln>
            </p:spPr>
            <p:txBody>
              <a:bodyPr wrap="none" lIns="0" tIns="0" rIns="0" bIns="0" anchor="t" anchorCtr="0">
                <a:spAutoFit/>
              </a:bodyPr>
              <a:lstStyle/>
              <a:p>
                <a:pPr algn="ctr"/>
                <a:r>
                  <a:rPr lang="vi" sz="980" b="1" dirty="0">
                    <a:solidFill>
                      <a:srgbClr val="DC2626"/>
                    </a:solidFill>
                    <a:latin typeface="+mn-lt"/>
                    <a:ea typeface="+mn-ea"/>
                    <a:cs typeface="+mn-cs"/>
                  </a:rPr>
                  <a:t>K=2</a:t>
                </a:r>
              </a:p>
            </p:txBody>
          </p:sp>
          <p:sp>
            <p:nvSpPr>
              <p:cNvPr id="28" name="Ellipse 28"/>
              <p:cNvSpPr/>
              <p:nvPr/>
            </p:nvSpPr>
            <p:spPr>
              <a:xfrm>
                <a:off x="2381250" y="3762375"/>
                <a:ext cx="95250" cy="95250"/>
              </a:xfrm>
              <a:prstGeom prst="ellipse">
                <a:avLst/>
              </a:prstGeom>
              <a:solidFill>
                <a:schemeClr val="accent1"/>
              </a:solidFill>
              <a:ln>
                <a:noFill/>
              </a:ln>
            </p:spPr>
            <p:txBody>
              <a:bodyPr/>
              <a:lstStyle/>
              <a:p>
                <a:endParaRPr lang="en-US"/>
              </a:p>
            </p:txBody>
          </p:sp>
          <p:sp>
            <p:nvSpPr>
              <p:cNvPr id="29" name="TextBox 29"/>
              <p:cNvSpPr txBox="1"/>
              <p:nvPr/>
            </p:nvSpPr>
            <p:spPr>
              <a:xfrm>
                <a:off x="2285983" y="3594100"/>
                <a:ext cx="285783" cy="161925"/>
              </a:xfrm>
              <a:prstGeom prst="rect">
                <a:avLst/>
              </a:prstGeom>
              <a:noFill/>
              <a:ln>
                <a:noFill/>
              </a:ln>
            </p:spPr>
            <p:txBody>
              <a:bodyPr wrap="none" lIns="0" tIns="0" rIns="0" bIns="0" anchor="t" anchorCtr="0">
                <a:spAutoFit/>
              </a:bodyPr>
              <a:lstStyle/>
              <a:p>
                <a:pPr algn="ctr"/>
                <a:r>
                  <a:rPr lang="vi" sz="820" dirty="0">
                    <a:solidFill>
                      <a:srgbClr val="475569"/>
                    </a:solidFill>
                    <a:latin typeface="+mn-lt"/>
                    <a:ea typeface="+mn-ea"/>
                    <a:cs typeface="+mn-cs"/>
                  </a:rPr>
                  <a:t>945.9</a:t>
                </a:r>
              </a:p>
            </p:txBody>
          </p:sp>
          <p:sp>
            <p:nvSpPr>
              <p:cNvPr id="30" name="TextBox 30"/>
              <p:cNvSpPr txBox="1"/>
              <p:nvPr/>
            </p:nvSpPr>
            <p:spPr>
              <a:xfrm>
                <a:off x="2308437" y="5410200"/>
                <a:ext cx="240876" cy="176212"/>
              </a:xfrm>
              <a:prstGeom prst="rect">
                <a:avLst/>
              </a:prstGeom>
              <a:noFill/>
              <a:ln>
                <a:noFill/>
              </a:ln>
            </p:spPr>
            <p:txBody>
              <a:bodyPr wrap="none" lIns="0" tIns="0" rIns="0" bIns="0" anchor="t" anchorCtr="0">
                <a:spAutoFit/>
              </a:bodyPr>
              <a:lstStyle/>
              <a:p>
                <a:pPr algn="ctr"/>
                <a:r>
                  <a:rPr lang="vi" sz="900" dirty="0">
                    <a:solidFill>
                      <a:srgbClr val="475569"/>
                    </a:solidFill>
                    <a:latin typeface="+mn-lt"/>
                    <a:ea typeface="+mn-ea"/>
                    <a:cs typeface="+mn-cs"/>
                  </a:rPr>
                  <a:t>K=3</a:t>
                </a:r>
              </a:p>
            </p:txBody>
          </p:sp>
          <p:sp>
            <p:nvSpPr>
              <p:cNvPr id="31" name="Ellipse 31"/>
              <p:cNvSpPr/>
              <p:nvPr/>
            </p:nvSpPr>
            <p:spPr>
              <a:xfrm>
                <a:off x="3095625" y="4191000"/>
                <a:ext cx="95250" cy="95250"/>
              </a:xfrm>
              <a:prstGeom prst="ellipse">
                <a:avLst/>
              </a:prstGeom>
              <a:solidFill>
                <a:schemeClr val="accent1"/>
              </a:solidFill>
              <a:ln>
                <a:noFill/>
              </a:ln>
            </p:spPr>
            <p:txBody>
              <a:bodyPr/>
              <a:lstStyle/>
              <a:p>
                <a:endParaRPr lang="en-US"/>
              </a:p>
            </p:txBody>
          </p:sp>
          <p:sp>
            <p:nvSpPr>
              <p:cNvPr id="32" name="TextBox 32"/>
              <p:cNvSpPr txBox="1"/>
              <p:nvPr/>
            </p:nvSpPr>
            <p:spPr>
              <a:xfrm>
                <a:off x="3000358" y="4022725"/>
                <a:ext cx="285783" cy="161925"/>
              </a:xfrm>
              <a:prstGeom prst="rect">
                <a:avLst/>
              </a:prstGeom>
              <a:noFill/>
              <a:ln>
                <a:noFill/>
              </a:ln>
            </p:spPr>
            <p:txBody>
              <a:bodyPr wrap="none" lIns="0" tIns="0" rIns="0" bIns="0" anchor="t" anchorCtr="0">
                <a:spAutoFit/>
              </a:bodyPr>
              <a:lstStyle/>
              <a:p>
                <a:pPr algn="ctr"/>
                <a:r>
                  <a:rPr lang="vi" sz="820" dirty="0">
                    <a:solidFill>
                      <a:srgbClr val="475569"/>
                    </a:solidFill>
                    <a:latin typeface="+mn-lt"/>
                    <a:ea typeface="+mn-ea"/>
                    <a:cs typeface="+mn-cs"/>
                  </a:rPr>
                  <a:t>830.6</a:t>
                </a:r>
              </a:p>
            </p:txBody>
          </p:sp>
          <p:sp>
            <p:nvSpPr>
              <p:cNvPr id="33" name="TextBox 33"/>
              <p:cNvSpPr txBox="1"/>
              <p:nvPr/>
            </p:nvSpPr>
            <p:spPr>
              <a:xfrm>
                <a:off x="3022812" y="5410200"/>
                <a:ext cx="240876" cy="176212"/>
              </a:xfrm>
              <a:prstGeom prst="rect">
                <a:avLst/>
              </a:prstGeom>
              <a:noFill/>
              <a:ln>
                <a:noFill/>
              </a:ln>
            </p:spPr>
            <p:txBody>
              <a:bodyPr wrap="none" lIns="0" tIns="0" rIns="0" bIns="0" anchor="t" anchorCtr="0">
                <a:spAutoFit/>
              </a:bodyPr>
              <a:lstStyle/>
              <a:p>
                <a:pPr algn="ctr"/>
                <a:r>
                  <a:rPr lang="vi" sz="900" dirty="0">
                    <a:solidFill>
                      <a:srgbClr val="475569"/>
                    </a:solidFill>
                    <a:latin typeface="+mn-lt"/>
                    <a:ea typeface="+mn-ea"/>
                    <a:cs typeface="+mn-cs"/>
                  </a:rPr>
                  <a:t>K=4</a:t>
                </a:r>
              </a:p>
            </p:txBody>
          </p:sp>
          <p:sp>
            <p:nvSpPr>
              <p:cNvPr id="34" name="Ellipse 34"/>
              <p:cNvSpPr/>
              <p:nvPr/>
            </p:nvSpPr>
            <p:spPr>
              <a:xfrm>
                <a:off x="3810000" y="4476750"/>
                <a:ext cx="95250" cy="95250"/>
              </a:xfrm>
              <a:prstGeom prst="ellipse">
                <a:avLst/>
              </a:prstGeom>
              <a:solidFill>
                <a:schemeClr val="accent1"/>
              </a:solidFill>
              <a:ln>
                <a:noFill/>
              </a:ln>
            </p:spPr>
            <p:txBody>
              <a:bodyPr/>
              <a:lstStyle/>
              <a:p>
                <a:endParaRPr lang="en-US"/>
              </a:p>
            </p:txBody>
          </p:sp>
          <p:sp>
            <p:nvSpPr>
              <p:cNvPr id="35" name="TextBox 35"/>
              <p:cNvSpPr txBox="1"/>
              <p:nvPr/>
            </p:nvSpPr>
            <p:spPr>
              <a:xfrm>
                <a:off x="3714733" y="4308475"/>
                <a:ext cx="285783" cy="161925"/>
              </a:xfrm>
              <a:prstGeom prst="rect">
                <a:avLst/>
              </a:prstGeom>
              <a:noFill/>
              <a:ln>
                <a:noFill/>
              </a:ln>
            </p:spPr>
            <p:txBody>
              <a:bodyPr wrap="none" lIns="0" tIns="0" rIns="0" bIns="0" anchor="t" anchorCtr="0">
                <a:spAutoFit/>
              </a:bodyPr>
              <a:lstStyle/>
              <a:p>
                <a:pPr algn="ctr"/>
                <a:r>
                  <a:rPr lang="vi" sz="820" dirty="0">
                    <a:solidFill>
                      <a:srgbClr val="475569"/>
                    </a:solidFill>
                    <a:latin typeface="+mn-lt"/>
                    <a:ea typeface="+mn-ea"/>
                    <a:cs typeface="+mn-cs"/>
                  </a:rPr>
                  <a:t>756.6</a:t>
                </a:r>
              </a:p>
            </p:txBody>
          </p:sp>
          <p:sp>
            <p:nvSpPr>
              <p:cNvPr id="36" name="TextBox 36"/>
              <p:cNvSpPr txBox="1"/>
              <p:nvPr/>
            </p:nvSpPr>
            <p:spPr>
              <a:xfrm>
                <a:off x="3737187" y="5410200"/>
                <a:ext cx="240876" cy="176212"/>
              </a:xfrm>
              <a:prstGeom prst="rect">
                <a:avLst/>
              </a:prstGeom>
              <a:noFill/>
              <a:ln>
                <a:noFill/>
              </a:ln>
            </p:spPr>
            <p:txBody>
              <a:bodyPr wrap="none" lIns="0" tIns="0" rIns="0" bIns="0" anchor="t" anchorCtr="0">
                <a:spAutoFit/>
              </a:bodyPr>
              <a:lstStyle/>
              <a:p>
                <a:pPr algn="ctr"/>
                <a:r>
                  <a:rPr lang="vi" sz="900" dirty="0">
                    <a:solidFill>
                      <a:srgbClr val="475569"/>
                    </a:solidFill>
                    <a:latin typeface="+mn-lt"/>
                    <a:ea typeface="+mn-ea"/>
                    <a:cs typeface="+mn-cs"/>
                  </a:rPr>
                  <a:t>K=5</a:t>
                </a:r>
              </a:p>
            </p:txBody>
          </p:sp>
          <p:sp>
            <p:nvSpPr>
              <p:cNvPr id="37" name="Ellipse 37"/>
              <p:cNvSpPr/>
              <p:nvPr/>
            </p:nvSpPr>
            <p:spPr>
              <a:xfrm>
                <a:off x="4524375" y="4714875"/>
                <a:ext cx="95250" cy="95250"/>
              </a:xfrm>
              <a:prstGeom prst="ellipse">
                <a:avLst/>
              </a:prstGeom>
              <a:solidFill>
                <a:schemeClr val="accent1"/>
              </a:solidFill>
              <a:ln>
                <a:noFill/>
              </a:ln>
            </p:spPr>
            <p:txBody>
              <a:bodyPr/>
              <a:lstStyle/>
              <a:p>
                <a:endParaRPr lang="en-US"/>
              </a:p>
            </p:txBody>
          </p:sp>
          <p:sp>
            <p:nvSpPr>
              <p:cNvPr id="38" name="TextBox 38"/>
              <p:cNvSpPr txBox="1"/>
              <p:nvPr/>
            </p:nvSpPr>
            <p:spPr>
              <a:xfrm>
                <a:off x="4429108" y="4546600"/>
                <a:ext cx="285783" cy="161925"/>
              </a:xfrm>
              <a:prstGeom prst="rect">
                <a:avLst/>
              </a:prstGeom>
              <a:noFill/>
              <a:ln>
                <a:noFill/>
              </a:ln>
            </p:spPr>
            <p:txBody>
              <a:bodyPr wrap="none" lIns="0" tIns="0" rIns="0" bIns="0" anchor="t" anchorCtr="0">
                <a:spAutoFit/>
              </a:bodyPr>
              <a:lstStyle/>
              <a:p>
                <a:pPr algn="ctr"/>
                <a:r>
                  <a:rPr lang="vi" sz="820" dirty="0">
                    <a:solidFill>
                      <a:srgbClr val="475569"/>
                    </a:solidFill>
                    <a:latin typeface="+mn-lt"/>
                    <a:ea typeface="+mn-ea"/>
                    <a:cs typeface="+mn-cs"/>
                  </a:rPr>
                  <a:t>698.3</a:t>
                </a:r>
              </a:p>
            </p:txBody>
          </p:sp>
          <p:sp>
            <p:nvSpPr>
              <p:cNvPr id="39" name="TextBox 39"/>
              <p:cNvSpPr txBox="1"/>
              <p:nvPr/>
            </p:nvSpPr>
            <p:spPr>
              <a:xfrm>
                <a:off x="4451562" y="5410200"/>
                <a:ext cx="240876" cy="176212"/>
              </a:xfrm>
              <a:prstGeom prst="rect">
                <a:avLst/>
              </a:prstGeom>
              <a:noFill/>
              <a:ln>
                <a:noFill/>
              </a:ln>
            </p:spPr>
            <p:txBody>
              <a:bodyPr wrap="none" lIns="0" tIns="0" rIns="0" bIns="0" anchor="t" anchorCtr="0">
                <a:spAutoFit/>
              </a:bodyPr>
              <a:lstStyle/>
              <a:p>
                <a:pPr algn="ctr"/>
                <a:r>
                  <a:rPr lang="vi" sz="900" dirty="0">
                    <a:solidFill>
                      <a:srgbClr val="475569"/>
                    </a:solidFill>
                    <a:latin typeface="+mn-lt"/>
                    <a:ea typeface="+mn-ea"/>
                    <a:cs typeface="+mn-cs"/>
                  </a:rPr>
                  <a:t>K=6</a:t>
                </a:r>
              </a:p>
            </p:txBody>
          </p:sp>
          <p:sp>
            <p:nvSpPr>
              <p:cNvPr id="40" name="Ellipse 40"/>
              <p:cNvSpPr/>
              <p:nvPr/>
            </p:nvSpPr>
            <p:spPr>
              <a:xfrm>
                <a:off x="5238750" y="4905375"/>
                <a:ext cx="95250" cy="95250"/>
              </a:xfrm>
              <a:prstGeom prst="ellipse">
                <a:avLst/>
              </a:prstGeom>
              <a:solidFill>
                <a:schemeClr val="accent1"/>
              </a:solidFill>
              <a:ln>
                <a:noFill/>
              </a:ln>
            </p:spPr>
            <p:txBody>
              <a:bodyPr/>
              <a:lstStyle/>
              <a:p>
                <a:endParaRPr lang="en-US"/>
              </a:p>
            </p:txBody>
          </p:sp>
          <p:sp>
            <p:nvSpPr>
              <p:cNvPr id="41" name="TextBox 41"/>
              <p:cNvSpPr txBox="1"/>
              <p:nvPr/>
            </p:nvSpPr>
            <p:spPr>
              <a:xfrm>
                <a:off x="5143483" y="4737100"/>
                <a:ext cx="285783" cy="161925"/>
              </a:xfrm>
              <a:prstGeom prst="rect">
                <a:avLst/>
              </a:prstGeom>
              <a:noFill/>
              <a:ln>
                <a:noFill/>
              </a:ln>
            </p:spPr>
            <p:txBody>
              <a:bodyPr wrap="none" lIns="0" tIns="0" rIns="0" bIns="0" anchor="t" anchorCtr="0">
                <a:spAutoFit/>
              </a:bodyPr>
              <a:lstStyle/>
              <a:p>
                <a:pPr algn="ctr"/>
                <a:r>
                  <a:rPr lang="vi" sz="820" dirty="0">
                    <a:solidFill>
                      <a:srgbClr val="475569"/>
                    </a:solidFill>
                    <a:latin typeface="+mn-lt"/>
                    <a:ea typeface="+mn-ea"/>
                    <a:cs typeface="+mn-cs"/>
                  </a:rPr>
                  <a:t>649.4</a:t>
                </a:r>
              </a:p>
            </p:txBody>
          </p:sp>
          <p:sp>
            <p:nvSpPr>
              <p:cNvPr id="42" name="TextBox 42"/>
              <p:cNvSpPr txBox="1"/>
              <p:nvPr/>
            </p:nvSpPr>
            <p:spPr>
              <a:xfrm>
                <a:off x="5165937" y="5410200"/>
                <a:ext cx="240876" cy="176212"/>
              </a:xfrm>
              <a:prstGeom prst="rect">
                <a:avLst/>
              </a:prstGeom>
              <a:noFill/>
              <a:ln>
                <a:noFill/>
              </a:ln>
            </p:spPr>
            <p:txBody>
              <a:bodyPr wrap="none" lIns="0" tIns="0" rIns="0" bIns="0" anchor="t" anchorCtr="0">
                <a:spAutoFit/>
              </a:bodyPr>
              <a:lstStyle/>
              <a:p>
                <a:pPr algn="ctr"/>
                <a:r>
                  <a:rPr lang="vi" sz="900" dirty="0">
                    <a:solidFill>
                      <a:srgbClr val="475569"/>
                    </a:solidFill>
                    <a:latin typeface="+mn-lt"/>
                    <a:ea typeface="+mn-ea"/>
                    <a:cs typeface="+mn-cs"/>
                  </a:rPr>
                  <a:t>K=7</a:t>
                </a:r>
              </a:p>
            </p:txBody>
          </p:sp>
          <p:sp>
            <p:nvSpPr>
              <p:cNvPr id="43" name="Ellipse 43"/>
              <p:cNvSpPr/>
              <p:nvPr/>
            </p:nvSpPr>
            <p:spPr>
              <a:xfrm>
                <a:off x="5953125" y="5057775"/>
                <a:ext cx="95250" cy="95250"/>
              </a:xfrm>
              <a:prstGeom prst="ellipse">
                <a:avLst/>
              </a:prstGeom>
              <a:solidFill>
                <a:schemeClr val="accent1"/>
              </a:solidFill>
              <a:ln>
                <a:noFill/>
              </a:ln>
            </p:spPr>
            <p:txBody>
              <a:bodyPr/>
              <a:lstStyle/>
              <a:p>
                <a:endParaRPr lang="en-US"/>
              </a:p>
            </p:txBody>
          </p:sp>
          <p:sp>
            <p:nvSpPr>
              <p:cNvPr id="44" name="TextBox 44"/>
              <p:cNvSpPr txBox="1"/>
              <p:nvPr/>
            </p:nvSpPr>
            <p:spPr>
              <a:xfrm>
                <a:off x="5857858" y="4889500"/>
                <a:ext cx="285783" cy="161925"/>
              </a:xfrm>
              <a:prstGeom prst="rect">
                <a:avLst/>
              </a:prstGeom>
              <a:noFill/>
              <a:ln>
                <a:noFill/>
              </a:ln>
            </p:spPr>
            <p:txBody>
              <a:bodyPr wrap="none" lIns="0" tIns="0" rIns="0" bIns="0" anchor="t" anchorCtr="0">
                <a:spAutoFit/>
              </a:bodyPr>
              <a:lstStyle/>
              <a:p>
                <a:pPr algn="ctr"/>
                <a:r>
                  <a:rPr lang="vi" sz="820" dirty="0">
                    <a:solidFill>
                      <a:srgbClr val="475569"/>
                    </a:solidFill>
                    <a:latin typeface="+mn-lt"/>
                    <a:ea typeface="+mn-ea"/>
                    <a:cs typeface="+mn-cs"/>
                  </a:rPr>
                  <a:t>610.5</a:t>
                </a:r>
              </a:p>
            </p:txBody>
          </p:sp>
          <p:sp>
            <p:nvSpPr>
              <p:cNvPr id="45" name="TextBox 45"/>
              <p:cNvSpPr txBox="1"/>
              <p:nvPr/>
            </p:nvSpPr>
            <p:spPr>
              <a:xfrm>
                <a:off x="5880312" y="5410200"/>
                <a:ext cx="240876" cy="176212"/>
              </a:xfrm>
              <a:prstGeom prst="rect">
                <a:avLst/>
              </a:prstGeom>
              <a:noFill/>
              <a:ln>
                <a:noFill/>
              </a:ln>
            </p:spPr>
            <p:txBody>
              <a:bodyPr wrap="none" lIns="0" tIns="0" rIns="0" bIns="0" anchor="t" anchorCtr="0">
                <a:spAutoFit/>
              </a:bodyPr>
              <a:lstStyle/>
              <a:p>
                <a:pPr algn="ctr"/>
                <a:r>
                  <a:rPr lang="vi" sz="900" dirty="0">
                    <a:solidFill>
                      <a:srgbClr val="475569"/>
                    </a:solidFill>
                    <a:latin typeface="+mn-lt"/>
                    <a:ea typeface="+mn-ea"/>
                    <a:cs typeface="+mn-cs"/>
                  </a:rPr>
                  <a:t>K=8</a:t>
                </a:r>
              </a:p>
            </p:txBody>
          </p:sp>
          <p:sp>
            <p:nvSpPr>
              <p:cNvPr id="46" name="Rectangle 46"/>
              <p:cNvSpPr/>
              <p:nvPr/>
            </p:nvSpPr>
            <p:spPr>
              <a:xfrm>
                <a:off x="1905000" y="2476500"/>
                <a:ext cx="1524000" cy="381000"/>
              </a:xfrm>
              <a:prstGeom prst="roundRect">
                <a:avLst>
                  <a:gd name="adj" fmla="val 20000"/>
                </a:avLst>
              </a:prstGeom>
              <a:solidFill>
                <a:srgbClr val="FEE2E2"/>
              </a:solidFill>
              <a:ln w="14288">
                <a:solidFill>
                  <a:srgbClr val="DC2626"/>
                </a:solidFill>
              </a:ln>
            </p:spPr>
            <p:txBody>
              <a:bodyPr/>
              <a:lstStyle/>
              <a:p>
                <a:endParaRPr lang="en-US"/>
              </a:p>
            </p:txBody>
          </p:sp>
          <p:sp>
            <p:nvSpPr>
              <p:cNvPr id="47" name="TextBox 47"/>
              <p:cNvSpPr txBox="1"/>
              <p:nvPr/>
            </p:nvSpPr>
            <p:spPr>
              <a:xfrm>
                <a:off x="2000848" y="2587625"/>
                <a:ext cx="1332304" cy="191643"/>
              </a:xfrm>
              <a:prstGeom prst="rect">
                <a:avLst/>
              </a:prstGeom>
              <a:noFill/>
              <a:ln>
                <a:noFill/>
              </a:ln>
            </p:spPr>
            <p:txBody>
              <a:bodyPr wrap="none" lIns="0" tIns="0" rIns="0" bIns="0" anchor="t" anchorCtr="0">
                <a:spAutoFit/>
              </a:bodyPr>
              <a:lstStyle/>
              <a:p>
                <a:pPr algn="ctr"/>
                <a:r>
                  <a:rPr lang="vi" sz="980" b="1" dirty="0">
                    <a:solidFill>
                      <a:srgbClr val="DC2626"/>
                    </a:solidFill>
                    <a:latin typeface="+mn-lt"/>
                    <a:ea typeface="+mn-ea"/>
                    <a:cs typeface="+mn-cs"/>
                  </a:rPr>
                  <a:t>★ Điểm Gập (Elbow)</a:t>
                </a:r>
              </a:p>
            </p:txBody>
          </p:sp>
        </p:grpSp>
      </p:grpSp>
      <p:grpSp>
        <p:nvGrpSpPr>
          <p:cNvPr id="70" name="elbow-insights"/>
          <p:cNvGrpSpPr/>
          <p:nvPr/>
        </p:nvGrpSpPr>
        <p:grpSpPr>
          <a:xfrm>
            <a:off x="7239000" y="1428750"/>
            <a:ext cx="4286250" cy="4905375"/>
            <a:chOff x="7239000" y="1428750"/>
            <a:chExt cx="4286250" cy="4905375"/>
          </a:xfrm>
        </p:grpSpPr>
        <p:sp>
          <p:nvSpPr>
            <p:cNvPr id="50" name="Rectangle 50"/>
            <p:cNvSpPr/>
            <p:nvPr/>
          </p:nvSpPr>
          <p:spPr>
            <a:xfrm>
              <a:off x="7239000" y="1428750"/>
              <a:ext cx="4286250" cy="1524000"/>
            </a:xfrm>
            <a:prstGeom prst="roundRect">
              <a:avLst>
                <a:gd name="adj" fmla="val 8750"/>
              </a:avLst>
            </a:prstGeom>
            <a:solidFill>
              <a:schemeClr val="lt1"/>
            </a:solidFill>
            <a:ln w="14288">
              <a:solidFill>
                <a:srgbClr val="E2E8F0"/>
              </a:solidFill>
            </a:ln>
          </p:spPr>
          <p:txBody>
            <a:bodyPr/>
            <a:lstStyle/>
            <a:p>
              <a:endParaRPr lang="en-US"/>
            </a:p>
          </p:txBody>
        </p:sp>
        <p:sp>
          <p:nvSpPr>
            <p:cNvPr id="51" name="Rectangle 51"/>
            <p:cNvSpPr/>
            <p:nvPr/>
          </p:nvSpPr>
          <p:spPr>
            <a:xfrm>
              <a:off x="7239000" y="1428750"/>
              <a:ext cx="4286250" cy="57150"/>
            </a:xfrm>
            <a:prstGeom prst="roundRect">
              <a:avLst>
                <a:gd name="adj" fmla="val 50000"/>
              </a:avLst>
            </a:prstGeom>
            <a:solidFill>
              <a:schemeClr val="accent1"/>
            </a:solidFill>
            <a:ln>
              <a:noFill/>
            </a:ln>
          </p:spPr>
          <p:txBody>
            <a:bodyPr/>
            <a:lstStyle/>
            <a:p>
              <a:endParaRPr lang="en-US"/>
            </a:p>
          </p:txBody>
        </p:sp>
        <p:sp>
          <p:nvSpPr>
            <p:cNvPr id="52" name="TextBox 52"/>
            <p:cNvSpPr txBox="1"/>
            <p:nvPr/>
          </p:nvSpPr>
          <p:spPr>
            <a:xfrm>
              <a:off x="7519035" y="1622425"/>
              <a:ext cx="3242933" cy="220028"/>
            </a:xfrm>
            <a:prstGeom prst="rect">
              <a:avLst/>
            </a:prstGeom>
            <a:noFill/>
            <a:ln>
              <a:noFill/>
            </a:ln>
          </p:spPr>
          <p:txBody>
            <a:bodyPr wrap="none" lIns="0" tIns="0" rIns="0" bIns="0" anchor="t" anchorCtr="0">
              <a:spAutoFit/>
            </a:bodyPr>
            <a:lstStyle/>
            <a:p>
              <a:pPr algn="l"/>
              <a:r>
                <a:rPr lang="vi" sz="1120" b="1" dirty="0">
                  <a:solidFill>
                    <a:srgbClr val="1E40AF"/>
                  </a:solidFill>
                  <a:latin typeface="+mn-lt"/>
                  <a:ea typeface="+mn-ea"/>
                  <a:cs typeface="+mn-cs"/>
                </a:rPr>
                <a:t>1. Cơ Chế Độ Suy Giảm Biên (Marginal Gain)</a:t>
              </a:r>
            </a:p>
          </p:txBody>
        </p:sp>
        <p:sp>
          <p:nvSpPr>
            <p:cNvPr id="53" name="TextBox 53"/>
            <p:cNvSpPr txBox="1"/>
            <p:nvPr/>
          </p:nvSpPr>
          <p:spPr>
            <a:xfrm>
              <a:off x="7519416" y="1920875"/>
              <a:ext cx="2994108" cy="205359"/>
            </a:xfrm>
            <a:prstGeom prst="rect">
              <a:avLst/>
            </a:prstGeom>
            <a:noFill/>
            <a:ln>
              <a:noFill/>
            </a:ln>
          </p:spPr>
          <p:txBody>
            <a:bodyPr wrap="none" lIns="0" tIns="0" rIns="0" bIns="0" anchor="t" anchorCtr="0">
              <a:spAutoFit/>
            </a:bodyPr>
            <a:lstStyle/>
            <a:p>
              <a:pPr marL="83730" indent="-83730" algn="l">
                <a:buClr>
                  <a:srgbClr val="334155"/>
                </a:buClr>
                <a:buSzTx/>
                <a:buFontTx/>
                <a:buChar char="•"/>
              </a:pPr>
              <a:r>
                <a:rPr lang="vi" sz="1050" dirty="0">
                  <a:solidFill>
                    <a:srgbClr val="334155"/>
                  </a:solidFill>
                  <a:latin typeface="+mn-lt"/>
                  <a:ea typeface="+mn-ea"/>
                  <a:cs typeface="+mn-cs"/>
                </a:rPr>
                <a:t>Từ K=1 (Inertia ≈ 1,584) xuống K=2 (1,116.6):</a:t>
              </a:r>
            </a:p>
          </p:txBody>
        </p:sp>
        <p:sp>
          <p:nvSpPr>
            <p:cNvPr id="54" name="TextBox 54"/>
            <p:cNvSpPr txBox="1"/>
            <p:nvPr/>
          </p:nvSpPr>
          <p:spPr>
            <a:xfrm>
              <a:off x="7662291" y="2139950"/>
              <a:ext cx="2971239" cy="205359"/>
            </a:xfrm>
            <a:prstGeom prst="rect">
              <a:avLst/>
            </a:prstGeom>
            <a:noFill/>
            <a:ln>
              <a:noFill/>
            </a:ln>
          </p:spPr>
          <p:txBody>
            <a:bodyPr wrap="none" lIns="0" tIns="0" rIns="0" bIns="0" anchor="t" anchorCtr="0">
              <a:spAutoFit/>
            </a:bodyPr>
            <a:lstStyle/>
            <a:p>
              <a:pPr algn="l"/>
              <a:r>
                <a:rPr lang="vi" sz="1050" b="1" dirty="0">
                  <a:solidFill>
                    <a:srgbClr val="059669"/>
                  </a:solidFill>
                  <a:latin typeface="+mn-lt"/>
                  <a:ea typeface="+mn-ea"/>
                  <a:cs typeface="+mn-cs"/>
                </a:rPr>
                <a:t>Giảm mạnh tới 467.4 điểm quán tính (29.5%)</a:t>
              </a:r>
            </a:p>
          </p:txBody>
        </p:sp>
        <p:sp>
          <p:nvSpPr>
            <p:cNvPr id="55" name="TextBox 55"/>
            <p:cNvSpPr txBox="1"/>
            <p:nvPr/>
          </p:nvSpPr>
          <p:spPr>
            <a:xfrm>
              <a:off x="7519416" y="2425700"/>
              <a:ext cx="1911029" cy="205359"/>
            </a:xfrm>
            <a:prstGeom prst="rect">
              <a:avLst/>
            </a:prstGeom>
            <a:noFill/>
            <a:ln>
              <a:noFill/>
            </a:ln>
          </p:spPr>
          <p:txBody>
            <a:bodyPr wrap="none" lIns="0" tIns="0" rIns="0" bIns="0" anchor="t" anchorCtr="0">
              <a:spAutoFit/>
            </a:bodyPr>
            <a:lstStyle/>
            <a:p>
              <a:pPr marL="83730" indent="-83730" algn="l">
                <a:buClr>
                  <a:srgbClr val="334155"/>
                </a:buClr>
                <a:buSzTx/>
                <a:buFontTx/>
                <a:buChar char="•"/>
              </a:pPr>
              <a:r>
                <a:rPr lang="vi" sz="1050" dirty="0">
                  <a:solidFill>
                    <a:srgbClr val="334155"/>
                  </a:solidFill>
                  <a:latin typeface="+mn-lt"/>
                  <a:ea typeface="+mn-ea"/>
                  <a:cs typeface="+mn-cs"/>
                </a:rPr>
                <a:t>Khi tăng tiếp từ K=2 lên K=3:</a:t>
              </a:r>
            </a:p>
          </p:txBody>
        </p:sp>
        <p:sp>
          <p:nvSpPr>
            <p:cNvPr id="56" name="TextBox 56"/>
            <p:cNvSpPr txBox="1"/>
            <p:nvPr/>
          </p:nvSpPr>
          <p:spPr>
            <a:xfrm>
              <a:off x="7662291" y="2635250"/>
              <a:ext cx="3402906" cy="205359"/>
            </a:xfrm>
            <a:prstGeom prst="rect">
              <a:avLst/>
            </a:prstGeom>
            <a:noFill/>
            <a:ln>
              <a:noFill/>
            </a:ln>
          </p:spPr>
          <p:txBody>
            <a:bodyPr wrap="none" lIns="0" tIns="0" rIns="0" bIns="0" anchor="t" anchorCtr="0">
              <a:spAutoFit/>
            </a:bodyPr>
            <a:lstStyle/>
            <a:p>
              <a:pPr algn="l"/>
              <a:r>
                <a:rPr lang="vi" sz="1050" dirty="0">
                  <a:solidFill>
                    <a:srgbClr val="64748B"/>
                  </a:solidFill>
                  <a:latin typeface="+mn-lt"/>
                  <a:ea typeface="+mn-ea"/>
                  <a:cs typeface="+mn-cs"/>
                </a:rPr>
                <a:t>Tốc độ giảm quán tính chậm hẳn (chỉ còn 170.7 điểm)</a:t>
              </a:r>
            </a:p>
          </p:txBody>
        </p:sp>
        <p:sp>
          <p:nvSpPr>
            <p:cNvPr id="57" name="Rectangle 57"/>
            <p:cNvSpPr/>
            <p:nvPr/>
          </p:nvSpPr>
          <p:spPr>
            <a:xfrm>
              <a:off x="7239000" y="3143250"/>
              <a:ext cx="4286250" cy="1428750"/>
            </a:xfrm>
            <a:prstGeom prst="roundRect">
              <a:avLst>
                <a:gd name="adj" fmla="val 9333"/>
              </a:avLst>
            </a:prstGeom>
            <a:solidFill>
              <a:schemeClr val="lt1"/>
            </a:solidFill>
            <a:ln w="14288">
              <a:solidFill>
                <a:srgbClr val="E2E8F0"/>
              </a:solidFill>
            </a:ln>
          </p:spPr>
          <p:txBody>
            <a:bodyPr/>
            <a:lstStyle/>
            <a:p>
              <a:endParaRPr lang="en-US"/>
            </a:p>
          </p:txBody>
        </p:sp>
        <p:sp>
          <p:nvSpPr>
            <p:cNvPr id="58" name="Rectangle 58"/>
            <p:cNvSpPr/>
            <p:nvPr/>
          </p:nvSpPr>
          <p:spPr>
            <a:xfrm>
              <a:off x="7239000" y="3143250"/>
              <a:ext cx="4286250" cy="57150"/>
            </a:xfrm>
            <a:prstGeom prst="roundRect">
              <a:avLst>
                <a:gd name="adj" fmla="val 50000"/>
              </a:avLst>
            </a:prstGeom>
            <a:solidFill>
              <a:srgbClr val="F59E0B"/>
            </a:solidFill>
            <a:ln>
              <a:noFill/>
            </a:ln>
          </p:spPr>
          <p:txBody>
            <a:bodyPr/>
            <a:lstStyle/>
            <a:p>
              <a:endParaRPr lang="en-US"/>
            </a:p>
          </p:txBody>
        </p:sp>
        <p:sp>
          <p:nvSpPr>
            <p:cNvPr id="59" name="TextBox 59"/>
            <p:cNvSpPr txBox="1"/>
            <p:nvPr/>
          </p:nvSpPr>
          <p:spPr>
            <a:xfrm>
              <a:off x="7519035" y="3336925"/>
              <a:ext cx="2392466" cy="220028"/>
            </a:xfrm>
            <a:prstGeom prst="rect">
              <a:avLst/>
            </a:prstGeom>
            <a:noFill/>
            <a:ln>
              <a:noFill/>
            </a:ln>
          </p:spPr>
          <p:txBody>
            <a:bodyPr wrap="none" lIns="0" tIns="0" rIns="0" bIns="0" anchor="t" anchorCtr="0">
              <a:spAutoFit/>
            </a:bodyPr>
            <a:lstStyle/>
            <a:p>
              <a:pPr algn="l"/>
              <a:r>
                <a:rPr lang="vi" sz="1120" b="1" dirty="0">
                  <a:solidFill>
                    <a:srgbClr val="B45309"/>
                  </a:solidFill>
                  <a:latin typeface="+mn-lt"/>
                  <a:ea typeface="+mn-ea"/>
                  <a:cs typeface="+mn-cs"/>
                </a:rPr>
                <a:t>2. Rủi Ro Phân Mảnh Khi Tăng K</a:t>
              </a:r>
            </a:p>
          </p:txBody>
        </p:sp>
        <p:sp>
          <p:nvSpPr>
            <p:cNvPr id="60" name="TextBox 60"/>
            <p:cNvSpPr txBox="1"/>
            <p:nvPr/>
          </p:nvSpPr>
          <p:spPr>
            <a:xfrm>
              <a:off x="7519416" y="3635375"/>
              <a:ext cx="2757390" cy="205359"/>
            </a:xfrm>
            <a:prstGeom prst="rect">
              <a:avLst/>
            </a:prstGeom>
            <a:noFill/>
            <a:ln>
              <a:noFill/>
            </a:ln>
          </p:spPr>
          <p:txBody>
            <a:bodyPr wrap="none" lIns="0" tIns="0" rIns="0" bIns="0" anchor="t" anchorCtr="0">
              <a:spAutoFit/>
            </a:bodyPr>
            <a:lstStyle/>
            <a:p>
              <a:pPr marL="83730" indent="-83730" algn="l">
                <a:buClr>
                  <a:srgbClr val="334155"/>
                </a:buClr>
                <a:buSzTx/>
                <a:buFontTx/>
                <a:buChar char="•"/>
              </a:pPr>
              <a:r>
                <a:rPr lang="vi" sz="1050" dirty="0">
                  <a:solidFill>
                    <a:srgbClr val="334155"/>
                  </a:solidFill>
                  <a:latin typeface="+mn-lt"/>
                  <a:ea typeface="+mn-ea"/>
                  <a:cs typeface="+mn-cs"/>
                </a:rPr>
                <a:t>Tại K ≥ 4: Xuất hiện các cụm con siêu nhỏ</a:t>
              </a:r>
            </a:p>
          </p:txBody>
        </p:sp>
        <p:sp>
          <p:nvSpPr>
            <p:cNvPr id="61" name="TextBox 61"/>
            <p:cNvSpPr txBox="1"/>
            <p:nvPr/>
          </p:nvSpPr>
          <p:spPr>
            <a:xfrm>
              <a:off x="7662672" y="3854450"/>
              <a:ext cx="3127082" cy="191643"/>
            </a:xfrm>
            <a:prstGeom prst="rect">
              <a:avLst/>
            </a:prstGeom>
            <a:noFill/>
            <a:ln>
              <a:noFill/>
            </a:ln>
          </p:spPr>
          <p:txBody>
            <a:bodyPr wrap="none" lIns="0" tIns="0" rIns="0" bIns="0" anchor="t" anchorCtr="0">
              <a:spAutoFit/>
            </a:bodyPr>
            <a:lstStyle/>
            <a:p>
              <a:pPr algn="l"/>
              <a:r>
                <a:rPr lang="vi" sz="980" dirty="0">
                  <a:solidFill>
                    <a:srgbClr val="DC2626"/>
                  </a:solidFill>
                  <a:latin typeface="+mn-lt"/>
                  <a:ea typeface="+mn-ea"/>
                  <a:cs typeface="+mn-cs"/>
                </a:rPr>
                <a:t>(K=5: cụm nhỏ nhất chiếm 4.9%; K=8: cụm chỉ 0.7%)</a:t>
              </a:r>
            </a:p>
          </p:txBody>
        </p:sp>
        <p:sp>
          <p:nvSpPr>
            <p:cNvPr id="62" name="TextBox 62"/>
            <p:cNvSpPr txBox="1"/>
            <p:nvPr/>
          </p:nvSpPr>
          <p:spPr>
            <a:xfrm>
              <a:off x="7519416" y="4140200"/>
              <a:ext cx="3155553" cy="205359"/>
            </a:xfrm>
            <a:prstGeom prst="rect">
              <a:avLst/>
            </a:prstGeom>
            <a:noFill/>
            <a:ln>
              <a:noFill/>
            </a:ln>
          </p:spPr>
          <p:txBody>
            <a:bodyPr wrap="none" lIns="0" tIns="0" rIns="0" bIns="0" anchor="t" anchorCtr="0">
              <a:spAutoFit/>
            </a:bodyPr>
            <a:lstStyle/>
            <a:p>
              <a:pPr marL="83730" indent="-83730" algn="l">
                <a:buClr>
                  <a:srgbClr val="334155"/>
                </a:buClr>
                <a:buSzTx/>
                <a:buFontTx/>
                <a:buChar char="•"/>
              </a:pPr>
              <a:r>
                <a:rPr lang="vi" sz="1050" dirty="0">
                  <a:solidFill>
                    <a:srgbClr val="334155"/>
                  </a:solidFill>
                  <a:latin typeface="+mn-lt"/>
                  <a:ea typeface="+mn-ea"/>
                  <a:cs typeface="+mn-cs"/>
                </a:rPr>
                <a:t>Quán tính giảm dần chỉ do hiện tượng over-fitting</a:t>
              </a:r>
            </a:p>
          </p:txBody>
        </p:sp>
        <p:sp>
          <p:nvSpPr>
            <p:cNvPr id="63" name="Rectangle 63"/>
            <p:cNvSpPr/>
            <p:nvPr/>
          </p:nvSpPr>
          <p:spPr>
            <a:xfrm>
              <a:off x="7239000" y="4762500"/>
              <a:ext cx="4286250" cy="1571625"/>
            </a:xfrm>
            <a:prstGeom prst="roundRect">
              <a:avLst>
                <a:gd name="adj" fmla="val 8485"/>
              </a:avLst>
            </a:prstGeom>
            <a:solidFill>
              <a:srgbClr val="ECFDF5"/>
            </a:solidFill>
            <a:ln w="19050">
              <a:solidFill>
                <a:schemeClr val="accent2"/>
              </a:solidFill>
            </a:ln>
          </p:spPr>
          <p:txBody>
            <a:bodyPr/>
            <a:lstStyle/>
            <a:p>
              <a:endParaRPr lang="en-US"/>
            </a:p>
          </p:txBody>
        </p:sp>
        <p:sp>
          <p:nvSpPr>
            <p:cNvPr id="64" name="TextBox 64"/>
            <p:cNvSpPr txBox="1"/>
            <p:nvPr/>
          </p:nvSpPr>
          <p:spPr>
            <a:xfrm>
              <a:off x="7519035" y="4956175"/>
              <a:ext cx="2352994" cy="220028"/>
            </a:xfrm>
            <a:prstGeom prst="rect">
              <a:avLst/>
            </a:prstGeom>
            <a:noFill/>
            <a:ln>
              <a:noFill/>
            </a:ln>
          </p:spPr>
          <p:txBody>
            <a:bodyPr wrap="none" lIns="0" tIns="0" rIns="0" bIns="0" anchor="t" anchorCtr="0">
              <a:spAutoFit/>
            </a:bodyPr>
            <a:lstStyle/>
            <a:p>
              <a:pPr algn="l"/>
              <a:r>
                <a:rPr lang="vi" sz="1120" b="1" dirty="0">
                  <a:solidFill>
                    <a:srgbClr val="065F46"/>
                  </a:solidFill>
                  <a:latin typeface="+mn-lt"/>
                  <a:ea typeface="+mn-ea"/>
                  <a:cs typeface="+mn-cs"/>
                </a:rPr>
                <a:t>3. Kết Luận Phương Pháp Elbow</a:t>
              </a:r>
            </a:p>
          </p:txBody>
        </p:sp>
        <p:sp>
          <p:nvSpPr>
            <p:cNvPr id="65" name="TextBox 65"/>
            <p:cNvSpPr txBox="1"/>
            <p:nvPr/>
          </p:nvSpPr>
          <p:spPr>
            <a:xfrm>
              <a:off x="7519416" y="5254625"/>
              <a:ext cx="2697675" cy="205359"/>
            </a:xfrm>
            <a:prstGeom prst="rect">
              <a:avLst/>
            </a:prstGeom>
            <a:noFill/>
            <a:ln>
              <a:noFill/>
            </a:ln>
          </p:spPr>
          <p:txBody>
            <a:bodyPr wrap="none" lIns="0" tIns="0" rIns="0" bIns="0" anchor="t" anchorCtr="0">
              <a:spAutoFit/>
            </a:bodyPr>
            <a:lstStyle/>
            <a:p>
              <a:pPr algn="l"/>
              <a:r>
                <a:rPr lang="vi" sz="1050" dirty="0">
                  <a:solidFill>
                    <a:srgbClr val="064E3B"/>
                  </a:solidFill>
                  <a:latin typeface="+mn-lt"/>
                  <a:ea typeface="+mn-ea"/>
                  <a:cs typeface="+mn-cs"/>
                </a:rPr>
                <a:t>✓ </a:t>
              </a:r>
              <a:r>
                <a:rPr lang="vi" sz="1050" b="1" dirty="0">
                  <a:solidFill>
                    <a:srgbClr val="064E3B"/>
                  </a:solidFill>
                  <a:latin typeface="+mn-lt"/>
                  <a:ea typeface="+mn-ea"/>
                  <a:cs typeface="+mn-cs"/>
                </a:rPr>
                <a:t>K = 2</a:t>
              </a:r>
              <a:r>
                <a:rPr lang="vi" sz="1050" dirty="0">
                  <a:solidFill>
                    <a:srgbClr val="064E3B"/>
                  </a:solidFill>
                  <a:latin typeface="+mn-lt"/>
                  <a:ea typeface="+mn-ea"/>
                  <a:cs typeface="+mn-cs"/>
                </a:rPr>
                <a:t> là điểm uốn rõ ràng và tối ưu nhất</a:t>
              </a:r>
            </a:p>
          </p:txBody>
        </p:sp>
        <p:sp>
          <p:nvSpPr>
            <p:cNvPr id="66" name="TextBox 66"/>
            <p:cNvSpPr txBox="1"/>
            <p:nvPr/>
          </p:nvSpPr>
          <p:spPr>
            <a:xfrm>
              <a:off x="7519416" y="5492750"/>
              <a:ext cx="3709693" cy="205359"/>
            </a:xfrm>
            <a:prstGeom prst="rect">
              <a:avLst/>
            </a:prstGeom>
            <a:noFill/>
            <a:ln>
              <a:noFill/>
            </a:ln>
          </p:spPr>
          <p:txBody>
            <a:bodyPr wrap="none" lIns="0" tIns="0" rIns="0" bIns="0" anchor="t" anchorCtr="0">
              <a:spAutoFit/>
            </a:bodyPr>
            <a:lstStyle/>
            <a:p>
              <a:pPr algn="l"/>
              <a:r>
                <a:rPr lang="vi" sz="1050" dirty="0">
                  <a:solidFill>
                    <a:srgbClr val="064E3B"/>
                  </a:solidFill>
                  <a:latin typeface="+mn-lt"/>
                  <a:ea typeface="+mn-ea"/>
                  <a:cs typeface="+mn-cs"/>
                </a:rPr>
                <a:t>✓ Cân bằng hoàn hảo giữa độ nén dữ liệu &amp; tính tổng quát</a:t>
              </a:r>
            </a:p>
          </p:txBody>
        </p:sp>
        <p:sp>
          <p:nvSpPr>
            <p:cNvPr id="67" name="TextBox 67"/>
            <p:cNvSpPr txBox="1"/>
            <p:nvPr/>
          </p:nvSpPr>
          <p:spPr>
            <a:xfrm>
              <a:off x="7519416" y="5730875"/>
              <a:ext cx="3904638" cy="205359"/>
            </a:xfrm>
            <a:prstGeom prst="rect">
              <a:avLst/>
            </a:prstGeom>
            <a:noFill/>
            <a:ln>
              <a:noFill/>
            </a:ln>
          </p:spPr>
          <p:txBody>
            <a:bodyPr wrap="none" lIns="0" tIns="0" rIns="0" bIns="0" anchor="t" anchorCtr="0">
              <a:spAutoFit/>
            </a:bodyPr>
            <a:lstStyle/>
            <a:p>
              <a:pPr algn="l"/>
              <a:r>
                <a:rPr lang="vi" sz="1050" dirty="0">
                  <a:solidFill>
                    <a:srgbClr val="064E3B"/>
                  </a:solidFill>
                  <a:latin typeface="+mn-lt"/>
                  <a:ea typeface="+mn-ea"/>
                  <a:cs typeface="+mn-cs"/>
                </a:rPr>
                <a:t>✓ Kết hợp cùng Silhouette Score ở slide kế tiếp để chốt D011</a:t>
              </a:r>
            </a:p>
          </p:txBody>
        </p:sp>
        <p:sp>
          <p:nvSpPr>
            <p:cNvPr id="68" name="Rectangle 68"/>
            <p:cNvSpPr/>
            <p:nvPr/>
          </p:nvSpPr>
          <p:spPr>
            <a:xfrm>
              <a:off x="7524750" y="6048375"/>
              <a:ext cx="2095500" cy="190500"/>
            </a:xfrm>
            <a:prstGeom prst="roundRect">
              <a:avLst>
                <a:gd name="adj" fmla="val 20000"/>
              </a:avLst>
            </a:prstGeom>
            <a:solidFill>
              <a:srgbClr val="D1FAE5"/>
            </a:solidFill>
            <a:ln>
              <a:noFill/>
            </a:ln>
          </p:spPr>
          <p:txBody>
            <a:bodyPr/>
            <a:lstStyle/>
            <a:p>
              <a:endParaRPr lang="en-US"/>
            </a:p>
          </p:txBody>
        </p:sp>
        <p:sp>
          <p:nvSpPr>
            <p:cNvPr id="69" name="TextBox 69"/>
            <p:cNvSpPr txBox="1"/>
            <p:nvPr/>
          </p:nvSpPr>
          <p:spPr>
            <a:xfrm>
              <a:off x="7841842" y="6089650"/>
              <a:ext cx="1461316" cy="161925"/>
            </a:xfrm>
            <a:prstGeom prst="rect">
              <a:avLst/>
            </a:prstGeom>
            <a:noFill/>
            <a:ln>
              <a:noFill/>
            </a:ln>
          </p:spPr>
          <p:txBody>
            <a:bodyPr wrap="none" lIns="0" tIns="0" rIns="0" bIns="0" anchor="t" anchorCtr="0">
              <a:spAutoFit/>
            </a:bodyPr>
            <a:lstStyle/>
            <a:p>
              <a:pPr algn="ctr"/>
              <a:r>
                <a:rPr lang="vi" sz="820" b="1" dirty="0">
                  <a:solidFill>
                    <a:srgbClr val="065F46"/>
                  </a:solidFill>
                  <a:latin typeface="+mn-lt"/>
                  <a:ea typeface="+mn-ea"/>
                  <a:cs typeface="+mn-cs"/>
                </a:rPr>
                <a:t>Inertia trung bình/mẫu: 4.23</a:t>
              </a:r>
            </a:p>
          </p:txBody>
        </p:sp>
      </p:grpSp>
      <p:grpSp>
        <p:nvGrpSpPr>
          <p:cNvPr id="74" name="footer"/>
          <p:cNvGrpSpPr/>
          <p:nvPr/>
        </p:nvGrpSpPr>
        <p:grpSpPr>
          <a:xfrm>
            <a:off x="661797" y="6429375"/>
            <a:ext cx="10868406" cy="264668"/>
            <a:chOff x="661797" y="6429375"/>
            <a:chExt cx="10868406" cy="264668"/>
          </a:xfrm>
        </p:grpSpPr>
        <p:sp>
          <p:nvSpPr>
            <p:cNvPr id="71" name="Line 71"/>
            <p:cNvSpPr/>
            <p:nvPr/>
          </p:nvSpPr>
          <p:spPr>
            <a:xfrm>
              <a:off x="666750" y="6429375"/>
              <a:ext cx="10858500" cy="9525"/>
            </a:xfrm>
            <a:custGeom>
              <a:avLst/>
              <a:gdLst/>
              <a:ahLst/>
              <a:cxnLst/>
              <a:rect l="l" t="t" r="r" b="b"/>
              <a:pathLst>
                <a:path w="10858500" h="9525">
                  <a:moveTo>
                    <a:pt x="0" y="0"/>
                  </a:moveTo>
                  <a:lnTo>
                    <a:pt x="10858500" y="0"/>
                  </a:lnTo>
                </a:path>
              </a:pathLst>
            </a:custGeom>
            <a:noFill/>
            <a:ln w="9525">
              <a:solidFill>
                <a:srgbClr val="E2E8F0"/>
              </a:solidFill>
            </a:ln>
          </p:spPr>
          <p:txBody>
            <a:bodyPr/>
            <a:lstStyle/>
            <a:p>
              <a:endParaRPr lang="en-US"/>
            </a:p>
          </p:txBody>
        </p:sp>
        <p:sp>
          <p:nvSpPr>
            <p:cNvPr id="72" name="TextBox 72"/>
            <p:cNvSpPr txBox="1"/>
            <p:nvPr/>
          </p:nvSpPr>
          <p:spPr>
            <a:xfrm>
              <a:off x="661797" y="6502400"/>
              <a:ext cx="5799743"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Đồ Án Machine Learning Phân Khúc Khách Hàng Bán Sỉ • Project 22 (UCI Wholesale Customers)</a:t>
              </a:r>
            </a:p>
          </p:txBody>
        </p:sp>
        <p:sp>
          <p:nvSpPr>
            <p:cNvPr id="73" name="TextBox 73"/>
            <p:cNvSpPr txBox="1"/>
            <p:nvPr/>
          </p:nvSpPr>
          <p:spPr>
            <a:xfrm>
              <a:off x="11116836" y="6502400"/>
              <a:ext cx="413367" cy="191643"/>
            </a:xfrm>
            <a:prstGeom prst="rect">
              <a:avLst/>
            </a:prstGeom>
            <a:noFill/>
            <a:ln>
              <a:noFill/>
            </a:ln>
          </p:spPr>
          <p:txBody>
            <a:bodyPr wrap="none" lIns="0" tIns="0" rIns="0" bIns="0" anchor="t" anchorCtr="0">
              <a:spAutoFit/>
            </a:bodyPr>
            <a:lstStyle/>
            <a:p>
              <a:pPr algn="r"/>
              <a:r>
                <a:rPr lang="vi" sz="980" b="1" dirty="0">
                  <a:solidFill>
                    <a:srgbClr val="475569"/>
                  </a:solidFill>
                  <a:latin typeface="+mn-lt"/>
                  <a:ea typeface="+mn-ea"/>
                  <a:cs typeface="+mn-cs"/>
                </a:rPr>
                <a:t>06 / 15</a:t>
              </a:r>
            </a:p>
          </p:txBody>
        </p:sp>
      </p:grpSp>
    </p:spTree>
  </p:cSld>
  <p:clrMapOvr>
    <a:masterClrMapping/>
  </p:clrMapOvr>
  <mc:AlternateContent xmlns:mc="http://schemas.openxmlformats.org/markup-compatibility/2006">
    <mc:Choice xmlns:p14="http://schemas.microsoft.com/office/powerpoint/2010/main" Requires="p14">
      <p:transition spd="med" p14:dur="600">
        <p:split/>
      </p:transition>
    </mc:Choice>
    <mc:Fallback>
      <p:transition spd="med">
        <p:spli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400"/>
                            </p:stCondLst>
                            <p:childTnLst>
                              <p:par>
                                <p:cTn id="9" presetID="22" presetClass="entr" presetSubtype="4" fill="hold" nodeType="afterEffect">
                                  <p:stCondLst>
                                    <p:cond delay="500"/>
                                  </p:stCondLst>
                                  <p:childTnLst>
                                    <p:set>
                                      <p:cBhvr>
                                        <p:cTn id="10" dur="1" fill="hold">
                                          <p:stCondLst>
                                            <p:cond delay="0"/>
                                          </p:stCondLst>
                                        </p:cTn>
                                        <p:tgtEl>
                                          <p:spTgt spid="49"/>
                                        </p:tgtEl>
                                        <p:attrNameLst>
                                          <p:attrName>style.visibility</p:attrName>
                                        </p:attrNameLst>
                                      </p:cBhvr>
                                      <p:to>
                                        <p:strVal val="visible"/>
                                      </p:to>
                                    </p:set>
                                    <p:animEffect transition="in" filter="wipe(down)">
                                      <p:cBhvr>
                                        <p:cTn id="11" dur="800"/>
                                        <p:tgtEl>
                                          <p:spTgt spid="49"/>
                                        </p:tgtEl>
                                      </p:cBhvr>
                                    </p:animEffect>
                                  </p:childTnLst>
                                </p:cTn>
                              </p:par>
                            </p:childTnLst>
                          </p:cTn>
                        </p:par>
                        <p:par>
                          <p:cTn id="12" fill="hold">
                            <p:stCondLst>
                              <p:cond delay="1700"/>
                            </p:stCondLst>
                            <p:childTnLst>
                              <p:par>
                                <p:cTn id="13" presetID="2" presetClass="entr" presetSubtype="4" fill="hold" nodeType="afterEffect">
                                  <p:stCondLst>
                                    <p:cond delay="500"/>
                                  </p:stCondLst>
                                  <p:childTnLst>
                                    <p:set>
                                      <p:cBhvr>
                                        <p:cTn id="14" dur="1" fill="hold">
                                          <p:stCondLst>
                                            <p:cond delay="0"/>
                                          </p:stCondLst>
                                        </p:cTn>
                                        <p:tgtEl>
                                          <p:spTgt spid="70"/>
                                        </p:tgtEl>
                                        <p:attrNameLst>
                                          <p:attrName>style.visibility</p:attrName>
                                        </p:attrNameLst>
                                      </p:cBhvr>
                                      <p:to>
                                        <p:strVal val="visible"/>
                                      </p:to>
                                    </p:set>
                                    <p:anim calcmode="lin" valueType="num">
                                      <p:cBhvr additive="base">
                                        <p:cTn id="15" dur="700" fill="hold"/>
                                        <p:tgtEl>
                                          <p:spTgt spid="70"/>
                                        </p:tgtEl>
                                        <p:attrNameLst>
                                          <p:attrName>ppt_x</p:attrName>
                                        </p:attrNameLst>
                                      </p:cBhvr>
                                      <p:tavLst>
                                        <p:tav tm="0">
                                          <p:val>
                                            <p:strVal val="#ppt_x"/>
                                          </p:val>
                                        </p:tav>
                                        <p:tav tm="100000">
                                          <p:val>
                                            <p:strVal val="#ppt_x"/>
                                          </p:val>
                                        </p:tav>
                                      </p:tavLst>
                                    </p:anim>
                                    <p:anim calcmode="lin" valueType="num">
                                      <p:cBhvr additive="base">
                                        <p:cTn id="16" dur="700" fill="hold"/>
                                        <p:tgtEl>
                                          <p:spTgt spid="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page-background"/>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8FAFC"/>
            </a:solidFill>
            <a:ln>
              <a:noFill/>
            </a:ln>
          </p:spPr>
          <p:txBody>
            <a:bodyPr/>
            <a:lstStyle/>
            <a:p>
              <a:endParaRPr lang="en-US"/>
            </a:p>
          </p:txBody>
        </p:sp>
        <p:sp>
          <p:nvSpPr>
            <p:cNvPr id="3" name="Rectangle 3"/>
            <p:cNvSpPr/>
            <p:nvPr/>
          </p:nvSpPr>
          <p:spPr>
            <a:xfrm>
              <a:off x="0" y="0"/>
              <a:ext cx="12192000" cy="57150"/>
            </a:xfrm>
            <a:prstGeom prst="rect">
              <a:avLst/>
            </a:prstGeom>
            <a:gradFill>
              <a:gsLst>
                <a:gs pos="0">
                  <a:srgbClr val="1E3A8A"/>
                </a:gs>
                <a:gs pos="50000">
                  <a:schemeClr val="accent1"/>
                </a:gs>
                <a:gs pos="100000">
                  <a:srgbClr val="0EA5E9"/>
                </a:gs>
              </a:gsLst>
              <a:lin ang="0" scaled="1"/>
            </a:gradFill>
            <a:ln>
              <a:noFill/>
            </a:ln>
          </p:spPr>
          <p:txBody>
            <a:bodyPr/>
            <a:lstStyle/>
            <a:p>
              <a:endParaRPr lang="en-US"/>
            </a:p>
          </p:txBody>
        </p:sp>
      </p:grpSp>
      <p:grpSp>
        <p:nvGrpSpPr>
          <p:cNvPr id="9" name="header"/>
          <p:cNvGrpSpPr/>
          <p:nvPr/>
        </p:nvGrpSpPr>
        <p:grpSpPr>
          <a:xfrm>
            <a:off x="654558" y="304800"/>
            <a:ext cx="8902360" cy="899478"/>
            <a:chOff x="654558" y="304800"/>
            <a:chExt cx="8902360" cy="899478"/>
          </a:xfrm>
        </p:grpSpPr>
        <p:sp>
          <p:nvSpPr>
            <p:cNvPr id="5" name="Rectangle 5"/>
            <p:cNvSpPr/>
            <p:nvPr/>
          </p:nvSpPr>
          <p:spPr>
            <a:xfrm>
              <a:off x="666750" y="304800"/>
              <a:ext cx="1524000" cy="247650"/>
            </a:xfrm>
            <a:prstGeom prst="roundRect">
              <a:avLst>
                <a:gd name="adj" fmla="val 23077"/>
              </a:avLst>
            </a:prstGeom>
            <a:solidFill>
              <a:srgbClr val="EFF6FF"/>
            </a:solidFill>
            <a:ln w="9525">
              <a:solidFill>
                <a:srgbClr val="BFDBFE"/>
              </a:solidFill>
            </a:ln>
          </p:spPr>
          <p:txBody>
            <a:bodyPr/>
            <a:lstStyle/>
            <a:p>
              <a:endParaRPr lang="en-US"/>
            </a:p>
          </p:txBody>
        </p:sp>
        <p:sp>
          <p:nvSpPr>
            <p:cNvPr id="6" name="TextBox 6"/>
            <p:cNvSpPr txBox="1"/>
            <p:nvPr/>
          </p:nvSpPr>
          <p:spPr>
            <a:xfrm>
              <a:off x="862123" y="365125"/>
              <a:ext cx="1133253" cy="161925"/>
            </a:xfrm>
            <a:prstGeom prst="rect">
              <a:avLst/>
            </a:prstGeom>
            <a:noFill/>
            <a:ln>
              <a:noFill/>
            </a:ln>
          </p:spPr>
          <p:txBody>
            <a:bodyPr wrap="none" lIns="0" tIns="0" rIns="0" bIns="0" anchor="t" anchorCtr="0">
              <a:spAutoFit/>
            </a:bodyPr>
            <a:lstStyle/>
            <a:p>
              <a:pPr algn="ctr"/>
              <a:r>
                <a:rPr lang="vi" sz="820" b="1" spc="75" dirty="0">
                  <a:solidFill>
                    <a:srgbClr val="1D4ED8"/>
                  </a:solidFill>
                  <a:latin typeface="+mn-lt"/>
                  <a:ea typeface="+mn-ea"/>
                  <a:cs typeface="+mn-cs"/>
                </a:rPr>
                <a:t>THỰC NGHIỆM 03</a:t>
              </a:r>
            </a:p>
          </p:txBody>
        </p:sp>
        <p:sp>
          <p:nvSpPr>
            <p:cNvPr id="7" name="TextBox 7"/>
            <p:cNvSpPr txBox="1"/>
            <p:nvPr/>
          </p:nvSpPr>
          <p:spPr>
            <a:xfrm>
              <a:off x="654558" y="584200"/>
              <a:ext cx="8902360" cy="469392"/>
            </a:xfrm>
            <a:prstGeom prst="rect">
              <a:avLst/>
            </a:prstGeom>
            <a:noFill/>
            <a:ln>
              <a:noFill/>
            </a:ln>
          </p:spPr>
          <p:txBody>
            <a:bodyPr wrap="none" lIns="0" tIns="0" rIns="0" bIns="0" anchor="t" anchorCtr="0">
              <a:spAutoFit/>
            </a:bodyPr>
            <a:lstStyle/>
            <a:p>
              <a:pPr algn="l"/>
              <a:r>
                <a:rPr lang="vi" sz="2400" b="1" dirty="0">
                  <a:solidFill>
                    <a:srgbClr val="0F172A"/>
                  </a:solidFill>
                  <a:latin typeface="+mn-lt"/>
                  <a:ea typeface="+mn-ea"/>
                  <a:cs typeface="+mn-cs"/>
                </a:rPr>
                <a:t>Đánh Giá Silhouette Score &amp; Độ Ổn Định Cụm (10 Seeds)</a:t>
              </a:r>
            </a:p>
          </p:txBody>
        </p:sp>
        <p:sp>
          <p:nvSpPr>
            <p:cNvPr id="8" name="TextBox 8"/>
            <p:cNvSpPr txBox="1"/>
            <p:nvPr/>
          </p:nvSpPr>
          <p:spPr>
            <a:xfrm>
              <a:off x="661035" y="984250"/>
              <a:ext cx="5608214" cy="220028"/>
            </a:xfrm>
            <a:prstGeom prst="rect">
              <a:avLst/>
            </a:prstGeom>
            <a:noFill/>
            <a:ln>
              <a:noFill/>
            </a:ln>
          </p:spPr>
          <p:txBody>
            <a:bodyPr wrap="none" lIns="0" tIns="0" rIns="0" bIns="0" anchor="t" anchorCtr="0">
              <a:spAutoFit/>
            </a:bodyPr>
            <a:lstStyle/>
            <a:p>
              <a:pPr algn="l"/>
              <a:r>
                <a:rPr lang="vi" sz="1120" dirty="0">
                  <a:solidFill>
                    <a:srgbClr val="475569"/>
                  </a:solidFill>
                  <a:latin typeface="+mn-lt"/>
                  <a:ea typeface="+mn-ea"/>
                  <a:cs typeface="+mn-cs"/>
                </a:rPr>
                <a:t>Minh chứng số liệu thực nghiệm: K=2 đạt chất lượng tách cụm và độ lặp lại cao nhất</a:t>
              </a:r>
            </a:p>
          </p:txBody>
        </p:sp>
      </p:grpSp>
      <p:grpSp>
        <p:nvGrpSpPr>
          <p:cNvPr id="56" name="silhouette-table"/>
          <p:cNvGrpSpPr/>
          <p:nvPr/>
        </p:nvGrpSpPr>
        <p:grpSpPr>
          <a:xfrm>
            <a:off x="666750" y="1428750"/>
            <a:ext cx="10858500" cy="3238500"/>
            <a:chOff x="666750" y="1428750"/>
            <a:chExt cx="10858500" cy="3238500"/>
          </a:xfrm>
        </p:grpSpPr>
        <p:sp>
          <p:nvSpPr>
            <p:cNvPr id="10" name="Rectangle 10"/>
            <p:cNvSpPr/>
            <p:nvPr/>
          </p:nvSpPr>
          <p:spPr>
            <a:xfrm>
              <a:off x="666750" y="1428750"/>
              <a:ext cx="10858500" cy="3238500"/>
            </a:xfrm>
            <a:prstGeom prst="roundRect">
              <a:avLst>
                <a:gd name="adj" fmla="val 4118"/>
              </a:avLst>
            </a:prstGeom>
            <a:solidFill>
              <a:schemeClr val="lt1"/>
            </a:solidFill>
            <a:ln w="14288">
              <a:solidFill>
                <a:srgbClr val="E2E8F0"/>
              </a:solidFill>
            </a:ln>
          </p:spPr>
          <p:txBody>
            <a:bodyPr/>
            <a:lstStyle/>
            <a:p>
              <a:endParaRPr lang="en-US"/>
            </a:p>
          </p:txBody>
        </p:sp>
        <p:sp>
          <p:nvSpPr>
            <p:cNvPr id="11" name="Rectangle 11"/>
            <p:cNvSpPr/>
            <p:nvPr/>
          </p:nvSpPr>
          <p:spPr>
            <a:xfrm>
              <a:off x="666750" y="1428750"/>
              <a:ext cx="10858500" cy="428625"/>
            </a:xfrm>
            <a:prstGeom prst="roundRect">
              <a:avLst>
                <a:gd name="adj" fmla="val 31111"/>
              </a:avLst>
            </a:prstGeom>
            <a:solidFill>
              <a:srgbClr val="1E293B"/>
            </a:solidFill>
            <a:ln>
              <a:noFill/>
            </a:ln>
          </p:spPr>
          <p:txBody>
            <a:bodyPr/>
            <a:lstStyle/>
            <a:p>
              <a:endParaRPr lang="en-US"/>
            </a:p>
          </p:txBody>
        </p:sp>
        <p:sp>
          <p:nvSpPr>
            <p:cNvPr id="12" name="TextBox 12"/>
            <p:cNvSpPr txBox="1"/>
            <p:nvPr/>
          </p:nvSpPr>
          <p:spPr>
            <a:xfrm>
              <a:off x="1042797" y="1568450"/>
              <a:ext cx="466760" cy="191643"/>
            </a:xfrm>
            <a:prstGeom prst="rect">
              <a:avLst/>
            </a:prstGeom>
            <a:noFill/>
            <a:ln>
              <a:noFill/>
            </a:ln>
          </p:spPr>
          <p:txBody>
            <a:bodyPr wrap="none" lIns="0" tIns="0" rIns="0" bIns="0" anchor="t" anchorCtr="0">
              <a:spAutoFit/>
            </a:bodyPr>
            <a:lstStyle/>
            <a:p>
              <a:pPr algn="l"/>
              <a:r>
                <a:rPr lang="vi" sz="980" b="1" dirty="0">
                  <a:solidFill>
                    <a:srgbClr val="FFFFFF"/>
                  </a:solidFill>
                  <a:latin typeface="+mn-lt"/>
                  <a:ea typeface="+mn-ea"/>
                  <a:cs typeface="+mn-cs"/>
                </a:rPr>
                <a:t>K CỤM</a:t>
              </a:r>
            </a:p>
          </p:txBody>
        </p:sp>
        <p:sp>
          <p:nvSpPr>
            <p:cNvPr id="13" name="TextBox 13"/>
            <p:cNvSpPr txBox="1"/>
            <p:nvPr/>
          </p:nvSpPr>
          <p:spPr>
            <a:xfrm>
              <a:off x="1995297" y="1568450"/>
              <a:ext cx="1357356" cy="191643"/>
            </a:xfrm>
            <a:prstGeom prst="rect">
              <a:avLst/>
            </a:prstGeom>
            <a:noFill/>
            <a:ln>
              <a:noFill/>
            </a:ln>
          </p:spPr>
          <p:txBody>
            <a:bodyPr wrap="none" lIns="0" tIns="0" rIns="0" bIns="0" anchor="t" anchorCtr="0">
              <a:spAutoFit/>
            </a:bodyPr>
            <a:lstStyle/>
            <a:p>
              <a:pPr algn="l"/>
              <a:r>
                <a:rPr lang="vi" sz="980" b="1" dirty="0">
                  <a:solidFill>
                    <a:srgbClr val="FFFFFF"/>
                  </a:solidFill>
                  <a:latin typeface="+mn-lt"/>
                  <a:ea typeface="+mn-ea"/>
                  <a:cs typeface="+mn-cs"/>
                </a:rPr>
                <a:t>SILHOUETTE TRAIN</a:t>
              </a:r>
            </a:p>
          </p:txBody>
        </p:sp>
        <p:sp>
          <p:nvSpPr>
            <p:cNvPr id="14" name="TextBox 14"/>
            <p:cNvSpPr txBox="1"/>
            <p:nvPr/>
          </p:nvSpPr>
          <p:spPr>
            <a:xfrm>
              <a:off x="3709797" y="1568450"/>
              <a:ext cx="1210266" cy="191643"/>
            </a:xfrm>
            <a:prstGeom prst="rect">
              <a:avLst/>
            </a:prstGeom>
            <a:noFill/>
            <a:ln>
              <a:noFill/>
            </a:ln>
          </p:spPr>
          <p:txBody>
            <a:bodyPr wrap="none" lIns="0" tIns="0" rIns="0" bIns="0" anchor="t" anchorCtr="0">
              <a:spAutoFit/>
            </a:bodyPr>
            <a:lstStyle/>
            <a:p>
              <a:pPr algn="l"/>
              <a:r>
                <a:rPr lang="vi" sz="980" b="1" dirty="0">
                  <a:solidFill>
                    <a:srgbClr val="FFFFFF"/>
                  </a:solidFill>
                  <a:latin typeface="+mn-lt"/>
                  <a:ea typeface="+mn-ea"/>
                  <a:cs typeface="+mn-cs"/>
                </a:rPr>
                <a:t>SILHOUETTE VAL</a:t>
              </a:r>
            </a:p>
          </p:txBody>
        </p:sp>
        <p:sp>
          <p:nvSpPr>
            <p:cNvPr id="15" name="TextBox 15"/>
            <p:cNvSpPr txBox="1"/>
            <p:nvPr/>
          </p:nvSpPr>
          <p:spPr>
            <a:xfrm>
              <a:off x="5424297" y="1568450"/>
              <a:ext cx="1411636" cy="191643"/>
            </a:xfrm>
            <a:prstGeom prst="rect">
              <a:avLst/>
            </a:prstGeom>
            <a:noFill/>
            <a:ln>
              <a:noFill/>
            </a:ln>
          </p:spPr>
          <p:txBody>
            <a:bodyPr wrap="none" lIns="0" tIns="0" rIns="0" bIns="0" anchor="t" anchorCtr="0">
              <a:spAutoFit/>
            </a:bodyPr>
            <a:lstStyle/>
            <a:p>
              <a:pPr algn="l"/>
              <a:r>
                <a:rPr lang="vi" sz="980" b="1" dirty="0">
                  <a:solidFill>
                    <a:srgbClr val="FFFFFF"/>
                  </a:solidFill>
                  <a:latin typeface="+mn-lt"/>
                  <a:ea typeface="+mn-ea"/>
                  <a:cs typeface="+mn-cs"/>
                </a:rPr>
                <a:t>KHOẢNG CÁCH GAP</a:t>
              </a:r>
            </a:p>
          </p:txBody>
        </p:sp>
        <p:sp>
          <p:nvSpPr>
            <p:cNvPr id="16" name="TextBox 16"/>
            <p:cNvSpPr txBox="1"/>
            <p:nvPr/>
          </p:nvSpPr>
          <p:spPr>
            <a:xfrm>
              <a:off x="7329297" y="1568450"/>
              <a:ext cx="1922994" cy="191643"/>
            </a:xfrm>
            <a:prstGeom prst="rect">
              <a:avLst/>
            </a:prstGeom>
            <a:noFill/>
            <a:ln>
              <a:noFill/>
            </a:ln>
          </p:spPr>
          <p:txBody>
            <a:bodyPr wrap="none" lIns="0" tIns="0" rIns="0" bIns="0" anchor="t" anchorCtr="0">
              <a:spAutoFit/>
            </a:bodyPr>
            <a:lstStyle/>
            <a:p>
              <a:pPr algn="l"/>
              <a:r>
                <a:rPr lang="vi" sz="980" b="1" dirty="0">
                  <a:solidFill>
                    <a:srgbClr val="FFFFFF"/>
                  </a:solidFill>
                  <a:latin typeface="+mn-lt"/>
                  <a:ea typeface="+mn-ea"/>
                  <a:cs typeface="+mn-cs"/>
                </a:rPr>
                <a:t>ĐỘ ỔN ĐỊNH ARI (10 SEEDS)</a:t>
              </a:r>
            </a:p>
          </p:txBody>
        </p:sp>
        <p:sp>
          <p:nvSpPr>
            <p:cNvPr id="17" name="TextBox 17"/>
            <p:cNvSpPr txBox="1"/>
            <p:nvPr/>
          </p:nvSpPr>
          <p:spPr>
            <a:xfrm>
              <a:off x="9805797" y="1568450"/>
              <a:ext cx="1535419" cy="191643"/>
            </a:xfrm>
            <a:prstGeom prst="rect">
              <a:avLst/>
            </a:prstGeom>
            <a:noFill/>
            <a:ln>
              <a:noFill/>
            </a:ln>
          </p:spPr>
          <p:txBody>
            <a:bodyPr wrap="none" lIns="0" tIns="0" rIns="0" bIns="0" anchor="t" anchorCtr="0">
              <a:spAutoFit/>
            </a:bodyPr>
            <a:lstStyle/>
            <a:p>
              <a:pPr algn="l"/>
              <a:r>
                <a:rPr lang="vi" sz="980" b="1" dirty="0">
                  <a:solidFill>
                    <a:srgbClr val="FFFFFF"/>
                  </a:solidFill>
                  <a:latin typeface="+mn-lt"/>
                  <a:ea typeface="+mn-ea"/>
                  <a:cs typeface="+mn-cs"/>
                </a:rPr>
                <a:t>TỶ LỆ CỤM NHỎ NHẤT</a:t>
              </a:r>
            </a:p>
          </p:txBody>
        </p:sp>
        <p:sp>
          <p:nvSpPr>
            <p:cNvPr id="18" name="Rectangle 18"/>
            <p:cNvSpPr/>
            <p:nvPr/>
          </p:nvSpPr>
          <p:spPr>
            <a:xfrm>
              <a:off x="666750" y="1857375"/>
              <a:ext cx="10858500" cy="457200"/>
            </a:xfrm>
            <a:prstGeom prst="rect">
              <a:avLst/>
            </a:prstGeom>
            <a:solidFill>
              <a:srgbClr val="ECFDF5"/>
            </a:solidFill>
            <a:ln>
              <a:noFill/>
            </a:ln>
          </p:spPr>
          <p:txBody>
            <a:bodyPr/>
            <a:lstStyle/>
            <a:p>
              <a:endParaRPr lang="en-US"/>
            </a:p>
          </p:txBody>
        </p:sp>
        <p:sp>
          <p:nvSpPr>
            <p:cNvPr id="19" name="Rectangle 19"/>
            <p:cNvSpPr/>
            <p:nvPr/>
          </p:nvSpPr>
          <p:spPr>
            <a:xfrm>
              <a:off x="714375" y="1924050"/>
              <a:ext cx="571500" cy="323850"/>
            </a:xfrm>
            <a:prstGeom prst="roundRect">
              <a:avLst>
                <a:gd name="adj" fmla="val 17647"/>
              </a:avLst>
            </a:prstGeom>
            <a:solidFill>
              <a:schemeClr val="accent2"/>
            </a:solidFill>
            <a:ln>
              <a:noFill/>
            </a:ln>
          </p:spPr>
          <p:txBody>
            <a:bodyPr/>
            <a:lstStyle/>
            <a:p>
              <a:endParaRPr lang="en-US"/>
            </a:p>
          </p:txBody>
        </p:sp>
        <p:sp>
          <p:nvSpPr>
            <p:cNvPr id="20" name="TextBox 20"/>
            <p:cNvSpPr txBox="1"/>
            <p:nvPr/>
          </p:nvSpPr>
          <p:spPr>
            <a:xfrm>
              <a:off x="740297" y="1993900"/>
              <a:ext cx="519657" cy="220028"/>
            </a:xfrm>
            <a:prstGeom prst="rect">
              <a:avLst/>
            </a:prstGeom>
            <a:noFill/>
            <a:ln>
              <a:noFill/>
            </a:ln>
          </p:spPr>
          <p:txBody>
            <a:bodyPr wrap="none" lIns="0" tIns="0" rIns="0" bIns="0" anchor="t" anchorCtr="0">
              <a:spAutoFit/>
            </a:bodyPr>
            <a:lstStyle/>
            <a:p>
              <a:pPr algn="ctr"/>
              <a:r>
                <a:rPr lang="vi" sz="1120" b="1" dirty="0">
                  <a:solidFill>
                    <a:srgbClr val="FFFFFF"/>
                  </a:solidFill>
                  <a:latin typeface="+mn-lt"/>
                  <a:ea typeface="+mn-ea"/>
                  <a:cs typeface="+mn-cs"/>
                </a:rPr>
                <a:t>K=2 ★</a:t>
              </a:r>
            </a:p>
          </p:txBody>
        </p:sp>
        <p:sp>
          <p:nvSpPr>
            <p:cNvPr id="21" name="TextBox 21"/>
            <p:cNvSpPr txBox="1"/>
            <p:nvPr/>
          </p:nvSpPr>
          <p:spPr>
            <a:xfrm>
              <a:off x="1994916" y="2006600"/>
              <a:ext cx="443032" cy="205359"/>
            </a:xfrm>
            <a:prstGeom prst="rect">
              <a:avLst/>
            </a:prstGeom>
            <a:noFill/>
            <a:ln>
              <a:noFill/>
            </a:ln>
          </p:spPr>
          <p:txBody>
            <a:bodyPr wrap="none" lIns="0" tIns="0" rIns="0" bIns="0" anchor="t" anchorCtr="0">
              <a:spAutoFit/>
            </a:bodyPr>
            <a:lstStyle/>
            <a:p>
              <a:pPr algn="l"/>
              <a:r>
                <a:rPr lang="vi" sz="1050" b="1" dirty="0">
                  <a:solidFill>
                    <a:srgbClr val="065F46"/>
                  </a:solidFill>
                  <a:latin typeface="+mn-lt"/>
                  <a:ea typeface="+mn-ea"/>
                  <a:cs typeface="+mn-cs"/>
                </a:rPr>
                <a:t>0.2756</a:t>
              </a:r>
            </a:p>
          </p:txBody>
        </p:sp>
        <p:sp>
          <p:nvSpPr>
            <p:cNvPr id="22" name="TextBox 22"/>
            <p:cNvSpPr txBox="1"/>
            <p:nvPr/>
          </p:nvSpPr>
          <p:spPr>
            <a:xfrm>
              <a:off x="3709035" y="1993900"/>
              <a:ext cx="1269998" cy="220028"/>
            </a:xfrm>
            <a:prstGeom prst="rect">
              <a:avLst/>
            </a:prstGeom>
            <a:noFill/>
            <a:ln>
              <a:noFill/>
            </a:ln>
          </p:spPr>
          <p:txBody>
            <a:bodyPr wrap="none" lIns="0" tIns="0" rIns="0" bIns="0" anchor="t" anchorCtr="0">
              <a:spAutoFit/>
            </a:bodyPr>
            <a:lstStyle/>
            <a:p>
              <a:pPr algn="l"/>
              <a:r>
                <a:rPr lang="vi" sz="1120" b="1" dirty="0">
                  <a:solidFill>
                    <a:srgbClr val="059669"/>
                  </a:solidFill>
                  <a:latin typeface="+mn-lt"/>
                  <a:ea typeface="+mn-ea"/>
                  <a:cs typeface="+mn-cs"/>
                </a:rPr>
                <a:t>0.3066 (Cao nhất)</a:t>
              </a:r>
            </a:p>
          </p:txBody>
        </p:sp>
        <p:sp>
          <p:nvSpPr>
            <p:cNvPr id="23" name="TextBox 23"/>
            <p:cNvSpPr txBox="1"/>
            <p:nvPr/>
          </p:nvSpPr>
          <p:spPr>
            <a:xfrm>
              <a:off x="5423916" y="2006600"/>
              <a:ext cx="1569694" cy="205359"/>
            </a:xfrm>
            <a:prstGeom prst="rect">
              <a:avLst/>
            </a:prstGeom>
            <a:noFill/>
            <a:ln>
              <a:noFill/>
            </a:ln>
          </p:spPr>
          <p:txBody>
            <a:bodyPr wrap="none" lIns="0" tIns="0" rIns="0" bIns="0" anchor="t" anchorCtr="0">
              <a:spAutoFit/>
            </a:bodyPr>
            <a:lstStyle/>
            <a:p>
              <a:pPr algn="l"/>
              <a:r>
                <a:rPr lang="vi" sz="1050" b="1" dirty="0">
                  <a:solidFill>
                    <a:srgbClr val="059669"/>
                  </a:solidFill>
                  <a:latin typeface="+mn-lt"/>
                  <a:ea typeface="+mn-ea"/>
                  <a:cs typeface="+mn-cs"/>
                </a:rPr>
                <a:t>+0.0310 (Tổng quát tốt)</a:t>
              </a:r>
            </a:p>
          </p:txBody>
        </p:sp>
        <p:sp>
          <p:nvSpPr>
            <p:cNvPr id="24" name="TextBox 24"/>
            <p:cNvSpPr txBox="1"/>
            <p:nvPr/>
          </p:nvSpPr>
          <p:spPr>
            <a:xfrm>
              <a:off x="7328916" y="2006600"/>
              <a:ext cx="1539153" cy="205359"/>
            </a:xfrm>
            <a:prstGeom prst="rect">
              <a:avLst/>
            </a:prstGeom>
            <a:noFill/>
            <a:ln>
              <a:noFill/>
            </a:ln>
          </p:spPr>
          <p:txBody>
            <a:bodyPr wrap="none" lIns="0" tIns="0" rIns="0" bIns="0" anchor="t" anchorCtr="0">
              <a:spAutoFit/>
            </a:bodyPr>
            <a:lstStyle/>
            <a:p>
              <a:pPr algn="l"/>
              <a:r>
                <a:rPr lang="vi" sz="1050" b="1" dirty="0">
                  <a:solidFill>
                    <a:srgbClr val="059669"/>
                  </a:solidFill>
                  <a:latin typeface="+mn-lt"/>
                  <a:ea typeface="+mn-ea"/>
                  <a:cs typeface="+mn-cs"/>
                </a:rPr>
                <a:t>0.9970 (std = 0.000000)</a:t>
              </a:r>
            </a:p>
          </p:txBody>
        </p:sp>
        <p:sp>
          <p:nvSpPr>
            <p:cNvPr id="25" name="TextBox 25"/>
            <p:cNvSpPr txBox="1"/>
            <p:nvPr/>
          </p:nvSpPr>
          <p:spPr>
            <a:xfrm>
              <a:off x="9805416" y="2006600"/>
              <a:ext cx="1519517" cy="205359"/>
            </a:xfrm>
            <a:prstGeom prst="rect">
              <a:avLst/>
            </a:prstGeom>
            <a:noFill/>
            <a:ln>
              <a:noFill/>
            </a:ln>
          </p:spPr>
          <p:txBody>
            <a:bodyPr wrap="none" lIns="0" tIns="0" rIns="0" bIns="0" anchor="t" anchorCtr="0">
              <a:spAutoFit/>
            </a:bodyPr>
            <a:lstStyle/>
            <a:p>
              <a:pPr algn="l"/>
              <a:r>
                <a:rPr lang="vi" sz="1050" b="1" dirty="0">
                  <a:solidFill>
                    <a:srgbClr val="065F46"/>
                  </a:solidFill>
                  <a:latin typeface="+mn-lt"/>
                  <a:ea typeface="+mn-ea"/>
                  <a:cs typeface="+mn-cs"/>
                </a:rPr>
                <a:t>44.73% (Rất cân bằng)</a:t>
              </a:r>
            </a:p>
          </p:txBody>
        </p:sp>
        <p:sp>
          <p:nvSpPr>
            <p:cNvPr id="26" name="Rectangle 26"/>
            <p:cNvSpPr/>
            <p:nvPr/>
          </p:nvSpPr>
          <p:spPr>
            <a:xfrm>
              <a:off x="666750" y="2314575"/>
              <a:ext cx="10858500" cy="400050"/>
            </a:xfrm>
            <a:prstGeom prst="rect">
              <a:avLst/>
            </a:prstGeom>
            <a:solidFill>
              <a:schemeClr val="lt1"/>
            </a:solidFill>
            <a:ln>
              <a:noFill/>
            </a:ln>
          </p:spPr>
          <p:txBody>
            <a:bodyPr/>
            <a:lstStyle/>
            <a:p>
              <a:endParaRPr lang="en-US"/>
            </a:p>
          </p:txBody>
        </p:sp>
        <p:sp>
          <p:nvSpPr>
            <p:cNvPr id="27" name="TextBox 27"/>
            <p:cNvSpPr txBox="1"/>
            <p:nvPr/>
          </p:nvSpPr>
          <p:spPr>
            <a:xfrm>
              <a:off x="994791" y="2425700"/>
              <a:ext cx="288821" cy="205359"/>
            </a:xfrm>
            <a:prstGeom prst="rect">
              <a:avLst/>
            </a:prstGeom>
            <a:noFill/>
            <a:ln>
              <a:noFill/>
            </a:ln>
          </p:spPr>
          <p:txBody>
            <a:bodyPr wrap="none" lIns="0" tIns="0" rIns="0" bIns="0" anchor="t" anchorCtr="0">
              <a:spAutoFit/>
            </a:bodyPr>
            <a:lstStyle/>
            <a:p>
              <a:pPr algn="l"/>
              <a:r>
                <a:rPr lang="vi" sz="1050" b="1" dirty="0">
                  <a:solidFill>
                    <a:srgbClr val="0F172A"/>
                  </a:solidFill>
                  <a:latin typeface="+mn-lt"/>
                  <a:ea typeface="+mn-ea"/>
                  <a:cs typeface="+mn-cs"/>
                </a:rPr>
                <a:t>K=3</a:t>
              </a:r>
            </a:p>
          </p:txBody>
        </p:sp>
        <p:sp>
          <p:nvSpPr>
            <p:cNvPr id="28" name="TextBox 28"/>
            <p:cNvSpPr txBox="1"/>
            <p:nvPr/>
          </p:nvSpPr>
          <p:spPr>
            <a:xfrm>
              <a:off x="1994916" y="2425700"/>
              <a:ext cx="443032" cy="205359"/>
            </a:xfrm>
            <a:prstGeom prst="rect">
              <a:avLst/>
            </a:prstGeom>
            <a:noFill/>
            <a:ln>
              <a:noFill/>
            </a:ln>
          </p:spPr>
          <p:txBody>
            <a:bodyPr wrap="none" lIns="0" tIns="0" rIns="0" bIns="0" anchor="t" anchorCtr="0">
              <a:spAutoFit/>
            </a:bodyPr>
            <a:lstStyle/>
            <a:p>
              <a:pPr algn="l"/>
              <a:r>
                <a:rPr lang="vi" sz="1050" dirty="0">
                  <a:solidFill>
                    <a:srgbClr val="334155"/>
                  </a:solidFill>
                  <a:latin typeface="+mn-lt"/>
                  <a:ea typeface="+mn-ea"/>
                  <a:cs typeface="+mn-cs"/>
                </a:rPr>
                <a:t>0.2049</a:t>
              </a:r>
            </a:p>
          </p:txBody>
        </p:sp>
        <p:sp>
          <p:nvSpPr>
            <p:cNvPr id="29" name="TextBox 29"/>
            <p:cNvSpPr txBox="1"/>
            <p:nvPr/>
          </p:nvSpPr>
          <p:spPr>
            <a:xfrm>
              <a:off x="3709416" y="2425700"/>
              <a:ext cx="443032" cy="205359"/>
            </a:xfrm>
            <a:prstGeom prst="rect">
              <a:avLst/>
            </a:prstGeom>
            <a:noFill/>
            <a:ln>
              <a:noFill/>
            </a:ln>
          </p:spPr>
          <p:txBody>
            <a:bodyPr wrap="none" lIns="0" tIns="0" rIns="0" bIns="0" anchor="t" anchorCtr="0">
              <a:spAutoFit/>
            </a:bodyPr>
            <a:lstStyle/>
            <a:p>
              <a:pPr algn="l"/>
              <a:r>
                <a:rPr lang="vi" sz="1050" dirty="0">
                  <a:solidFill>
                    <a:srgbClr val="334155"/>
                  </a:solidFill>
                  <a:latin typeface="+mn-lt"/>
                  <a:ea typeface="+mn-ea"/>
                  <a:cs typeface="+mn-cs"/>
                </a:rPr>
                <a:t>0.2165</a:t>
              </a:r>
            </a:p>
          </p:txBody>
        </p:sp>
        <p:sp>
          <p:nvSpPr>
            <p:cNvPr id="30" name="TextBox 30"/>
            <p:cNvSpPr txBox="1"/>
            <p:nvPr/>
          </p:nvSpPr>
          <p:spPr>
            <a:xfrm>
              <a:off x="5423916" y="2425700"/>
              <a:ext cx="525581" cy="205359"/>
            </a:xfrm>
            <a:prstGeom prst="rect">
              <a:avLst/>
            </a:prstGeom>
            <a:noFill/>
            <a:ln>
              <a:noFill/>
            </a:ln>
          </p:spPr>
          <p:txBody>
            <a:bodyPr wrap="none" lIns="0" tIns="0" rIns="0" bIns="0" anchor="t" anchorCtr="0">
              <a:spAutoFit/>
            </a:bodyPr>
            <a:lstStyle/>
            <a:p>
              <a:pPr algn="l"/>
              <a:r>
                <a:rPr lang="vi" sz="1050" dirty="0">
                  <a:solidFill>
                    <a:srgbClr val="64748B"/>
                  </a:solidFill>
                  <a:latin typeface="+mn-lt"/>
                  <a:ea typeface="+mn-ea"/>
                  <a:cs typeface="+mn-cs"/>
                </a:rPr>
                <a:t>+0.0116</a:t>
              </a:r>
            </a:p>
          </p:txBody>
        </p:sp>
        <p:sp>
          <p:nvSpPr>
            <p:cNvPr id="31" name="TextBox 31"/>
            <p:cNvSpPr txBox="1"/>
            <p:nvPr/>
          </p:nvSpPr>
          <p:spPr>
            <a:xfrm>
              <a:off x="7328916" y="2425700"/>
              <a:ext cx="1279830" cy="205359"/>
            </a:xfrm>
            <a:prstGeom prst="rect">
              <a:avLst/>
            </a:prstGeom>
            <a:noFill/>
            <a:ln>
              <a:noFill/>
            </a:ln>
          </p:spPr>
          <p:txBody>
            <a:bodyPr wrap="none" lIns="0" tIns="0" rIns="0" bIns="0" anchor="t" anchorCtr="0">
              <a:spAutoFit/>
            </a:bodyPr>
            <a:lstStyle/>
            <a:p>
              <a:pPr algn="l"/>
              <a:r>
                <a:rPr lang="vi" sz="1050" dirty="0">
                  <a:solidFill>
                    <a:srgbClr val="334155"/>
                  </a:solidFill>
                  <a:latin typeface="+mn-lt"/>
                  <a:ea typeface="+mn-ea"/>
                  <a:cs typeface="+mn-cs"/>
                </a:rPr>
                <a:t>0.9078 (std = 0.054)</a:t>
              </a:r>
            </a:p>
          </p:txBody>
        </p:sp>
        <p:sp>
          <p:nvSpPr>
            <p:cNvPr id="32" name="TextBox 32"/>
            <p:cNvSpPr txBox="1"/>
            <p:nvPr/>
          </p:nvSpPr>
          <p:spPr>
            <a:xfrm>
              <a:off x="9805416" y="2425700"/>
              <a:ext cx="490102" cy="205359"/>
            </a:xfrm>
            <a:prstGeom prst="rect">
              <a:avLst/>
            </a:prstGeom>
            <a:noFill/>
            <a:ln>
              <a:noFill/>
            </a:ln>
          </p:spPr>
          <p:txBody>
            <a:bodyPr wrap="none" lIns="0" tIns="0" rIns="0" bIns="0" anchor="t" anchorCtr="0">
              <a:spAutoFit/>
            </a:bodyPr>
            <a:lstStyle/>
            <a:p>
              <a:pPr algn="l"/>
              <a:r>
                <a:rPr lang="vi" sz="1050" dirty="0">
                  <a:solidFill>
                    <a:srgbClr val="334155"/>
                  </a:solidFill>
                  <a:latin typeface="+mn-lt"/>
                  <a:ea typeface="+mn-ea"/>
                  <a:cs typeface="+mn-cs"/>
                </a:rPr>
                <a:t>30.38%</a:t>
              </a:r>
            </a:p>
          </p:txBody>
        </p:sp>
        <p:sp>
          <p:nvSpPr>
            <p:cNvPr id="33" name="Rectangle 33"/>
            <p:cNvSpPr/>
            <p:nvPr/>
          </p:nvSpPr>
          <p:spPr>
            <a:xfrm>
              <a:off x="666750" y="2714625"/>
              <a:ext cx="10858500" cy="400050"/>
            </a:xfrm>
            <a:prstGeom prst="rect">
              <a:avLst/>
            </a:prstGeom>
            <a:solidFill>
              <a:srgbClr val="F8FAFC"/>
            </a:solidFill>
            <a:ln>
              <a:noFill/>
            </a:ln>
          </p:spPr>
          <p:txBody>
            <a:bodyPr/>
            <a:lstStyle/>
            <a:p>
              <a:endParaRPr lang="en-US"/>
            </a:p>
          </p:txBody>
        </p:sp>
        <p:sp>
          <p:nvSpPr>
            <p:cNvPr id="34" name="TextBox 34"/>
            <p:cNvSpPr txBox="1"/>
            <p:nvPr/>
          </p:nvSpPr>
          <p:spPr>
            <a:xfrm>
              <a:off x="994791" y="2825750"/>
              <a:ext cx="288821" cy="205359"/>
            </a:xfrm>
            <a:prstGeom prst="rect">
              <a:avLst/>
            </a:prstGeom>
            <a:noFill/>
            <a:ln>
              <a:noFill/>
            </a:ln>
          </p:spPr>
          <p:txBody>
            <a:bodyPr wrap="none" lIns="0" tIns="0" rIns="0" bIns="0" anchor="t" anchorCtr="0">
              <a:spAutoFit/>
            </a:bodyPr>
            <a:lstStyle/>
            <a:p>
              <a:pPr algn="l"/>
              <a:r>
                <a:rPr lang="vi" sz="1050" b="1" dirty="0">
                  <a:solidFill>
                    <a:srgbClr val="0F172A"/>
                  </a:solidFill>
                  <a:latin typeface="+mn-lt"/>
                  <a:ea typeface="+mn-ea"/>
                  <a:cs typeface="+mn-cs"/>
                </a:rPr>
                <a:t>K=4</a:t>
              </a:r>
            </a:p>
          </p:txBody>
        </p:sp>
        <p:sp>
          <p:nvSpPr>
            <p:cNvPr id="35" name="TextBox 35"/>
            <p:cNvSpPr txBox="1"/>
            <p:nvPr/>
          </p:nvSpPr>
          <p:spPr>
            <a:xfrm>
              <a:off x="1994916" y="2825750"/>
              <a:ext cx="443032" cy="205359"/>
            </a:xfrm>
            <a:prstGeom prst="rect">
              <a:avLst/>
            </a:prstGeom>
            <a:noFill/>
            <a:ln>
              <a:noFill/>
            </a:ln>
          </p:spPr>
          <p:txBody>
            <a:bodyPr wrap="none" lIns="0" tIns="0" rIns="0" bIns="0" anchor="t" anchorCtr="0">
              <a:spAutoFit/>
            </a:bodyPr>
            <a:lstStyle/>
            <a:p>
              <a:pPr algn="l"/>
              <a:r>
                <a:rPr lang="vi" sz="1050" dirty="0">
                  <a:solidFill>
                    <a:srgbClr val="334155"/>
                  </a:solidFill>
                  <a:latin typeface="+mn-lt"/>
                  <a:ea typeface="+mn-ea"/>
                  <a:cs typeface="+mn-cs"/>
                </a:rPr>
                <a:t>0.2059</a:t>
              </a:r>
            </a:p>
          </p:txBody>
        </p:sp>
        <p:sp>
          <p:nvSpPr>
            <p:cNvPr id="36" name="TextBox 36"/>
            <p:cNvSpPr txBox="1"/>
            <p:nvPr/>
          </p:nvSpPr>
          <p:spPr>
            <a:xfrm>
              <a:off x="3709416" y="2825750"/>
              <a:ext cx="443032" cy="205359"/>
            </a:xfrm>
            <a:prstGeom prst="rect">
              <a:avLst/>
            </a:prstGeom>
            <a:noFill/>
            <a:ln>
              <a:noFill/>
            </a:ln>
          </p:spPr>
          <p:txBody>
            <a:bodyPr wrap="none" lIns="0" tIns="0" rIns="0" bIns="0" anchor="t" anchorCtr="0">
              <a:spAutoFit/>
            </a:bodyPr>
            <a:lstStyle/>
            <a:p>
              <a:pPr algn="l"/>
              <a:r>
                <a:rPr lang="vi" sz="1050" dirty="0">
                  <a:solidFill>
                    <a:srgbClr val="334155"/>
                  </a:solidFill>
                  <a:latin typeface="+mn-lt"/>
                  <a:ea typeface="+mn-ea"/>
                  <a:cs typeface="+mn-cs"/>
                </a:rPr>
                <a:t>0.1540</a:t>
              </a:r>
            </a:p>
          </p:txBody>
        </p:sp>
        <p:sp>
          <p:nvSpPr>
            <p:cNvPr id="37" name="TextBox 37"/>
            <p:cNvSpPr txBox="1"/>
            <p:nvPr/>
          </p:nvSpPr>
          <p:spPr>
            <a:xfrm>
              <a:off x="5423916" y="2825750"/>
              <a:ext cx="1322268" cy="205359"/>
            </a:xfrm>
            <a:prstGeom prst="rect">
              <a:avLst/>
            </a:prstGeom>
            <a:noFill/>
            <a:ln>
              <a:noFill/>
            </a:ln>
          </p:spPr>
          <p:txBody>
            <a:bodyPr wrap="none" lIns="0" tIns="0" rIns="0" bIns="0" anchor="t" anchorCtr="0">
              <a:spAutoFit/>
            </a:bodyPr>
            <a:lstStyle/>
            <a:p>
              <a:pPr algn="l"/>
              <a:r>
                <a:rPr lang="vi" sz="1050" dirty="0">
                  <a:solidFill>
                    <a:srgbClr val="DC2626"/>
                  </a:solidFill>
                  <a:latin typeface="+mn-lt"/>
                  <a:ea typeface="+mn-ea"/>
                  <a:cs typeface="+mn-cs"/>
                </a:rPr>
                <a:t>-0.0520 (Overfit nhẹ)</a:t>
              </a:r>
            </a:p>
          </p:txBody>
        </p:sp>
        <p:sp>
          <p:nvSpPr>
            <p:cNvPr id="38" name="TextBox 38"/>
            <p:cNvSpPr txBox="1"/>
            <p:nvPr/>
          </p:nvSpPr>
          <p:spPr>
            <a:xfrm>
              <a:off x="7328916" y="2825750"/>
              <a:ext cx="443032" cy="205359"/>
            </a:xfrm>
            <a:prstGeom prst="rect">
              <a:avLst/>
            </a:prstGeom>
            <a:noFill/>
            <a:ln>
              <a:noFill/>
            </a:ln>
          </p:spPr>
          <p:txBody>
            <a:bodyPr wrap="none" lIns="0" tIns="0" rIns="0" bIns="0" anchor="t" anchorCtr="0">
              <a:spAutoFit/>
            </a:bodyPr>
            <a:lstStyle/>
            <a:p>
              <a:pPr algn="l"/>
              <a:r>
                <a:rPr lang="vi" sz="1050" dirty="0">
                  <a:solidFill>
                    <a:srgbClr val="334155"/>
                  </a:solidFill>
                  <a:latin typeface="+mn-lt"/>
                  <a:ea typeface="+mn-ea"/>
                  <a:cs typeface="+mn-cs"/>
                </a:rPr>
                <a:t>0.9152</a:t>
              </a:r>
            </a:p>
          </p:txBody>
        </p:sp>
        <p:sp>
          <p:nvSpPr>
            <p:cNvPr id="39" name="TextBox 39"/>
            <p:cNvSpPr txBox="1"/>
            <p:nvPr/>
          </p:nvSpPr>
          <p:spPr>
            <a:xfrm>
              <a:off x="9805416" y="2825750"/>
              <a:ext cx="490102" cy="205359"/>
            </a:xfrm>
            <a:prstGeom prst="rect">
              <a:avLst/>
            </a:prstGeom>
            <a:noFill/>
            <a:ln>
              <a:noFill/>
            </a:ln>
          </p:spPr>
          <p:txBody>
            <a:bodyPr wrap="none" lIns="0" tIns="0" rIns="0" bIns="0" anchor="t" anchorCtr="0">
              <a:spAutoFit/>
            </a:bodyPr>
            <a:lstStyle/>
            <a:p>
              <a:pPr algn="l"/>
              <a:r>
                <a:rPr lang="vi" sz="1050" dirty="0">
                  <a:solidFill>
                    <a:srgbClr val="334155"/>
                  </a:solidFill>
                  <a:latin typeface="+mn-lt"/>
                  <a:ea typeface="+mn-ea"/>
                  <a:cs typeface="+mn-cs"/>
                </a:rPr>
                <a:t>12.54%</a:t>
              </a:r>
            </a:p>
          </p:txBody>
        </p:sp>
        <p:sp>
          <p:nvSpPr>
            <p:cNvPr id="40" name="Rectangle 40"/>
            <p:cNvSpPr/>
            <p:nvPr/>
          </p:nvSpPr>
          <p:spPr>
            <a:xfrm>
              <a:off x="666750" y="3114675"/>
              <a:ext cx="10858500" cy="400050"/>
            </a:xfrm>
            <a:prstGeom prst="rect">
              <a:avLst/>
            </a:prstGeom>
            <a:solidFill>
              <a:schemeClr val="lt1"/>
            </a:solidFill>
            <a:ln>
              <a:noFill/>
            </a:ln>
          </p:spPr>
          <p:txBody>
            <a:bodyPr/>
            <a:lstStyle/>
            <a:p>
              <a:endParaRPr lang="en-US"/>
            </a:p>
          </p:txBody>
        </p:sp>
        <p:sp>
          <p:nvSpPr>
            <p:cNvPr id="41" name="TextBox 41"/>
            <p:cNvSpPr txBox="1"/>
            <p:nvPr/>
          </p:nvSpPr>
          <p:spPr>
            <a:xfrm>
              <a:off x="994791" y="3225800"/>
              <a:ext cx="288821" cy="205359"/>
            </a:xfrm>
            <a:prstGeom prst="rect">
              <a:avLst/>
            </a:prstGeom>
            <a:noFill/>
            <a:ln>
              <a:noFill/>
            </a:ln>
          </p:spPr>
          <p:txBody>
            <a:bodyPr wrap="none" lIns="0" tIns="0" rIns="0" bIns="0" anchor="t" anchorCtr="0">
              <a:spAutoFit/>
            </a:bodyPr>
            <a:lstStyle/>
            <a:p>
              <a:pPr algn="l"/>
              <a:r>
                <a:rPr lang="vi" sz="1050" b="1" dirty="0">
                  <a:solidFill>
                    <a:srgbClr val="0F172A"/>
                  </a:solidFill>
                  <a:latin typeface="+mn-lt"/>
                  <a:ea typeface="+mn-ea"/>
                  <a:cs typeface="+mn-cs"/>
                </a:rPr>
                <a:t>K=5</a:t>
              </a:r>
            </a:p>
          </p:txBody>
        </p:sp>
        <p:sp>
          <p:nvSpPr>
            <p:cNvPr id="42" name="TextBox 42"/>
            <p:cNvSpPr txBox="1"/>
            <p:nvPr/>
          </p:nvSpPr>
          <p:spPr>
            <a:xfrm>
              <a:off x="1994916" y="3225800"/>
              <a:ext cx="443032" cy="205359"/>
            </a:xfrm>
            <a:prstGeom prst="rect">
              <a:avLst/>
            </a:prstGeom>
            <a:noFill/>
            <a:ln>
              <a:noFill/>
            </a:ln>
          </p:spPr>
          <p:txBody>
            <a:bodyPr wrap="none" lIns="0" tIns="0" rIns="0" bIns="0" anchor="t" anchorCtr="0">
              <a:spAutoFit/>
            </a:bodyPr>
            <a:lstStyle/>
            <a:p>
              <a:pPr algn="l"/>
              <a:r>
                <a:rPr lang="vi" sz="1050" dirty="0">
                  <a:solidFill>
                    <a:srgbClr val="334155"/>
                  </a:solidFill>
                  <a:latin typeface="+mn-lt"/>
                  <a:ea typeface="+mn-ea"/>
                  <a:cs typeface="+mn-cs"/>
                </a:rPr>
                <a:t>0.1976</a:t>
              </a:r>
            </a:p>
          </p:txBody>
        </p:sp>
        <p:sp>
          <p:nvSpPr>
            <p:cNvPr id="43" name="TextBox 43"/>
            <p:cNvSpPr txBox="1"/>
            <p:nvPr/>
          </p:nvSpPr>
          <p:spPr>
            <a:xfrm>
              <a:off x="3709416" y="3225800"/>
              <a:ext cx="443032" cy="205359"/>
            </a:xfrm>
            <a:prstGeom prst="rect">
              <a:avLst/>
            </a:prstGeom>
            <a:noFill/>
            <a:ln>
              <a:noFill/>
            </a:ln>
          </p:spPr>
          <p:txBody>
            <a:bodyPr wrap="none" lIns="0" tIns="0" rIns="0" bIns="0" anchor="t" anchorCtr="0">
              <a:spAutoFit/>
            </a:bodyPr>
            <a:lstStyle/>
            <a:p>
              <a:pPr algn="l"/>
              <a:r>
                <a:rPr lang="vi" sz="1050" dirty="0">
                  <a:solidFill>
                    <a:srgbClr val="334155"/>
                  </a:solidFill>
                  <a:latin typeface="+mn-lt"/>
                  <a:ea typeface="+mn-ea"/>
                  <a:cs typeface="+mn-cs"/>
                </a:rPr>
                <a:t>0.1623</a:t>
              </a:r>
            </a:p>
          </p:txBody>
        </p:sp>
        <p:sp>
          <p:nvSpPr>
            <p:cNvPr id="44" name="TextBox 44"/>
            <p:cNvSpPr txBox="1"/>
            <p:nvPr/>
          </p:nvSpPr>
          <p:spPr>
            <a:xfrm>
              <a:off x="5423916" y="3225800"/>
              <a:ext cx="490102" cy="205359"/>
            </a:xfrm>
            <a:prstGeom prst="rect">
              <a:avLst/>
            </a:prstGeom>
            <a:noFill/>
            <a:ln>
              <a:noFill/>
            </a:ln>
          </p:spPr>
          <p:txBody>
            <a:bodyPr wrap="none" lIns="0" tIns="0" rIns="0" bIns="0" anchor="t" anchorCtr="0">
              <a:spAutoFit/>
            </a:bodyPr>
            <a:lstStyle/>
            <a:p>
              <a:pPr algn="l"/>
              <a:r>
                <a:rPr lang="vi" sz="1050" dirty="0">
                  <a:solidFill>
                    <a:srgbClr val="DC2626"/>
                  </a:solidFill>
                  <a:latin typeface="+mn-lt"/>
                  <a:ea typeface="+mn-ea"/>
                  <a:cs typeface="+mn-cs"/>
                </a:rPr>
                <a:t>-0.0353</a:t>
              </a:r>
            </a:p>
          </p:txBody>
        </p:sp>
        <p:sp>
          <p:nvSpPr>
            <p:cNvPr id="45" name="TextBox 45"/>
            <p:cNvSpPr txBox="1"/>
            <p:nvPr/>
          </p:nvSpPr>
          <p:spPr>
            <a:xfrm>
              <a:off x="7328916" y="3225800"/>
              <a:ext cx="1299704" cy="205359"/>
            </a:xfrm>
            <a:prstGeom prst="rect">
              <a:avLst/>
            </a:prstGeom>
            <a:noFill/>
            <a:ln>
              <a:noFill/>
            </a:ln>
          </p:spPr>
          <p:txBody>
            <a:bodyPr wrap="none" lIns="0" tIns="0" rIns="0" bIns="0" anchor="t" anchorCtr="0">
              <a:spAutoFit/>
            </a:bodyPr>
            <a:lstStyle/>
            <a:p>
              <a:pPr algn="l"/>
              <a:r>
                <a:rPr lang="vi" sz="1050" dirty="0">
                  <a:solidFill>
                    <a:srgbClr val="DC2626"/>
                  </a:solidFill>
                  <a:latin typeface="+mn-lt"/>
                  <a:ea typeface="+mn-ea"/>
                  <a:cs typeface="+mn-cs"/>
                </a:rPr>
                <a:t>0.6775 (Bất ổn định)</a:t>
              </a:r>
            </a:p>
          </p:txBody>
        </p:sp>
        <p:sp>
          <p:nvSpPr>
            <p:cNvPr id="46" name="TextBox 46"/>
            <p:cNvSpPr txBox="1"/>
            <p:nvPr/>
          </p:nvSpPr>
          <p:spPr>
            <a:xfrm>
              <a:off x="9805416" y="3225800"/>
              <a:ext cx="1402287" cy="205359"/>
            </a:xfrm>
            <a:prstGeom prst="rect">
              <a:avLst/>
            </a:prstGeom>
            <a:noFill/>
            <a:ln>
              <a:noFill/>
            </a:ln>
          </p:spPr>
          <p:txBody>
            <a:bodyPr wrap="none" lIns="0" tIns="0" rIns="0" bIns="0" anchor="t" anchorCtr="0">
              <a:spAutoFit/>
            </a:bodyPr>
            <a:lstStyle/>
            <a:p>
              <a:pPr algn="l"/>
              <a:r>
                <a:rPr lang="vi" sz="1050" dirty="0">
                  <a:solidFill>
                    <a:srgbClr val="DC2626"/>
                  </a:solidFill>
                  <a:latin typeface="+mn-lt"/>
                  <a:ea typeface="+mn-ea"/>
                  <a:cs typeface="+mn-cs"/>
                </a:rPr>
                <a:t>8.60% (Cụm quá nhỏ)</a:t>
              </a:r>
            </a:p>
          </p:txBody>
        </p:sp>
        <p:sp>
          <p:nvSpPr>
            <p:cNvPr id="47" name="Rectangle 47"/>
            <p:cNvSpPr/>
            <p:nvPr/>
          </p:nvSpPr>
          <p:spPr>
            <a:xfrm>
              <a:off x="666750" y="3514725"/>
              <a:ext cx="10858500" cy="400050"/>
            </a:xfrm>
            <a:prstGeom prst="rect">
              <a:avLst/>
            </a:prstGeom>
            <a:solidFill>
              <a:srgbClr val="F8FAFC"/>
            </a:solidFill>
            <a:ln>
              <a:noFill/>
            </a:ln>
          </p:spPr>
          <p:txBody>
            <a:bodyPr/>
            <a:lstStyle/>
            <a:p>
              <a:endParaRPr lang="en-US"/>
            </a:p>
          </p:txBody>
        </p:sp>
        <p:sp>
          <p:nvSpPr>
            <p:cNvPr id="48" name="TextBox 48"/>
            <p:cNvSpPr txBox="1"/>
            <p:nvPr/>
          </p:nvSpPr>
          <p:spPr>
            <a:xfrm>
              <a:off x="994791" y="3625850"/>
              <a:ext cx="454871" cy="205359"/>
            </a:xfrm>
            <a:prstGeom prst="rect">
              <a:avLst/>
            </a:prstGeom>
            <a:noFill/>
            <a:ln>
              <a:noFill/>
            </a:ln>
          </p:spPr>
          <p:txBody>
            <a:bodyPr wrap="none" lIns="0" tIns="0" rIns="0" bIns="0" anchor="t" anchorCtr="0">
              <a:spAutoFit/>
            </a:bodyPr>
            <a:lstStyle/>
            <a:p>
              <a:pPr algn="l"/>
              <a:r>
                <a:rPr lang="vi" sz="1050" b="1" dirty="0">
                  <a:solidFill>
                    <a:srgbClr val="64748B"/>
                  </a:solidFill>
                  <a:latin typeface="+mn-lt"/>
                  <a:ea typeface="+mn-ea"/>
                  <a:cs typeface="+mn-cs"/>
                </a:rPr>
                <a:t>K=6..8</a:t>
              </a:r>
            </a:p>
          </p:txBody>
        </p:sp>
        <p:sp>
          <p:nvSpPr>
            <p:cNvPr id="49" name="TextBox 49"/>
            <p:cNvSpPr txBox="1"/>
            <p:nvPr/>
          </p:nvSpPr>
          <p:spPr>
            <a:xfrm>
              <a:off x="1994916" y="3625850"/>
              <a:ext cx="564849" cy="205359"/>
            </a:xfrm>
            <a:prstGeom prst="rect">
              <a:avLst/>
            </a:prstGeom>
            <a:noFill/>
            <a:ln>
              <a:noFill/>
            </a:ln>
          </p:spPr>
          <p:txBody>
            <a:bodyPr wrap="none" lIns="0" tIns="0" rIns="0" bIns="0" anchor="t" anchorCtr="0">
              <a:spAutoFit/>
            </a:bodyPr>
            <a:lstStyle/>
            <a:p>
              <a:pPr algn="l"/>
              <a:r>
                <a:rPr lang="vi" sz="1050" dirty="0">
                  <a:solidFill>
                    <a:srgbClr val="64748B"/>
                  </a:solidFill>
                  <a:latin typeface="+mn-lt"/>
                  <a:ea typeface="+mn-ea"/>
                  <a:cs typeface="+mn-cs"/>
                </a:rPr>
                <a:t>&lt; 0.1933</a:t>
              </a:r>
            </a:p>
          </p:txBody>
        </p:sp>
        <p:sp>
          <p:nvSpPr>
            <p:cNvPr id="50" name="TextBox 50"/>
            <p:cNvSpPr txBox="1"/>
            <p:nvPr/>
          </p:nvSpPr>
          <p:spPr>
            <a:xfrm>
              <a:off x="3709416" y="3625850"/>
              <a:ext cx="564849" cy="205359"/>
            </a:xfrm>
            <a:prstGeom prst="rect">
              <a:avLst/>
            </a:prstGeom>
            <a:noFill/>
            <a:ln>
              <a:noFill/>
            </a:ln>
          </p:spPr>
          <p:txBody>
            <a:bodyPr wrap="none" lIns="0" tIns="0" rIns="0" bIns="0" anchor="t" anchorCtr="0">
              <a:spAutoFit/>
            </a:bodyPr>
            <a:lstStyle/>
            <a:p>
              <a:pPr algn="l"/>
              <a:r>
                <a:rPr lang="vi" sz="1050" dirty="0">
                  <a:solidFill>
                    <a:srgbClr val="64748B"/>
                  </a:solidFill>
                  <a:latin typeface="+mn-lt"/>
                  <a:ea typeface="+mn-ea"/>
                  <a:cs typeface="+mn-cs"/>
                </a:rPr>
                <a:t>&lt; 0.1601</a:t>
              </a:r>
            </a:p>
          </p:txBody>
        </p:sp>
        <p:sp>
          <p:nvSpPr>
            <p:cNvPr id="51" name="TextBox 51"/>
            <p:cNvSpPr txBox="1"/>
            <p:nvPr/>
          </p:nvSpPr>
          <p:spPr>
            <a:xfrm>
              <a:off x="5423916" y="3625850"/>
              <a:ext cx="1286548" cy="205359"/>
            </a:xfrm>
            <a:prstGeom prst="rect">
              <a:avLst/>
            </a:prstGeom>
            <a:noFill/>
            <a:ln>
              <a:noFill/>
            </a:ln>
          </p:spPr>
          <p:txBody>
            <a:bodyPr wrap="none" lIns="0" tIns="0" rIns="0" bIns="0" anchor="t" anchorCtr="0">
              <a:spAutoFit/>
            </a:bodyPr>
            <a:lstStyle/>
            <a:p>
              <a:pPr algn="l"/>
              <a:r>
                <a:rPr lang="vi" sz="1050" dirty="0">
                  <a:solidFill>
                    <a:srgbClr val="DC2626"/>
                  </a:solidFill>
                  <a:latin typeface="+mn-lt"/>
                  <a:ea typeface="+mn-ea"/>
                  <a:cs typeface="+mn-cs"/>
                </a:rPr>
                <a:t>Âm (Kém tổng quát)</a:t>
              </a:r>
            </a:p>
          </p:txBody>
        </p:sp>
        <p:sp>
          <p:nvSpPr>
            <p:cNvPr id="52" name="TextBox 52"/>
            <p:cNvSpPr txBox="1"/>
            <p:nvPr/>
          </p:nvSpPr>
          <p:spPr>
            <a:xfrm>
              <a:off x="7328916" y="3625850"/>
              <a:ext cx="1674262" cy="205359"/>
            </a:xfrm>
            <a:prstGeom prst="rect">
              <a:avLst/>
            </a:prstGeom>
            <a:noFill/>
            <a:ln>
              <a:noFill/>
            </a:ln>
          </p:spPr>
          <p:txBody>
            <a:bodyPr wrap="none" lIns="0" tIns="0" rIns="0" bIns="0" anchor="t" anchorCtr="0">
              <a:spAutoFit/>
            </a:bodyPr>
            <a:lstStyle/>
            <a:p>
              <a:pPr algn="l"/>
              <a:r>
                <a:rPr lang="vi" sz="1050" dirty="0">
                  <a:solidFill>
                    <a:srgbClr val="DC2626"/>
                  </a:solidFill>
                  <a:latin typeface="+mn-lt"/>
                  <a:ea typeface="+mn-ea"/>
                  <a:cs typeface="+mn-cs"/>
                </a:rPr>
                <a:t>0.56 ~ 0.63 (Rất phân tán)</a:t>
              </a:r>
            </a:p>
          </p:txBody>
        </p:sp>
        <p:sp>
          <p:nvSpPr>
            <p:cNvPr id="53" name="TextBox 53"/>
            <p:cNvSpPr txBox="1"/>
            <p:nvPr/>
          </p:nvSpPr>
          <p:spPr>
            <a:xfrm>
              <a:off x="9805416" y="3625850"/>
              <a:ext cx="1549598" cy="205359"/>
            </a:xfrm>
            <a:prstGeom prst="rect">
              <a:avLst/>
            </a:prstGeom>
            <a:noFill/>
            <a:ln>
              <a:noFill/>
            </a:ln>
          </p:spPr>
          <p:txBody>
            <a:bodyPr wrap="none" lIns="0" tIns="0" rIns="0" bIns="0" anchor="t" anchorCtr="0">
              <a:spAutoFit/>
            </a:bodyPr>
            <a:lstStyle/>
            <a:p>
              <a:pPr algn="l"/>
              <a:r>
                <a:rPr lang="vi" sz="1050" dirty="0">
                  <a:solidFill>
                    <a:srgbClr val="DC2626"/>
                  </a:solidFill>
                  <a:latin typeface="+mn-lt"/>
                  <a:ea typeface="+mn-ea"/>
                  <a:cs typeface="+mn-cs"/>
                </a:rPr>
                <a:t>&lt; 6.0% (Vi phạm cờ 5%)</a:t>
              </a:r>
            </a:p>
          </p:txBody>
        </p:sp>
        <p:sp>
          <p:nvSpPr>
            <p:cNvPr id="54" name="Rectangle 54"/>
            <p:cNvSpPr/>
            <p:nvPr/>
          </p:nvSpPr>
          <p:spPr>
            <a:xfrm>
              <a:off x="666750" y="4238625"/>
              <a:ext cx="10858500" cy="428625"/>
            </a:xfrm>
            <a:prstGeom prst="rect">
              <a:avLst/>
            </a:prstGeom>
            <a:solidFill>
              <a:srgbClr val="F1F5F9"/>
            </a:solidFill>
            <a:ln>
              <a:noFill/>
            </a:ln>
          </p:spPr>
          <p:txBody>
            <a:bodyPr/>
            <a:lstStyle/>
            <a:p>
              <a:endParaRPr lang="en-US"/>
            </a:p>
          </p:txBody>
        </p:sp>
        <p:sp>
          <p:nvSpPr>
            <p:cNvPr id="55" name="TextBox 55"/>
            <p:cNvSpPr txBox="1"/>
            <p:nvPr/>
          </p:nvSpPr>
          <p:spPr>
            <a:xfrm>
              <a:off x="852488" y="4381500"/>
              <a:ext cx="6409213" cy="176212"/>
            </a:xfrm>
            <a:prstGeom prst="rect">
              <a:avLst/>
            </a:prstGeom>
            <a:noFill/>
            <a:ln>
              <a:noFill/>
            </a:ln>
          </p:spPr>
          <p:txBody>
            <a:bodyPr wrap="none" lIns="0" tIns="0" rIns="0" bIns="0" anchor="t" anchorCtr="0">
              <a:spAutoFit/>
            </a:bodyPr>
            <a:lstStyle/>
            <a:p>
              <a:pPr algn="l"/>
              <a:r>
                <a:rPr lang="vi" sz="900" dirty="0">
                  <a:solidFill>
                    <a:srgbClr val="475569"/>
                  </a:solidFill>
                  <a:latin typeface="+mn-lt"/>
                  <a:ea typeface="+mn-ea"/>
                  <a:cs typeface="+mn-cs"/>
                </a:rPr>
                <a:t>Nguồn kiểm chứng: reports/data/experiments/review_table.csv • 10 lượt chạy độc lập (Seed 42..51) với thuật toán Lloyd</a:t>
              </a:r>
            </a:p>
          </p:txBody>
        </p:sp>
      </p:grpSp>
      <p:grpSp>
        <p:nvGrpSpPr>
          <p:cNvPr id="75" name="stability-insights"/>
          <p:cNvGrpSpPr/>
          <p:nvPr/>
        </p:nvGrpSpPr>
        <p:grpSpPr>
          <a:xfrm>
            <a:off x="666750" y="4810125"/>
            <a:ext cx="10858500" cy="1476375"/>
            <a:chOff x="666750" y="4810125"/>
            <a:chExt cx="10858500" cy="1476375"/>
          </a:xfrm>
        </p:grpSpPr>
        <p:sp>
          <p:nvSpPr>
            <p:cNvPr id="57" name="Rectangle 57"/>
            <p:cNvSpPr/>
            <p:nvPr/>
          </p:nvSpPr>
          <p:spPr>
            <a:xfrm>
              <a:off x="666750" y="4810125"/>
              <a:ext cx="3429000" cy="1476375"/>
            </a:xfrm>
            <a:prstGeom prst="roundRect">
              <a:avLst>
                <a:gd name="adj" fmla="val 7742"/>
              </a:avLst>
            </a:prstGeom>
            <a:solidFill>
              <a:schemeClr val="lt1"/>
            </a:solidFill>
            <a:ln w="14288">
              <a:solidFill>
                <a:srgbClr val="E2E8F0"/>
              </a:solidFill>
            </a:ln>
          </p:spPr>
          <p:txBody>
            <a:bodyPr/>
            <a:lstStyle/>
            <a:p>
              <a:endParaRPr lang="en-US"/>
            </a:p>
          </p:txBody>
        </p:sp>
        <p:sp>
          <p:nvSpPr>
            <p:cNvPr id="58" name="Rectangle 58"/>
            <p:cNvSpPr/>
            <p:nvPr/>
          </p:nvSpPr>
          <p:spPr>
            <a:xfrm>
              <a:off x="666750" y="4810125"/>
              <a:ext cx="3429000" cy="38100"/>
            </a:xfrm>
            <a:prstGeom prst="roundRect">
              <a:avLst>
                <a:gd name="adj" fmla="val 50000"/>
              </a:avLst>
            </a:prstGeom>
            <a:solidFill>
              <a:schemeClr val="accent2"/>
            </a:solidFill>
            <a:ln>
              <a:noFill/>
            </a:ln>
          </p:spPr>
          <p:txBody>
            <a:bodyPr/>
            <a:lstStyle/>
            <a:p>
              <a:endParaRPr lang="en-US"/>
            </a:p>
          </p:txBody>
        </p:sp>
        <p:sp>
          <p:nvSpPr>
            <p:cNvPr id="59" name="TextBox 59"/>
            <p:cNvSpPr txBox="1"/>
            <p:nvPr/>
          </p:nvSpPr>
          <p:spPr>
            <a:xfrm>
              <a:off x="899160" y="4984750"/>
              <a:ext cx="1265040" cy="220028"/>
            </a:xfrm>
            <a:prstGeom prst="rect">
              <a:avLst/>
            </a:prstGeom>
            <a:noFill/>
            <a:ln>
              <a:noFill/>
            </a:ln>
          </p:spPr>
          <p:txBody>
            <a:bodyPr wrap="none" lIns="0" tIns="0" rIns="0" bIns="0" anchor="t" anchorCtr="0">
              <a:spAutoFit/>
            </a:bodyPr>
            <a:lstStyle/>
            <a:p>
              <a:pPr algn="l"/>
              <a:r>
                <a:rPr lang="vi" sz="1120" b="1" dirty="0">
                  <a:solidFill>
                    <a:srgbClr val="065F46"/>
                  </a:solidFill>
                  <a:latin typeface="+mn-lt"/>
                  <a:ea typeface="+mn-ea"/>
                  <a:cs typeface="+mn-cs"/>
                </a:rPr>
                <a:t>Silhouette Tối Ưu</a:t>
              </a:r>
            </a:p>
          </p:txBody>
        </p:sp>
        <p:sp>
          <p:nvSpPr>
            <p:cNvPr id="60" name="TextBox 60"/>
            <p:cNvSpPr txBox="1"/>
            <p:nvPr/>
          </p:nvSpPr>
          <p:spPr>
            <a:xfrm>
              <a:off x="899922" y="5254625"/>
              <a:ext cx="1813682"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Điểm Val Silhouette = </a:t>
              </a:r>
              <a:r>
                <a:rPr lang="vi" sz="980" b="1" dirty="0">
                  <a:solidFill>
                    <a:srgbClr val="059669"/>
                  </a:solidFill>
                  <a:latin typeface="+mn-lt"/>
                  <a:ea typeface="+mn-ea"/>
                  <a:cs typeface="+mn-cs"/>
                </a:rPr>
                <a:t>0.3066</a:t>
              </a:r>
            </a:p>
          </p:txBody>
        </p:sp>
        <p:sp>
          <p:nvSpPr>
            <p:cNvPr id="61" name="TextBox 61"/>
            <p:cNvSpPr txBox="1"/>
            <p:nvPr/>
          </p:nvSpPr>
          <p:spPr>
            <a:xfrm>
              <a:off x="899922" y="5492750"/>
              <a:ext cx="3241024"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Vượt trội hoàn toàn so với K=3 (0.216) và K=4 (0.154)</a:t>
              </a:r>
            </a:p>
          </p:txBody>
        </p:sp>
        <p:sp>
          <p:nvSpPr>
            <p:cNvPr id="62" name="TextBox 62"/>
            <p:cNvSpPr txBox="1"/>
            <p:nvPr/>
          </p:nvSpPr>
          <p:spPr>
            <a:xfrm>
              <a:off x="899922" y="5730875"/>
              <a:ext cx="2170745"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Generalization Gap dương (+0.031)</a:t>
              </a:r>
            </a:p>
          </p:txBody>
        </p:sp>
        <p:sp>
          <p:nvSpPr>
            <p:cNvPr id="63" name="Rectangle 63"/>
            <p:cNvSpPr/>
            <p:nvPr/>
          </p:nvSpPr>
          <p:spPr>
            <a:xfrm>
              <a:off x="4381500" y="4810125"/>
              <a:ext cx="3429000" cy="1476375"/>
            </a:xfrm>
            <a:prstGeom prst="roundRect">
              <a:avLst>
                <a:gd name="adj" fmla="val 7742"/>
              </a:avLst>
            </a:prstGeom>
            <a:solidFill>
              <a:schemeClr val="lt1"/>
            </a:solidFill>
            <a:ln w="14288">
              <a:solidFill>
                <a:srgbClr val="E2E8F0"/>
              </a:solidFill>
            </a:ln>
          </p:spPr>
          <p:txBody>
            <a:bodyPr/>
            <a:lstStyle/>
            <a:p>
              <a:endParaRPr lang="en-US"/>
            </a:p>
          </p:txBody>
        </p:sp>
        <p:sp>
          <p:nvSpPr>
            <p:cNvPr id="64" name="Rectangle 64"/>
            <p:cNvSpPr/>
            <p:nvPr/>
          </p:nvSpPr>
          <p:spPr>
            <a:xfrm>
              <a:off x="4381500" y="4810125"/>
              <a:ext cx="3429000" cy="38100"/>
            </a:xfrm>
            <a:prstGeom prst="roundRect">
              <a:avLst>
                <a:gd name="adj" fmla="val 50000"/>
              </a:avLst>
            </a:prstGeom>
            <a:solidFill>
              <a:schemeClr val="accent1"/>
            </a:solidFill>
            <a:ln>
              <a:noFill/>
            </a:ln>
          </p:spPr>
          <p:txBody>
            <a:bodyPr/>
            <a:lstStyle/>
            <a:p>
              <a:endParaRPr lang="en-US"/>
            </a:p>
          </p:txBody>
        </p:sp>
        <p:sp>
          <p:nvSpPr>
            <p:cNvPr id="65" name="TextBox 65"/>
            <p:cNvSpPr txBox="1"/>
            <p:nvPr/>
          </p:nvSpPr>
          <p:spPr>
            <a:xfrm>
              <a:off x="4613910" y="4984750"/>
              <a:ext cx="1596817" cy="220028"/>
            </a:xfrm>
            <a:prstGeom prst="rect">
              <a:avLst/>
            </a:prstGeom>
            <a:noFill/>
            <a:ln>
              <a:noFill/>
            </a:ln>
          </p:spPr>
          <p:txBody>
            <a:bodyPr wrap="none" lIns="0" tIns="0" rIns="0" bIns="0" anchor="t" anchorCtr="0">
              <a:spAutoFit/>
            </a:bodyPr>
            <a:lstStyle/>
            <a:p>
              <a:pPr algn="l"/>
              <a:r>
                <a:rPr lang="vi" sz="1120" b="1" dirty="0">
                  <a:solidFill>
                    <a:srgbClr val="1E40AF"/>
                  </a:solidFill>
                  <a:latin typeface="+mn-lt"/>
                  <a:ea typeface="+mn-ea"/>
                  <a:cs typeface="+mn-cs"/>
                </a:rPr>
                <a:t>Độ Ổn Định Tuyệt Đối</a:t>
              </a:r>
            </a:p>
          </p:txBody>
        </p:sp>
        <p:sp>
          <p:nvSpPr>
            <p:cNvPr id="66" name="TextBox 66"/>
            <p:cNvSpPr txBox="1"/>
            <p:nvPr/>
          </p:nvSpPr>
          <p:spPr>
            <a:xfrm>
              <a:off x="4614672" y="5254625"/>
              <a:ext cx="2129446"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ARI trung bình = </a:t>
              </a:r>
              <a:r>
                <a:rPr lang="vi" sz="980" b="1" dirty="0">
                  <a:solidFill>
                    <a:schemeClr val="accent1"/>
                  </a:solidFill>
                  <a:latin typeface="+mn-lt"/>
                  <a:ea typeface="+mn-ea"/>
                  <a:cs typeface="+mn-cs"/>
                </a:rPr>
                <a:t>0.996970 ≈ 0.997</a:t>
              </a:r>
            </a:p>
          </p:txBody>
        </p:sp>
        <p:sp>
          <p:nvSpPr>
            <p:cNvPr id="67" name="TextBox 67"/>
            <p:cNvSpPr txBox="1"/>
            <p:nvPr/>
          </p:nvSpPr>
          <p:spPr>
            <a:xfrm>
              <a:off x="4614672" y="5492750"/>
              <a:ext cx="1937899"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Độ lệch chuẩn (std) = </a:t>
              </a:r>
              <a:r>
                <a:rPr lang="vi" sz="980" b="1" dirty="0">
                  <a:solidFill>
                    <a:srgbClr val="334155"/>
                  </a:solidFill>
                  <a:latin typeface="+mn-lt"/>
                  <a:ea typeface="+mn-ea"/>
                  <a:cs typeface="+mn-cs"/>
                </a:rPr>
                <a:t>0.000000</a:t>
              </a:r>
            </a:p>
          </p:txBody>
        </p:sp>
        <p:sp>
          <p:nvSpPr>
            <p:cNvPr id="68" name="TextBox 68"/>
            <p:cNvSpPr txBox="1"/>
            <p:nvPr/>
          </p:nvSpPr>
          <p:spPr>
            <a:xfrm>
              <a:off x="4614672" y="5730875"/>
              <a:ext cx="2237393"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10/10 seed đều phân cụm đồng nhất</a:t>
              </a:r>
            </a:p>
          </p:txBody>
        </p:sp>
        <p:sp>
          <p:nvSpPr>
            <p:cNvPr id="69" name="Rectangle 69"/>
            <p:cNvSpPr/>
            <p:nvPr/>
          </p:nvSpPr>
          <p:spPr>
            <a:xfrm>
              <a:off x="8096250" y="4810125"/>
              <a:ext cx="3429000" cy="1476375"/>
            </a:xfrm>
            <a:prstGeom prst="roundRect">
              <a:avLst>
                <a:gd name="adj" fmla="val 7742"/>
              </a:avLst>
            </a:prstGeom>
            <a:solidFill>
              <a:schemeClr val="lt1"/>
            </a:solidFill>
            <a:ln w="14288">
              <a:solidFill>
                <a:srgbClr val="E2E8F0"/>
              </a:solidFill>
            </a:ln>
          </p:spPr>
          <p:txBody>
            <a:bodyPr/>
            <a:lstStyle/>
            <a:p>
              <a:endParaRPr lang="en-US"/>
            </a:p>
          </p:txBody>
        </p:sp>
        <p:sp>
          <p:nvSpPr>
            <p:cNvPr id="70" name="Rectangle 70"/>
            <p:cNvSpPr/>
            <p:nvPr/>
          </p:nvSpPr>
          <p:spPr>
            <a:xfrm>
              <a:off x="8096250" y="4810125"/>
              <a:ext cx="3429000" cy="38100"/>
            </a:xfrm>
            <a:prstGeom prst="roundRect">
              <a:avLst>
                <a:gd name="adj" fmla="val 50000"/>
              </a:avLst>
            </a:prstGeom>
            <a:solidFill>
              <a:srgbClr val="F59E0B"/>
            </a:solidFill>
            <a:ln>
              <a:noFill/>
            </a:ln>
          </p:spPr>
          <p:txBody>
            <a:bodyPr/>
            <a:lstStyle/>
            <a:p>
              <a:endParaRPr lang="en-US"/>
            </a:p>
          </p:txBody>
        </p:sp>
        <p:sp>
          <p:nvSpPr>
            <p:cNvPr id="71" name="TextBox 71"/>
            <p:cNvSpPr txBox="1"/>
            <p:nvPr/>
          </p:nvSpPr>
          <p:spPr>
            <a:xfrm>
              <a:off x="8328660" y="4984750"/>
              <a:ext cx="1748634" cy="220028"/>
            </a:xfrm>
            <a:prstGeom prst="rect">
              <a:avLst/>
            </a:prstGeom>
            <a:noFill/>
            <a:ln>
              <a:noFill/>
            </a:ln>
          </p:spPr>
          <p:txBody>
            <a:bodyPr wrap="none" lIns="0" tIns="0" rIns="0" bIns="0" anchor="t" anchorCtr="0">
              <a:spAutoFit/>
            </a:bodyPr>
            <a:lstStyle/>
            <a:p>
              <a:pPr algn="l"/>
              <a:r>
                <a:rPr lang="vi" sz="1120" b="1" dirty="0">
                  <a:solidFill>
                    <a:srgbClr val="B45309"/>
                  </a:solidFill>
                  <a:latin typeface="+mn-lt"/>
                  <a:ea typeface="+mn-ea"/>
                  <a:cs typeface="+mn-cs"/>
                </a:rPr>
                <a:t>Phân Phối Cụm Khả Thi</a:t>
              </a:r>
            </a:p>
          </p:txBody>
        </p:sp>
        <p:sp>
          <p:nvSpPr>
            <p:cNvPr id="72" name="TextBox 72"/>
            <p:cNvSpPr txBox="1"/>
            <p:nvPr/>
          </p:nvSpPr>
          <p:spPr>
            <a:xfrm>
              <a:off x="8329422" y="5254625"/>
              <a:ext cx="1720879"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Cụm nhỏ nhất chiếm </a:t>
              </a:r>
              <a:r>
                <a:rPr lang="vi" sz="980" b="1" dirty="0">
                  <a:solidFill>
                    <a:srgbClr val="334155"/>
                  </a:solidFill>
                  <a:latin typeface="+mn-lt"/>
                  <a:ea typeface="+mn-ea"/>
                  <a:cs typeface="+mn-cs"/>
                </a:rPr>
                <a:t>44.7%</a:t>
              </a:r>
            </a:p>
          </p:txBody>
        </p:sp>
        <p:sp>
          <p:nvSpPr>
            <p:cNvPr id="73" name="TextBox 73"/>
            <p:cNvSpPr txBox="1"/>
            <p:nvPr/>
          </p:nvSpPr>
          <p:spPr>
            <a:xfrm>
              <a:off x="8329422" y="5492750"/>
              <a:ext cx="2355917"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Không bị vi phạm cờ cụm cô lập (&lt;5%)</a:t>
              </a:r>
            </a:p>
          </p:txBody>
        </p:sp>
        <p:sp>
          <p:nvSpPr>
            <p:cNvPr id="74" name="TextBox 74"/>
            <p:cNvSpPr txBox="1"/>
            <p:nvPr/>
          </p:nvSpPr>
          <p:spPr>
            <a:xfrm>
              <a:off x="8329422" y="5730875"/>
              <a:ext cx="2270685"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Rất thuận lợi cho bài toán kinh doanh</a:t>
              </a:r>
            </a:p>
          </p:txBody>
        </p:sp>
      </p:grpSp>
      <p:grpSp>
        <p:nvGrpSpPr>
          <p:cNvPr id="79" name="footer"/>
          <p:cNvGrpSpPr/>
          <p:nvPr/>
        </p:nvGrpSpPr>
        <p:grpSpPr>
          <a:xfrm>
            <a:off x="661797" y="6429375"/>
            <a:ext cx="10868406" cy="264668"/>
            <a:chOff x="661797" y="6429375"/>
            <a:chExt cx="10868406" cy="264668"/>
          </a:xfrm>
        </p:grpSpPr>
        <p:sp>
          <p:nvSpPr>
            <p:cNvPr id="76" name="Line 76"/>
            <p:cNvSpPr/>
            <p:nvPr/>
          </p:nvSpPr>
          <p:spPr>
            <a:xfrm>
              <a:off x="666750" y="6429375"/>
              <a:ext cx="10858500" cy="9525"/>
            </a:xfrm>
            <a:custGeom>
              <a:avLst/>
              <a:gdLst/>
              <a:ahLst/>
              <a:cxnLst/>
              <a:rect l="l" t="t" r="r" b="b"/>
              <a:pathLst>
                <a:path w="10858500" h="9525">
                  <a:moveTo>
                    <a:pt x="0" y="0"/>
                  </a:moveTo>
                  <a:lnTo>
                    <a:pt x="10858500" y="0"/>
                  </a:lnTo>
                </a:path>
              </a:pathLst>
            </a:custGeom>
            <a:noFill/>
            <a:ln w="9525">
              <a:solidFill>
                <a:srgbClr val="E2E8F0"/>
              </a:solidFill>
            </a:ln>
          </p:spPr>
          <p:txBody>
            <a:bodyPr/>
            <a:lstStyle/>
            <a:p>
              <a:endParaRPr lang="en-US"/>
            </a:p>
          </p:txBody>
        </p:sp>
        <p:sp>
          <p:nvSpPr>
            <p:cNvPr id="77" name="TextBox 77"/>
            <p:cNvSpPr txBox="1"/>
            <p:nvPr/>
          </p:nvSpPr>
          <p:spPr>
            <a:xfrm>
              <a:off x="661797" y="6502400"/>
              <a:ext cx="5799743"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Đồ Án Machine Learning Phân Khúc Khách Hàng Bán Sỉ • Project 22 (UCI Wholesale Customers)</a:t>
              </a:r>
            </a:p>
          </p:txBody>
        </p:sp>
        <p:sp>
          <p:nvSpPr>
            <p:cNvPr id="78" name="TextBox 78"/>
            <p:cNvSpPr txBox="1"/>
            <p:nvPr/>
          </p:nvSpPr>
          <p:spPr>
            <a:xfrm>
              <a:off x="11116836" y="6502400"/>
              <a:ext cx="413367" cy="191643"/>
            </a:xfrm>
            <a:prstGeom prst="rect">
              <a:avLst/>
            </a:prstGeom>
            <a:noFill/>
            <a:ln>
              <a:noFill/>
            </a:ln>
          </p:spPr>
          <p:txBody>
            <a:bodyPr wrap="none" lIns="0" tIns="0" rIns="0" bIns="0" anchor="t" anchorCtr="0">
              <a:spAutoFit/>
            </a:bodyPr>
            <a:lstStyle/>
            <a:p>
              <a:pPr algn="r"/>
              <a:r>
                <a:rPr lang="vi" sz="980" b="1" dirty="0">
                  <a:solidFill>
                    <a:srgbClr val="475569"/>
                  </a:solidFill>
                  <a:latin typeface="+mn-lt"/>
                  <a:ea typeface="+mn-ea"/>
                  <a:cs typeface="+mn-cs"/>
                </a:rPr>
                <a:t>07 / 15</a:t>
              </a:r>
            </a:p>
          </p:txBody>
        </p:sp>
      </p:grpSp>
    </p:spTree>
  </p:cSld>
  <p:clrMapOvr>
    <a:masterClrMapping/>
  </p:clrMapOvr>
  <mc:AlternateContent xmlns:mc="http://schemas.openxmlformats.org/markup-compatibility/2006" xmlns:p14="http://schemas.microsoft.com/office/powerpoint/2010/main">
    <mc:Choice Requires="p14">
      <p:transition spd="med" p14:dur="600">
        <p14:warp dir="in"/>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400"/>
                            </p:stCondLst>
                            <p:childTnLst>
                              <p:par>
                                <p:cTn id="9" presetID="22" presetClass="entr" presetSubtype="4" fill="hold" nodeType="afterEffect">
                                  <p:stCondLst>
                                    <p:cond delay="500"/>
                                  </p:stCondLst>
                                  <p:childTnLst>
                                    <p:set>
                                      <p:cBhvr>
                                        <p:cTn id="10" dur="1" fill="hold">
                                          <p:stCondLst>
                                            <p:cond delay="0"/>
                                          </p:stCondLst>
                                        </p:cTn>
                                        <p:tgtEl>
                                          <p:spTgt spid="56"/>
                                        </p:tgtEl>
                                        <p:attrNameLst>
                                          <p:attrName>style.visibility</p:attrName>
                                        </p:attrNameLst>
                                      </p:cBhvr>
                                      <p:to>
                                        <p:strVal val="visible"/>
                                      </p:to>
                                    </p:set>
                                    <p:animEffect transition="in" filter="wipe(down)">
                                      <p:cBhvr>
                                        <p:cTn id="11" dur="800"/>
                                        <p:tgtEl>
                                          <p:spTgt spid="56"/>
                                        </p:tgtEl>
                                      </p:cBhvr>
                                    </p:animEffect>
                                  </p:childTnLst>
                                </p:cTn>
                              </p:par>
                            </p:childTnLst>
                          </p:cTn>
                        </p:par>
                        <p:par>
                          <p:cTn id="12" fill="hold">
                            <p:stCondLst>
                              <p:cond delay="1700"/>
                            </p:stCondLst>
                            <p:childTnLst>
                              <p:par>
                                <p:cTn id="13" presetID="2" presetClass="entr" presetSubtype="4" fill="hold" nodeType="afterEffect">
                                  <p:stCondLst>
                                    <p:cond delay="500"/>
                                  </p:stCondLst>
                                  <p:childTnLst>
                                    <p:set>
                                      <p:cBhvr>
                                        <p:cTn id="14" dur="1" fill="hold">
                                          <p:stCondLst>
                                            <p:cond delay="0"/>
                                          </p:stCondLst>
                                        </p:cTn>
                                        <p:tgtEl>
                                          <p:spTgt spid="75"/>
                                        </p:tgtEl>
                                        <p:attrNameLst>
                                          <p:attrName>style.visibility</p:attrName>
                                        </p:attrNameLst>
                                      </p:cBhvr>
                                      <p:to>
                                        <p:strVal val="visible"/>
                                      </p:to>
                                    </p:set>
                                    <p:anim calcmode="lin" valueType="num">
                                      <p:cBhvr additive="base">
                                        <p:cTn id="15" dur="700" fill="hold"/>
                                        <p:tgtEl>
                                          <p:spTgt spid="75"/>
                                        </p:tgtEl>
                                        <p:attrNameLst>
                                          <p:attrName>ppt_x</p:attrName>
                                        </p:attrNameLst>
                                      </p:cBhvr>
                                      <p:tavLst>
                                        <p:tav tm="0">
                                          <p:val>
                                            <p:strVal val="#ppt_x"/>
                                          </p:val>
                                        </p:tav>
                                        <p:tav tm="100000">
                                          <p:val>
                                            <p:strVal val="#ppt_x"/>
                                          </p:val>
                                        </p:tav>
                                      </p:tavLst>
                                    </p:anim>
                                    <p:anim calcmode="lin" valueType="num">
                                      <p:cBhvr additive="base">
                                        <p:cTn id="16" dur="700" fill="hold"/>
                                        <p:tgtEl>
                                          <p:spTgt spid="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page-background"/>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8FAFC"/>
            </a:solidFill>
            <a:ln>
              <a:noFill/>
            </a:ln>
          </p:spPr>
          <p:txBody>
            <a:bodyPr/>
            <a:lstStyle/>
            <a:p>
              <a:endParaRPr lang="en-US"/>
            </a:p>
          </p:txBody>
        </p:sp>
        <p:sp>
          <p:nvSpPr>
            <p:cNvPr id="3" name="Rectangle 3"/>
            <p:cNvSpPr/>
            <p:nvPr/>
          </p:nvSpPr>
          <p:spPr>
            <a:xfrm>
              <a:off x="0" y="0"/>
              <a:ext cx="12192000" cy="57150"/>
            </a:xfrm>
            <a:prstGeom prst="rect">
              <a:avLst/>
            </a:prstGeom>
            <a:gradFill>
              <a:gsLst>
                <a:gs pos="0">
                  <a:srgbClr val="1E3A8A"/>
                </a:gs>
                <a:gs pos="50000">
                  <a:schemeClr val="accent1"/>
                </a:gs>
                <a:gs pos="100000">
                  <a:srgbClr val="0EA5E9"/>
                </a:gs>
              </a:gsLst>
              <a:lin ang="0" scaled="1"/>
            </a:gradFill>
            <a:ln>
              <a:noFill/>
            </a:ln>
          </p:spPr>
          <p:txBody>
            <a:bodyPr/>
            <a:lstStyle/>
            <a:p>
              <a:endParaRPr lang="en-US"/>
            </a:p>
          </p:txBody>
        </p:sp>
      </p:grpSp>
      <p:grpSp>
        <p:nvGrpSpPr>
          <p:cNvPr id="9" name="header"/>
          <p:cNvGrpSpPr/>
          <p:nvPr/>
        </p:nvGrpSpPr>
        <p:grpSpPr>
          <a:xfrm>
            <a:off x="654558" y="304800"/>
            <a:ext cx="9859997" cy="899478"/>
            <a:chOff x="654558" y="304800"/>
            <a:chExt cx="9859997" cy="899478"/>
          </a:xfrm>
        </p:grpSpPr>
        <p:sp>
          <p:nvSpPr>
            <p:cNvPr id="5" name="Rectangle 5"/>
            <p:cNvSpPr/>
            <p:nvPr/>
          </p:nvSpPr>
          <p:spPr>
            <a:xfrm>
              <a:off x="666750" y="304800"/>
              <a:ext cx="1828800" cy="247650"/>
            </a:xfrm>
            <a:prstGeom prst="roundRect">
              <a:avLst>
                <a:gd name="adj" fmla="val 23077"/>
              </a:avLst>
            </a:prstGeom>
            <a:solidFill>
              <a:srgbClr val="EFF6FF"/>
            </a:solidFill>
            <a:ln w="9525">
              <a:solidFill>
                <a:srgbClr val="BFDBFE"/>
              </a:solidFill>
            </a:ln>
          </p:spPr>
          <p:txBody>
            <a:bodyPr/>
            <a:lstStyle/>
            <a:p>
              <a:endParaRPr lang="en-US"/>
            </a:p>
          </p:txBody>
        </p:sp>
        <p:sp>
          <p:nvSpPr>
            <p:cNvPr id="6" name="TextBox 6"/>
            <p:cNvSpPr txBox="1"/>
            <p:nvPr/>
          </p:nvSpPr>
          <p:spPr>
            <a:xfrm>
              <a:off x="853970" y="365125"/>
              <a:ext cx="1454361" cy="161925"/>
            </a:xfrm>
            <a:prstGeom prst="rect">
              <a:avLst/>
            </a:prstGeom>
            <a:noFill/>
            <a:ln>
              <a:noFill/>
            </a:ln>
          </p:spPr>
          <p:txBody>
            <a:bodyPr wrap="none" lIns="0" tIns="0" rIns="0" bIns="0" anchor="t" anchorCtr="0">
              <a:spAutoFit/>
            </a:bodyPr>
            <a:lstStyle/>
            <a:p>
              <a:pPr algn="ctr"/>
              <a:r>
                <a:rPr lang="vi" sz="820" b="1" spc="75" dirty="0">
                  <a:solidFill>
                    <a:srgbClr val="1D4ED8"/>
                  </a:solidFill>
                  <a:latin typeface="+mn-lt"/>
                  <a:ea typeface="+mn-ea"/>
                  <a:cs typeface="+mn-cs"/>
                </a:rPr>
                <a:t>MÔ HÌNH CHÍNH THỨC</a:t>
              </a:r>
            </a:p>
          </p:txBody>
        </p:sp>
        <p:sp>
          <p:nvSpPr>
            <p:cNvPr id="7" name="TextBox 7"/>
            <p:cNvSpPr txBox="1"/>
            <p:nvPr/>
          </p:nvSpPr>
          <p:spPr>
            <a:xfrm>
              <a:off x="654558" y="584200"/>
              <a:ext cx="9859997" cy="469392"/>
            </a:xfrm>
            <a:prstGeom prst="rect">
              <a:avLst/>
            </a:prstGeom>
            <a:noFill/>
            <a:ln>
              <a:noFill/>
            </a:ln>
          </p:spPr>
          <p:txBody>
            <a:bodyPr wrap="none" lIns="0" tIns="0" rIns="0" bIns="0" anchor="t" anchorCtr="0">
              <a:spAutoFit/>
            </a:bodyPr>
            <a:lstStyle/>
            <a:p>
              <a:pPr algn="l"/>
              <a:r>
                <a:rPr lang="vi" sz="2400" b="1" dirty="0">
                  <a:solidFill>
                    <a:srgbClr val="0F172A"/>
                  </a:solidFill>
                  <a:latin typeface="+mn-lt"/>
                  <a:ea typeface="+mn-ea"/>
                  <a:cs typeface="+mn-cs"/>
                </a:rPr>
                <a:t>Quyết Định Mô Hình Đóng Băng D011 &amp; Kết Quả Đánh Giá Test</a:t>
              </a:r>
            </a:p>
          </p:txBody>
        </p:sp>
        <p:sp>
          <p:nvSpPr>
            <p:cNvPr id="8" name="TextBox 8"/>
            <p:cNvSpPr txBox="1"/>
            <p:nvPr/>
          </p:nvSpPr>
          <p:spPr>
            <a:xfrm>
              <a:off x="661035" y="984250"/>
              <a:ext cx="5397511" cy="220028"/>
            </a:xfrm>
            <a:prstGeom prst="rect">
              <a:avLst/>
            </a:prstGeom>
            <a:noFill/>
            <a:ln>
              <a:noFill/>
            </a:ln>
          </p:spPr>
          <p:txBody>
            <a:bodyPr wrap="none" lIns="0" tIns="0" rIns="0" bIns="0" anchor="t" anchorCtr="0">
              <a:spAutoFit/>
            </a:bodyPr>
            <a:lstStyle/>
            <a:p>
              <a:pPr algn="l"/>
              <a:r>
                <a:rPr lang="vi" sz="1120" dirty="0">
                  <a:solidFill>
                    <a:srgbClr val="475569"/>
                  </a:solidFill>
                  <a:latin typeface="+mn-lt"/>
                  <a:ea typeface="+mn-ea"/>
                  <a:cs typeface="+mn-cs"/>
                </a:rPr>
                <a:t>Thông số kiến trúc chuẩn hóa phục vụ triển khai và kết quả kiểm thử khách quan</a:t>
              </a:r>
            </a:p>
          </p:txBody>
        </p:sp>
      </p:grpSp>
      <p:grpSp>
        <p:nvGrpSpPr>
          <p:cNvPr id="15" name="decision-stamp"/>
          <p:cNvGrpSpPr/>
          <p:nvPr/>
        </p:nvGrpSpPr>
        <p:grpSpPr>
          <a:xfrm>
            <a:off x="666750" y="1428750"/>
            <a:ext cx="10858500" cy="666750"/>
            <a:chOff x="666750" y="1428750"/>
            <a:chExt cx="10858500" cy="666750"/>
          </a:xfrm>
        </p:grpSpPr>
        <p:sp>
          <p:nvSpPr>
            <p:cNvPr id="10" name="Rectangle 10"/>
            <p:cNvSpPr/>
            <p:nvPr/>
          </p:nvSpPr>
          <p:spPr>
            <a:xfrm>
              <a:off x="666750" y="1428750"/>
              <a:ext cx="10858500" cy="666750"/>
            </a:xfrm>
            <a:prstGeom prst="roundRect">
              <a:avLst>
                <a:gd name="adj" fmla="val 17143"/>
              </a:avLst>
            </a:prstGeom>
            <a:solidFill>
              <a:srgbClr val="1E3A8A"/>
            </a:solidFill>
            <a:ln>
              <a:noFill/>
            </a:ln>
          </p:spPr>
          <p:txBody>
            <a:bodyPr/>
            <a:lstStyle/>
            <a:p>
              <a:endParaRPr lang="en-US"/>
            </a:p>
          </p:txBody>
        </p:sp>
        <p:sp>
          <p:nvSpPr>
            <p:cNvPr id="11" name="TextBox 11"/>
            <p:cNvSpPr txBox="1"/>
            <p:nvPr/>
          </p:nvSpPr>
          <p:spPr>
            <a:xfrm>
              <a:off x="945642" y="1597025"/>
              <a:ext cx="3907848" cy="264033"/>
            </a:xfrm>
            <a:prstGeom prst="rect">
              <a:avLst/>
            </a:prstGeom>
            <a:noFill/>
            <a:ln>
              <a:noFill/>
            </a:ln>
          </p:spPr>
          <p:txBody>
            <a:bodyPr wrap="none" lIns="0" tIns="0" rIns="0" bIns="0" anchor="t" anchorCtr="0">
              <a:spAutoFit/>
            </a:bodyPr>
            <a:lstStyle/>
            <a:p>
              <a:pPr algn="l"/>
              <a:r>
                <a:rPr lang="vi" sz="1350" b="1" dirty="0">
                  <a:solidFill>
                    <a:srgbClr val="FFFFFF"/>
                  </a:solidFill>
                  <a:latin typeface="+mn-lt"/>
                  <a:ea typeface="+mn-ea"/>
                  <a:cs typeface="+mn-cs"/>
                </a:rPr>
                <a:t>QUYẾT ĐỊNH ĐÓNG BĂNG MÔ HÌNH: D011</a:t>
              </a:r>
            </a:p>
          </p:txBody>
        </p:sp>
        <p:sp>
          <p:nvSpPr>
            <p:cNvPr id="12" name="TextBox 12"/>
            <p:cNvSpPr txBox="1"/>
            <p:nvPr/>
          </p:nvSpPr>
          <p:spPr>
            <a:xfrm>
              <a:off x="947166" y="1854200"/>
              <a:ext cx="4752259" cy="205359"/>
            </a:xfrm>
            <a:prstGeom prst="rect">
              <a:avLst/>
            </a:prstGeom>
            <a:noFill/>
            <a:ln>
              <a:noFill/>
            </a:ln>
          </p:spPr>
          <p:txBody>
            <a:bodyPr wrap="none" lIns="0" tIns="0" rIns="0" bIns="0" anchor="t" anchorCtr="0">
              <a:spAutoFit/>
            </a:bodyPr>
            <a:lstStyle/>
            <a:p>
              <a:pPr algn="l"/>
              <a:r>
                <a:rPr lang="vi" sz="1050" dirty="0">
                  <a:solidFill>
                    <a:srgbClr val="93C5FD"/>
                  </a:solidFill>
                  <a:latin typeface="+mn-lt"/>
                  <a:ea typeface="+mn-ea"/>
                  <a:cs typeface="+mn-cs"/>
                </a:rPr>
                <a:t>models/selection.json • Trạng thái: FROZEN • Ngày phê duyệt: 2026-10-08</a:t>
              </a:r>
            </a:p>
          </p:txBody>
        </p:sp>
        <p:sp>
          <p:nvSpPr>
            <p:cNvPr id="13" name="Rectangle 13"/>
            <p:cNvSpPr/>
            <p:nvPr/>
          </p:nvSpPr>
          <p:spPr>
            <a:xfrm>
              <a:off x="9429750" y="1571625"/>
              <a:ext cx="1809750" cy="381000"/>
            </a:xfrm>
            <a:prstGeom prst="roundRect">
              <a:avLst>
                <a:gd name="adj" fmla="val 50000"/>
              </a:avLst>
            </a:prstGeom>
            <a:solidFill>
              <a:srgbClr val="059669"/>
            </a:solidFill>
            <a:ln>
              <a:noFill/>
            </a:ln>
          </p:spPr>
          <p:txBody>
            <a:bodyPr/>
            <a:lstStyle/>
            <a:p>
              <a:endParaRPr lang="en-US"/>
            </a:p>
          </p:txBody>
        </p:sp>
        <p:sp>
          <p:nvSpPr>
            <p:cNvPr id="14" name="TextBox 14"/>
            <p:cNvSpPr txBox="1"/>
            <p:nvPr/>
          </p:nvSpPr>
          <p:spPr>
            <a:xfrm>
              <a:off x="9483346" y="1682750"/>
              <a:ext cx="1702557" cy="205359"/>
            </a:xfrm>
            <a:prstGeom prst="rect">
              <a:avLst/>
            </a:prstGeom>
            <a:noFill/>
            <a:ln>
              <a:noFill/>
            </a:ln>
          </p:spPr>
          <p:txBody>
            <a:bodyPr wrap="none" lIns="0" tIns="0" rIns="0" bIns="0" anchor="t" anchorCtr="0">
              <a:spAutoFit/>
            </a:bodyPr>
            <a:lstStyle/>
            <a:p>
              <a:pPr algn="ctr"/>
              <a:r>
                <a:rPr lang="vi" sz="1050" b="1" dirty="0">
                  <a:solidFill>
                    <a:srgbClr val="FFFFFF"/>
                  </a:solidFill>
                  <a:latin typeface="+mn-lt"/>
                  <a:ea typeface="+mn-ea"/>
                  <a:cs typeface="+mn-cs"/>
                </a:rPr>
                <a:t>✓ VERIFIED &amp; FROZEN</a:t>
              </a:r>
            </a:p>
          </p:txBody>
        </p:sp>
      </p:grpSp>
      <p:grpSp>
        <p:nvGrpSpPr>
          <p:cNvPr id="52" name="model-pillars"/>
          <p:cNvGrpSpPr/>
          <p:nvPr/>
        </p:nvGrpSpPr>
        <p:grpSpPr>
          <a:xfrm>
            <a:off x="666750" y="2286000"/>
            <a:ext cx="10858500" cy="2238375"/>
            <a:chOff x="666750" y="2286000"/>
            <a:chExt cx="10858500" cy="2238375"/>
          </a:xfrm>
        </p:grpSpPr>
        <p:sp>
          <p:nvSpPr>
            <p:cNvPr id="16" name="Rectangle 16"/>
            <p:cNvSpPr/>
            <p:nvPr/>
          </p:nvSpPr>
          <p:spPr>
            <a:xfrm>
              <a:off x="666750" y="2286000"/>
              <a:ext cx="2524125" cy="2238375"/>
            </a:xfrm>
            <a:prstGeom prst="roundRect">
              <a:avLst>
                <a:gd name="adj" fmla="val 5106"/>
              </a:avLst>
            </a:prstGeom>
            <a:solidFill>
              <a:schemeClr val="lt1"/>
            </a:solidFill>
            <a:ln w="14288">
              <a:solidFill>
                <a:srgbClr val="E2E8F0"/>
              </a:solidFill>
            </a:ln>
          </p:spPr>
          <p:txBody>
            <a:bodyPr/>
            <a:lstStyle/>
            <a:p>
              <a:endParaRPr lang="en-US"/>
            </a:p>
          </p:txBody>
        </p:sp>
        <p:sp>
          <p:nvSpPr>
            <p:cNvPr id="17" name="Rectangle 17"/>
            <p:cNvSpPr/>
            <p:nvPr/>
          </p:nvSpPr>
          <p:spPr>
            <a:xfrm>
              <a:off x="666750" y="2286000"/>
              <a:ext cx="2524125" cy="38100"/>
            </a:xfrm>
            <a:prstGeom prst="roundRect">
              <a:avLst>
                <a:gd name="adj" fmla="val 50000"/>
              </a:avLst>
            </a:prstGeom>
            <a:solidFill>
              <a:schemeClr val="accent1"/>
            </a:solidFill>
            <a:ln>
              <a:noFill/>
            </a:ln>
          </p:spPr>
          <p:txBody>
            <a:bodyPr/>
            <a:lstStyle/>
            <a:p>
              <a:endParaRPr lang="en-US"/>
            </a:p>
          </p:txBody>
        </p:sp>
        <p:sp>
          <p:nvSpPr>
            <p:cNvPr id="18" name="TextBox 18"/>
            <p:cNvSpPr txBox="1"/>
            <p:nvPr/>
          </p:nvSpPr>
          <p:spPr>
            <a:xfrm>
              <a:off x="899541" y="2492375"/>
              <a:ext cx="1479694" cy="205359"/>
            </a:xfrm>
            <a:prstGeom prst="rect">
              <a:avLst/>
            </a:prstGeom>
            <a:noFill/>
            <a:ln>
              <a:noFill/>
            </a:ln>
          </p:spPr>
          <p:txBody>
            <a:bodyPr wrap="none" lIns="0" tIns="0" rIns="0" bIns="0" anchor="t" anchorCtr="0">
              <a:spAutoFit/>
            </a:bodyPr>
            <a:lstStyle/>
            <a:p>
              <a:pPr algn="l"/>
              <a:r>
                <a:rPr lang="vi" sz="1050" b="1" dirty="0">
                  <a:solidFill>
                    <a:srgbClr val="1E40AF"/>
                  </a:solidFill>
                  <a:latin typeface="+mn-lt"/>
                  <a:ea typeface="+mn-ea"/>
                  <a:cs typeface="+mn-cs"/>
                </a:rPr>
                <a:t>1. PREPROCESSING</a:t>
              </a:r>
            </a:p>
          </p:txBody>
        </p:sp>
        <p:sp>
          <p:nvSpPr>
            <p:cNvPr id="19" name="TextBox 19"/>
            <p:cNvSpPr txBox="1"/>
            <p:nvPr/>
          </p:nvSpPr>
          <p:spPr>
            <a:xfrm>
              <a:off x="898017" y="2740025"/>
              <a:ext cx="1326302" cy="264033"/>
            </a:xfrm>
            <a:prstGeom prst="rect">
              <a:avLst/>
            </a:prstGeom>
            <a:noFill/>
            <a:ln>
              <a:noFill/>
            </a:ln>
          </p:spPr>
          <p:txBody>
            <a:bodyPr wrap="none" lIns="0" tIns="0" rIns="0" bIns="0" anchor="t" anchorCtr="0">
              <a:spAutoFit/>
            </a:bodyPr>
            <a:lstStyle/>
            <a:p>
              <a:pPr algn="l"/>
              <a:r>
                <a:rPr lang="vi" sz="1350" b="1" dirty="0">
                  <a:solidFill>
                    <a:srgbClr val="0F172A"/>
                  </a:solidFill>
                  <a:latin typeface="+mn-lt"/>
                  <a:ea typeface="+mn-ea"/>
                  <a:cs typeface="+mn-cs"/>
                </a:rPr>
                <a:t>Log1p + Scaler</a:t>
              </a:r>
            </a:p>
          </p:txBody>
        </p:sp>
        <p:sp>
          <p:nvSpPr>
            <p:cNvPr id="20" name="TextBox 20"/>
            <p:cNvSpPr txBox="1"/>
            <p:nvPr/>
          </p:nvSpPr>
          <p:spPr>
            <a:xfrm>
              <a:off x="899922" y="3111500"/>
              <a:ext cx="1635433"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log1p(x) triệt tiêu lệch phải</a:t>
              </a:r>
            </a:p>
          </p:txBody>
        </p:sp>
        <p:sp>
          <p:nvSpPr>
            <p:cNvPr id="21" name="TextBox 21"/>
            <p:cNvSpPr txBox="1"/>
            <p:nvPr/>
          </p:nvSpPr>
          <p:spPr>
            <a:xfrm>
              <a:off x="899922" y="3349625"/>
              <a:ext cx="1879766"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StandardScaler: mean 0, std 1</a:t>
              </a:r>
            </a:p>
          </p:txBody>
        </p:sp>
        <p:sp>
          <p:nvSpPr>
            <p:cNvPr id="22" name="TextBox 22"/>
            <p:cNvSpPr txBox="1"/>
            <p:nvPr/>
          </p:nvSpPr>
          <p:spPr>
            <a:xfrm>
              <a:off x="899922" y="3587750"/>
              <a:ext cx="1496065"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6 đặc trưng chi tiêu m.u.</a:t>
              </a:r>
            </a:p>
          </p:txBody>
        </p:sp>
        <p:sp>
          <p:nvSpPr>
            <p:cNvPr id="23" name="Rectangle 23"/>
            <p:cNvSpPr/>
            <p:nvPr/>
          </p:nvSpPr>
          <p:spPr>
            <a:xfrm>
              <a:off x="809625" y="4048125"/>
              <a:ext cx="2238375" cy="342900"/>
            </a:xfrm>
            <a:prstGeom prst="roundRect">
              <a:avLst>
                <a:gd name="adj" fmla="val 16667"/>
              </a:avLst>
            </a:prstGeom>
            <a:solidFill>
              <a:srgbClr val="EFF6FF"/>
            </a:solidFill>
            <a:ln>
              <a:noFill/>
            </a:ln>
          </p:spPr>
          <p:txBody>
            <a:bodyPr/>
            <a:lstStyle/>
            <a:p>
              <a:endParaRPr lang="en-US"/>
            </a:p>
          </p:txBody>
        </p:sp>
        <p:sp>
          <p:nvSpPr>
            <p:cNvPr id="24" name="TextBox 24"/>
            <p:cNvSpPr txBox="1"/>
            <p:nvPr/>
          </p:nvSpPr>
          <p:spPr>
            <a:xfrm>
              <a:off x="1167709" y="4152900"/>
              <a:ext cx="1512682" cy="176212"/>
            </a:xfrm>
            <a:prstGeom prst="rect">
              <a:avLst/>
            </a:prstGeom>
            <a:noFill/>
            <a:ln>
              <a:noFill/>
            </a:ln>
          </p:spPr>
          <p:txBody>
            <a:bodyPr wrap="none" lIns="0" tIns="0" rIns="0" bIns="0" anchor="t" anchorCtr="0">
              <a:spAutoFit/>
            </a:bodyPr>
            <a:lstStyle/>
            <a:p>
              <a:pPr algn="ctr"/>
              <a:r>
                <a:rPr lang="vi" sz="900" b="1" dirty="0">
                  <a:solidFill>
                    <a:srgbClr val="1E40AF"/>
                  </a:solidFill>
                  <a:latin typeface="+mn-lt"/>
                  <a:ea typeface="+mn-ea"/>
                  <a:cs typeface="+mn-cs"/>
                </a:rPr>
                <a:t>Feature Scaling Tuyệt Đối</a:t>
              </a:r>
            </a:p>
          </p:txBody>
        </p:sp>
        <p:sp>
          <p:nvSpPr>
            <p:cNvPr id="25" name="Rectangle 25"/>
            <p:cNvSpPr/>
            <p:nvPr/>
          </p:nvSpPr>
          <p:spPr>
            <a:xfrm>
              <a:off x="3429000" y="2286000"/>
              <a:ext cx="2524125" cy="2238375"/>
            </a:xfrm>
            <a:prstGeom prst="roundRect">
              <a:avLst>
                <a:gd name="adj" fmla="val 5106"/>
              </a:avLst>
            </a:prstGeom>
            <a:solidFill>
              <a:schemeClr val="lt1"/>
            </a:solidFill>
            <a:ln w="14288">
              <a:solidFill>
                <a:srgbClr val="E2E8F0"/>
              </a:solidFill>
            </a:ln>
          </p:spPr>
          <p:txBody>
            <a:bodyPr/>
            <a:lstStyle/>
            <a:p>
              <a:endParaRPr lang="en-US"/>
            </a:p>
          </p:txBody>
        </p:sp>
        <p:sp>
          <p:nvSpPr>
            <p:cNvPr id="26" name="Rectangle 26"/>
            <p:cNvSpPr/>
            <p:nvPr/>
          </p:nvSpPr>
          <p:spPr>
            <a:xfrm>
              <a:off x="3429000" y="2286000"/>
              <a:ext cx="2524125" cy="38100"/>
            </a:xfrm>
            <a:prstGeom prst="roundRect">
              <a:avLst>
                <a:gd name="adj" fmla="val 50000"/>
              </a:avLst>
            </a:prstGeom>
            <a:solidFill>
              <a:schemeClr val="accent2"/>
            </a:solidFill>
            <a:ln>
              <a:noFill/>
            </a:ln>
          </p:spPr>
          <p:txBody>
            <a:bodyPr/>
            <a:lstStyle/>
            <a:p>
              <a:endParaRPr lang="en-US"/>
            </a:p>
          </p:txBody>
        </p:sp>
        <p:sp>
          <p:nvSpPr>
            <p:cNvPr id="27" name="TextBox 27"/>
            <p:cNvSpPr txBox="1"/>
            <p:nvPr/>
          </p:nvSpPr>
          <p:spPr>
            <a:xfrm>
              <a:off x="3661791" y="2492375"/>
              <a:ext cx="1711757" cy="205359"/>
            </a:xfrm>
            <a:prstGeom prst="rect">
              <a:avLst/>
            </a:prstGeom>
            <a:noFill/>
            <a:ln>
              <a:noFill/>
            </a:ln>
          </p:spPr>
          <p:txBody>
            <a:bodyPr wrap="none" lIns="0" tIns="0" rIns="0" bIns="0" anchor="t" anchorCtr="0">
              <a:spAutoFit/>
            </a:bodyPr>
            <a:lstStyle/>
            <a:p>
              <a:pPr algn="l"/>
              <a:r>
                <a:rPr lang="vi" sz="1050" b="1" dirty="0">
                  <a:solidFill>
                    <a:srgbClr val="065F46"/>
                  </a:solidFill>
                  <a:latin typeface="+mn-lt"/>
                  <a:ea typeface="+mn-ea"/>
                  <a:cs typeface="+mn-cs"/>
                </a:rPr>
                <a:t>2. SỐ CỤM PHÂN KHÚC</a:t>
              </a:r>
            </a:p>
          </p:txBody>
        </p:sp>
        <p:sp>
          <p:nvSpPr>
            <p:cNvPr id="28" name="TextBox 28"/>
            <p:cNvSpPr txBox="1"/>
            <p:nvPr/>
          </p:nvSpPr>
          <p:spPr>
            <a:xfrm>
              <a:off x="3660267" y="2740025"/>
              <a:ext cx="932794" cy="264033"/>
            </a:xfrm>
            <a:prstGeom prst="rect">
              <a:avLst/>
            </a:prstGeom>
            <a:noFill/>
            <a:ln>
              <a:noFill/>
            </a:ln>
          </p:spPr>
          <p:txBody>
            <a:bodyPr wrap="none" lIns="0" tIns="0" rIns="0" bIns="0" anchor="t" anchorCtr="0">
              <a:spAutoFit/>
            </a:bodyPr>
            <a:lstStyle/>
            <a:p>
              <a:pPr algn="l"/>
              <a:r>
                <a:rPr lang="vi" sz="1350" b="1" dirty="0">
                  <a:solidFill>
                    <a:srgbClr val="0F172A"/>
                  </a:solidFill>
                  <a:latin typeface="+mn-lt"/>
                  <a:ea typeface="+mn-ea"/>
                  <a:cs typeface="+mn-cs"/>
                </a:rPr>
                <a:t>K = 2 Cụm</a:t>
              </a:r>
            </a:p>
          </p:txBody>
        </p:sp>
        <p:sp>
          <p:nvSpPr>
            <p:cNvPr id="29" name="TextBox 29"/>
            <p:cNvSpPr txBox="1"/>
            <p:nvPr/>
          </p:nvSpPr>
          <p:spPr>
            <a:xfrm>
              <a:off x="3662172" y="3111500"/>
              <a:ext cx="1960030"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Tối ưu theo phương pháp Elbow</a:t>
              </a:r>
            </a:p>
          </p:txBody>
        </p:sp>
        <p:sp>
          <p:nvSpPr>
            <p:cNvPr id="30" name="TextBox 30"/>
            <p:cNvSpPr txBox="1"/>
            <p:nvPr/>
          </p:nvSpPr>
          <p:spPr>
            <a:xfrm>
              <a:off x="3662172" y="3349625"/>
              <a:ext cx="2063758"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Silhouette Score cao nhất (0.307)</a:t>
              </a:r>
            </a:p>
          </p:txBody>
        </p:sp>
        <p:sp>
          <p:nvSpPr>
            <p:cNvPr id="31" name="TextBox 31"/>
            <p:cNvSpPr txBox="1"/>
            <p:nvPr/>
          </p:nvSpPr>
          <p:spPr>
            <a:xfrm>
              <a:off x="3662172" y="3587750"/>
              <a:ext cx="1664921"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Tỷ lệ phân chia 45% : 55%</a:t>
              </a:r>
            </a:p>
          </p:txBody>
        </p:sp>
        <p:sp>
          <p:nvSpPr>
            <p:cNvPr id="32" name="Rectangle 32"/>
            <p:cNvSpPr/>
            <p:nvPr/>
          </p:nvSpPr>
          <p:spPr>
            <a:xfrm>
              <a:off x="3571875" y="4048125"/>
              <a:ext cx="2238375" cy="342900"/>
            </a:xfrm>
            <a:prstGeom prst="roundRect">
              <a:avLst>
                <a:gd name="adj" fmla="val 16667"/>
              </a:avLst>
            </a:prstGeom>
            <a:solidFill>
              <a:srgbClr val="DCFCE7"/>
            </a:solidFill>
            <a:ln>
              <a:noFill/>
            </a:ln>
          </p:spPr>
          <p:txBody>
            <a:bodyPr/>
            <a:lstStyle/>
            <a:p>
              <a:endParaRPr lang="en-US"/>
            </a:p>
          </p:txBody>
        </p:sp>
        <p:sp>
          <p:nvSpPr>
            <p:cNvPr id="33" name="TextBox 33"/>
            <p:cNvSpPr txBox="1"/>
            <p:nvPr/>
          </p:nvSpPr>
          <p:spPr>
            <a:xfrm>
              <a:off x="3963662" y="4152900"/>
              <a:ext cx="1445276" cy="176212"/>
            </a:xfrm>
            <a:prstGeom prst="rect">
              <a:avLst/>
            </a:prstGeom>
            <a:noFill/>
            <a:ln>
              <a:noFill/>
            </a:ln>
          </p:spPr>
          <p:txBody>
            <a:bodyPr wrap="none" lIns="0" tIns="0" rIns="0" bIns="0" anchor="t" anchorCtr="0">
              <a:spAutoFit/>
            </a:bodyPr>
            <a:lstStyle/>
            <a:p>
              <a:pPr algn="ctr"/>
              <a:r>
                <a:rPr lang="vi" sz="900" b="1" dirty="0">
                  <a:solidFill>
                    <a:srgbClr val="065F46"/>
                  </a:solidFill>
                  <a:latin typeface="+mn-lt"/>
                  <a:ea typeface="+mn-ea"/>
                  <a:cs typeface="+mn-cs"/>
                </a:rPr>
                <a:t>Phân Khúc Khả Thi Nhất</a:t>
              </a:r>
            </a:p>
          </p:txBody>
        </p:sp>
        <p:sp>
          <p:nvSpPr>
            <p:cNvPr id="34" name="Rectangle 34"/>
            <p:cNvSpPr/>
            <p:nvPr/>
          </p:nvSpPr>
          <p:spPr>
            <a:xfrm>
              <a:off x="6191250" y="2286000"/>
              <a:ext cx="2524125" cy="2238375"/>
            </a:xfrm>
            <a:prstGeom prst="roundRect">
              <a:avLst>
                <a:gd name="adj" fmla="val 5106"/>
              </a:avLst>
            </a:prstGeom>
            <a:solidFill>
              <a:schemeClr val="lt1"/>
            </a:solidFill>
            <a:ln w="14288">
              <a:solidFill>
                <a:srgbClr val="E2E8F0"/>
              </a:solidFill>
            </a:ln>
          </p:spPr>
          <p:txBody>
            <a:bodyPr/>
            <a:lstStyle/>
            <a:p>
              <a:endParaRPr lang="en-US"/>
            </a:p>
          </p:txBody>
        </p:sp>
        <p:sp>
          <p:nvSpPr>
            <p:cNvPr id="35" name="Rectangle 35"/>
            <p:cNvSpPr/>
            <p:nvPr/>
          </p:nvSpPr>
          <p:spPr>
            <a:xfrm>
              <a:off x="6191250" y="2286000"/>
              <a:ext cx="2524125" cy="38100"/>
            </a:xfrm>
            <a:prstGeom prst="roundRect">
              <a:avLst>
                <a:gd name="adj" fmla="val 50000"/>
              </a:avLst>
            </a:prstGeom>
            <a:solidFill>
              <a:srgbClr val="F59E0B"/>
            </a:solidFill>
            <a:ln>
              <a:noFill/>
            </a:ln>
          </p:spPr>
          <p:txBody>
            <a:bodyPr/>
            <a:lstStyle/>
            <a:p>
              <a:endParaRPr lang="en-US"/>
            </a:p>
          </p:txBody>
        </p:sp>
        <p:sp>
          <p:nvSpPr>
            <p:cNvPr id="36" name="TextBox 36"/>
            <p:cNvSpPr txBox="1"/>
            <p:nvPr/>
          </p:nvSpPr>
          <p:spPr>
            <a:xfrm>
              <a:off x="6424041" y="2492375"/>
              <a:ext cx="1744914" cy="205359"/>
            </a:xfrm>
            <a:prstGeom prst="rect">
              <a:avLst/>
            </a:prstGeom>
            <a:noFill/>
            <a:ln>
              <a:noFill/>
            </a:ln>
          </p:spPr>
          <p:txBody>
            <a:bodyPr wrap="none" lIns="0" tIns="0" rIns="0" bIns="0" anchor="t" anchorCtr="0">
              <a:spAutoFit/>
            </a:bodyPr>
            <a:lstStyle/>
            <a:p>
              <a:pPr algn="l"/>
              <a:r>
                <a:rPr lang="vi" sz="1050" b="1" dirty="0">
                  <a:solidFill>
                    <a:srgbClr val="92400E"/>
                  </a:solidFill>
                  <a:latin typeface="+mn-lt"/>
                  <a:ea typeface="+mn-ea"/>
                  <a:cs typeface="+mn-cs"/>
                </a:rPr>
                <a:t>3. THUẬT TOÁN &amp; SEED</a:t>
              </a:r>
            </a:p>
          </p:txBody>
        </p:sp>
        <p:sp>
          <p:nvSpPr>
            <p:cNvPr id="37" name="TextBox 37"/>
            <p:cNvSpPr txBox="1"/>
            <p:nvPr/>
          </p:nvSpPr>
          <p:spPr>
            <a:xfrm>
              <a:off x="6422517" y="2740025"/>
              <a:ext cx="1418141" cy="264033"/>
            </a:xfrm>
            <a:prstGeom prst="rect">
              <a:avLst/>
            </a:prstGeom>
            <a:noFill/>
            <a:ln>
              <a:noFill/>
            </a:ln>
          </p:spPr>
          <p:txBody>
            <a:bodyPr wrap="none" lIns="0" tIns="0" rIns="0" bIns="0" anchor="t" anchorCtr="0">
              <a:spAutoFit/>
            </a:bodyPr>
            <a:lstStyle/>
            <a:p>
              <a:pPr algn="l"/>
              <a:r>
                <a:rPr lang="vi" sz="1350" b="1" dirty="0">
                  <a:solidFill>
                    <a:srgbClr val="0F172A"/>
                  </a:solidFill>
                  <a:latin typeface="+mn-lt"/>
                  <a:ea typeface="+mn-ea"/>
                  <a:cs typeface="+mn-cs"/>
                </a:rPr>
                <a:t>Lloyd Algorithm</a:t>
              </a:r>
            </a:p>
          </p:txBody>
        </p:sp>
        <p:sp>
          <p:nvSpPr>
            <p:cNvPr id="38" name="TextBox 38"/>
            <p:cNvSpPr txBox="1"/>
            <p:nvPr/>
          </p:nvSpPr>
          <p:spPr>
            <a:xfrm>
              <a:off x="6424422" y="3111500"/>
              <a:ext cx="1191893"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random_state = 42</a:t>
              </a:r>
            </a:p>
          </p:txBody>
        </p:sp>
        <p:sp>
          <p:nvSpPr>
            <p:cNvPr id="39" name="TextBox 39"/>
            <p:cNvSpPr txBox="1"/>
            <p:nvPr/>
          </p:nvSpPr>
          <p:spPr>
            <a:xfrm>
              <a:off x="6424422" y="3349625"/>
              <a:ext cx="1650236"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n_init = 10, max_iter = 300</a:t>
              </a:r>
            </a:p>
          </p:txBody>
        </p:sp>
        <p:sp>
          <p:nvSpPr>
            <p:cNvPr id="40" name="TextBox 40"/>
            <p:cNvSpPr txBox="1"/>
            <p:nvPr/>
          </p:nvSpPr>
          <p:spPr>
            <a:xfrm>
              <a:off x="6424422" y="3587750"/>
              <a:ext cx="1919637"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Độ ổn định 10 seed: ARI 0.997</a:t>
              </a:r>
            </a:p>
          </p:txBody>
        </p:sp>
        <p:sp>
          <p:nvSpPr>
            <p:cNvPr id="41" name="Rectangle 41"/>
            <p:cNvSpPr/>
            <p:nvPr/>
          </p:nvSpPr>
          <p:spPr>
            <a:xfrm>
              <a:off x="6334125" y="4048125"/>
              <a:ext cx="2238375" cy="342900"/>
            </a:xfrm>
            <a:prstGeom prst="roundRect">
              <a:avLst>
                <a:gd name="adj" fmla="val 16667"/>
              </a:avLst>
            </a:prstGeom>
            <a:solidFill>
              <a:srgbClr val="FEF3C7"/>
            </a:solidFill>
            <a:ln>
              <a:noFill/>
            </a:ln>
          </p:spPr>
          <p:txBody>
            <a:bodyPr/>
            <a:lstStyle/>
            <a:p>
              <a:endParaRPr lang="en-US"/>
            </a:p>
          </p:txBody>
        </p:sp>
        <p:sp>
          <p:nvSpPr>
            <p:cNvPr id="42" name="TextBox 42"/>
            <p:cNvSpPr txBox="1"/>
            <p:nvPr/>
          </p:nvSpPr>
          <p:spPr>
            <a:xfrm>
              <a:off x="6952160" y="4152900"/>
              <a:ext cx="992781" cy="176212"/>
            </a:xfrm>
            <a:prstGeom prst="rect">
              <a:avLst/>
            </a:prstGeom>
            <a:noFill/>
            <a:ln>
              <a:noFill/>
            </a:ln>
          </p:spPr>
          <p:txBody>
            <a:bodyPr wrap="none" lIns="0" tIns="0" rIns="0" bIns="0" anchor="t" anchorCtr="0">
              <a:spAutoFit/>
            </a:bodyPr>
            <a:lstStyle/>
            <a:p>
              <a:pPr algn="ctr"/>
              <a:r>
                <a:rPr lang="vi" sz="900" b="1" dirty="0">
                  <a:solidFill>
                    <a:srgbClr val="92400E"/>
                  </a:solidFill>
                  <a:latin typeface="+mn-lt"/>
                  <a:ea typeface="+mn-ea"/>
                  <a:cs typeface="+mn-cs"/>
                </a:rPr>
                <a:t>Độ Lặp Lại 100%</a:t>
              </a:r>
            </a:p>
          </p:txBody>
        </p:sp>
        <p:sp>
          <p:nvSpPr>
            <p:cNvPr id="43" name="Rectangle 43"/>
            <p:cNvSpPr/>
            <p:nvPr/>
          </p:nvSpPr>
          <p:spPr>
            <a:xfrm>
              <a:off x="8953500" y="2286000"/>
              <a:ext cx="2571750" cy="2238375"/>
            </a:xfrm>
            <a:prstGeom prst="roundRect">
              <a:avLst>
                <a:gd name="adj" fmla="val 5106"/>
              </a:avLst>
            </a:prstGeom>
            <a:solidFill>
              <a:schemeClr val="lt1"/>
            </a:solidFill>
            <a:ln w="14288">
              <a:solidFill>
                <a:srgbClr val="E2E8F0"/>
              </a:solidFill>
            </a:ln>
          </p:spPr>
          <p:txBody>
            <a:bodyPr/>
            <a:lstStyle/>
            <a:p>
              <a:endParaRPr lang="en-US"/>
            </a:p>
          </p:txBody>
        </p:sp>
        <p:sp>
          <p:nvSpPr>
            <p:cNvPr id="44" name="Rectangle 44"/>
            <p:cNvSpPr/>
            <p:nvPr/>
          </p:nvSpPr>
          <p:spPr>
            <a:xfrm>
              <a:off x="8953500" y="2286000"/>
              <a:ext cx="2571750" cy="38100"/>
            </a:xfrm>
            <a:prstGeom prst="roundRect">
              <a:avLst>
                <a:gd name="adj" fmla="val 50000"/>
              </a:avLst>
            </a:prstGeom>
            <a:solidFill>
              <a:schemeClr val="accent3"/>
            </a:solidFill>
            <a:ln>
              <a:noFill/>
            </a:ln>
          </p:spPr>
          <p:txBody>
            <a:bodyPr/>
            <a:lstStyle/>
            <a:p>
              <a:endParaRPr lang="en-US"/>
            </a:p>
          </p:txBody>
        </p:sp>
        <p:sp>
          <p:nvSpPr>
            <p:cNvPr id="45" name="TextBox 45"/>
            <p:cNvSpPr txBox="1"/>
            <p:nvPr/>
          </p:nvSpPr>
          <p:spPr>
            <a:xfrm>
              <a:off x="9186291" y="2492375"/>
              <a:ext cx="965027" cy="205359"/>
            </a:xfrm>
            <a:prstGeom prst="rect">
              <a:avLst/>
            </a:prstGeom>
            <a:noFill/>
            <a:ln>
              <a:noFill/>
            </a:ln>
          </p:spPr>
          <p:txBody>
            <a:bodyPr wrap="none" lIns="0" tIns="0" rIns="0" bIns="0" anchor="t" anchorCtr="0">
              <a:spAutoFit/>
            </a:bodyPr>
            <a:lstStyle/>
            <a:p>
              <a:pPr algn="l"/>
              <a:r>
                <a:rPr lang="vi" sz="1050" b="1" dirty="0">
                  <a:solidFill>
                    <a:srgbClr val="6B21A8"/>
                  </a:solidFill>
                  <a:latin typeface="+mn-lt"/>
                  <a:ea typeface="+mn-ea"/>
                  <a:cs typeface="+mn-cs"/>
                </a:rPr>
                <a:t>4. FIT SCOPE</a:t>
              </a:r>
            </a:p>
          </p:txBody>
        </p:sp>
        <p:sp>
          <p:nvSpPr>
            <p:cNvPr id="46" name="TextBox 46"/>
            <p:cNvSpPr txBox="1"/>
            <p:nvPr/>
          </p:nvSpPr>
          <p:spPr>
            <a:xfrm>
              <a:off x="9184767" y="2740025"/>
              <a:ext cx="1938045" cy="264033"/>
            </a:xfrm>
            <a:prstGeom prst="rect">
              <a:avLst/>
            </a:prstGeom>
            <a:noFill/>
            <a:ln>
              <a:noFill/>
            </a:ln>
          </p:spPr>
          <p:txBody>
            <a:bodyPr wrap="none" lIns="0" tIns="0" rIns="0" bIns="0" anchor="t" anchorCtr="0">
              <a:spAutoFit/>
            </a:bodyPr>
            <a:lstStyle/>
            <a:p>
              <a:pPr algn="l"/>
              <a:r>
                <a:rPr lang="vi" sz="1350" b="1" dirty="0">
                  <a:solidFill>
                    <a:srgbClr val="0F172A"/>
                  </a:solidFill>
                  <a:latin typeface="+mn-lt"/>
                  <a:ea typeface="+mn-ea"/>
                  <a:cs typeface="+mn-cs"/>
                </a:rPr>
                <a:t>352 Mẫu Development</a:t>
              </a:r>
            </a:p>
          </p:txBody>
        </p:sp>
        <p:sp>
          <p:nvSpPr>
            <p:cNvPr id="47" name="TextBox 47"/>
            <p:cNvSpPr txBox="1"/>
            <p:nvPr/>
          </p:nvSpPr>
          <p:spPr>
            <a:xfrm>
              <a:off x="9186672" y="3111500"/>
              <a:ext cx="1746804"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Train (264) + Validation (88)</a:t>
              </a:r>
            </a:p>
          </p:txBody>
        </p:sp>
        <p:sp>
          <p:nvSpPr>
            <p:cNvPr id="48" name="TextBox 48"/>
            <p:cNvSpPr txBox="1"/>
            <p:nvPr/>
          </p:nvSpPr>
          <p:spPr>
            <a:xfrm>
              <a:off x="9186672" y="3349625"/>
              <a:ext cx="1461731"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Refit sau khi chốt D011</a:t>
              </a:r>
            </a:p>
          </p:txBody>
        </p:sp>
        <p:sp>
          <p:nvSpPr>
            <p:cNvPr id="49" name="TextBox 49"/>
            <p:cNvSpPr txBox="1"/>
            <p:nvPr/>
          </p:nvSpPr>
          <p:spPr>
            <a:xfrm>
              <a:off x="9186672" y="3587750"/>
              <a:ext cx="1937391"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Tuyệt đối không chạm vào Test</a:t>
              </a:r>
            </a:p>
          </p:txBody>
        </p:sp>
        <p:sp>
          <p:nvSpPr>
            <p:cNvPr id="50" name="Rectangle 50"/>
            <p:cNvSpPr/>
            <p:nvPr/>
          </p:nvSpPr>
          <p:spPr>
            <a:xfrm>
              <a:off x="9096375" y="4048125"/>
              <a:ext cx="2286000" cy="342900"/>
            </a:xfrm>
            <a:prstGeom prst="roundRect">
              <a:avLst>
                <a:gd name="adj" fmla="val 16667"/>
              </a:avLst>
            </a:prstGeom>
            <a:solidFill>
              <a:srgbClr val="F3E8FF"/>
            </a:solidFill>
            <a:ln>
              <a:noFill/>
            </a:ln>
          </p:spPr>
          <p:txBody>
            <a:bodyPr/>
            <a:lstStyle/>
            <a:p>
              <a:endParaRPr lang="en-US"/>
            </a:p>
          </p:txBody>
        </p:sp>
        <p:sp>
          <p:nvSpPr>
            <p:cNvPr id="51" name="TextBox 51"/>
            <p:cNvSpPr txBox="1"/>
            <p:nvPr/>
          </p:nvSpPr>
          <p:spPr>
            <a:xfrm>
              <a:off x="9702996" y="4152900"/>
              <a:ext cx="1072758" cy="176212"/>
            </a:xfrm>
            <a:prstGeom prst="rect">
              <a:avLst/>
            </a:prstGeom>
            <a:noFill/>
            <a:ln>
              <a:noFill/>
            </a:ln>
          </p:spPr>
          <p:txBody>
            <a:bodyPr wrap="none" lIns="0" tIns="0" rIns="0" bIns="0" anchor="t" anchorCtr="0">
              <a:spAutoFit/>
            </a:bodyPr>
            <a:lstStyle/>
            <a:p>
              <a:pPr algn="ctr"/>
              <a:r>
                <a:rPr lang="vi" sz="900" b="1" dirty="0">
                  <a:solidFill>
                    <a:srgbClr val="6B21A8"/>
                  </a:solidFill>
                  <a:latin typeface="+mn-lt"/>
                  <a:ea typeface="+mn-ea"/>
                  <a:cs typeface="+mn-cs"/>
                </a:rPr>
                <a:t>Inertia/row: 4.1639</a:t>
              </a:r>
            </a:p>
          </p:txBody>
        </p:sp>
      </p:grpSp>
      <p:grpSp>
        <p:nvGrpSpPr>
          <p:cNvPr id="68" name="test-evaluation"/>
          <p:cNvGrpSpPr/>
          <p:nvPr/>
        </p:nvGrpSpPr>
        <p:grpSpPr>
          <a:xfrm>
            <a:off x="666750" y="4714875"/>
            <a:ext cx="10858500" cy="1571625"/>
            <a:chOff x="666750" y="4714875"/>
            <a:chExt cx="10858500" cy="1571625"/>
          </a:xfrm>
        </p:grpSpPr>
        <p:sp>
          <p:nvSpPr>
            <p:cNvPr id="53" name="Rectangle 53"/>
            <p:cNvSpPr/>
            <p:nvPr/>
          </p:nvSpPr>
          <p:spPr>
            <a:xfrm>
              <a:off x="666750" y="4714875"/>
              <a:ext cx="10858500" cy="1571625"/>
            </a:xfrm>
            <a:prstGeom prst="roundRect">
              <a:avLst>
                <a:gd name="adj" fmla="val 8485"/>
              </a:avLst>
            </a:prstGeom>
            <a:solidFill>
              <a:schemeClr val="lt1"/>
            </a:solidFill>
            <a:ln w="19050">
              <a:solidFill>
                <a:srgbClr val="3B82F6"/>
              </a:solidFill>
            </a:ln>
          </p:spPr>
          <p:txBody>
            <a:bodyPr/>
            <a:lstStyle/>
            <a:p>
              <a:endParaRPr lang="en-US"/>
            </a:p>
          </p:txBody>
        </p:sp>
        <p:sp>
          <p:nvSpPr>
            <p:cNvPr id="54" name="TextBox 54"/>
            <p:cNvSpPr txBox="1"/>
            <p:nvPr/>
          </p:nvSpPr>
          <p:spPr>
            <a:xfrm>
              <a:off x="946785" y="4908550"/>
              <a:ext cx="4507379" cy="220028"/>
            </a:xfrm>
            <a:prstGeom prst="rect">
              <a:avLst/>
            </a:prstGeom>
            <a:noFill/>
            <a:ln>
              <a:noFill/>
            </a:ln>
          </p:spPr>
          <p:txBody>
            <a:bodyPr wrap="none" lIns="0" tIns="0" rIns="0" bIns="0" anchor="t" anchorCtr="0">
              <a:spAutoFit/>
            </a:bodyPr>
            <a:lstStyle/>
            <a:p>
              <a:pPr algn="l"/>
              <a:r>
                <a:rPr lang="vi" sz="1120" b="1" dirty="0">
                  <a:solidFill>
                    <a:srgbClr val="1E40AF"/>
                  </a:solidFill>
                  <a:latin typeface="+mn-lt"/>
                  <a:ea typeface="+mn-ea"/>
                  <a:cs typeface="+mn-cs"/>
                </a:rPr>
                <a:t>ĐÁNH GIÁ ĐỘC LẬP TRÊN TẬP TEST (88 MẪU HELD-OUT):</a:t>
              </a:r>
            </a:p>
          </p:txBody>
        </p:sp>
        <p:sp>
          <p:nvSpPr>
            <p:cNvPr id="55" name="TextBox 55"/>
            <p:cNvSpPr txBox="1"/>
            <p:nvPr/>
          </p:nvSpPr>
          <p:spPr>
            <a:xfrm>
              <a:off x="947547" y="5130800"/>
              <a:ext cx="4622532"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models/final_evaluation.json • Đánh giá đúng 1 lần sau khi đóng băng kiến trúc</a:t>
              </a:r>
            </a:p>
          </p:txBody>
        </p:sp>
        <p:sp>
          <p:nvSpPr>
            <p:cNvPr id="56" name="Rectangle 56"/>
            <p:cNvSpPr/>
            <p:nvPr/>
          </p:nvSpPr>
          <p:spPr>
            <a:xfrm>
              <a:off x="952500" y="5429250"/>
              <a:ext cx="3238500" cy="714375"/>
            </a:xfrm>
            <a:prstGeom prst="roundRect">
              <a:avLst>
                <a:gd name="adj" fmla="val 10667"/>
              </a:avLst>
            </a:prstGeom>
            <a:solidFill>
              <a:srgbClr val="F8FAFC"/>
            </a:solidFill>
            <a:ln w="9525">
              <a:solidFill>
                <a:srgbClr val="E2E8F0"/>
              </a:solidFill>
            </a:ln>
          </p:spPr>
          <p:txBody>
            <a:bodyPr/>
            <a:lstStyle/>
            <a:p>
              <a:endParaRPr lang="en-US"/>
            </a:p>
          </p:txBody>
        </p:sp>
        <p:sp>
          <p:nvSpPr>
            <p:cNvPr id="57" name="TextBox 57"/>
            <p:cNvSpPr txBox="1"/>
            <p:nvPr/>
          </p:nvSpPr>
          <p:spPr>
            <a:xfrm>
              <a:off x="1138238" y="5581650"/>
              <a:ext cx="1673835" cy="176212"/>
            </a:xfrm>
            <a:prstGeom prst="rect">
              <a:avLst/>
            </a:prstGeom>
            <a:noFill/>
            <a:ln>
              <a:noFill/>
            </a:ln>
          </p:spPr>
          <p:txBody>
            <a:bodyPr wrap="none" lIns="0" tIns="0" rIns="0" bIns="0" anchor="t" anchorCtr="0">
              <a:spAutoFit/>
            </a:bodyPr>
            <a:lstStyle/>
            <a:p>
              <a:pPr algn="l"/>
              <a:r>
                <a:rPr lang="vi" sz="900" b="1" dirty="0">
                  <a:solidFill>
                    <a:srgbClr val="64748B"/>
                  </a:solidFill>
                  <a:latin typeface="+mn-lt"/>
                  <a:ea typeface="+mn-ea"/>
                  <a:cs typeface="+mn-cs"/>
                </a:rPr>
                <a:t>TEST SILHOUETTE SCORE</a:t>
              </a:r>
            </a:p>
          </p:txBody>
        </p:sp>
        <p:sp>
          <p:nvSpPr>
            <p:cNvPr id="58" name="TextBox 58"/>
            <p:cNvSpPr txBox="1"/>
            <p:nvPr/>
          </p:nvSpPr>
          <p:spPr>
            <a:xfrm>
              <a:off x="1132332" y="5765800"/>
              <a:ext cx="886065" cy="410718"/>
            </a:xfrm>
            <a:prstGeom prst="rect">
              <a:avLst/>
            </a:prstGeom>
            <a:noFill/>
            <a:ln>
              <a:noFill/>
            </a:ln>
          </p:spPr>
          <p:txBody>
            <a:bodyPr wrap="none" lIns="0" tIns="0" rIns="0" bIns="0" anchor="t" anchorCtr="0">
              <a:spAutoFit/>
            </a:bodyPr>
            <a:lstStyle/>
            <a:p>
              <a:pPr algn="l"/>
              <a:r>
                <a:rPr lang="vi" sz="2100" b="1" dirty="0">
                  <a:solidFill>
                    <a:schemeClr val="accent1"/>
                  </a:solidFill>
                  <a:latin typeface="+mn-lt"/>
                  <a:ea typeface="+mn-ea"/>
                  <a:cs typeface="+mn-cs"/>
                </a:rPr>
                <a:t>0.2389</a:t>
              </a:r>
            </a:p>
          </p:txBody>
        </p:sp>
        <p:sp>
          <p:nvSpPr>
            <p:cNvPr id="59" name="TextBox 59"/>
            <p:cNvSpPr txBox="1"/>
            <p:nvPr/>
          </p:nvSpPr>
          <p:spPr>
            <a:xfrm>
              <a:off x="2233612" y="5886450"/>
              <a:ext cx="1893189" cy="176212"/>
            </a:xfrm>
            <a:prstGeom prst="rect">
              <a:avLst/>
            </a:prstGeom>
            <a:noFill/>
            <a:ln>
              <a:noFill/>
            </a:ln>
          </p:spPr>
          <p:txBody>
            <a:bodyPr wrap="none" lIns="0" tIns="0" rIns="0" bIns="0" anchor="t" anchorCtr="0">
              <a:spAutoFit/>
            </a:bodyPr>
            <a:lstStyle/>
            <a:p>
              <a:pPr algn="l"/>
              <a:r>
                <a:rPr lang="vi" sz="900" dirty="0">
                  <a:solidFill>
                    <a:srgbClr val="64748B"/>
                  </a:solidFill>
                  <a:latin typeface="+mn-lt"/>
                  <a:ea typeface="+mn-ea"/>
                  <a:cs typeface="+mn-cs"/>
                </a:rPr>
                <a:t>Khả năng tổng quát hóa vững chắc</a:t>
              </a:r>
            </a:p>
          </p:txBody>
        </p:sp>
        <p:sp>
          <p:nvSpPr>
            <p:cNvPr id="60" name="Rectangle 60"/>
            <p:cNvSpPr/>
            <p:nvPr/>
          </p:nvSpPr>
          <p:spPr>
            <a:xfrm>
              <a:off x="4476750" y="5429250"/>
              <a:ext cx="3238500" cy="714375"/>
            </a:xfrm>
            <a:prstGeom prst="roundRect">
              <a:avLst>
                <a:gd name="adj" fmla="val 10667"/>
              </a:avLst>
            </a:prstGeom>
            <a:solidFill>
              <a:srgbClr val="F8FAFC"/>
            </a:solidFill>
            <a:ln w="9525">
              <a:solidFill>
                <a:srgbClr val="E2E8F0"/>
              </a:solidFill>
            </a:ln>
          </p:spPr>
          <p:txBody>
            <a:bodyPr/>
            <a:lstStyle/>
            <a:p>
              <a:endParaRPr lang="en-US"/>
            </a:p>
          </p:txBody>
        </p:sp>
        <p:sp>
          <p:nvSpPr>
            <p:cNvPr id="61" name="TextBox 61"/>
            <p:cNvSpPr txBox="1"/>
            <p:nvPr/>
          </p:nvSpPr>
          <p:spPr>
            <a:xfrm>
              <a:off x="4662488" y="5581650"/>
              <a:ext cx="1673707" cy="176212"/>
            </a:xfrm>
            <a:prstGeom prst="rect">
              <a:avLst/>
            </a:prstGeom>
            <a:noFill/>
            <a:ln>
              <a:noFill/>
            </a:ln>
          </p:spPr>
          <p:txBody>
            <a:bodyPr wrap="none" lIns="0" tIns="0" rIns="0" bIns="0" anchor="t" anchorCtr="0">
              <a:spAutoFit/>
            </a:bodyPr>
            <a:lstStyle/>
            <a:p>
              <a:pPr algn="l"/>
              <a:r>
                <a:rPr lang="vi" sz="900" b="1" dirty="0">
                  <a:solidFill>
                    <a:srgbClr val="64748B"/>
                  </a:solidFill>
                  <a:latin typeface="+mn-lt"/>
                  <a:ea typeface="+mn-ea"/>
                  <a:cs typeface="+mn-cs"/>
                </a:rPr>
                <a:t>SỐ LƯỢNG MẪU TẬP TEST</a:t>
              </a:r>
            </a:p>
          </p:txBody>
        </p:sp>
        <p:sp>
          <p:nvSpPr>
            <p:cNvPr id="62" name="TextBox 62"/>
            <p:cNvSpPr txBox="1"/>
            <p:nvPr/>
          </p:nvSpPr>
          <p:spPr>
            <a:xfrm>
              <a:off x="4656582" y="5765800"/>
              <a:ext cx="885895" cy="410718"/>
            </a:xfrm>
            <a:prstGeom prst="rect">
              <a:avLst/>
            </a:prstGeom>
            <a:noFill/>
            <a:ln>
              <a:noFill/>
            </a:ln>
          </p:spPr>
          <p:txBody>
            <a:bodyPr wrap="none" lIns="0" tIns="0" rIns="0" bIns="0" anchor="t" anchorCtr="0">
              <a:spAutoFit/>
            </a:bodyPr>
            <a:lstStyle/>
            <a:p>
              <a:pPr algn="l"/>
              <a:r>
                <a:rPr lang="vi" sz="2100" b="1" dirty="0">
                  <a:solidFill>
                    <a:srgbClr val="059669"/>
                  </a:solidFill>
                  <a:latin typeface="+mn-lt"/>
                  <a:ea typeface="+mn-ea"/>
                  <a:cs typeface="+mn-cs"/>
                </a:rPr>
                <a:t>45 / 43</a:t>
              </a:r>
            </a:p>
          </p:txBody>
        </p:sp>
        <p:sp>
          <p:nvSpPr>
            <p:cNvPr id="63" name="TextBox 63"/>
            <p:cNvSpPr txBox="1"/>
            <p:nvPr/>
          </p:nvSpPr>
          <p:spPr>
            <a:xfrm>
              <a:off x="5710238" y="5886450"/>
              <a:ext cx="2325873" cy="176212"/>
            </a:xfrm>
            <a:prstGeom prst="rect">
              <a:avLst/>
            </a:prstGeom>
            <a:noFill/>
            <a:ln>
              <a:noFill/>
            </a:ln>
          </p:spPr>
          <p:txBody>
            <a:bodyPr wrap="none" lIns="0" tIns="0" rIns="0" bIns="0" anchor="t" anchorCtr="0">
              <a:spAutoFit/>
            </a:bodyPr>
            <a:lstStyle/>
            <a:p>
              <a:pPr algn="l"/>
              <a:r>
                <a:rPr lang="vi" sz="900" dirty="0">
                  <a:solidFill>
                    <a:srgbClr val="64748B"/>
                  </a:solidFill>
                  <a:latin typeface="+mn-lt"/>
                  <a:ea typeface="+mn-ea"/>
                  <a:cs typeface="+mn-cs"/>
                </a:rPr>
                <a:t>Tỷ lệ: 51.1% vs 48.9% (Cân bằng lý tưởng)</a:t>
              </a:r>
            </a:p>
          </p:txBody>
        </p:sp>
        <p:sp>
          <p:nvSpPr>
            <p:cNvPr id="64" name="Rectangle 64"/>
            <p:cNvSpPr/>
            <p:nvPr/>
          </p:nvSpPr>
          <p:spPr>
            <a:xfrm>
              <a:off x="8001000" y="5429250"/>
              <a:ext cx="3238500" cy="714375"/>
            </a:xfrm>
            <a:prstGeom prst="roundRect">
              <a:avLst>
                <a:gd name="adj" fmla="val 10667"/>
              </a:avLst>
            </a:prstGeom>
            <a:solidFill>
              <a:srgbClr val="F8FAFC"/>
            </a:solidFill>
            <a:ln w="9525">
              <a:solidFill>
                <a:srgbClr val="E2E8F0"/>
              </a:solidFill>
            </a:ln>
          </p:spPr>
          <p:txBody>
            <a:bodyPr/>
            <a:lstStyle/>
            <a:p>
              <a:endParaRPr lang="en-US"/>
            </a:p>
          </p:txBody>
        </p:sp>
        <p:sp>
          <p:nvSpPr>
            <p:cNvPr id="65" name="TextBox 65"/>
            <p:cNvSpPr txBox="1"/>
            <p:nvPr/>
          </p:nvSpPr>
          <p:spPr>
            <a:xfrm>
              <a:off x="8186738" y="5581650"/>
              <a:ext cx="1951118" cy="176212"/>
            </a:xfrm>
            <a:prstGeom prst="rect">
              <a:avLst/>
            </a:prstGeom>
            <a:noFill/>
            <a:ln>
              <a:noFill/>
            </a:ln>
          </p:spPr>
          <p:txBody>
            <a:bodyPr wrap="none" lIns="0" tIns="0" rIns="0" bIns="0" anchor="t" anchorCtr="0">
              <a:spAutoFit/>
            </a:bodyPr>
            <a:lstStyle/>
            <a:p>
              <a:pPr algn="l"/>
              <a:r>
                <a:rPr lang="vi" sz="900" b="1" dirty="0">
                  <a:solidFill>
                    <a:srgbClr val="64748B"/>
                  </a:solidFill>
                  <a:latin typeface="+mn-lt"/>
                  <a:ea typeface="+mn-ea"/>
                  <a:cs typeface="+mn-cs"/>
                </a:rPr>
                <a:t>ARTIFACT SERVING ĐÓNG GÓI</a:t>
              </a:r>
            </a:p>
          </p:txBody>
        </p:sp>
        <p:sp>
          <p:nvSpPr>
            <p:cNvPr id="66" name="TextBox 66"/>
            <p:cNvSpPr txBox="1"/>
            <p:nvPr/>
          </p:nvSpPr>
          <p:spPr>
            <a:xfrm>
              <a:off x="8186166" y="5826125"/>
              <a:ext cx="1377136" cy="205359"/>
            </a:xfrm>
            <a:prstGeom prst="rect">
              <a:avLst/>
            </a:prstGeom>
            <a:noFill/>
            <a:ln>
              <a:noFill/>
            </a:ln>
          </p:spPr>
          <p:txBody>
            <a:bodyPr wrap="none" lIns="0" tIns="0" rIns="0" bIns="0" anchor="t" anchorCtr="0">
              <a:spAutoFit/>
            </a:bodyPr>
            <a:lstStyle/>
            <a:p>
              <a:pPr algn="l"/>
              <a:r>
                <a:rPr lang="vi" sz="1050" b="1" dirty="0">
                  <a:solidFill>
                    <a:srgbClr val="0F172A"/>
                  </a:solidFill>
                  <a:latin typeface="+mn-lt"/>
                  <a:ea typeface="+mn-ea"/>
                  <a:cs typeface="+mn-cs"/>
                </a:rPr>
                <a:t>models/model.joblib</a:t>
              </a:r>
            </a:p>
          </p:txBody>
        </p:sp>
        <p:sp>
          <p:nvSpPr>
            <p:cNvPr id="67" name="TextBox 67"/>
            <p:cNvSpPr txBox="1"/>
            <p:nvPr/>
          </p:nvSpPr>
          <p:spPr>
            <a:xfrm>
              <a:off x="8186738" y="6013450"/>
              <a:ext cx="2013400" cy="161925"/>
            </a:xfrm>
            <a:prstGeom prst="rect">
              <a:avLst/>
            </a:prstGeom>
            <a:noFill/>
            <a:ln>
              <a:noFill/>
            </a:ln>
          </p:spPr>
          <p:txBody>
            <a:bodyPr wrap="none" lIns="0" tIns="0" rIns="0" bIns="0" anchor="t" anchorCtr="0">
              <a:spAutoFit/>
            </a:bodyPr>
            <a:lstStyle/>
            <a:p>
              <a:pPr algn="l"/>
              <a:r>
                <a:rPr lang="vi" sz="820" dirty="0">
                  <a:solidFill>
                    <a:srgbClr val="64748B"/>
                  </a:solidFill>
                  <a:latin typeface="+mn-lt"/>
                  <a:ea typeface="+mn-ea"/>
                  <a:cs typeface="+mn-cs"/>
                </a:rPr>
                <a:t>SHA-256 Checksum Guard tích hợp API</a:t>
              </a:r>
            </a:p>
          </p:txBody>
        </p:sp>
      </p:grpSp>
      <p:grpSp>
        <p:nvGrpSpPr>
          <p:cNvPr id="72" name="footer"/>
          <p:cNvGrpSpPr/>
          <p:nvPr/>
        </p:nvGrpSpPr>
        <p:grpSpPr>
          <a:xfrm>
            <a:off x="661797" y="6429375"/>
            <a:ext cx="10868406" cy="264668"/>
            <a:chOff x="661797" y="6429375"/>
            <a:chExt cx="10868406" cy="264668"/>
          </a:xfrm>
        </p:grpSpPr>
        <p:sp>
          <p:nvSpPr>
            <p:cNvPr id="69" name="Line 69"/>
            <p:cNvSpPr/>
            <p:nvPr/>
          </p:nvSpPr>
          <p:spPr>
            <a:xfrm>
              <a:off x="666750" y="6429375"/>
              <a:ext cx="10858500" cy="9525"/>
            </a:xfrm>
            <a:custGeom>
              <a:avLst/>
              <a:gdLst/>
              <a:ahLst/>
              <a:cxnLst/>
              <a:rect l="l" t="t" r="r" b="b"/>
              <a:pathLst>
                <a:path w="10858500" h="9525">
                  <a:moveTo>
                    <a:pt x="0" y="0"/>
                  </a:moveTo>
                  <a:lnTo>
                    <a:pt x="10858500" y="0"/>
                  </a:lnTo>
                </a:path>
              </a:pathLst>
            </a:custGeom>
            <a:noFill/>
            <a:ln w="9525">
              <a:solidFill>
                <a:srgbClr val="E2E8F0"/>
              </a:solidFill>
            </a:ln>
          </p:spPr>
          <p:txBody>
            <a:bodyPr/>
            <a:lstStyle/>
            <a:p>
              <a:endParaRPr lang="en-US"/>
            </a:p>
          </p:txBody>
        </p:sp>
        <p:sp>
          <p:nvSpPr>
            <p:cNvPr id="70" name="TextBox 70"/>
            <p:cNvSpPr txBox="1"/>
            <p:nvPr/>
          </p:nvSpPr>
          <p:spPr>
            <a:xfrm>
              <a:off x="661797" y="6502400"/>
              <a:ext cx="5799743"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Đồ Án Machine Learning Phân Khúc Khách Hàng Bán Sỉ • Project 22 (UCI Wholesale Customers)</a:t>
              </a:r>
            </a:p>
          </p:txBody>
        </p:sp>
        <p:sp>
          <p:nvSpPr>
            <p:cNvPr id="71" name="TextBox 71"/>
            <p:cNvSpPr txBox="1"/>
            <p:nvPr/>
          </p:nvSpPr>
          <p:spPr>
            <a:xfrm>
              <a:off x="11116836" y="6502400"/>
              <a:ext cx="413367" cy="191643"/>
            </a:xfrm>
            <a:prstGeom prst="rect">
              <a:avLst/>
            </a:prstGeom>
            <a:noFill/>
            <a:ln>
              <a:noFill/>
            </a:ln>
          </p:spPr>
          <p:txBody>
            <a:bodyPr wrap="none" lIns="0" tIns="0" rIns="0" bIns="0" anchor="t" anchorCtr="0">
              <a:spAutoFit/>
            </a:bodyPr>
            <a:lstStyle/>
            <a:p>
              <a:pPr algn="r"/>
              <a:r>
                <a:rPr lang="vi" sz="980" b="1" dirty="0">
                  <a:solidFill>
                    <a:srgbClr val="475569"/>
                  </a:solidFill>
                  <a:latin typeface="+mn-lt"/>
                  <a:ea typeface="+mn-ea"/>
                  <a:cs typeface="+mn-cs"/>
                </a:rPr>
                <a:t>08 / 15</a:t>
              </a:r>
            </a:p>
          </p:txBody>
        </p:sp>
      </p:grpSp>
    </p:spTree>
  </p:cSld>
  <p:clrMapOvr>
    <a:masterClrMapping/>
  </p:clrMapOvr>
  <mc:AlternateContent xmlns:mc="http://schemas.openxmlformats.org/markup-compatibility/2006">
    <mc:Choice xmlns:p14="http://schemas.microsoft.com/office/powerpoint/2010/main" Requires="p14">
      <p:transition spd="med" p14:dur="600">
        <p:push dir="r"/>
      </p:transition>
    </mc:Choice>
    <mc:Fallback>
      <p:transition spd="med">
        <p:push dir="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400"/>
                            </p:stCondLst>
                            <p:childTnLst>
                              <p:par>
                                <p:cTn id="9" presetID="23" presetClass="entr" presetSubtype="16" fill="hold" nodeType="afterEffect">
                                  <p:stCondLst>
                                    <p:cond delay="500"/>
                                  </p:stCondLst>
                                  <p:childTnLst>
                                    <p:set>
                                      <p:cBhvr>
                                        <p:cTn id="10" dur="1" fill="hold">
                                          <p:stCondLst>
                                            <p:cond delay="0"/>
                                          </p:stCondLst>
                                        </p:cTn>
                                        <p:tgtEl>
                                          <p:spTgt spid="15"/>
                                        </p:tgtEl>
                                        <p:attrNameLst>
                                          <p:attrName>style.visibility</p:attrName>
                                        </p:attrNameLst>
                                      </p:cBhvr>
                                      <p:to>
                                        <p:strVal val="visible"/>
                                      </p:to>
                                    </p:set>
                                    <p:anim calcmode="lin" valueType="num">
                                      <p:cBhvr>
                                        <p:cTn id="11" dur="600" fill="hold"/>
                                        <p:tgtEl>
                                          <p:spTgt spid="15"/>
                                        </p:tgtEl>
                                        <p:attrNameLst>
                                          <p:attrName>ppt_w</p:attrName>
                                        </p:attrNameLst>
                                      </p:cBhvr>
                                      <p:tavLst>
                                        <p:tav tm="0">
                                          <p:val>
                                            <p:fltVal val="0"/>
                                          </p:val>
                                        </p:tav>
                                        <p:tav tm="100000">
                                          <p:val>
                                            <p:strVal val="#ppt_w"/>
                                          </p:val>
                                        </p:tav>
                                      </p:tavLst>
                                    </p:anim>
                                    <p:anim calcmode="lin" valueType="num">
                                      <p:cBhvr>
                                        <p:cTn id="12" dur="600" fill="hold"/>
                                        <p:tgtEl>
                                          <p:spTgt spid="15"/>
                                        </p:tgtEl>
                                        <p:attrNameLst>
                                          <p:attrName>ppt_h</p:attrName>
                                        </p:attrNameLst>
                                      </p:cBhvr>
                                      <p:tavLst>
                                        <p:tav tm="0">
                                          <p:val>
                                            <p:fltVal val="0"/>
                                          </p:val>
                                        </p:tav>
                                        <p:tav tm="100000">
                                          <p:val>
                                            <p:strVal val="#ppt_h"/>
                                          </p:val>
                                        </p:tav>
                                      </p:tavLst>
                                    </p:anim>
                                  </p:childTnLst>
                                </p:cTn>
                              </p:par>
                            </p:childTnLst>
                          </p:cTn>
                        </p:par>
                        <p:par>
                          <p:cTn id="13" fill="hold">
                            <p:stCondLst>
                              <p:cond delay="1500"/>
                            </p:stCondLst>
                            <p:childTnLst>
                              <p:par>
                                <p:cTn id="14" presetID="2" presetClass="entr" presetSubtype="4" fill="hold" nodeType="afterEffect">
                                  <p:stCondLst>
                                    <p:cond delay="500"/>
                                  </p:stCondLst>
                                  <p:childTnLst>
                                    <p:set>
                                      <p:cBhvr>
                                        <p:cTn id="15" dur="1" fill="hold">
                                          <p:stCondLst>
                                            <p:cond delay="0"/>
                                          </p:stCondLst>
                                        </p:cTn>
                                        <p:tgtEl>
                                          <p:spTgt spid="52"/>
                                        </p:tgtEl>
                                        <p:attrNameLst>
                                          <p:attrName>style.visibility</p:attrName>
                                        </p:attrNameLst>
                                      </p:cBhvr>
                                      <p:to>
                                        <p:strVal val="visible"/>
                                      </p:to>
                                    </p:set>
                                    <p:anim calcmode="lin" valueType="num">
                                      <p:cBhvr additive="base">
                                        <p:cTn id="16" dur="800" fill="hold"/>
                                        <p:tgtEl>
                                          <p:spTgt spid="52"/>
                                        </p:tgtEl>
                                        <p:attrNameLst>
                                          <p:attrName>ppt_x</p:attrName>
                                        </p:attrNameLst>
                                      </p:cBhvr>
                                      <p:tavLst>
                                        <p:tav tm="0">
                                          <p:val>
                                            <p:strVal val="#ppt_x"/>
                                          </p:val>
                                        </p:tav>
                                        <p:tav tm="100000">
                                          <p:val>
                                            <p:strVal val="#ppt_x"/>
                                          </p:val>
                                        </p:tav>
                                      </p:tavLst>
                                    </p:anim>
                                    <p:anim calcmode="lin" valueType="num">
                                      <p:cBhvr additive="base">
                                        <p:cTn id="17" dur="800" fill="hold"/>
                                        <p:tgtEl>
                                          <p:spTgt spid="52"/>
                                        </p:tgtEl>
                                        <p:attrNameLst>
                                          <p:attrName>ppt_y</p:attrName>
                                        </p:attrNameLst>
                                      </p:cBhvr>
                                      <p:tavLst>
                                        <p:tav tm="0">
                                          <p:val>
                                            <p:strVal val="1+#ppt_h/2"/>
                                          </p:val>
                                        </p:tav>
                                        <p:tav tm="100000">
                                          <p:val>
                                            <p:strVal val="#ppt_y"/>
                                          </p:val>
                                        </p:tav>
                                      </p:tavLst>
                                    </p:anim>
                                  </p:childTnLst>
                                </p:cTn>
                              </p:par>
                            </p:childTnLst>
                          </p:cTn>
                        </p:par>
                        <p:par>
                          <p:cTn id="18" fill="hold">
                            <p:stCondLst>
                              <p:cond delay="2800"/>
                            </p:stCondLst>
                            <p:childTnLst>
                              <p:par>
                                <p:cTn id="19" presetID="10" presetClass="entr" presetSubtype="0" fill="hold" nodeType="afterEffect">
                                  <p:stCondLst>
                                    <p:cond delay="500"/>
                                  </p:stCondLst>
                                  <p:childTnLst>
                                    <p:set>
                                      <p:cBhvr>
                                        <p:cTn id="20" dur="1" fill="hold">
                                          <p:stCondLst>
                                            <p:cond delay="0"/>
                                          </p:stCondLst>
                                        </p:cTn>
                                        <p:tgtEl>
                                          <p:spTgt spid="68"/>
                                        </p:tgtEl>
                                        <p:attrNameLst>
                                          <p:attrName>style.visibility</p:attrName>
                                        </p:attrNameLst>
                                      </p:cBhvr>
                                      <p:to>
                                        <p:strVal val="visible"/>
                                      </p:to>
                                    </p:set>
                                    <p:animEffect transition="in" filter="fade">
                                      <p:cBhvr>
                                        <p:cTn id="21" dur="6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page-background"/>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8FAFC"/>
            </a:solidFill>
            <a:ln>
              <a:noFill/>
            </a:ln>
          </p:spPr>
          <p:txBody>
            <a:bodyPr/>
            <a:lstStyle/>
            <a:p>
              <a:endParaRPr lang="en-US"/>
            </a:p>
          </p:txBody>
        </p:sp>
        <p:sp>
          <p:nvSpPr>
            <p:cNvPr id="3" name="Rectangle 3"/>
            <p:cNvSpPr/>
            <p:nvPr/>
          </p:nvSpPr>
          <p:spPr>
            <a:xfrm>
              <a:off x="0" y="0"/>
              <a:ext cx="12192000" cy="57150"/>
            </a:xfrm>
            <a:prstGeom prst="rect">
              <a:avLst/>
            </a:prstGeom>
            <a:gradFill>
              <a:gsLst>
                <a:gs pos="0">
                  <a:srgbClr val="1E3A8A"/>
                </a:gs>
                <a:gs pos="50000">
                  <a:schemeClr val="accent1"/>
                </a:gs>
                <a:gs pos="100000">
                  <a:srgbClr val="0EA5E9"/>
                </a:gs>
              </a:gsLst>
              <a:lin ang="0" scaled="1"/>
            </a:gradFill>
            <a:ln>
              <a:noFill/>
            </a:ln>
          </p:spPr>
          <p:txBody>
            <a:bodyPr/>
            <a:lstStyle/>
            <a:p>
              <a:endParaRPr lang="en-US"/>
            </a:p>
          </p:txBody>
        </p:sp>
      </p:grpSp>
      <p:grpSp>
        <p:nvGrpSpPr>
          <p:cNvPr id="9" name="header"/>
          <p:cNvGrpSpPr/>
          <p:nvPr/>
        </p:nvGrpSpPr>
        <p:grpSpPr>
          <a:xfrm>
            <a:off x="654558" y="304800"/>
            <a:ext cx="9754998" cy="899478"/>
            <a:chOff x="654558" y="304800"/>
            <a:chExt cx="9754998" cy="899478"/>
          </a:xfrm>
        </p:grpSpPr>
        <p:sp>
          <p:nvSpPr>
            <p:cNvPr id="5" name="Rectangle 5"/>
            <p:cNvSpPr/>
            <p:nvPr/>
          </p:nvSpPr>
          <p:spPr>
            <a:xfrm>
              <a:off x="666750" y="304800"/>
              <a:ext cx="1914525" cy="247650"/>
            </a:xfrm>
            <a:prstGeom prst="roundRect">
              <a:avLst>
                <a:gd name="adj" fmla="val 23077"/>
              </a:avLst>
            </a:prstGeom>
            <a:solidFill>
              <a:srgbClr val="EFF6FF"/>
            </a:solidFill>
            <a:ln w="9525">
              <a:solidFill>
                <a:srgbClr val="BFDBFE"/>
              </a:solidFill>
            </a:ln>
          </p:spPr>
          <p:txBody>
            <a:bodyPr/>
            <a:lstStyle/>
            <a:p>
              <a:endParaRPr lang="en-US"/>
            </a:p>
          </p:txBody>
        </p:sp>
        <p:sp>
          <p:nvSpPr>
            <p:cNvPr id="6" name="TextBox 6"/>
            <p:cNvSpPr txBox="1"/>
            <p:nvPr/>
          </p:nvSpPr>
          <p:spPr>
            <a:xfrm>
              <a:off x="800731" y="365125"/>
              <a:ext cx="1646562" cy="161925"/>
            </a:xfrm>
            <a:prstGeom prst="rect">
              <a:avLst/>
            </a:prstGeom>
            <a:noFill/>
            <a:ln>
              <a:noFill/>
            </a:ln>
          </p:spPr>
          <p:txBody>
            <a:bodyPr wrap="none" lIns="0" tIns="0" rIns="0" bIns="0" anchor="t" anchorCtr="0">
              <a:spAutoFit/>
            </a:bodyPr>
            <a:lstStyle/>
            <a:p>
              <a:pPr algn="ctr"/>
              <a:r>
                <a:rPr lang="vi" sz="820" b="1" spc="75" dirty="0">
                  <a:solidFill>
                    <a:srgbClr val="1D4ED8"/>
                  </a:solidFill>
                  <a:latin typeface="+mn-lt"/>
                  <a:ea typeface="+mn-ea"/>
                  <a:cs typeface="+mn-cs"/>
                </a:rPr>
                <a:t>CHÂN DUNG PHÂN KHÚC</a:t>
              </a:r>
            </a:p>
          </p:txBody>
        </p:sp>
        <p:sp>
          <p:nvSpPr>
            <p:cNvPr id="7" name="TextBox 7"/>
            <p:cNvSpPr txBox="1"/>
            <p:nvPr/>
          </p:nvSpPr>
          <p:spPr>
            <a:xfrm>
              <a:off x="654558" y="584200"/>
              <a:ext cx="9754998" cy="469392"/>
            </a:xfrm>
            <a:prstGeom prst="rect">
              <a:avLst/>
            </a:prstGeom>
            <a:noFill/>
            <a:ln>
              <a:noFill/>
            </a:ln>
          </p:spPr>
          <p:txBody>
            <a:bodyPr wrap="none" lIns="0" tIns="0" rIns="0" bIns="0" anchor="t" anchorCtr="0">
              <a:spAutoFit/>
            </a:bodyPr>
            <a:lstStyle/>
            <a:p>
              <a:pPr algn="l"/>
              <a:r>
                <a:rPr lang="vi" sz="2400" b="1" dirty="0">
                  <a:solidFill>
                    <a:srgbClr val="0F172A"/>
                  </a:solidFill>
                  <a:latin typeface="+mn-lt"/>
                  <a:ea typeface="+mn-ea"/>
                  <a:cs typeface="+mn-cs"/>
                </a:rPr>
                <a:t>Chân Dung 2 Nhóm Khách Hàng Bán Sỉ &amp; Ý Nghĩa Kinh Doanh</a:t>
              </a:r>
            </a:p>
          </p:txBody>
        </p:sp>
        <p:sp>
          <p:nvSpPr>
            <p:cNvPr id="8" name="TextBox 8"/>
            <p:cNvSpPr txBox="1"/>
            <p:nvPr/>
          </p:nvSpPr>
          <p:spPr>
            <a:xfrm>
              <a:off x="661035" y="984250"/>
              <a:ext cx="6049490" cy="220028"/>
            </a:xfrm>
            <a:prstGeom prst="rect">
              <a:avLst/>
            </a:prstGeom>
            <a:noFill/>
            <a:ln>
              <a:noFill/>
            </a:ln>
          </p:spPr>
          <p:txBody>
            <a:bodyPr wrap="none" lIns="0" tIns="0" rIns="0" bIns="0" anchor="t" anchorCtr="0">
              <a:spAutoFit/>
            </a:bodyPr>
            <a:lstStyle/>
            <a:p>
              <a:pPr algn="l"/>
              <a:r>
                <a:rPr lang="vi" sz="1120" dirty="0">
                  <a:solidFill>
                    <a:srgbClr val="475569"/>
                  </a:solidFill>
                  <a:latin typeface="+mn-lt"/>
                  <a:ea typeface="+mn-ea"/>
                  <a:cs typeface="+mn-cs"/>
                </a:rPr>
                <a:t>Sự tương phản rõ nét giữa nhóm Đại siêu thị (Cụm 0) và nhóm Nhà hàng ẩm thực (Cụm 1)</a:t>
              </a:r>
            </a:p>
          </p:txBody>
        </p:sp>
      </p:grpSp>
      <p:grpSp>
        <p:nvGrpSpPr>
          <p:cNvPr id="52" name="cluster-personas"/>
          <p:cNvGrpSpPr/>
          <p:nvPr/>
        </p:nvGrpSpPr>
        <p:grpSpPr>
          <a:xfrm>
            <a:off x="666750" y="1428750"/>
            <a:ext cx="10858500" cy="4905375"/>
            <a:chOff x="666750" y="1428750"/>
            <a:chExt cx="10858500" cy="4905375"/>
          </a:xfrm>
        </p:grpSpPr>
        <p:sp>
          <p:nvSpPr>
            <p:cNvPr id="10" name="Rectangle 10"/>
            <p:cNvSpPr/>
            <p:nvPr/>
          </p:nvSpPr>
          <p:spPr>
            <a:xfrm>
              <a:off x="666750" y="1428750"/>
              <a:ext cx="5238750" cy="4905375"/>
            </a:xfrm>
            <a:prstGeom prst="roundRect">
              <a:avLst>
                <a:gd name="adj" fmla="val 2718"/>
              </a:avLst>
            </a:prstGeom>
            <a:solidFill>
              <a:schemeClr val="lt1"/>
            </a:solidFill>
            <a:ln w="19050">
              <a:solidFill>
                <a:srgbClr val="3B82F6"/>
              </a:solidFill>
            </a:ln>
          </p:spPr>
          <p:txBody>
            <a:bodyPr/>
            <a:lstStyle/>
            <a:p>
              <a:endParaRPr lang="en-US"/>
            </a:p>
          </p:txBody>
        </p:sp>
        <p:sp>
          <p:nvSpPr>
            <p:cNvPr id="11" name="Rectangle 11"/>
            <p:cNvSpPr/>
            <p:nvPr/>
          </p:nvSpPr>
          <p:spPr>
            <a:xfrm>
              <a:off x="666750" y="1428750"/>
              <a:ext cx="5238750" cy="57150"/>
            </a:xfrm>
            <a:prstGeom prst="roundRect">
              <a:avLst>
                <a:gd name="adj" fmla="val 50000"/>
              </a:avLst>
            </a:prstGeom>
            <a:solidFill>
              <a:schemeClr val="accent1"/>
            </a:solidFill>
            <a:ln>
              <a:noFill/>
            </a:ln>
          </p:spPr>
          <p:txBody>
            <a:bodyPr/>
            <a:lstStyle/>
            <a:p>
              <a:endParaRPr lang="en-US"/>
            </a:p>
          </p:txBody>
        </p:sp>
        <p:sp>
          <p:nvSpPr>
            <p:cNvPr id="12" name="Rectangle 12"/>
            <p:cNvSpPr/>
            <p:nvPr/>
          </p:nvSpPr>
          <p:spPr>
            <a:xfrm>
              <a:off x="904875" y="1666875"/>
              <a:ext cx="3238500" cy="342900"/>
            </a:xfrm>
            <a:prstGeom prst="roundRect">
              <a:avLst>
                <a:gd name="adj" fmla="val 50000"/>
              </a:avLst>
            </a:prstGeom>
            <a:solidFill>
              <a:srgbClr val="DBEAFE"/>
            </a:solidFill>
            <a:ln>
              <a:noFill/>
            </a:ln>
          </p:spPr>
          <p:txBody>
            <a:bodyPr/>
            <a:lstStyle/>
            <a:p>
              <a:endParaRPr lang="en-US"/>
            </a:p>
          </p:txBody>
        </p:sp>
        <p:sp>
          <p:nvSpPr>
            <p:cNvPr id="13" name="Ellipse 13"/>
            <p:cNvSpPr/>
            <p:nvPr/>
          </p:nvSpPr>
          <p:spPr>
            <a:xfrm>
              <a:off x="962025" y="1724025"/>
              <a:ext cx="228600" cy="228600"/>
            </a:xfrm>
            <a:prstGeom prst="ellipse">
              <a:avLst/>
            </a:prstGeom>
            <a:solidFill>
              <a:schemeClr val="accent1"/>
            </a:solidFill>
            <a:ln>
              <a:noFill/>
            </a:ln>
          </p:spPr>
          <p:txBody>
            <a:bodyPr/>
            <a:lstStyle/>
            <a:p>
              <a:endParaRPr lang="en-US"/>
            </a:p>
          </p:txBody>
        </p:sp>
        <p:sp>
          <p:nvSpPr>
            <p:cNvPr id="14" name="TextBox 14"/>
            <p:cNvSpPr txBox="1"/>
            <p:nvPr/>
          </p:nvSpPr>
          <p:spPr>
            <a:xfrm>
              <a:off x="1034683" y="1758950"/>
              <a:ext cx="83284" cy="191643"/>
            </a:xfrm>
            <a:prstGeom prst="rect">
              <a:avLst/>
            </a:prstGeom>
            <a:noFill/>
            <a:ln>
              <a:noFill/>
            </a:ln>
          </p:spPr>
          <p:txBody>
            <a:bodyPr wrap="none" lIns="0" tIns="0" rIns="0" bIns="0" anchor="t" anchorCtr="0">
              <a:spAutoFit/>
            </a:bodyPr>
            <a:lstStyle/>
            <a:p>
              <a:pPr algn="ctr"/>
              <a:r>
                <a:rPr lang="vi" sz="980" b="1" dirty="0">
                  <a:solidFill>
                    <a:srgbClr val="FFFFFF"/>
                  </a:solidFill>
                  <a:latin typeface="+mn-lt"/>
                  <a:ea typeface="+mn-ea"/>
                  <a:cs typeface="+mn-cs"/>
                </a:rPr>
                <a:t>0</a:t>
              </a:r>
            </a:p>
          </p:txBody>
        </p:sp>
        <p:sp>
          <p:nvSpPr>
            <p:cNvPr id="15" name="TextBox 15"/>
            <p:cNvSpPr txBox="1"/>
            <p:nvPr/>
          </p:nvSpPr>
          <p:spPr>
            <a:xfrm>
              <a:off x="1280160" y="1746250"/>
              <a:ext cx="2949849" cy="220028"/>
            </a:xfrm>
            <a:prstGeom prst="rect">
              <a:avLst/>
            </a:prstGeom>
            <a:noFill/>
            <a:ln>
              <a:noFill/>
            </a:ln>
          </p:spPr>
          <p:txBody>
            <a:bodyPr wrap="none" lIns="0" tIns="0" rIns="0" bIns="0" anchor="t" anchorCtr="0">
              <a:spAutoFit/>
            </a:bodyPr>
            <a:lstStyle/>
            <a:p>
              <a:pPr algn="l"/>
              <a:r>
                <a:rPr lang="vi" sz="1120" b="1" dirty="0">
                  <a:solidFill>
                    <a:srgbClr val="1D4ED8"/>
                  </a:solidFill>
                  <a:latin typeface="+mn-lt"/>
                  <a:ea typeface="+mn-ea"/>
                  <a:cs typeface="+mn-cs"/>
                </a:rPr>
                <a:t>CỤM 0: ĐẠI SIÊU THỊ &amp; CHUỖI BÁN LẺ</a:t>
              </a:r>
            </a:p>
          </p:txBody>
        </p:sp>
        <p:sp>
          <p:nvSpPr>
            <p:cNvPr id="16" name="TextBox 16"/>
            <p:cNvSpPr txBox="1"/>
            <p:nvPr/>
          </p:nvSpPr>
          <p:spPr>
            <a:xfrm>
              <a:off x="899541" y="2159000"/>
              <a:ext cx="3889780" cy="205359"/>
            </a:xfrm>
            <a:prstGeom prst="rect">
              <a:avLst/>
            </a:prstGeom>
            <a:noFill/>
            <a:ln>
              <a:noFill/>
            </a:ln>
          </p:spPr>
          <p:txBody>
            <a:bodyPr wrap="none" lIns="0" tIns="0" rIns="0" bIns="0" anchor="t" anchorCtr="0">
              <a:spAutoFit/>
            </a:bodyPr>
            <a:lstStyle/>
            <a:p>
              <a:pPr algn="l"/>
              <a:r>
                <a:rPr lang="vi" sz="1050" dirty="0">
                  <a:solidFill>
                    <a:srgbClr val="64748B"/>
                  </a:solidFill>
                  <a:latin typeface="+mn-lt"/>
                  <a:ea typeface="+mn-ea"/>
                  <a:cs typeface="+mn-cs"/>
                </a:rPr>
                <a:t>Tỷ lệ: 162/352 mẫu phát triển (46.0%) • Test: 45 mẫu (51.1%)</a:t>
              </a:r>
            </a:p>
          </p:txBody>
        </p:sp>
        <p:sp>
          <p:nvSpPr>
            <p:cNvPr id="17" name="Rectangle 17"/>
            <p:cNvSpPr/>
            <p:nvPr/>
          </p:nvSpPr>
          <p:spPr>
            <a:xfrm>
              <a:off x="904875" y="2476500"/>
              <a:ext cx="4762500" cy="1428750"/>
            </a:xfrm>
            <a:prstGeom prst="roundRect">
              <a:avLst>
                <a:gd name="adj" fmla="val 6667"/>
              </a:avLst>
            </a:prstGeom>
            <a:solidFill>
              <a:srgbClr val="F8FAFC"/>
            </a:solidFill>
            <a:ln w="9525">
              <a:solidFill>
                <a:srgbClr val="E2E8F0"/>
              </a:solidFill>
            </a:ln>
          </p:spPr>
          <p:txBody>
            <a:bodyPr/>
            <a:lstStyle/>
            <a:p>
              <a:endParaRPr lang="en-US"/>
            </a:p>
          </p:txBody>
        </p:sp>
        <p:sp>
          <p:nvSpPr>
            <p:cNvPr id="18" name="TextBox 18"/>
            <p:cNvSpPr txBox="1"/>
            <p:nvPr/>
          </p:nvSpPr>
          <p:spPr>
            <a:xfrm>
              <a:off x="1090422" y="2587625"/>
              <a:ext cx="3657460" cy="191643"/>
            </a:xfrm>
            <a:prstGeom prst="rect">
              <a:avLst/>
            </a:prstGeom>
            <a:noFill/>
            <a:ln>
              <a:noFill/>
            </a:ln>
          </p:spPr>
          <p:txBody>
            <a:bodyPr wrap="none" lIns="0" tIns="0" rIns="0" bIns="0" anchor="t" anchorCtr="0">
              <a:spAutoFit/>
            </a:bodyPr>
            <a:lstStyle/>
            <a:p>
              <a:pPr algn="l"/>
              <a:r>
                <a:rPr lang="vi" sz="980" b="1" dirty="0">
                  <a:solidFill>
                    <a:srgbClr val="0F172A"/>
                  </a:solidFill>
                  <a:latin typeface="+mn-lt"/>
                  <a:ea typeface="+mn-ea"/>
                  <a:cs typeface="+mn-cs"/>
                </a:rPr>
                <a:t>CƠ CẤU CHI TIÊU TRUNG VỊ (MEDIAN EXPENDITURE):</a:t>
              </a:r>
            </a:p>
          </p:txBody>
        </p:sp>
        <p:sp>
          <p:nvSpPr>
            <p:cNvPr id="19" name="TextBox 19"/>
            <p:cNvSpPr txBox="1"/>
            <p:nvPr/>
          </p:nvSpPr>
          <p:spPr>
            <a:xfrm>
              <a:off x="1090422" y="2873375"/>
              <a:ext cx="2704089"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b="1" dirty="0">
                  <a:solidFill>
                    <a:schemeClr val="accent1"/>
                  </a:solidFill>
                  <a:latin typeface="+mn-lt"/>
                  <a:ea typeface="+mn-ea"/>
                  <a:cs typeface="+mn-cs"/>
                </a:rPr>
                <a:t>Grocery:</a:t>
              </a:r>
              <a:r>
                <a:rPr lang="vi" sz="980" dirty="0">
                  <a:solidFill>
                    <a:srgbClr val="334155"/>
                  </a:solidFill>
                  <a:latin typeface="+mn-lt"/>
                  <a:ea typeface="+mn-ea"/>
                  <a:cs typeface="+mn-cs"/>
                </a:rPr>
                <a:t> 10,750 m.u. </a:t>
              </a:r>
              <a:r>
                <a:rPr lang="vi" sz="980" b="1" dirty="0">
                  <a:solidFill>
                    <a:srgbClr val="DC2626"/>
                  </a:solidFill>
                  <a:latin typeface="+mn-lt"/>
                  <a:ea typeface="+mn-ea"/>
                  <a:cs typeface="+mn-cs"/>
                </a:rPr>
                <a:t>(Gấp 4.2 lần Cụm 1!)</a:t>
              </a:r>
            </a:p>
          </p:txBody>
        </p:sp>
        <p:sp>
          <p:nvSpPr>
            <p:cNvPr id="20" name="TextBox 20"/>
            <p:cNvSpPr txBox="1"/>
            <p:nvPr/>
          </p:nvSpPr>
          <p:spPr>
            <a:xfrm>
              <a:off x="1090422" y="3111500"/>
              <a:ext cx="2381068"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b="1" dirty="0">
                  <a:solidFill>
                    <a:schemeClr val="accent1"/>
                  </a:solidFill>
                  <a:latin typeface="+mn-lt"/>
                  <a:ea typeface="+mn-ea"/>
                  <a:cs typeface="+mn-cs"/>
                </a:rPr>
                <a:t>Milk:</a:t>
              </a:r>
              <a:r>
                <a:rPr lang="vi" sz="980" dirty="0">
                  <a:solidFill>
                    <a:srgbClr val="334155"/>
                  </a:solidFill>
                  <a:latin typeface="+mn-lt"/>
                  <a:ea typeface="+mn-ea"/>
                  <a:cs typeface="+mn-cs"/>
                </a:rPr>
                <a:t> 6,700 m.u. </a:t>
              </a:r>
              <a:r>
                <a:rPr lang="vi" sz="980" b="1" dirty="0">
                  <a:solidFill>
                    <a:srgbClr val="DC2626"/>
                  </a:solidFill>
                  <a:latin typeface="+mn-lt"/>
                  <a:ea typeface="+mn-ea"/>
                  <a:cs typeface="+mn-cs"/>
                </a:rPr>
                <a:t>(Gấp 3.5 lần Cụm 1!)</a:t>
              </a:r>
            </a:p>
          </p:txBody>
        </p:sp>
        <p:sp>
          <p:nvSpPr>
            <p:cNvPr id="21" name="TextBox 21"/>
            <p:cNvSpPr txBox="1"/>
            <p:nvPr/>
          </p:nvSpPr>
          <p:spPr>
            <a:xfrm>
              <a:off x="1090422" y="3349625"/>
              <a:ext cx="3332619"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b="1" dirty="0">
                  <a:solidFill>
                    <a:schemeClr val="accent1"/>
                  </a:solidFill>
                  <a:latin typeface="+mn-lt"/>
                  <a:ea typeface="+mn-ea"/>
                  <a:cs typeface="+mn-cs"/>
                </a:rPr>
                <a:t>Detergents_Paper:</a:t>
              </a:r>
              <a:r>
                <a:rPr lang="vi" sz="980" dirty="0">
                  <a:solidFill>
                    <a:srgbClr val="334155"/>
                  </a:solidFill>
                  <a:latin typeface="+mn-lt"/>
                  <a:ea typeface="+mn-ea"/>
                  <a:cs typeface="+mn-cs"/>
                </a:rPr>
                <a:t> 4,500 m.u. </a:t>
              </a:r>
              <a:r>
                <a:rPr lang="vi" sz="980" b="1" dirty="0">
                  <a:solidFill>
                    <a:srgbClr val="DC2626"/>
                  </a:solidFill>
                  <a:latin typeface="+mn-lt"/>
                  <a:ea typeface="+mn-ea"/>
                  <a:cs typeface="+mn-cs"/>
                </a:rPr>
                <a:t>(Gấp 11.8 lần Cụm 1!)</a:t>
              </a:r>
            </a:p>
          </p:txBody>
        </p:sp>
        <p:sp>
          <p:nvSpPr>
            <p:cNvPr id="22" name="TextBox 22"/>
            <p:cNvSpPr txBox="1"/>
            <p:nvPr/>
          </p:nvSpPr>
          <p:spPr>
            <a:xfrm>
              <a:off x="1090422" y="3587750"/>
              <a:ext cx="3698948" cy="191643"/>
            </a:xfrm>
            <a:prstGeom prst="rect">
              <a:avLst/>
            </a:prstGeom>
            <a:noFill/>
            <a:ln>
              <a:noFill/>
            </a:ln>
          </p:spPr>
          <p:txBody>
            <a:bodyPr wrap="none" lIns="0" tIns="0" rIns="0" bIns="0" anchor="t" anchorCtr="0">
              <a:spAutoFit/>
            </a:bodyPr>
            <a:lstStyle/>
            <a:p>
              <a:pPr marL="78148" indent="-78148" algn="l">
                <a:buClr>
                  <a:srgbClr val="64748B"/>
                </a:buClr>
                <a:buSzTx/>
                <a:buFontTx/>
                <a:buChar char="•"/>
              </a:pPr>
              <a:r>
                <a:rPr lang="vi" sz="980" dirty="0">
                  <a:solidFill>
                    <a:srgbClr val="64748B"/>
                  </a:solidFill>
                  <a:latin typeface="+mn-lt"/>
                  <a:ea typeface="+mn-ea"/>
                  <a:cs typeface="+mn-cs"/>
                </a:rPr>
                <a:t>Fresh: 5,200 m.u. | Frozen: 950 m.u. | Delicassen: 1,250 m.u.</a:t>
              </a:r>
            </a:p>
          </p:txBody>
        </p:sp>
        <p:sp>
          <p:nvSpPr>
            <p:cNvPr id="23" name="Rectangle 23"/>
            <p:cNvSpPr/>
            <p:nvPr/>
          </p:nvSpPr>
          <p:spPr>
            <a:xfrm>
              <a:off x="904875" y="4048125"/>
              <a:ext cx="4762500" cy="2095500"/>
            </a:xfrm>
            <a:prstGeom prst="roundRect">
              <a:avLst>
                <a:gd name="adj" fmla="val 4545"/>
              </a:avLst>
            </a:prstGeom>
            <a:solidFill>
              <a:srgbClr val="EFF6FF"/>
            </a:solidFill>
            <a:ln w="9525">
              <a:solidFill>
                <a:srgbClr val="BFDBFE"/>
              </a:solidFill>
            </a:ln>
          </p:spPr>
          <p:txBody>
            <a:bodyPr/>
            <a:lstStyle/>
            <a:p>
              <a:endParaRPr lang="en-US"/>
            </a:p>
          </p:txBody>
        </p:sp>
        <p:sp>
          <p:nvSpPr>
            <p:cNvPr id="24" name="TextBox 24"/>
            <p:cNvSpPr txBox="1"/>
            <p:nvPr/>
          </p:nvSpPr>
          <p:spPr>
            <a:xfrm>
              <a:off x="1090041" y="4206875"/>
              <a:ext cx="3487254" cy="205359"/>
            </a:xfrm>
            <a:prstGeom prst="rect">
              <a:avLst/>
            </a:prstGeom>
            <a:noFill/>
            <a:ln>
              <a:noFill/>
            </a:ln>
          </p:spPr>
          <p:txBody>
            <a:bodyPr wrap="none" lIns="0" tIns="0" rIns="0" bIns="0" anchor="t" anchorCtr="0">
              <a:spAutoFit/>
            </a:bodyPr>
            <a:lstStyle/>
            <a:p>
              <a:pPr algn="l"/>
              <a:r>
                <a:rPr lang="vi" sz="1050" b="1" dirty="0">
                  <a:solidFill>
                    <a:srgbClr val="1E40AF"/>
                  </a:solidFill>
                  <a:latin typeface="+mn-lt"/>
                  <a:ea typeface="+mn-ea"/>
                  <a:cs typeface="+mn-cs"/>
                </a:rPr>
                <a:t>CHIẾN LƯỢC KINH DOANH &amp; TIẾP THỊ ĐỀ XUẤT:</a:t>
              </a:r>
            </a:p>
          </p:txBody>
        </p:sp>
        <p:sp>
          <p:nvSpPr>
            <p:cNvPr id="25" name="TextBox 25"/>
            <p:cNvSpPr txBox="1"/>
            <p:nvPr/>
          </p:nvSpPr>
          <p:spPr>
            <a:xfrm>
              <a:off x="1090422" y="4492625"/>
              <a:ext cx="3945257" cy="191643"/>
            </a:xfrm>
            <a:prstGeom prst="rect">
              <a:avLst/>
            </a:prstGeom>
            <a:noFill/>
            <a:ln>
              <a:noFill/>
            </a:ln>
          </p:spPr>
          <p:txBody>
            <a:bodyPr wrap="none" lIns="0" tIns="0" rIns="0" bIns="0" anchor="t" anchorCtr="0">
              <a:spAutoFit/>
            </a:bodyPr>
            <a:lstStyle/>
            <a:p>
              <a:pPr algn="l"/>
              <a:r>
                <a:rPr lang="vi" sz="980" dirty="0">
                  <a:solidFill>
                    <a:srgbClr val="1E3A8A"/>
                  </a:solidFill>
                  <a:latin typeface="+mn-lt"/>
                  <a:ea typeface="+mn-ea"/>
                  <a:cs typeface="+mn-cs"/>
                </a:rPr>
                <a:t>1. </a:t>
              </a:r>
              <a:r>
                <a:rPr lang="vi" sz="980" b="1" dirty="0">
                  <a:solidFill>
                    <a:srgbClr val="1E3A8A"/>
                  </a:solidFill>
                  <a:latin typeface="+mn-lt"/>
                  <a:ea typeface="+mn-ea"/>
                  <a:cs typeface="+mn-cs"/>
                </a:rPr>
                <a:t>Chính sách chiết khấu theo khối lượng lớn (Volume Rebate):</a:t>
              </a:r>
            </a:p>
          </p:txBody>
        </p:sp>
        <p:sp>
          <p:nvSpPr>
            <p:cNvPr id="26" name="TextBox 26"/>
            <p:cNvSpPr txBox="1"/>
            <p:nvPr/>
          </p:nvSpPr>
          <p:spPr>
            <a:xfrm>
              <a:off x="1233297" y="4683125"/>
              <a:ext cx="3336264"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Áp dụng cho đơn hàng gộp Grocery + Detergents + Milk.</a:t>
              </a:r>
            </a:p>
          </p:txBody>
        </p:sp>
        <p:sp>
          <p:nvSpPr>
            <p:cNvPr id="27" name="TextBox 27"/>
            <p:cNvSpPr txBox="1"/>
            <p:nvPr/>
          </p:nvSpPr>
          <p:spPr>
            <a:xfrm>
              <a:off x="1090422" y="4968875"/>
              <a:ext cx="3239657" cy="191643"/>
            </a:xfrm>
            <a:prstGeom prst="rect">
              <a:avLst/>
            </a:prstGeom>
            <a:noFill/>
            <a:ln>
              <a:noFill/>
            </a:ln>
          </p:spPr>
          <p:txBody>
            <a:bodyPr wrap="none" lIns="0" tIns="0" rIns="0" bIns="0" anchor="t" anchorCtr="0">
              <a:spAutoFit/>
            </a:bodyPr>
            <a:lstStyle/>
            <a:p>
              <a:pPr algn="l"/>
              <a:r>
                <a:rPr lang="vi" sz="980" dirty="0">
                  <a:solidFill>
                    <a:srgbClr val="1E3A8A"/>
                  </a:solidFill>
                  <a:latin typeface="+mn-lt"/>
                  <a:ea typeface="+mn-ea"/>
                  <a:cs typeface="+mn-cs"/>
                </a:rPr>
                <a:t>2. </a:t>
              </a:r>
              <a:r>
                <a:rPr lang="vi" sz="980" b="1" dirty="0">
                  <a:solidFill>
                    <a:srgbClr val="1E3A8A"/>
                  </a:solidFill>
                  <a:latin typeface="+mn-lt"/>
                  <a:ea typeface="+mn-ea"/>
                  <a:cs typeface="+mn-cs"/>
                </a:rPr>
                <a:t>Hợp đồng cung ứng dài hạn &amp; giao hàng định kỳ:</a:t>
              </a:r>
            </a:p>
          </p:txBody>
        </p:sp>
        <p:sp>
          <p:nvSpPr>
            <p:cNvPr id="28" name="TextBox 28"/>
            <p:cNvSpPr txBox="1"/>
            <p:nvPr/>
          </p:nvSpPr>
          <p:spPr>
            <a:xfrm>
              <a:off x="1233297" y="5159375"/>
              <a:ext cx="3130636"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Tối ưu hóa logistics theo container/xe tải trọng tải lớn.</a:t>
              </a:r>
            </a:p>
          </p:txBody>
        </p:sp>
        <p:sp>
          <p:nvSpPr>
            <p:cNvPr id="29" name="TextBox 29"/>
            <p:cNvSpPr txBox="1"/>
            <p:nvPr/>
          </p:nvSpPr>
          <p:spPr>
            <a:xfrm>
              <a:off x="1090422" y="5445125"/>
              <a:ext cx="3153912" cy="191643"/>
            </a:xfrm>
            <a:prstGeom prst="rect">
              <a:avLst/>
            </a:prstGeom>
            <a:noFill/>
            <a:ln>
              <a:noFill/>
            </a:ln>
          </p:spPr>
          <p:txBody>
            <a:bodyPr wrap="none" lIns="0" tIns="0" rIns="0" bIns="0" anchor="t" anchorCtr="0">
              <a:spAutoFit/>
            </a:bodyPr>
            <a:lstStyle/>
            <a:p>
              <a:pPr algn="l"/>
              <a:r>
                <a:rPr lang="vi" sz="980" dirty="0">
                  <a:solidFill>
                    <a:srgbClr val="1E3A8A"/>
                  </a:solidFill>
                  <a:latin typeface="+mn-lt"/>
                  <a:ea typeface="+mn-ea"/>
                  <a:cs typeface="+mn-cs"/>
                </a:rPr>
                <a:t>3. </a:t>
              </a:r>
              <a:r>
                <a:rPr lang="vi" sz="980" b="1" dirty="0">
                  <a:solidFill>
                    <a:srgbClr val="1E3A8A"/>
                  </a:solidFill>
                  <a:latin typeface="+mn-lt"/>
                  <a:ea typeface="+mn-ea"/>
                  <a:cs typeface="+mn-cs"/>
                </a:rPr>
                <a:t>Hạn mức tín dụng thương mại (Credit Line) cao:</a:t>
              </a:r>
            </a:p>
          </p:txBody>
        </p:sp>
        <p:sp>
          <p:nvSpPr>
            <p:cNvPr id="30" name="TextBox 30"/>
            <p:cNvSpPr txBox="1"/>
            <p:nvPr/>
          </p:nvSpPr>
          <p:spPr>
            <a:xfrm>
              <a:off x="1233297" y="5635625"/>
              <a:ext cx="3418023"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Chu kỳ thanh toán 30-45 ngày cho các chuỗi bán lẻ uy tín.</a:t>
              </a:r>
            </a:p>
          </p:txBody>
        </p:sp>
        <p:sp>
          <p:nvSpPr>
            <p:cNvPr id="31" name="Rectangle 31"/>
            <p:cNvSpPr/>
            <p:nvPr/>
          </p:nvSpPr>
          <p:spPr>
            <a:xfrm>
              <a:off x="6286500" y="1428750"/>
              <a:ext cx="5238750" cy="4905375"/>
            </a:xfrm>
            <a:prstGeom prst="roundRect">
              <a:avLst>
                <a:gd name="adj" fmla="val 2718"/>
              </a:avLst>
            </a:prstGeom>
            <a:solidFill>
              <a:schemeClr val="lt1"/>
            </a:solidFill>
            <a:ln w="19050">
              <a:solidFill>
                <a:srgbClr val="059669"/>
              </a:solidFill>
            </a:ln>
          </p:spPr>
          <p:txBody>
            <a:bodyPr/>
            <a:lstStyle/>
            <a:p>
              <a:endParaRPr lang="en-US"/>
            </a:p>
          </p:txBody>
        </p:sp>
        <p:sp>
          <p:nvSpPr>
            <p:cNvPr id="32" name="Rectangle 32"/>
            <p:cNvSpPr/>
            <p:nvPr/>
          </p:nvSpPr>
          <p:spPr>
            <a:xfrm>
              <a:off x="6286500" y="1428750"/>
              <a:ext cx="5238750" cy="57150"/>
            </a:xfrm>
            <a:prstGeom prst="roundRect">
              <a:avLst>
                <a:gd name="adj" fmla="val 50000"/>
              </a:avLst>
            </a:prstGeom>
            <a:solidFill>
              <a:srgbClr val="059669"/>
            </a:solidFill>
            <a:ln>
              <a:noFill/>
            </a:ln>
          </p:spPr>
          <p:txBody>
            <a:bodyPr/>
            <a:lstStyle/>
            <a:p>
              <a:endParaRPr lang="en-US"/>
            </a:p>
          </p:txBody>
        </p:sp>
        <p:sp>
          <p:nvSpPr>
            <p:cNvPr id="33" name="Rectangle 33"/>
            <p:cNvSpPr/>
            <p:nvPr/>
          </p:nvSpPr>
          <p:spPr>
            <a:xfrm>
              <a:off x="6524625" y="1666875"/>
              <a:ext cx="3524250" cy="342900"/>
            </a:xfrm>
            <a:prstGeom prst="roundRect">
              <a:avLst>
                <a:gd name="adj" fmla="val 50000"/>
              </a:avLst>
            </a:prstGeom>
            <a:solidFill>
              <a:srgbClr val="DCFCE7"/>
            </a:solidFill>
            <a:ln>
              <a:noFill/>
            </a:ln>
          </p:spPr>
          <p:txBody>
            <a:bodyPr/>
            <a:lstStyle/>
            <a:p>
              <a:endParaRPr lang="en-US"/>
            </a:p>
          </p:txBody>
        </p:sp>
        <p:sp>
          <p:nvSpPr>
            <p:cNvPr id="34" name="Ellipse 34"/>
            <p:cNvSpPr/>
            <p:nvPr/>
          </p:nvSpPr>
          <p:spPr>
            <a:xfrm>
              <a:off x="6581775" y="1724025"/>
              <a:ext cx="228600" cy="228600"/>
            </a:xfrm>
            <a:prstGeom prst="ellipse">
              <a:avLst/>
            </a:prstGeom>
            <a:solidFill>
              <a:srgbClr val="059669"/>
            </a:solidFill>
            <a:ln>
              <a:noFill/>
            </a:ln>
          </p:spPr>
          <p:txBody>
            <a:bodyPr/>
            <a:lstStyle/>
            <a:p>
              <a:endParaRPr lang="en-US"/>
            </a:p>
          </p:txBody>
        </p:sp>
        <p:sp>
          <p:nvSpPr>
            <p:cNvPr id="35" name="TextBox 35"/>
            <p:cNvSpPr txBox="1"/>
            <p:nvPr/>
          </p:nvSpPr>
          <p:spPr>
            <a:xfrm>
              <a:off x="6654433" y="1758950"/>
              <a:ext cx="83284" cy="191643"/>
            </a:xfrm>
            <a:prstGeom prst="rect">
              <a:avLst/>
            </a:prstGeom>
            <a:noFill/>
            <a:ln>
              <a:noFill/>
            </a:ln>
          </p:spPr>
          <p:txBody>
            <a:bodyPr wrap="none" lIns="0" tIns="0" rIns="0" bIns="0" anchor="t" anchorCtr="0">
              <a:spAutoFit/>
            </a:bodyPr>
            <a:lstStyle/>
            <a:p>
              <a:pPr algn="ctr"/>
              <a:r>
                <a:rPr lang="vi" sz="980" b="1" dirty="0">
                  <a:solidFill>
                    <a:srgbClr val="FFFFFF"/>
                  </a:solidFill>
                  <a:latin typeface="+mn-lt"/>
                  <a:ea typeface="+mn-ea"/>
                  <a:cs typeface="+mn-cs"/>
                </a:rPr>
                <a:t>1</a:t>
              </a:r>
            </a:p>
          </p:txBody>
        </p:sp>
        <p:sp>
          <p:nvSpPr>
            <p:cNvPr id="36" name="TextBox 36"/>
            <p:cNvSpPr txBox="1"/>
            <p:nvPr/>
          </p:nvSpPr>
          <p:spPr>
            <a:xfrm>
              <a:off x="6899910" y="1746250"/>
              <a:ext cx="3985261" cy="220028"/>
            </a:xfrm>
            <a:prstGeom prst="rect">
              <a:avLst/>
            </a:prstGeom>
            <a:noFill/>
            <a:ln>
              <a:noFill/>
            </a:ln>
          </p:spPr>
          <p:txBody>
            <a:bodyPr wrap="none" lIns="0" tIns="0" rIns="0" bIns="0" anchor="t" anchorCtr="0">
              <a:spAutoFit/>
            </a:bodyPr>
            <a:lstStyle/>
            <a:p>
              <a:pPr algn="l"/>
              <a:r>
                <a:rPr lang="vi" sz="1120" b="1" dirty="0">
                  <a:solidFill>
                    <a:srgbClr val="065F46"/>
                  </a:solidFill>
                  <a:latin typeface="+mn-lt"/>
                  <a:ea typeface="+mn-ea"/>
                  <a:cs typeface="+mn-cs"/>
                </a:rPr>
                <a:t>CỤM 1: NHÀ HÀNG, KHÁCH SẠN &amp; CAFE (HORECA)</a:t>
              </a:r>
            </a:p>
          </p:txBody>
        </p:sp>
        <p:sp>
          <p:nvSpPr>
            <p:cNvPr id="37" name="TextBox 37"/>
            <p:cNvSpPr txBox="1"/>
            <p:nvPr/>
          </p:nvSpPr>
          <p:spPr>
            <a:xfrm>
              <a:off x="6519291" y="2159000"/>
              <a:ext cx="3889780" cy="205359"/>
            </a:xfrm>
            <a:prstGeom prst="rect">
              <a:avLst/>
            </a:prstGeom>
            <a:noFill/>
            <a:ln>
              <a:noFill/>
            </a:ln>
          </p:spPr>
          <p:txBody>
            <a:bodyPr wrap="none" lIns="0" tIns="0" rIns="0" bIns="0" anchor="t" anchorCtr="0">
              <a:spAutoFit/>
            </a:bodyPr>
            <a:lstStyle/>
            <a:p>
              <a:pPr algn="l"/>
              <a:r>
                <a:rPr lang="vi" sz="1050" dirty="0">
                  <a:solidFill>
                    <a:srgbClr val="64748B"/>
                  </a:solidFill>
                  <a:latin typeface="+mn-lt"/>
                  <a:ea typeface="+mn-ea"/>
                  <a:cs typeface="+mn-cs"/>
                </a:rPr>
                <a:t>Tỷ lệ: 190/352 mẫu phát triển (54.0%) • Test: 43 mẫu (48.9%)</a:t>
              </a:r>
            </a:p>
          </p:txBody>
        </p:sp>
        <p:sp>
          <p:nvSpPr>
            <p:cNvPr id="38" name="Rectangle 38"/>
            <p:cNvSpPr/>
            <p:nvPr/>
          </p:nvSpPr>
          <p:spPr>
            <a:xfrm>
              <a:off x="6524625" y="2476500"/>
              <a:ext cx="4762500" cy="1428750"/>
            </a:xfrm>
            <a:prstGeom prst="roundRect">
              <a:avLst>
                <a:gd name="adj" fmla="val 6667"/>
              </a:avLst>
            </a:prstGeom>
            <a:solidFill>
              <a:srgbClr val="F8FAFC"/>
            </a:solidFill>
            <a:ln w="9525">
              <a:solidFill>
                <a:srgbClr val="E2E8F0"/>
              </a:solidFill>
            </a:ln>
          </p:spPr>
          <p:txBody>
            <a:bodyPr/>
            <a:lstStyle/>
            <a:p>
              <a:endParaRPr lang="en-US"/>
            </a:p>
          </p:txBody>
        </p:sp>
        <p:sp>
          <p:nvSpPr>
            <p:cNvPr id="39" name="TextBox 39"/>
            <p:cNvSpPr txBox="1"/>
            <p:nvPr/>
          </p:nvSpPr>
          <p:spPr>
            <a:xfrm>
              <a:off x="6710172" y="2587625"/>
              <a:ext cx="3657460" cy="191643"/>
            </a:xfrm>
            <a:prstGeom prst="rect">
              <a:avLst/>
            </a:prstGeom>
            <a:noFill/>
            <a:ln>
              <a:noFill/>
            </a:ln>
          </p:spPr>
          <p:txBody>
            <a:bodyPr wrap="none" lIns="0" tIns="0" rIns="0" bIns="0" anchor="t" anchorCtr="0">
              <a:spAutoFit/>
            </a:bodyPr>
            <a:lstStyle/>
            <a:p>
              <a:pPr algn="l"/>
              <a:r>
                <a:rPr lang="vi" sz="980" b="1" dirty="0">
                  <a:solidFill>
                    <a:srgbClr val="0F172A"/>
                  </a:solidFill>
                  <a:latin typeface="+mn-lt"/>
                  <a:ea typeface="+mn-ea"/>
                  <a:cs typeface="+mn-cs"/>
                </a:rPr>
                <a:t>CƠ CẤU CHI TIÊU TRUNG VỊ (MEDIAN EXPENDITURE):</a:t>
              </a:r>
            </a:p>
          </p:txBody>
        </p:sp>
        <p:sp>
          <p:nvSpPr>
            <p:cNvPr id="40" name="TextBox 40"/>
            <p:cNvSpPr txBox="1"/>
            <p:nvPr/>
          </p:nvSpPr>
          <p:spPr>
            <a:xfrm>
              <a:off x="6710172" y="2873375"/>
              <a:ext cx="3391949"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b="1" dirty="0">
                  <a:solidFill>
                    <a:srgbClr val="059669"/>
                  </a:solidFill>
                  <a:latin typeface="+mn-lt"/>
                  <a:ea typeface="+mn-ea"/>
                  <a:cs typeface="+mn-cs"/>
                </a:rPr>
                <a:t>Fresh (Tươi sống):</a:t>
              </a:r>
              <a:r>
                <a:rPr lang="vi" sz="980" dirty="0">
                  <a:solidFill>
                    <a:srgbClr val="334155"/>
                  </a:solidFill>
                  <a:latin typeface="+mn-lt"/>
                  <a:ea typeface="+mn-ea"/>
                  <a:cs typeface="+mn-cs"/>
                </a:rPr>
                <a:t> 11,200 m.u. </a:t>
              </a:r>
              <a:r>
                <a:rPr lang="vi" sz="980" b="1" dirty="0">
                  <a:solidFill>
                    <a:srgbClr val="059669"/>
                  </a:solidFill>
                  <a:latin typeface="+mn-lt"/>
                  <a:ea typeface="+mn-ea"/>
                  <a:cs typeface="+mn-cs"/>
                </a:rPr>
                <a:t>(Gấp 2.15 lần Cụm 0!)</a:t>
              </a:r>
            </a:p>
          </p:txBody>
        </p:sp>
        <p:sp>
          <p:nvSpPr>
            <p:cNvPr id="41" name="TextBox 41"/>
            <p:cNvSpPr txBox="1"/>
            <p:nvPr/>
          </p:nvSpPr>
          <p:spPr>
            <a:xfrm>
              <a:off x="6710172" y="3111500"/>
              <a:ext cx="3406425"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b="1" dirty="0">
                  <a:solidFill>
                    <a:srgbClr val="059669"/>
                  </a:solidFill>
                  <a:latin typeface="+mn-lt"/>
                  <a:ea typeface="+mn-ea"/>
                  <a:cs typeface="+mn-cs"/>
                </a:rPr>
                <a:t>Frozen (Đông lạnh):</a:t>
              </a:r>
              <a:r>
                <a:rPr lang="vi" sz="980" dirty="0">
                  <a:solidFill>
                    <a:srgbClr val="334155"/>
                  </a:solidFill>
                  <a:latin typeface="+mn-lt"/>
                  <a:ea typeface="+mn-ea"/>
                  <a:cs typeface="+mn-cs"/>
                </a:rPr>
                <a:t> 2,800 m.u. </a:t>
              </a:r>
              <a:r>
                <a:rPr lang="vi" sz="980" b="1" dirty="0">
                  <a:solidFill>
                    <a:srgbClr val="059669"/>
                  </a:solidFill>
                  <a:latin typeface="+mn-lt"/>
                  <a:ea typeface="+mn-ea"/>
                  <a:cs typeface="+mn-cs"/>
                </a:rPr>
                <a:t>(Gấp 2.95 lần Cụm 0!)</a:t>
              </a:r>
            </a:p>
          </p:txBody>
        </p:sp>
        <p:sp>
          <p:nvSpPr>
            <p:cNvPr id="42" name="TextBox 42"/>
            <p:cNvSpPr txBox="1"/>
            <p:nvPr/>
          </p:nvSpPr>
          <p:spPr>
            <a:xfrm>
              <a:off x="6710172" y="3349625"/>
              <a:ext cx="3292678" cy="191643"/>
            </a:xfrm>
            <a:prstGeom prst="rect">
              <a:avLst/>
            </a:prstGeom>
            <a:noFill/>
            <a:ln>
              <a:noFill/>
            </a:ln>
          </p:spPr>
          <p:txBody>
            <a:bodyPr wrap="none" lIns="0" tIns="0" rIns="0" bIns="0" anchor="t" anchorCtr="0">
              <a:spAutoFit/>
            </a:bodyPr>
            <a:lstStyle/>
            <a:p>
              <a:pPr marL="78148" indent="-78148" algn="l">
                <a:buClr>
                  <a:srgbClr val="64748B"/>
                </a:buClr>
                <a:buSzTx/>
                <a:buFontTx/>
                <a:buChar char="•"/>
              </a:pPr>
              <a:r>
                <a:rPr lang="vi" sz="980" dirty="0">
                  <a:solidFill>
                    <a:srgbClr val="64748B"/>
                  </a:solidFill>
                  <a:latin typeface="+mn-lt"/>
                  <a:ea typeface="+mn-ea"/>
                  <a:cs typeface="+mn-cs"/>
                </a:rPr>
                <a:t>Detergents_Paper: chỉ 380 m.u. (Mức tiêu thụ rất thấp)</a:t>
              </a:r>
            </a:p>
          </p:txBody>
        </p:sp>
        <p:sp>
          <p:nvSpPr>
            <p:cNvPr id="43" name="TextBox 43"/>
            <p:cNvSpPr txBox="1"/>
            <p:nvPr/>
          </p:nvSpPr>
          <p:spPr>
            <a:xfrm>
              <a:off x="6710172" y="3587750"/>
              <a:ext cx="3654474" cy="191643"/>
            </a:xfrm>
            <a:prstGeom prst="rect">
              <a:avLst/>
            </a:prstGeom>
            <a:noFill/>
            <a:ln>
              <a:noFill/>
            </a:ln>
          </p:spPr>
          <p:txBody>
            <a:bodyPr wrap="none" lIns="0" tIns="0" rIns="0" bIns="0" anchor="t" anchorCtr="0">
              <a:spAutoFit/>
            </a:bodyPr>
            <a:lstStyle/>
            <a:p>
              <a:pPr marL="78148" indent="-78148" algn="l">
                <a:buClr>
                  <a:srgbClr val="64748B"/>
                </a:buClr>
                <a:buSzTx/>
                <a:buFontTx/>
                <a:buChar char="•"/>
              </a:pPr>
              <a:r>
                <a:rPr lang="vi" sz="980" dirty="0">
                  <a:solidFill>
                    <a:srgbClr val="64748B"/>
                  </a:solidFill>
                  <a:latin typeface="+mn-lt"/>
                  <a:ea typeface="+mn-ea"/>
                  <a:cs typeface="+mn-cs"/>
                </a:rPr>
                <a:t>Grocery: 2,550 m.u. | Milk: 1,900 m.u. | Delicassen: 850 m.u.</a:t>
              </a:r>
            </a:p>
          </p:txBody>
        </p:sp>
        <p:sp>
          <p:nvSpPr>
            <p:cNvPr id="44" name="Rectangle 44"/>
            <p:cNvSpPr/>
            <p:nvPr/>
          </p:nvSpPr>
          <p:spPr>
            <a:xfrm>
              <a:off x="6524625" y="4048125"/>
              <a:ext cx="4762500" cy="2095500"/>
            </a:xfrm>
            <a:prstGeom prst="roundRect">
              <a:avLst>
                <a:gd name="adj" fmla="val 4545"/>
              </a:avLst>
            </a:prstGeom>
            <a:solidFill>
              <a:srgbClr val="ECFDF5"/>
            </a:solidFill>
            <a:ln w="9525">
              <a:solidFill>
                <a:srgbClr val="A7F3D0"/>
              </a:solidFill>
            </a:ln>
          </p:spPr>
          <p:txBody>
            <a:bodyPr/>
            <a:lstStyle/>
            <a:p>
              <a:endParaRPr lang="en-US"/>
            </a:p>
          </p:txBody>
        </p:sp>
        <p:sp>
          <p:nvSpPr>
            <p:cNvPr id="45" name="TextBox 45"/>
            <p:cNvSpPr txBox="1"/>
            <p:nvPr/>
          </p:nvSpPr>
          <p:spPr>
            <a:xfrm>
              <a:off x="6709791" y="4206875"/>
              <a:ext cx="3487254" cy="205359"/>
            </a:xfrm>
            <a:prstGeom prst="rect">
              <a:avLst/>
            </a:prstGeom>
            <a:noFill/>
            <a:ln>
              <a:noFill/>
            </a:ln>
          </p:spPr>
          <p:txBody>
            <a:bodyPr wrap="none" lIns="0" tIns="0" rIns="0" bIns="0" anchor="t" anchorCtr="0">
              <a:spAutoFit/>
            </a:bodyPr>
            <a:lstStyle/>
            <a:p>
              <a:pPr algn="l"/>
              <a:r>
                <a:rPr lang="vi" sz="1050" b="1" dirty="0">
                  <a:solidFill>
                    <a:srgbClr val="065F46"/>
                  </a:solidFill>
                  <a:latin typeface="+mn-lt"/>
                  <a:ea typeface="+mn-ea"/>
                  <a:cs typeface="+mn-cs"/>
                </a:rPr>
                <a:t>CHIẾN LƯỢC KINH DOANH &amp; TIẾP THỊ ĐỀ XUẤT:</a:t>
              </a:r>
            </a:p>
          </p:txBody>
        </p:sp>
        <p:sp>
          <p:nvSpPr>
            <p:cNvPr id="46" name="TextBox 46"/>
            <p:cNvSpPr txBox="1"/>
            <p:nvPr/>
          </p:nvSpPr>
          <p:spPr>
            <a:xfrm>
              <a:off x="6710172" y="4492625"/>
              <a:ext cx="3816332" cy="191643"/>
            </a:xfrm>
            <a:prstGeom prst="rect">
              <a:avLst/>
            </a:prstGeom>
            <a:noFill/>
            <a:ln>
              <a:noFill/>
            </a:ln>
          </p:spPr>
          <p:txBody>
            <a:bodyPr wrap="none" lIns="0" tIns="0" rIns="0" bIns="0" anchor="t" anchorCtr="0">
              <a:spAutoFit/>
            </a:bodyPr>
            <a:lstStyle/>
            <a:p>
              <a:pPr algn="l"/>
              <a:r>
                <a:rPr lang="vi" sz="980" dirty="0">
                  <a:solidFill>
                    <a:srgbClr val="064E3B"/>
                  </a:solidFill>
                  <a:latin typeface="+mn-lt"/>
                  <a:ea typeface="+mn-ea"/>
                  <a:cs typeface="+mn-cs"/>
                </a:rPr>
                <a:t>1. </a:t>
              </a:r>
              <a:r>
                <a:rPr lang="vi" sz="980" b="1" dirty="0">
                  <a:solidFill>
                    <a:srgbClr val="064E3B"/>
                  </a:solidFill>
                  <a:latin typeface="+mn-lt"/>
                  <a:ea typeface="+mn-ea"/>
                  <a:cs typeface="+mn-cs"/>
                </a:rPr>
                <a:t>Cam kết độ tươi sống &amp; chuỗi cung ứng lạnh (Cold-chain):</a:t>
              </a:r>
            </a:p>
          </p:txBody>
        </p:sp>
        <p:sp>
          <p:nvSpPr>
            <p:cNvPr id="47" name="TextBox 47"/>
            <p:cNvSpPr txBox="1"/>
            <p:nvPr/>
          </p:nvSpPr>
          <p:spPr>
            <a:xfrm>
              <a:off x="6853047" y="4683125"/>
              <a:ext cx="3403138"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Kiểm soát nhiệt độ bảo quản nghiêm ngặt từ kho đến bếp.</a:t>
              </a:r>
            </a:p>
          </p:txBody>
        </p:sp>
        <p:sp>
          <p:nvSpPr>
            <p:cNvPr id="48" name="TextBox 48"/>
            <p:cNvSpPr txBox="1"/>
            <p:nvPr/>
          </p:nvSpPr>
          <p:spPr>
            <a:xfrm>
              <a:off x="6710172" y="4968875"/>
              <a:ext cx="3102690" cy="191643"/>
            </a:xfrm>
            <a:prstGeom prst="rect">
              <a:avLst/>
            </a:prstGeom>
            <a:noFill/>
            <a:ln>
              <a:noFill/>
            </a:ln>
          </p:spPr>
          <p:txBody>
            <a:bodyPr wrap="none" lIns="0" tIns="0" rIns="0" bIns="0" anchor="t" anchorCtr="0">
              <a:spAutoFit/>
            </a:bodyPr>
            <a:lstStyle/>
            <a:p>
              <a:pPr algn="l"/>
              <a:r>
                <a:rPr lang="vi" sz="980" dirty="0">
                  <a:solidFill>
                    <a:srgbClr val="064E3B"/>
                  </a:solidFill>
                  <a:latin typeface="+mn-lt"/>
                  <a:ea typeface="+mn-ea"/>
                  <a:cs typeface="+mn-cs"/>
                </a:rPr>
                <a:t>2. </a:t>
              </a:r>
              <a:r>
                <a:rPr lang="vi" sz="980" b="1" dirty="0">
                  <a:solidFill>
                    <a:srgbClr val="064E3B"/>
                  </a:solidFill>
                  <a:latin typeface="+mn-lt"/>
                  <a:ea typeface="+mn-ea"/>
                  <a:cs typeface="+mn-cs"/>
                </a:rPr>
                <a:t>Tần suất giao hàng hằng ngày (Daily Delivery):</a:t>
              </a:r>
            </a:p>
          </p:txBody>
        </p:sp>
        <p:sp>
          <p:nvSpPr>
            <p:cNvPr id="49" name="TextBox 49"/>
            <p:cNvSpPr txBox="1"/>
            <p:nvPr/>
          </p:nvSpPr>
          <p:spPr>
            <a:xfrm>
              <a:off x="6853047" y="5159375"/>
              <a:ext cx="3366947"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Đáp ứng dung lượng kho lạnh hữu hạn của các nhà hàng.</a:t>
              </a:r>
            </a:p>
          </p:txBody>
        </p:sp>
        <p:sp>
          <p:nvSpPr>
            <p:cNvPr id="50" name="TextBox 50"/>
            <p:cNvSpPr txBox="1"/>
            <p:nvPr/>
          </p:nvSpPr>
          <p:spPr>
            <a:xfrm>
              <a:off x="6710172" y="5445125"/>
              <a:ext cx="3769165" cy="191643"/>
            </a:xfrm>
            <a:prstGeom prst="rect">
              <a:avLst/>
            </a:prstGeom>
            <a:noFill/>
            <a:ln>
              <a:noFill/>
            </a:ln>
          </p:spPr>
          <p:txBody>
            <a:bodyPr wrap="none" lIns="0" tIns="0" rIns="0" bIns="0" anchor="t" anchorCtr="0">
              <a:spAutoFit/>
            </a:bodyPr>
            <a:lstStyle/>
            <a:p>
              <a:pPr algn="l"/>
              <a:r>
                <a:rPr lang="vi" sz="980" dirty="0">
                  <a:solidFill>
                    <a:srgbClr val="064E3B"/>
                  </a:solidFill>
                  <a:latin typeface="+mn-lt"/>
                  <a:ea typeface="+mn-ea"/>
                  <a:cs typeface="+mn-cs"/>
                </a:rPr>
                <a:t>3. </a:t>
              </a:r>
              <a:r>
                <a:rPr lang="vi" sz="980" b="1" dirty="0">
                  <a:solidFill>
                    <a:srgbClr val="064E3B"/>
                  </a:solidFill>
                  <a:latin typeface="+mn-lt"/>
                  <a:ea typeface="+mn-ea"/>
                  <a:cs typeface="+mn-cs"/>
                </a:rPr>
                <a:t>Ứng dụng đặt hàng nhanh qua di động (Mobile Ordering):</a:t>
              </a:r>
            </a:p>
          </p:txBody>
        </p:sp>
        <p:sp>
          <p:nvSpPr>
            <p:cNvPr id="51" name="TextBox 51"/>
            <p:cNvSpPr txBox="1"/>
            <p:nvPr/>
          </p:nvSpPr>
          <p:spPr>
            <a:xfrm>
              <a:off x="6853047" y="5635625"/>
              <a:ext cx="3007125"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Đặt hàng ca đêm và giao trước 6h sáng hằng ngày.</a:t>
              </a:r>
            </a:p>
          </p:txBody>
        </p:sp>
      </p:grpSp>
      <p:grpSp>
        <p:nvGrpSpPr>
          <p:cNvPr id="56" name="footer"/>
          <p:cNvGrpSpPr/>
          <p:nvPr/>
        </p:nvGrpSpPr>
        <p:grpSpPr>
          <a:xfrm>
            <a:off x="661797" y="6429375"/>
            <a:ext cx="10868406" cy="264668"/>
            <a:chOff x="661797" y="6429375"/>
            <a:chExt cx="10868406" cy="264668"/>
          </a:xfrm>
        </p:grpSpPr>
        <p:sp>
          <p:nvSpPr>
            <p:cNvPr id="53" name="Line 53"/>
            <p:cNvSpPr/>
            <p:nvPr/>
          </p:nvSpPr>
          <p:spPr>
            <a:xfrm>
              <a:off x="666750" y="6429375"/>
              <a:ext cx="10858500" cy="9525"/>
            </a:xfrm>
            <a:custGeom>
              <a:avLst/>
              <a:gdLst/>
              <a:ahLst/>
              <a:cxnLst/>
              <a:rect l="l" t="t" r="r" b="b"/>
              <a:pathLst>
                <a:path w="10858500" h="9525">
                  <a:moveTo>
                    <a:pt x="0" y="0"/>
                  </a:moveTo>
                  <a:lnTo>
                    <a:pt x="10858500" y="0"/>
                  </a:lnTo>
                </a:path>
              </a:pathLst>
            </a:custGeom>
            <a:noFill/>
            <a:ln w="9525">
              <a:solidFill>
                <a:srgbClr val="E2E8F0"/>
              </a:solidFill>
            </a:ln>
          </p:spPr>
          <p:txBody>
            <a:bodyPr/>
            <a:lstStyle/>
            <a:p>
              <a:endParaRPr lang="en-US"/>
            </a:p>
          </p:txBody>
        </p:sp>
        <p:sp>
          <p:nvSpPr>
            <p:cNvPr id="54" name="TextBox 54"/>
            <p:cNvSpPr txBox="1"/>
            <p:nvPr/>
          </p:nvSpPr>
          <p:spPr>
            <a:xfrm>
              <a:off x="661797" y="6502400"/>
              <a:ext cx="5799743"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Đồ Án Machine Learning Phân Khúc Khách Hàng Bán Sỉ • Project 22 (UCI Wholesale Customers)</a:t>
              </a:r>
            </a:p>
          </p:txBody>
        </p:sp>
        <p:sp>
          <p:nvSpPr>
            <p:cNvPr id="55" name="TextBox 55"/>
            <p:cNvSpPr txBox="1"/>
            <p:nvPr/>
          </p:nvSpPr>
          <p:spPr>
            <a:xfrm>
              <a:off x="11116836" y="6502400"/>
              <a:ext cx="413367" cy="191643"/>
            </a:xfrm>
            <a:prstGeom prst="rect">
              <a:avLst/>
            </a:prstGeom>
            <a:noFill/>
            <a:ln>
              <a:noFill/>
            </a:ln>
          </p:spPr>
          <p:txBody>
            <a:bodyPr wrap="none" lIns="0" tIns="0" rIns="0" bIns="0" anchor="t" anchorCtr="0">
              <a:spAutoFit/>
            </a:bodyPr>
            <a:lstStyle/>
            <a:p>
              <a:pPr algn="r"/>
              <a:r>
                <a:rPr lang="vi" sz="980" b="1" dirty="0">
                  <a:solidFill>
                    <a:srgbClr val="475569"/>
                  </a:solidFill>
                  <a:latin typeface="+mn-lt"/>
                  <a:ea typeface="+mn-ea"/>
                  <a:cs typeface="+mn-cs"/>
                </a:rPr>
                <a:t>09 / 15</a:t>
              </a:r>
            </a:p>
          </p:txBody>
        </p:sp>
      </p:grpSp>
    </p:spTree>
  </p:cSld>
  <p:clrMapOvr>
    <a:masterClrMapping/>
  </p:clrMapOvr>
  <mc:AlternateContent xmlns:mc="http://schemas.openxmlformats.org/markup-compatibility/2006">
    <mc:Choice xmlns:p14="http://schemas.microsoft.com/office/powerpoint/2010/main" Requires="p14">
      <p:transition spd="med" p14:dur="600">
        <p:push dir="r"/>
      </p:transition>
    </mc:Choice>
    <mc:Fallback>
      <p:transition spd="med">
        <p:push dir="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400"/>
                            </p:stCondLst>
                            <p:childTnLst>
                              <p:par>
                                <p:cTn id="9" presetID="2" presetClass="entr" presetSubtype="4" fill="hold" nodeType="afterEffect">
                                  <p:stCondLst>
                                    <p:cond delay="500"/>
                                  </p:stCondLst>
                                  <p:childTnLst>
                                    <p:set>
                                      <p:cBhvr>
                                        <p:cTn id="10" dur="1" fill="hold">
                                          <p:stCondLst>
                                            <p:cond delay="0"/>
                                          </p:stCondLst>
                                        </p:cTn>
                                        <p:tgtEl>
                                          <p:spTgt spid="52"/>
                                        </p:tgtEl>
                                        <p:attrNameLst>
                                          <p:attrName>style.visibility</p:attrName>
                                        </p:attrNameLst>
                                      </p:cBhvr>
                                      <p:to>
                                        <p:strVal val="visible"/>
                                      </p:to>
                                    </p:set>
                                    <p:anim calcmode="lin" valueType="num">
                                      <p:cBhvr additive="base">
                                        <p:cTn id="11" dur="800" fill="hold"/>
                                        <p:tgtEl>
                                          <p:spTgt spid="52"/>
                                        </p:tgtEl>
                                        <p:attrNameLst>
                                          <p:attrName>ppt_x</p:attrName>
                                        </p:attrNameLst>
                                      </p:cBhvr>
                                      <p:tavLst>
                                        <p:tav tm="0">
                                          <p:val>
                                            <p:strVal val="#ppt_x"/>
                                          </p:val>
                                        </p:tav>
                                        <p:tav tm="100000">
                                          <p:val>
                                            <p:strVal val="#ppt_x"/>
                                          </p:val>
                                        </p:tav>
                                      </p:tavLst>
                                    </p:anim>
                                    <p:anim calcmode="lin" valueType="num">
                                      <p:cBhvr additive="base">
                                        <p:cTn id="12" dur="800" fill="hold"/>
                                        <p:tgtEl>
                                          <p:spTgt spid="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page-background"/>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8FAFC"/>
            </a:solidFill>
            <a:ln>
              <a:noFill/>
            </a:ln>
          </p:spPr>
          <p:txBody>
            <a:bodyPr/>
            <a:lstStyle/>
            <a:p>
              <a:endParaRPr lang="en-US"/>
            </a:p>
          </p:txBody>
        </p:sp>
        <p:sp>
          <p:nvSpPr>
            <p:cNvPr id="3" name="Rectangle 3"/>
            <p:cNvSpPr/>
            <p:nvPr/>
          </p:nvSpPr>
          <p:spPr>
            <a:xfrm>
              <a:off x="0" y="0"/>
              <a:ext cx="12192000" cy="57150"/>
            </a:xfrm>
            <a:prstGeom prst="rect">
              <a:avLst/>
            </a:prstGeom>
            <a:gradFill>
              <a:gsLst>
                <a:gs pos="0">
                  <a:srgbClr val="1E3A8A"/>
                </a:gs>
                <a:gs pos="50000">
                  <a:schemeClr val="accent1"/>
                </a:gs>
                <a:gs pos="100000">
                  <a:srgbClr val="0EA5E9"/>
                </a:gs>
              </a:gsLst>
              <a:lin ang="0" scaled="1"/>
            </a:gradFill>
            <a:ln>
              <a:noFill/>
            </a:ln>
          </p:spPr>
          <p:txBody>
            <a:bodyPr/>
            <a:lstStyle/>
            <a:p>
              <a:endParaRPr lang="en-US"/>
            </a:p>
          </p:txBody>
        </p:sp>
      </p:grpSp>
      <p:grpSp>
        <p:nvGrpSpPr>
          <p:cNvPr id="9" name="header"/>
          <p:cNvGrpSpPr/>
          <p:nvPr/>
        </p:nvGrpSpPr>
        <p:grpSpPr>
          <a:xfrm>
            <a:off x="654558" y="304800"/>
            <a:ext cx="7871719" cy="899478"/>
            <a:chOff x="654558" y="304800"/>
            <a:chExt cx="7871719" cy="899478"/>
          </a:xfrm>
        </p:grpSpPr>
        <p:sp>
          <p:nvSpPr>
            <p:cNvPr id="5" name="Rectangle 5"/>
            <p:cNvSpPr/>
            <p:nvPr/>
          </p:nvSpPr>
          <p:spPr>
            <a:xfrm>
              <a:off x="666750" y="304800"/>
              <a:ext cx="1828800" cy="247650"/>
            </a:xfrm>
            <a:prstGeom prst="roundRect">
              <a:avLst>
                <a:gd name="adj" fmla="val 23077"/>
              </a:avLst>
            </a:prstGeom>
            <a:solidFill>
              <a:srgbClr val="EFF6FF"/>
            </a:solidFill>
            <a:ln w="9525">
              <a:solidFill>
                <a:srgbClr val="BFDBFE"/>
              </a:solidFill>
            </a:ln>
          </p:spPr>
          <p:txBody>
            <a:bodyPr/>
            <a:lstStyle/>
            <a:p>
              <a:endParaRPr lang="en-US"/>
            </a:p>
          </p:txBody>
        </p:sp>
        <p:sp>
          <p:nvSpPr>
            <p:cNvPr id="6" name="TextBox 6"/>
            <p:cNvSpPr txBox="1"/>
            <p:nvPr/>
          </p:nvSpPr>
          <p:spPr>
            <a:xfrm>
              <a:off x="866823" y="365125"/>
              <a:ext cx="1428654" cy="161925"/>
            </a:xfrm>
            <a:prstGeom prst="rect">
              <a:avLst/>
            </a:prstGeom>
            <a:noFill/>
            <a:ln>
              <a:noFill/>
            </a:ln>
          </p:spPr>
          <p:txBody>
            <a:bodyPr wrap="none" lIns="0" tIns="0" rIns="0" bIns="0" anchor="t" anchorCtr="0">
              <a:spAutoFit/>
            </a:bodyPr>
            <a:lstStyle/>
            <a:p>
              <a:pPr algn="ctr"/>
              <a:r>
                <a:rPr lang="vi" sz="820" b="1" spc="75" dirty="0">
                  <a:solidFill>
                    <a:srgbClr val="1D4ED8"/>
                  </a:solidFill>
                  <a:latin typeface="+mn-lt"/>
                  <a:ea typeface="+mn-ea"/>
                  <a:cs typeface="+mn-cs"/>
                </a:rPr>
                <a:t>ĐỐI SOÁT NGHIỆP VỤ</a:t>
              </a:r>
            </a:p>
          </p:txBody>
        </p:sp>
        <p:sp>
          <p:nvSpPr>
            <p:cNvPr id="7" name="TextBox 7"/>
            <p:cNvSpPr txBox="1"/>
            <p:nvPr/>
          </p:nvSpPr>
          <p:spPr>
            <a:xfrm>
              <a:off x="654558" y="584200"/>
              <a:ext cx="7871719" cy="469392"/>
            </a:xfrm>
            <a:prstGeom prst="rect">
              <a:avLst/>
            </a:prstGeom>
            <a:noFill/>
            <a:ln>
              <a:noFill/>
            </a:ln>
          </p:spPr>
          <p:txBody>
            <a:bodyPr wrap="none" lIns="0" tIns="0" rIns="0" bIns="0" anchor="t" anchorCtr="0">
              <a:spAutoFit/>
            </a:bodyPr>
            <a:lstStyle/>
            <a:p>
              <a:pPr algn="l"/>
              <a:r>
                <a:rPr lang="vi" sz="2400" b="1" dirty="0">
                  <a:solidFill>
                    <a:srgbClr val="0F172A"/>
                  </a:solidFill>
                  <a:latin typeface="+mn-lt"/>
                  <a:ea typeface="+mn-ea"/>
                  <a:cs typeface="+mn-cs"/>
                </a:rPr>
                <a:t>Phân Tích Chéo Kênh Bán Hàng &amp; Khu Vực Địa Lý</a:t>
              </a:r>
            </a:p>
          </p:txBody>
        </p:sp>
        <p:sp>
          <p:nvSpPr>
            <p:cNvPr id="8" name="TextBox 8"/>
            <p:cNvSpPr txBox="1"/>
            <p:nvPr/>
          </p:nvSpPr>
          <p:spPr>
            <a:xfrm>
              <a:off x="661035" y="984250"/>
              <a:ext cx="5893324" cy="220028"/>
            </a:xfrm>
            <a:prstGeom prst="rect">
              <a:avLst/>
            </a:prstGeom>
            <a:noFill/>
            <a:ln>
              <a:noFill/>
            </a:ln>
          </p:spPr>
          <p:txBody>
            <a:bodyPr wrap="none" lIns="0" tIns="0" rIns="0" bIns="0" anchor="t" anchorCtr="0">
              <a:spAutoFit/>
            </a:bodyPr>
            <a:lstStyle/>
            <a:p>
              <a:pPr algn="l"/>
              <a:r>
                <a:rPr lang="vi" sz="1120" dirty="0">
                  <a:solidFill>
                    <a:srgbClr val="475569"/>
                  </a:solidFill>
                  <a:latin typeface="+mn-lt"/>
                  <a:ea typeface="+mn-ea"/>
                  <a:cs typeface="+mn-cs"/>
                </a:rPr>
                <a:t>Kiểm định khách quan mối liên hệ giữa các cụm tìm được với Channel và Region thực tế</a:t>
              </a:r>
            </a:p>
          </p:txBody>
        </p:sp>
      </p:grpSp>
      <p:grpSp>
        <p:nvGrpSpPr>
          <p:cNvPr id="13" name="cross-validation-note"/>
          <p:cNvGrpSpPr/>
          <p:nvPr/>
        </p:nvGrpSpPr>
        <p:grpSpPr>
          <a:xfrm>
            <a:off x="666750" y="1428750"/>
            <a:ext cx="10858500" cy="571500"/>
            <a:chOff x="666750" y="1428750"/>
            <a:chExt cx="10858500" cy="571500"/>
          </a:xfrm>
        </p:grpSpPr>
        <p:sp>
          <p:nvSpPr>
            <p:cNvPr id="10" name="Rectangle 10"/>
            <p:cNvSpPr/>
            <p:nvPr/>
          </p:nvSpPr>
          <p:spPr>
            <a:xfrm>
              <a:off x="666750" y="1428750"/>
              <a:ext cx="10858500" cy="571500"/>
            </a:xfrm>
            <a:prstGeom prst="roundRect">
              <a:avLst>
                <a:gd name="adj" fmla="val 20000"/>
              </a:avLst>
            </a:prstGeom>
            <a:solidFill>
              <a:schemeClr val="lt1"/>
            </a:solidFill>
            <a:ln w="14288">
              <a:solidFill>
                <a:srgbClr val="E2E8F0"/>
              </a:solidFill>
            </a:ln>
          </p:spPr>
          <p:txBody>
            <a:bodyPr/>
            <a:lstStyle/>
            <a:p>
              <a:endParaRPr lang="en-US"/>
            </a:p>
          </p:txBody>
        </p:sp>
        <p:sp>
          <p:nvSpPr>
            <p:cNvPr id="11" name="TextBox 11"/>
            <p:cNvSpPr txBox="1"/>
            <p:nvPr/>
          </p:nvSpPr>
          <p:spPr>
            <a:xfrm>
              <a:off x="899541" y="1644650"/>
              <a:ext cx="1553922" cy="205359"/>
            </a:xfrm>
            <a:prstGeom prst="rect">
              <a:avLst/>
            </a:prstGeom>
            <a:noFill/>
            <a:ln>
              <a:noFill/>
            </a:ln>
          </p:spPr>
          <p:txBody>
            <a:bodyPr wrap="none" lIns="0" tIns="0" rIns="0" bIns="0" anchor="t" anchorCtr="0">
              <a:spAutoFit/>
            </a:bodyPr>
            <a:lstStyle/>
            <a:p>
              <a:pPr algn="l"/>
              <a:r>
                <a:rPr lang="vi" sz="1050" b="1" dirty="0">
                  <a:solidFill>
                    <a:srgbClr val="1E40AF"/>
                  </a:solidFill>
                  <a:latin typeface="+mn-lt"/>
                  <a:ea typeface="+mn-ea"/>
                  <a:cs typeface="+mn-cs"/>
                </a:rPr>
                <a:t>KIỂM ĐỊNH ĐỘC LẬP:</a:t>
              </a:r>
            </a:p>
          </p:txBody>
        </p:sp>
        <p:sp>
          <p:nvSpPr>
            <p:cNvPr id="12" name="TextBox 12"/>
            <p:cNvSpPr txBox="1"/>
            <p:nvPr/>
          </p:nvSpPr>
          <p:spPr>
            <a:xfrm>
              <a:off x="2471166" y="1644650"/>
              <a:ext cx="7899642" cy="205359"/>
            </a:xfrm>
            <a:prstGeom prst="rect">
              <a:avLst/>
            </a:prstGeom>
            <a:noFill/>
            <a:ln>
              <a:noFill/>
            </a:ln>
          </p:spPr>
          <p:txBody>
            <a:bodyPr wrap="none" lIns="0" tIns="0" rIns="0" bIns="0" anchor="t" anchorCtr="0">
              <a:spAutoFit/>
            </a:bodyPr>
            <a:lstStyle/>
            <a:p>
              <a:pPr algn="l"/>
              <a:r>
                <a:rPr lang="vi" sz="1050" dirty="0">
                  <a:solidFill>
                    <a:srgbClr val="334155"/>
                  </a:solidFill>
                  <a:latin typeface="+mn-lt"/>
                  <a:ea typeface="+mn-ea"/>
                  <a:cs typeface="+mn-cs"/>
                </a:rPr>
                <a:t>Channel và Region hoàn toàn KHÔNG tham gia vào huấn luyện. Bảng phân tích chéo dùng để đối soát tính hợp lý nghiệp vụ.</a:t>
              </a:r>
            </a:p>
          </p:txBody>
        </p:sp>
      </p:grpSp>
      <p:grpSp>
        <p:nvGrpSpPr>
          <p:cNvPr id="47" name="cross-matrix"/>
          <p:cNvGrpSpPr/>
          <p:nvPr/>
        </p:nvGrpSpPr>
        <p:grpSpPr>
          <a:xfrm>
            <a:off x="666750" y="2190750"/>
            <a:ext cx="6381750" cy="4143375"/>
            <a:chOff x="666750" y="2190750"/>
            <a:chExt cx="6381750" cy="4143375"/>
          </a:xfrm>
        </p:grpSpPr>
        <p:sp>
          <p:nvSpPr>
            <p:cNvPr id="14" name="Rectangle 14"/>
            <p:cNvSpPr/>
            <p:nvPr/>
          </p:nvSpPr>
          <p:spPr>
            <a:xfrm>
              <a:off x="666750" y="2190750"/>
              <a:ext cx="6381750" cy="4143375"/>
            </a:xfrm>
            <a:prstGeom prst="roundRect">
              <a:avLst>
                <a:gd name="adj" fmla="val 3218"/>
              </a:avLst>
            </a:prstGeom>
            <a:solidFill>
              <a:schemeClr val="lt1"/>
            </a:solidFill>
            <a:ln w="14288">
              <a:solidFill>
                <a:srgbClr val="E2E8F0"/>
              </a:solidFill>
            </a:ln>
          </p:spPr>
          <p:txBody>
            <a:bodyPr/>
            <a:lstStyle/>
            <a:p>
              <a:endParaRPr lang="en-US"/>
            </a:p>
          </p:txBody>
        </p:sp>
        <p:sp>
          <p:nvSpPr>
            <p:cNvPr id="15" name="TextBox 15"/>
            <p:cNvSpPr txBox="1"/>
            <p:nvPr/>
          </p:nvSpPr>
          <p:spPr>
            <a:xfrm>
              <a:off x="946785" y="2384425"/>
              <a:ext cx="3899193" cy="220028"/>
            </a:xfrm>
            <a:prstGeom prst="rect">
              <a:avLst/>
            </a:prstGeom>
            <a:noFill/>
            <a:ln>
              <a:noFill/>
            </a:ln>
          </p:spPr>
          <p:txBody>
            <a:bodyPr wrap="none" lIns="0" tIns="0" rIns="0" bIns="0" anchor="t" anchorCtr="0">
              <a:spAutoFit/>
            </a:bodyPr>
            <a:lstStyle/>
            <a:p>
              <a:pPr algn="l"/>
              <a:r>
                <a:rPr lang="vi" sz="1120" b="1" dirty="0">
                  <a:solidFill>
                    <a:srgbClr val="0F172A"/>
                  </a:solidFill>
                  <a:latin typeface="+mn-lt"/>
                  <a:ea typeface="+mn-ea"/>
                  <a:cs typeface="+mn-cs"/>
                </a:rPr>
                <a:t>Ma Trận Phân Bổ Cụm Theo Kênh Bán &amp; Vùng Địa Lý</a:t>
              </a:r>
            </a:p>
          </p:txBody>
        </p:sp>
        <p:sp>
          <p:nvSpPr>
            <p:cNvPr id="16" name="TextBox 16"/>
            <p:cNvSpPr txBox="1"/>
            <p:nvPr/>
          </p:nvSpPr>
          <p:spPr>
            <a:xfrm>
              <a:off x="947738" y="2628900"/>
              <a:ext cx="4292945" cy="176212"/>
            </a:xfrm>
            <a:prstGeom prst="rect">
              <a:avLst/>
            </a:prstGeom>
            <a:noFill/>
            <a:ln>
              <a:noFill/>
            </a:ln>
          </p:spPr>
          <p:txBody>
            <a:bodyPr wrap="none" lIns="0" tIns="0" rIns="0" bIns="0" anchor="t" anchorCtr="0">
              <a:spAutoFit/>
            </a:bodyPr>
            <a:lstStyle/>
            <a:p>
              <a:pPr algn="l"/>
              <a:r>
                <a:rPr lang="vi" sz="900" dirty="0">
                  <a:solidFill>
                    <a:srgbClr val="64748B"/>
                  </a:solidFill>
                  <a:latin typeface="+mn-lt"/>
                  <a:ea typeface="+mn-ea"/>
                  <a:cs typeface="+mn-cs"/>
                </a:rPr>
                <a:t>reports/data/final_profile/channel_profile.csv &amp; region_profile.csv (352 mẫu dev)</a:t>
              </a:r>
            </a:p>
          </p:txBody>
        </p:sp>
        <p:grpSp>
          <p:nvGrpSpPr>
            <p:cNvPr id="46" name="Group 46"/>
            <p:cNvGrpSpPr/>
            <p:nvPr/>
          </p:nvGrpSpPr>
          <p:grpSpPr>
            <a:xfrm>
              <a:off x="952500" y="2952750"/>
              <a:ext cx="4857750" cy="3000375"/>
              <a:chOff x="952500" y="2952750"/>
              <a:chExt cx="4857750" cy="3000375"/>
            </a:xfrm>
          </p:grpSpPr>
          <p:sp>
            <p:nvSpPr>
              <p:cNvPr id="17" name="Rectangle 17"/>
              <p:cNvSpPr/>
              <p:nvPr/>
            </p:nvSpPr>
            <p:spPr>
              <a:xfrm>
                <a:off x="952500" y="2952750"/>
                <a:ext cx="4857750" cy="381000"/>
              </a:xfrm>
              <a:prstGeom prst="roundRect">
                <a:avLst>
                  <a:gd name="adj" fmla="val 20000"/>
                </a:avLst>
              </a:prstGeom>
              <a:solidFill>
                <a:srgbClr val="1E293B"/>
              </a:solidFill>
              <a:ln>
                <a:noFill/>
              </a:ln>
            </p:spPr>
            <p:txBody>
              <a:bodyPr/>
              <a:lstStyle/>
              <a:p>
                <a:endParaRPr lang="en-US"/>
              </a:p>
            </p:txBody>
          </p:sp>
          <p:sp>
            <p:nvSpPr>
              <p:cNvPr id="18" name="TextBox 18"/>
              <p:cNvSpPr txBox="1"/>
              <p:nvPr/>
            </p:nvSpPr>
            <p:spPr>
              <a:xfrm>
                <a:off x="1422188" y="3063875"/>
                <a:ext cx="1156125" cy="191643"/>
              </a:xfrm>
              <a:prstGeom prst="rect">
                <a:avLst/>
              </a:prstGeom>
              <a:noFill/>
              <a:ln>
                <a:noFill/>
              </a:ln>
            </p:spPr>
            <p:txBody>
              <a:bodyPr wrap="none" lIns="0" tIns="0" rIns="0" bIns="0" anchor="t" anchorCtr="0">
                <a:spAutoFit/>
              </a:bodyPr>
              <a:lstStyle/>
              <a:p>
                <a:pPr algn="ctr"/>
                <a:r>
                  <a:rPr lang="vi" sz="980" b="1" dirty="0">
                    <a:solidFill>
                      <a:srgbClr val="FFFFFF"/>
                    </a:solidFill>
                    <a:latin typeface="+mn-lt"/>
                    <a:ea typeface="+mn-ea"/>
                    <a:cs typeface="+mn-cs"/>
                  </a:rPr>
                  <a:t>KÊNH / KHU VỰC</a:t>
                </a:r>
              </a:p>
            </p:txBody>
          </p:sp>
          <p:sp>
            <p:nvSpPr>
              <p:cNvPr id="19" name="TextBox 19"/>
              <p:cNvSpPr txBox="1"/>
              <p:nvPr/>
            </p:nvSpPr>
            <p:spPr>
              <a:xfrm>
                <a:off x="3080245" y="3063875"/>
                <a:ext cx="1078510" cy="191643"/>
              </a:xfrm>
              <a:prstGeom prst="rect">
                <a:avLst/>
              </a:prstGeom>
              <a:noFill/>
              <a:ln>
                <a:noFill/>
              </a:ln>
            </p:spPr>
            <p:txBody>
              <a:bodyPr wrap="none" lIns="0" tIns="0" rIns="0" bIns="0" anchor="t" anchorCtr="0">
                <a:spAutoFit/>
              </a:bodyPr>
              <a:lstStyle/>
              <a:p>
                <a:pPr algn="ctr"/>
                <a:r>
                  <a:rPr lang="vi" sz="980" b="1" dirty="0">
                    <a:solidFill>
                      <a:srgbClr val="93C5FD"/>
                    </a:solidFill>
                    <a:latin typeface="+mn-lt"/>
                    <a:ea typeface="+mn-ea"/>
                    <a:cs typeface="+mn-cs"/>
                  </a:rPr>
                  <a:t>CỤM 0 (RETAIL)</a:t>
                </a:r>
              </a:p>
            </p:txBody>
          </p:sp>
          <p:sp>
            <p:nvSpPr>
              <p:cNvPr id="20" name="TextBox 20"/>
              <p:cNvSpPr txBox="1"/>
              <p:nvPr/>
            </p:nvSpPr>
            <p:spPr>
              <a:xfrm>
                <a:off x="4363368" y="3063875"/>
                <a:ext cx="1179264" cy="191643"/>
              </a:xfrm>
              <a:prstGeom prst="rect">
                <a:avLst/>
              </a:prstGeom>
              <a:noFill/>
              <a:ln>
                <a:noFill/>
              </a:ln>
            </p:spPr>
            <p:txBody>
              <a:bodyPr wrap="none" lIns="0" tIns="0" rIns="0" bIns="0" anchor="t" anchorCtr="0">
                <a:spAutoFit/>
              </a:bodyPr>
              <a:lstStyle/>
              <a:p>
                <a:pPr algn="ctr"/>
                <a:r>
                  <a:rPr lang="vi" sz="980" b="1" dirty="0">
                    <a:solidFill>
                      <a:srgbClr val="86EFAC"/>
                    </a:solidFill>
                    <a:latin typeface="+mn-lt"/>
                    <a:ea typeface="+mn-ea"/>
                    <a:cs typeface="+mn-cs"/>
                  </a:rPr>
                  <a:t>CỤM 1 (HORECA)</a:t>
                </a:r>
              </a:p>
            </p:txBody>
          </p:sp>
          <p:sp>
            <p:nvSpPr>
              <p:cNvPr id="21" name="Rectangle 21"/>
              <p:cNvSpPr/>
              <p:nvPr/>
            </p:nvSpPr>
            <p:spPr>
              <a:xfrm>
                <a:off x="952500" y="3381375"/>
                <a:ext cx="4857750" cy="476250"/>
              </a:xfrm>
              <a:prstGeom prst="rect">
                <a:avLst/>
              </a:prstGeom>
              <a:solidFill>
                <a:srgbClr val="F8FAFC"/>
              </a:solidFill>
              <a:ln>
                <a:noFill/>
              </a:ln>
            </p:spPr>
            <p:txBody>
              <a:bodyPr/>
              <a:lstStyle/>
              <a:p>
                <a:endParaRPr lang="en-US"/>
              </a:p>
            </p:txBody>
          </p:sp>
          <p:sp>
            <p:nvSpPr>
              <p:cNvPr id="22" name="TextBox 22"/>
              <p:cNvSpPr txBox="1"/>
              <p:nvPr/>
            </p:nvSpPr>
            <p:spPr>
              <a:xfrm>
                <a:off x="1137666" y="3540125"/>
                <a:ext cx="1262594" cy="205359"/>
              </a:xfrm>
              <a:prstGeom prst="rect">
                <a:avLst/>
              </a:prstGeom>
              <a:noFill/>
              <a:ln>
                <a:noFill/>
              </a:ln>
            </p:spPr>
            <p:txBody>
              <a:bodyPr wrap="none" lIns="0" tIns="0" rIns="0" bIns="0" anchor="t" anchorCtr="0">
                <a:spAutoFit/>
              </a:bodyPr>
              <a:lstStyle/>
              <a:p>
                <a:pPr algn="l"/>
                <a:r>
                  <a:rPr lang="vi" sz="1050" b="1" dirty="0">
                    <a:solidFill>
                      <a:srgbClr val="0F172A"/>
                    </a:solidFill>
                    <a:latin typeface="+mn-lt"/>
                    <a:ea typeface="+mn-ea"/>
                    <a:cs typeface="+mn-cs"/>
                  </a:rPr>
                  <a:t>Channel 1: Horeca</a:t>
                </a:r>
              </a:p>
            </p:txBody>
          </p:sp>
          <p:sp>
            <p:nvSpPr>
              <p:cNvPr id="23" name="Rectangle 23"/>
              <p:cNvSpPr/>
              <p:nvPr/>
            </p:nvSpPr>
            <p:spPr>
              <a:xfrm>
                <a:off x="3190875" y="3448050"/>
                <a:ext cx="857250" cy="342900"/>
              </a:xfrm>
              <a:prstGeom prst="roundRect">
                <a:avLst>
                  <a:gd name="adj" fmla="val 16667"/>
                </a:avLst>
              </a:prstGeom>
              <a:solidFill>
                <a:srgbClr val="EFF6FF"/>
              </a:solidFill>
              <a:ln>
                <a:noFill/>
              </a:ln>
            </p:spPr>
            <p:txBody>
              <a:bodyPr/>
              <a:lstStyle/>
              <a:p>
                <a:endParaRPr lang="en-US"/>
              </a:p>
            </p:txBody>
          </p:sp>
          <p:sp>
            <p:nvSpPr>
              <p:cNvPr id="24" name="TextBox 24"/>
              <p:cNvSpPr txBox="1"/>
              <p:nvPr/>
            </p:nvSpPr>
            <p:spPr>
              <a:xfrm>
                <a:off x="3162422" y="3540125"/>
                <a:ext cx="914155" cy="205359"/>
              </a:xfrm>
              <a:prstGeom prst="rect">
                <a:avLst/>
              </a:prstGeom>
              <a:noFill/>
              <a:ln>
                <a:noFill/>
              </a:ln>
            </p:spPr>
            <p:txBody>
              <a:bodyPr wrap="none" lIns="0" tIns="0" rIns="0" bIns="0" anchor="t" anchorCtr="0">
                <a:spAutoFit/>
              </a:bodyPr>
              <a:lstStyle/>
              <a:p>
                <a:pPr algn="ctr"/>
                <a:r>
                  <a:rPr lang="vi" sz="1050" b="1" dirty="0">
                    <a:solidFill>
                      <a:srgbClr val="1D4ED8"/>
                    </a:solidFill>
                    <a:latin typeface="+mn-lt"/>
                    <a:ea typeface="+mn-ea"/>
                    <a:cs typeface="+mn-cs"/>
                  </a:rPr>
                  <a:t>38 mẫu (16%)</a:t>
                </a:r>
              </a:p>
            </p:txBody>
          </p:sp>
          <p:sp>
            <p:nvSpPr>
              <p:cNvPr id="25" name="Rectangle 25"/>
              <p:cNvSpPr/>
              <p:nvPr/>
            </p:nvSpPr>
            <p:spPr>
              <a:xfrm>
                <a:off x="4524375" y="3448050"/>
                <a:ext cx="857250" cy="342900"/>
              </a:xfrm>
              <a:prstGeom prst="roundRect">
                <a:avLst>
                  <a:gd name="adj" fmla="val 16667"/>
                </a:avLst>
              </a:prstGeom>
              <a:solidFill>
                <a:srgbClr val="DCFCE7"/>
              </a:solidFill>
              <a:ln>
                <a:noFill/>
              </a:ln>
            </p:spPr>
            <p:txBody>
              <a:bodyPr/>
              <a:lstStyle/>
              <a:p>
                <a:endParaRPr lang="en-US"/>
              </a:p>
            </p:txBody>
          </p:sp>
          <p:sp>
            <p:nvSpPr>
              <p:cNvPr id="26" name="TextBox 26"/>
              <p:cNvSpPr txBox="1"/>
              <p:nvPr/>
            </p:nvSpPr>
            <p:spPr>
              <a:xfrm>
                <a:off x="4456613" y="3540125"/>
                <a:ext cx="992775" cy="205359"/>
              </a:xfrm>
              <a:prstGeom prst="rect">
                <a:avLst/>
              </a:prstGeom>
              <a:noFill/>
              <a:ln>
                <a:noFill/>
              </a:ln>
            </p:spPr>
            <p:txBody>
              <a:bodyPr wrap="none" lIns="0" tIns="0" rIns="0" bIns="0" anchor="t" anchorCtr="0">
                <a:spAutoFit/>
              </a:bodyPr>
              <a:lstStyle/>
              <a:p>
                <a:pPr algn="ctr"/>
                <a:r>
                  <a:rPr lang="vi" sz="1050" b="1" dirty="0">
                    <a:solidFill>
                      <a:srgbClr val="059669"/>
                    </a:solidFill>
                    <a:latin typeface="+mn-lt"/>
                    <a:ea typeface="+mn-ea"/>
                    <a:cs typeface="+mn-cs"/>
                  </a:rPr>
                  <a:t>198 mẫu (84%)</a:t>
                </a:r>
              </a:p>
            </p:txBody>
          </p:sp>
          <p:sp>
            <p:nvSpPr>
              <p:cNvPr id="27" name="Rectangle 27"/>
              <p:cNvSpPr/>
              <p:nvPr/>
            </p:nvSpPr>
            <p:spPr>
              <a:xfrm>
                <a:off x="952500" y="3905250"/>
                <a:ext cx="4857750" cy="476250"/>
              </a:xfrm>
              <a:prstGeom prst="rect">
                <a:avLst/>
              </a:prstGeom>
              <a:solidFill>
                <a:schemeClr val="lt1"/>
              </a:solidFill>
              <a:ln>
                <a:noFill/>
              </a:ln>
            </p:spPr>
            <p:txBody>
              <a:bodyPr/>
              <a:lstStyle/>
              <a:p>
                <a:endParaRPr lang="en-US"/>
              </a:p>
            </p:txBody>
          </p:sp>
          <p:sp>
            <p:nvSpPr>
              <p:cNvPr id="28" name="TextBox 28"/>
              <p:cNvSpPr txBox="1"/>
              <p:nvPr/>
            </p:nvSpPr>
            <p:spPr>
              <a:xfrm>
                <a:off x="1137666" y="4064000"/>
                <a:ext cx="1167407" cy="205359"/>
              </a:xfrm>
              <a:prstGeom prst="rect">
                <a:avLst/>
              </a:prstGeom>
              <a:noFill/>
              <a:ln>
                <a:noFill/>
              </a:ln>
            </p:spPr>
            <p:txBody>
              <a:bodyPr wrap="none" lIns="0" tIns="0" rIns="0" bIns="0" anchor="t" anchorCtr="0">
                <a:spAutoFit/>
              </a:bodyPr>
              <a:lstStyle/>
              <a:p>
                <a:pPr algn="l"/>
                <a:r>
                  <a:rPr lang="vi" sz="1050" b="1" dirty="0">
                    <a:solidFill>
                      <a:srgbClr val="0F172A"/>
                    </a:solidFill>
                    <a:latin typeface="+mn-lt"/>
                    <a:ea typeface="+mn-ea"/>
                    <a:cs typeface="+mn-cs"/>
                  </a:rPr>
                  <a:t>Channel 2: Retail</a:t>
                </a:r>
              </a:p>
            </p:txBody>
          </p:sp>
          <p:sp>
            <p:nvSpPr>
              <p:cNvPr id="29" name="Rectangle 29"/>
              <p:cNvSpPr/>
              <p:nvPr/>
            </p:nvSpPr>
            <p:spPr>
              <a:xfrm>
                <a:off x="3190875" y="3971925"/>
                <a:ext cx="857250" cy="342900"/>
              </a:xfrm>
              <a:prstGeom prst="roundRect">
                <a:avLst>
                  <a:gd name="adj" fmla="val 16667"/>
                </a:avLst>
              </a:prstGeom>
              <a:solidFill>
                <a:srgbClr val="DBEAFE"/>
              </a:solidFill>
              <a:ln>
                <a:noFill/>
              </a:ln>
            </p:spPr>
            <p:txBody>
              <a:bodyPr/>
              <a:lstStyle/>
              <a:p>
                <a:endParaRPr lang="en-US"/>
              </a:p>
            </p:txBody>
          </p:sp>
          <p:sp>
            <p:nvSpPr>
              <p:cNvPr id="30" name="TextBox 30"/>
              <p:cNvSpPr txBox="1"/>
              <p:nvPr/>
            </p:nvSpPr>
            <p:spPr>
              <a:xfrm>
                <a:off x="3123113" y="4064000"/>
                <a:ext cx="992775" cy="205359"/>
              </a:xfrm>
              <a:prstGeom prst="rect">
                <a:avLst/>
              </a:prstGeom>
              <a:noFill/>
              <a:ln>
                <a:noFill/>
              </a:ln>
            </p:spPr>
            <p:txBody>
              <a:bodyPr wrap="none" lIns="0" tIns="0" rIns="0" bIns="0" anchor="t" anchorCtr="0">
                <a:spAutoFit/>
              </a:bodyPr>
              <a:lstStyle/>
              <a:p>
                <a:pPr algn="ctr"/>
                <a:r>
                  <a:rPr lang="vi" sz="1050" b="1" dirty="0">
                    <a:solidFill>
                      <a:srgbClr val="1E40AF"/>
                    </a:solidFill>
                    <a:latin typeface="+mn-lt"/>
                    <a:ea typeface="+mn-ea"/>
                    <a:cs typeface="+mn-cs"/>
                  </a:rPr>
                  <a:t>104 mẫu (90%)</a:t>
                </a:r>
              </a:p>
            </p:txBody>
          </p:sp>
          <p:sp>
            <p:nvSpPr>
              <p:cNvPr id="31" name="Rectangle 31"/>
              <p:cNvSpPr/>
              <p:nvPr/>
            </p:nvSpPr>
            <p:spPr>
              <a:xfrm>
                <a:off x="4524375" y="3971925"/>
                <a:ext cx="857250" cy="342900"/>
              </a:xfrm>
              <a:prstGeom prst="roundRect">
                <a:avLst>
                  <a:gd name="adj" fmla="val 16667"/>
                </a:avLst>
              </a:prstGeom>
              <a:solidFill>
                <a:srgbClr val="F1F5F9"/>
              </a:solidFill>
              <a:ln>
                <a:noFill/>
              </a:ln>
            </p:spPr>
            <p:txBody>
              <a:bodyPr/>
              <a:lstStyle/>
              <a:p>
                <a:endParaRPr lang="en-US"/>
              </a:p>
            </p:txBody>
          </p:sp>
          <p:sp>
            <p:nvSpPr>
              <p:cNvPr id="32" name="TextBox 32"/>
              <p:cNvSpPr txBox="1"/>
              <p:nvPr/>
            </p:nvSpPr>
            <p:spPr>
              <a:xfrm>
                <a:off x="4503753" y="4064000"/>
                <a:ext cx="898494" cy="205359"/>
              </a:xfrm>
              <a:prstGeom prst="rect">
                <a:avLst/>
              </a:prstGeom>
              <a:noFill/>
              <a:ln>
                <a:noFill/>
              </a:ln>
            </p:spPr>
            <p:txBody>
              <a:bodyPr wrap="none" lIns="0" tIns="0" rIns="0" bIns="0" anchor="t" anchorCtr="0">
                <a:spAutoFit/>
              </a:bodyPr>
              <a:lstStyle/>
              <a:p>
                <a:pPr algn="ctr"/>
                <a:r>
                  <a:rPr lang="vi" sz="1050" dirty="0">
                    <a:solidFill>
                      <a:srgbClr val="64748B"/>
                    </a:solidFill>
                    <a:latin typeface="+mn-lt"/>
                    <a:ea typeface="+mn-ea"/>
                    <a:cs typeface="+mn-cs"/>
                  </a:rPr>
                  <a:t>12 mẫu (10%)</a:t>
                </a:r>
              </a:p>
            </p:txBody>
          </p:sp>
          <p:sp>
            <p:nvSpPr>
              <p:cNvPr id="33" name="Line 33"/>
              <p:cNvSpPr/>
              <p:nvPr/>
            </p:nvSpPr>
            <p:spPr>
              <a:xfrm>
                <a:off x="952500" y="4476750"/>
                <a:ext cx="4857750" cy="9525"/>
              </a:xfrm>
              <a:custGeom>
                <a:avLst/>
                <a:gdLst/>
                <a:ahLst/>
                <a:cxnLst/>
                <a:rect l="l" t="t" r="r" b="b"/>
                <a:pathLst>
                  <a:path w="4857750" h="9525">
                    <a:moveTo>
                      <a:pt x="0" y="0"/>
                    </a:moveTo>
                    <a:lnTo>
                      <a:pt x="4857750" y="0"/>
                    </a:lnTo>
                  </a:path>
                </a:pathLst>
              </a:custGeom>
              <a:noFill/>
              <a:ln w="14288">
                <a:solidFill>
                  <a:srgbClr val="CBD5E1"/>
                </a:solidFill>
              </a:ln>
            </p:spPr>
            <p:txBody>
              <a:bodyPr/>
              <a:lstStyle/>
              <a:p>
                <a:endParaRPr lang="en-US"/>
              </a:p>
            </p:txBody>
          </p:sp>
          <p:sp>
            <p:nvSpPr>
              <p:cNvPr id="34" name="Rectangle 34"/>
              <p:cNvSpPr/>
              <p:nvPr/>
            </p:nvSpPr>
            <p:spPr>
              <a:xfrm>
                <a:off x="952500" y="4572000"/>
                <a:ext cx="4857750" cy="428625"/>
              </a:xfrm>
              <a:prstGeom prst="rect">
                <a:avLst/>
              </a:prstGeom>
              <a:solidFill>
                <a:srgbClr val="F8FAFC"/>
              </a:solidFill>
              <a:ln>
                <a:noFill/>
              </a:ln>
            </p:spPr>
            <p:txBody>
              <a:bodyPr/>
              <a:lstStyle/>
              <a:p>
                <a:endParaRPr lang="en-US"/>
              </a:p>
            </p:txBody>
          </p:sp>
          <p:sp>
            <p:nvSpPr>
              <p:cNvPr id="35" name="TextBox 35"/>
              <p:cNvSpPr txBox="1"/>
              <p:nvPr/>
            </p:nvSpPr>
            <p:spPr>
              <a:xfrm>
                <a:off x="1138047" y="4711700"/>
                <a:ext cx="1576433"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Region 1: Lisbon (61 mẫu)</a:t>
                </a:r>
              </a:p>
            </p:txBody>
          </p:sp>
          <p:sp>
            <p:nvSpPr>
              <p:cNvPr id="36" name="TextBox 36"/>
              <p:cNvSpPr txBox="1"/>
              <p:nvPr/>
            </p:nvSpPr>
            <p:spPr>
              <a:xfrm>
                <a:off x="3145215" y="4711700"/>
                <a:ext cx="948571" cy="191643"/>
              </a:xfrm>
              <a:prstGeom prst="rect">
                <a:avLst/>
              </a:prstGeom>
              <a:noFill/>
              <a:ln>
                <a:noFill/>
              </a:ln>
            </p:spPr>
            <p:txBody>
              <a:bodyPr wrap="none" lIns="0" tIns="0" rIns="0" bIns="0" anchor="t" anchorCtr="0">
                <a:spAutoFit/>
              </a:bodyPr>
              <a:lstStyle/>
              <a:p>
                <a:pPr algn="ctr"/>
                <a:r>
                  <a:rPr lang="vi" sz="980" dirty="0">
                    <a:solidFill>
                      <a:srgbClr val="1E40AF"/>
                    </a:solidFill>
                    <a:latin typeface="+mn-lt"/>
                    <a:ea typeface="+mn-ea"/>
                    <a:cs typeface="+mn-cs"/>
                  </a:rPr>
                  <a:t>24 mẫu (39.3%)</a:t>
                </a:r>
              </a:p>
            </p:txBody>
          </p:sp>
          <p:sp>
            <p:nvSpPr>
              <p:cNvPr id="37" name="TextBox 37"/>
              <p:cNvSpPr txBox="1"/>
              <p:nvPr/>
            </p:nvSpPr>
            <p:spPr>
              <a:xfrm>
                <a:off x="4478715" y="4711700"/>
                <a:ext cx="948571" cy="191643"/>
              </a:xfrm>
              <a:prstGeom prst="rect">
                <a:avLst/>
              </a:prstGeom>
              <a:noFill/>
              <a:ln>
                <a:noFill/>
              </a:ln>
            </p:spPr>
            <p:txBody>
              <a:bodyPr wrap="none" lIns="0" tIns="0" rIns="0" bIns="0" anchor="t" anchorCtr="0">
                <a:spAutoFit/>
              </a:bodyPr>
              <a:lstStyle/>
              <a:p>
                <a:pPr algn="ctr"/>
                <a:r>
                  <a:rPr lang="vi" sz="980" dirty="0">
                    <a:solidFill>
                      <a:srgbClr val="059669"/>
                    </a:solidFill>
                    <a:latin typeface="+mn-lt"/>
                    <a:ea typeface="+mn-ea"/>
                    <a:cs typeface="+mn-cs"/>
                  </a:rPr>
                  <a:t>37 mẫu (60.7%)</a:t>
                </a:r>
              </a:p>
            </p:txBody>
          </p:sp>
          <p:sp>
            <p:nvSpPr>
              <p:cNvPr id="38" name="Rectangle 38"/>
              <p:cNvSpPr/>
              <p:nvPr/>
            </p:nvSpPr>
            <p:spPr>
              <a:xfrm>
                <a:off x="952500" y="5048250"/>
                <a:ext cx="4857750" cy="428625"/>
              </a:xfrm>
              <a:prstGeom prst="rect">
                <a:avLst/>
              </a:prstGeom>
              <a:solidFill>
                <a:schemeClr val="lt1"/>
              </a:solidFill>
              <a:ln>
                <a:noFill/>
              </a:ln>
            </p:spPr>
            <p:txBody>
              <a:bodyPr/>
              <a:lstStyle/>
              <a:p>
                <a:endParaRPr lang="en-US"/>
              </a:p>
            </p:txBody>
          </p:sp>
          <p:sp>
            <p:nvSpPr>
              <p:cNvPr id="39" name="TextBox 39"/>
              <p:cNvSpPr txBox="1"/>
              <p:nvPr/>
            </p:nvSpPr>
            <p:spPr>
              <a:xfrm>
                <a:off x="1138047" y="5187950"/>
                <a:ext cx="1591082"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Region 2: Oporto (37 mẫu)</a:t>
                </a:r>
              </a:p>
            </p:txBody>
          </p:sp>
          <p:sp>
            <p:nvSpPr>
              <p:cNvPr id="40" name="TextBox 40"/>
              <p:cNvSpPr txBox="1"/>
              <p:nvPr/>
            </p:nvSpPr>
            <p:spPr>
              <a:xfrm>
                <a:off x="3145215" y="5187950"/>
                <a:ext cx="948571" cy="191643"/>
              </a:xfrm>
              <a:prstGeom prst="rect">
                <a:avLst/>
              </a:prstGeom>
              <a:noFill/>
              <a:ln>
                <a:noFill/>
              </a:ln>
            </p:spPr>
            <p:txBody>
              <a:bodyPr wrap="none" lIns="0" tIns="0" rIns="0" bIns="0" anchor="t" anchorCtr="0">
                <a:spAutoFit/>
              </a:bodyPr>
              <a:lstStyle/>
              <a:p>
                <a:pPr algn="ctr"/>
                <a:r>
                  <a:rPr lang="vi" sz="980" dirty="0">
                    <a:solidFill>
                      <a:srgbClr val="1E40AF"/>
                    </a:solidFill>
                    <a:latin typeface="+mn-lt"/>
                    <a:ea typeface="+mn-ea"/>
                    <a:cs typeface="+mn-cs"/>
                  </a:rPr>
                  <a:t>17 mẫu (45.9%)</a:t>
                </a:r>
              </a:p>
            </p:txBody>
          </p:sp>
          <p:sp>
            <p:nvSpPr>
              <p:cNvPr id="41" name="TextBox 41"/>
              <p:cNvSpPr txBox="1"/>
              <p:nvPr/>
            </p:nvSpPr>
            <p:spPr>
              <a:xfrm>
                <a:off x="4478715" y="5187950"/>
                <a:ext cx="948571" cy="191643"/>
              </a:xfrm>
              <a:prstGeom prst="rect">
                <a:avLst/>
              </a:prstGeom>
              <a:noFill/>
              <a:ln>
                <a:noFill/>
              </a:ln>
            </p:spPr>
            <p:txBody>
              <a:bodyPr wrap="none" lIns="0" tIns="0" rIns="0" bIns="0" anchor="t" anchorCtr="0">
                <a:spAutoFit/>
              </a:bodyPr>
              <a:lstStyle/>
              <a:p>
                <a:pPr algn="ctr"/>
                <a:r>
                  <a:rPr lang="vi" sz="980" dirty="0">
                    <a:solidFill>
                      <a:srgbClr val="059669"/>
                    </a:solidFill>
                    <a:latin typeface="+mn-lt"/>
                    <a:ea typeface="+mn-ea"/>
                    <a:cs typeface="+mn-cs"/>
                  </a:rPr>
                  <a:t>20 mẫu (54.1%)</a:t>
                </a:r>
              </a:p>
            </p:txBody>
          </p:sp>
          <p:sp>
            <p:nvSpPr>
              <p:cNvPr id="42" name="Rectangle 42"/>
              <p:cNvSpPr/>
              <p:nvPr/>
            </p:nvSpPr>
            <p:spPr>
              <a:xfrm>
                <a:off x="952500" y="5524500"/>
                <a:ext cx="4857750" cy="428625"/>
              </a:xfrm>
              <a:prstGeom prst="rect">
                <a:avLst/>
              </a:prstGeom>
              <a:solidFill>
                <a:srgbClr val="F8FAFC"/>
              </a:solidFill>
              <a:ln>
                <a:noFill/>
              </a:ln>
            </p:spPr>
            <p:txBody>
              <a:bodyPr/>
              <a:lstStyle/>
              <a:p>
                <a:endParaRPr lang="en-US"/>
              </a:p>
            </p:txBody>
          </p:sp>
          <p:sp>
            <p:nvSpPr>
              <p:cNvPr id="43" name="TextBox 43"/>
              <p:cNvSpPr txBox="1"/>
              <p:nvPr/>
            </p:nvSpPr>
            <p:spPr>
              <a:xfrm>
                <a:off x="1138047" y="5664200"/>
                <a:ext cx="1591928"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Region 3: Other (254 mẫu)</a:t>
                </a:r>
              </a:p>
            </p:txBody>
          </p:sp>
          <p:sp>
            <p:nvSpPr>
              <p:cNvPr id="44" name="TextBox 44"/>
              <p:cNvSpPr txBox="1"/>
              <p:nvPr/>
            </p:nvSpPr>
            <p:spPr>
              <a:xfrm>
                <a:off x="3108525" y="5664200"/>
                <a:ext cx="1021949" cy="191643"/>
              </a:xfrm>
              <a:prstGeom prst="rect">
                <a:avLst/>
              </a:prstGeom>
              <a:noFill/>
              <a:ln>
                <a:noFill/>
              </a:ln>
            </p:spPr>
            <p:txBody>
              <a:bodyPr wrap="none" lIns="0" tIns="0" rIns="0" bIns="0" anchor="t" anchorCtr="0">
                <a:spAutoFit/>
              </a:bodyPr>
              <a:lstStyle/>
              <a:p>
                <a:pPr algn="ctr"/>
                <a:r>
                  <a:rPr lang="vi" sz="980" dirty="0">
                    <a:solidFill>
                      <a:srgbClr val="1E40AF"/>
                    </a:solidFill>
                    <a:latin typeface="+mn-lt"/>
                    <a:ea typeface="+mn-ea"/>
                    <a:cs typeface="+mn-cs"/>
                  </a:rPr>
                  <a:t>101 mẫu (39.8%)</a:t>
                </a:r>
              </a:p>
            </p:txBody>
          </p:sp>
          <p:sp>
            <p:nvSpPr>
              <p:cNvPr id="45" name="TextBox 45"/>
              <p:cNvSpPr txBox="1"/>
              <p:nvPr/>
            </p:nvSpPr>
            <p:spPr>
              <a:xfrm>
                <a:off x="4442025" y="5664200"/>
                <a:ext cx="1021949" cy="191643"/>
              </a:xfrm>
              <a:prstGeom prst="rect">
                <a:avLst/>
              </a:prstGeom>
              <a:noFill/>
              <a:ln>
                <a:noFill/>
              </a:ln>
            </p:spPr>
            <p:txBody>
              <a:bodyPr wrap="none" lIns="0" tIns="0" rIns="0" bIns="0" anchor="t" anchorCtr="0">
                <a:spAutoFit/>
              </a:bodyPr>
              <a:lstStyle/>
              <a:p>
                <a:pPr algn="ctr"/>
                <a:r>
                  <a:rPr lang="vi" sz="980" dirty="0">
                    <a:solidFill>
                      <a:srgbClr val="059669"/>
                    </a:solidFill>
                    <a:latin typeface="+mn-lt"/>
                    <a:ea typeface="+mn-ea"/>
                    <a:cs typeface="+mn-cs"/>
                  </a:rPr>
                  <a:t>153 mẫu (60.2%)</a:t>
                </a:r>
              </a:p>
            </p:txBody>
          </p:sp>
        </p:grpSp>
      </p:grpSp>
      <p:grpSp>
        <p:nvGrpSpPr>
          <p:cNvPr id="64" name="channel-insights"/>
          <p:cNvGrpSpPr/>
          <p:nvPr/>
        </p:nvGrpSpPr>
        <p:grpSpPr>
          <a:xfrm>
            <a:off x="7239000" y="2190750"/>
            <a:ext cx="4286250" cy="4143375"/>
            <a:chOff x="7239000" y="2190750"/>
            <a:chExt cx="4286250" cy="4143375"/>
          </a:xfrm>
        </p:grpSpPr>
        <p:sp>
          <p:nvSpPr>
            <p:cNvPr id="48" name="Rectangle 48"/>
            <p:cNvSpPr/>
            <p:nvPr/>
          </p:nvSpPr>
          <p:spPr>
            <a:xfrm>
              <a:off x="7239000" y="2190750"/>
              <a:ext cx="4286250" cy="1952625"/>
            </a:xfrm>
            <a:prstGeom prst="roundRect">
              <a:avLst>
                <a:gd name="adj" fmla="val 6829"/>
              </a:avLst>
            </a:prstGeom>
            <a:solidFill>
              <a:schemeClr val="lt1"/>
            </a:solidFill>
            <a:ln w="14288">
              <a:solidFill>
                <a:srgbClr val="E2E8F0"/>
              </a:solidFill>
            </a:ln>
          </p:spPr>
          <p:txBody>
            <a:bodyPr/>
            <a:lstStyle/>
            <a:p>
              <a:endParaRPr lang="en-US"/>
            </a:p>
          </p:txBody>
        </p:sp>
        <p:sp>
          <p:nvSpPr>
            <p:cNvPr id="49" name="Rectangle 49"/>
            <p:cNvSpPr/>
            <p:nvPr/>
          </p:nvSpPr>
          <p:spPr>
            <a:xfrm>
              <a:off x="7239000" y="2190750"/>
              <a:ext cx="4286250" cy="57150"/>
            </a:xfrm>
            <a:prstGeom prst="roundRect">
              <a:avLst>
                <a:gd name="adj" fmla="val 50000"/>
              </a:avLst>
            </a:prstGeom>
            <a:solidFill>
              <a:schemeClr val="accent1"/>
            </a:solidFill>
            <a:ln>
              <a:noFill/>
            </a:ln>
          </p:spPr>
          <p:txBody>
            <a:bodyPr/>
            <a:lstStyle/>
            <a:p>
              <a:endParaRPr lang="en-US"/>
            </a:p>
          </p:txBody>
        </p:sp>
        <p:sp>
          <p:nvSpPr>
            <p:cNvPr id="50" name="TextBox 50"/>
            <p:cNvSpPr txBox="1"/>
            <p:nvPr/>
          </p:nvSpPr>
          <p:spPr>
            <a:xfrm>
              <a:off x="7519035" y="2384425"/>
              <a:ext cx="2290873" cy="220028"/>
            </a:xfrm>
            <a:prstGeom prst="rect">
              <a:avLst/>
            </a:prstGeom>
            <a:noFill/>
            <a:ln>
              <a:noFill/>
            </a:ln>
          </p:spPr>
          <p:txBody>
            <a:bodyPr wrap="none" lIns="0" tIns="0" rIns="0" bIns="0" anchor="t" anchorCtr="0">
              <a:spAutoFit/>
            </a:bodyPr>
            <a:lstStyle/>
            <a:p>
              <a:pPr algn="l"/>
              <a:r>
                <a:rPr lang="vi" sz="1120" b="1" dirty="0">
                  <a:solidFill>
                    <a:srgbClr val="1E40AF"/>
                  </a:solidFill>
                  <a:latin typeface="+mn-lt"/>
                  <a:ea typeface="+mn-ea"/>
                  <a:cs typeface="+mn-cs"/>
                </a:rPr>
                <a:t>Tương Quan Kênh Bán Rất Cao</a:t>
              </a:r>
            </a:p>
          </p:txBody>
        </p:sp>
        <p:sp>
          <p:nvSpPr>
            <p:cNvPr id="51" name="TextBox 51"/>
            <p:cNvSpPr txBox="1"/>
            <p:nvPr/>
          </p:nvSpPr>
          <p:spPr>
            <a:xfrm>
              <a:off x="7519416" y="2682875"/>
              <a:ext cx="3200661" cy="205359"/>
            </a:xfrm>
            <a:prstGeom prst="rect">
              <a:avLst/>
            </a:prstGeom>
            <a:noFill/>
            <a:ln>
              <a:noFill/>
            </a:ln>
          </p:spPr>
          <p:txBody>
            <a:bodyPr wrap="none" lIns="0" tIns="0" rIns="0" bIns="0" anchor="t" anchorCtr="0">
              <a:spAutoFit/>
            </a:bodyPr>
            <a:lstStyle/>
            <a:p>
              <a:pPr marL="83730" indent="-83730" algn="l">
                <a:buClr>
                  <a:srgbClr val="334155"/>
                </a:buClr>
                <a:buSzTx/>
                <a:buFontTx/>
                <a:buChar char="•"/>
              </a:pPr>
              <a:r>
                <a:rPr lang="vi" sz="1050" b="1" dirty="0">
                  <a:solidFill>
                    <a:srgbClr val="334155"/>
                  </a:solidFill>
                  <a:latin typeface="+mn-lt"/>
                  <a:ea typeface="+mn-ea"/>
                  <a:cs typeface="+mn-cs"/>
                </a:rPr>
                <a:t>90% khách hàng Retail</a:t>
              </a:r>
              <a:r>
                <a:rPr lang="vi" sz="1050" dirty="0">
                  <a:solidFill>
                    <a:srgbClr val="334155"/>
                  </a:solidFill>
                  <a:latin typeface="+mn-lt"/>
                  <a:ea typeface="+mn-ea"/>
                  <a:cs typeface="+mn-cs"/>
                </a:rPr>
                <a:t> rơi chính xác vào Cụm 0</a:t>
              </a:r>
            </a:p>
          </p:txBody>
        </p:sp>
        <p:sp>
          <p:nvSpPr>
            <p:cNvPr id="52" name="TextBox 52"/>
            <p:cNvSpPr txBox="1"/>
            <p:nvPr/>
          </p:nvSpPr>
          <p:spPr>
            <a:xfrm>
              <a:off x="7662672" y="2901950"/>
              <a:ext cx="2797207"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(Nhóm chi tiêu mạnh vào Hàng tạp hóa &amp; Sữa).</a:t>
              </a:r>
            </a:p>
          </p:txBody>
        </p:sp>
        <p:sp>
          <p:nvSpPr>
            <p:cNvPr id="53" name="TextBox 53"/>
            <p:cNvSpPr txBox="1"/>
            <p:nvPr/>
          </p:nvSpPr>
          <p:spPr>
            <a:xfrm>
              <a:off x="7519416" y="3187700"/>
              <a:ext cx="3295383" cy="205359"/>
            </a:xfrm>
            <a:prstGeom prst="rect">
              <a:avLst/>
            </a:prstGeom>
            <a:noFill/>
            <a:ln>
              <a:noFill/>
            </a:ln>
          </p:spPr>
          <p:txBody>
            <a:bodyPr wrap="none" lIns="0" tIns="0" rIns="0" bIns="0" anchor="t" anchorCtr="0">
              <a:spAutoFit/>
            </a:bodyPr>
            <a:lstStyle/>
            <a:p>
              <a:pPr marL="83730" indent="-83730" algn="l">
                <a:buClr>
                  <a:srgbClr val="334155"/>
                </a:buClr>
                <a:buSzTx/>
                <a:buFontTx/>
                <a:buChar char="•"/>
              </a:pPr>
              <a:r>
                <a:rPr lang="vi" sz="1050" b="1" dirty="0">
                  <a:solidFill>
                    <a:srgbClr val="334155"/>
                  </a:solidFill>
                  <a:latin typeface="+mn-lt"/>
                  <a:ea typeface="+mn-ea"/>
                  <a:cs typeface="+mn-cs"/>
                </a:rPr>
                <a:t>84% khách hàng Horeca</a:t>
              </a:r>
              <a:r>
                <a:rPr lang="vi" sz="1050" dirty="0">
                  <a:solidFill>
                    <a:srgbClr val="334155"/>
                  </a:solidFill>
                  <a:latin typeface="+mn-lt"/>
                  <a:ea typeface="+mn-ea"/>
                  <a:cs typeface="+mn-cs"/>
                </a:rPr>
                <a:t> rơi chính xác vào Cụm 1</a:t>
              </a:r>
            </a:p>
          </p:txBody>
        </p:sp>
        <p:sp>
          <p:nvSpPr>
            <p:cNvPr id="54" name="TextBox 54"/>
            <p:cNvSpPr txBox="1"/>
            <p:nvPr/>
          </p:nvSpPr>
          <p:spPr>
            <a:xfrm>
              <a:off x="7662672" y="3406775"/>
              <a:ext cx="3016270"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(Nhóm tiêu thụ chính Hàng tươi sống &amp; Đông lạnh).</a:t>
              </a:r>
            </a:p>
          </p:txBody>
        </p:sp>
        <p:sp>
          <p:nvSpPr>
            <p:cNvPr id="55" name="TextBox 55"/>
            <p:cNvSpPr txBox="1"/>
            <p:nvPr/>
          </p:nvSpPr>
          <p:spPr>
            <a:xfrm>
              <a:off x="7519797" y="3730625"/>
              <a:ext cx="3454663" cy="191643"/>
            </a:xfrm>
            <a:prstGeom prst="rect">
              <a:avLst/>
            </a:prstGeom>
            <a:noFill/>
            <a:ln>
              <a:noFill/>
            </a:ln>
          </p:spPr>
          <p:txBody>
            <a:bodyPr wrap="none" lIns="0" tIns="0" rIns="0" bIns="0" anchor="t" anchorCtr="0">
              <a:spAutoFit/>
            </a:bodyPr>
            <a:lstStyle/>
            <a:p>
              <a:pPr algn="l"/>
              <a:r>
                <a:rPr lang="vi" sz="980" b="1" dirty="0">
                  <a:solidFill>
                    <a:srgbClr val="059669"/>
                  </a:solidFill>
                  <a:latin typeface="+mn-lt"/>
                  <a:ea typeface="+mn-ea"/>
                  <a:cs typeface="+mn-cs"/>
                </a:rPr>
                <a:t>➔ Chứng minh K-Means tự tìm thấy chân lý nghiệp vụ!</a:t>
              </a:r>
            </a:p>
          </p:txBody>
        </p:sp>
        <p:sp>
          <p:nvSpPr>
            <p:cNvPr id="56" name="Rectangle 56"/>
            <p:cNvSpPr/>
            <p:nvPr/>
          </p:nvSpPr>
          <p:spPr>
            <a:xfrm>
              <a:off x="7239000" y="4333875"/>
              <a:ext cx="4286250" cy="2000250"/>
            </a:xfrm>
            <a:prstGeom prst="roundRect">
              <a:avLst>
                <a:gd name="adj" fmla="val 6667"/>
              </a:avLst>
            </a:prstGeom>
            <a:solidFill>
              <a:schemeClr val="lt1"/>
            </a:solidFill>
            <a:ln w="14288">
              <a:solidFill>
                <a:srgbClr val="E2E8F0"/>
              </a:solidFill>
            </a:ln>
          </p:spPr>
          <p:txBody>
            <a:bodyPr/>
            <a:lstStyle/>
            <a:p>
              <a:endParaRPr lang="en-US"/>
            </a:p>
          </p:txBody>
        </p:sp>
        <p:sp>
          <p:nvSpPr>
            <p:cNvPr id="57" name="Rectangle 57"/>
            <p:cNvSpPr/>
            <p:nvPr/>
          </p:nvSpPr>
          <p:spPr>
            <a:xfrm>
              <a:off x="7239000" y="4333875"/>
              <a:ext cx="4286250" cy="57150"/>
            </a:xfrm>
            <a:prstGeom prst="roundRect">
              <a:avLst>
                <a:gd name="adj" fmla="val 50000"/>
              </a:avLst>
            </a:prstGeom>
            <a:solidFill>
              <a:schemeClr val="accent2"/>
            </a:solidFill>
            <a:ln>
              <a:noFill/>
            </a:ln>
          </p:spPr>
          <p:txBody>
            <a:bodyPr/>
            <a:lstStyle/>
            <a:p>
              <a:endParaRPr lang="en-US"/>
            </a:p>
          </p:txBody>
        </p:sp>
        <p:sp>
          <p:nvSpPr>
            <p:cNvPr id="58" name="TextBox 58"/>
            <p:cNvSpPr txBox="1"/>
            <p:nvPr/>
          </p:nvSpPr>
          <p:spPr>
            <a:xfrm>
              <a:off x="7519035" y="4527550"/>
              <a:ext cx="3362099" cy="220028"/>
            </a:xfrm>
            <a:prstGeom prst="rect">
              <a:avLst/>
            </a:prstGeom>
            <a:noFill/>
            <a:ln>
              <a:noFill/>
            </a:ln>
          </p:spPr>
          <p:txBody>
            <a:bodyPr wrap="none" lIns="0" tIns="0" rIns="0" bIns="0" anchor="t" anchorCtr="0">
              <a:spAutoFit/>
            </a:bodyPr>
            <a:lstStyle/>
            <a:p>
              <a:pPr algn="l"/>
              <a:r>
                <a:rPr lang="vi" sz="1120" b="1" dirty="0">
                  <a:solidFill>
                    <a:srgbClr val="065F46"/>
                  </a:solidFill>
                  <a:latin typeface="+mn-lt"/>
                  <a:ea typeface="+mn-ea"/>
                  <a:cs typeface="+mn-cs"/>
                </a:rPr>
                <a:t>Tính Bất Biến Theo Địa Lý (Region Invariance)</a:t>
              </a:r>
            </a:p>
          </p:txBody>
        </p:sp>
        <p:sp>
          <p:nvSpPr>
            <p:cNvPr id="59" name="TextBox 59"/>
            <p:cNvSpPr txBox="1"/>
            <p:nvPr/>
          </p:nvSpPr>
          <p:spPr>
            <a:xfrm>
              <a:off x="7519416" y="4826000"/>
              <a:ext cx="3521354" cy="205359"/>
            </a:xfrm>
            <a:prstGeom prst="rect">
              <a:avLst/>
            </a:prstGeom>
            <a:noFill/>
            <a:ln>
              <a:noFill/>
            </a:ln>
          </p:spPr>
          <p:txBody>
            <a:bodyPr wrap="none" lIns="0" tIns="0" rIns="0" bIns="0" anchor="t" anchorCtr="0">
              <a:spAutoFit/>
            </a:bodyPr>
            <a:lstStyle/>
            <a:p>
              <a:pPr marL="83730" indent="-83730" algn="l">
                <a:buClr>
                  <a:srgbClr val="334155"/>
                </a:buClr>
                <a:buSzTx/>
                <a:buFontTx/>
                <a:buChar char="•"/>
              </a:pPr>
              <a:r>
                <a:rPr lang="vi" sz="1050" dirty="0">
                  <a:solidFill>
                    <a:srgbClr val="334155"/>
                  </a:solidFill>
                  <a:latin typeface="+mn-lt"/>
                  <a:ea typeface="+mn-ea"/>
                  <a:cs typeface="+mn-cs"/>
                </a:rPr>
                <a:t>Tỷ lệ phân bổ Cụm 0 / Cụm 1 duy trì xấp xỉ </a:t>
              </a:r>
              <a:r>
                <a:rPr lang="vi" sz="1050" b="1" dirty="0">
                  <a:solidFill>
                    <a:srgbClr val="334155"/>
                  </a:solidFill>
                  <a:latin typeface="+mn-lt"/>
                  <a:ea typeface="+mn-ea"/>
                  <a:cs typeface="+mn-cs"/>
                </a:rPr>
                <a:t>40% / 60%</a:t>
              </a:r>
            </a:p>
          </p:txBody>
        </p:sp>
        <p:sp>
          <p:nvSpPr>
            <p:cNvPr id="60" name="TextBox 60"/>
            <p:cNvSpPr txBox="1"/>
            <p:nvPr/>
          </p:nvSpPr>
          <p:spPr>
            <a:xfrm>
              <a:off x="7662672" y="5045075"/>
              <a:ext cx="2546365"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trên cả 3 khu vực: Lisbon, Oporto và Other.</a:t>
              </a:r>
            </a:p>
          </p:txBody>
        </p:sp>
        <p:sp>
          <p:nvSpPr>
            <p:cNvPr id="61" name="TextBox 61"/>
            <p:cNvSpPr txBox="1"/>
            <p:nvPr/>
          </p:nvSpPr>
          <p:spPr>
            <a:xfrm>
              <a:off x="7519416" y="5349875"/>
              <a:ext cx="3163594" cy="205359"/>
            </a:xfrm>
            <a:prstGeom prst="rect">
              <a:avLst/>
            </a:prstGeom>
            <a:noFill/>
            <a:ln>
              <a:noFill/>
            </a:ln>
          </p:spPr>
          <p:txBody>
            <a:bodyPr wrap="none" lIns="0" tIns="0" rIns="0" bIns="0" anchor="t" anchorCtr="0">
              <a:spAutoFit/>
            </a:bodyPr>
            <a:lstStyle/>
            <a:p>
              <a:pPr marL="83730" indent="-83730" algn="l">
                <a:buClr>
                  <a:srgbClr val="334155"/>
                </a:buClr>
                <a:buSzTx/>
                <a:buFontTx/>
                <a:buChar char="•"/>
              </a:pPr>
              <a:r>
                <a:rPr lang="vi" sz="1050" dirty="0">
                  <a:solidFill>
                    <a:srgbClr val="334155"/>
                  </a:solidFill>
                  <a:latin typeface="+mn-lt"/>
                  <a:ea typeface="+mn-ea"/>
                  <a:cs typeface="+mn-cs"/>
                </a:rPr>
                <a:t>Cho thấy cơ cấu chi tiêu không bị chi phối cục bộ</a:t>
              </a:r>
            </a:p>
          </p:txBody>
        </p:sp>
        <p:sp>
          <p:nvSpPr>
            <p:cNvPr id="62" name="TextBox 62"/>
            <p:cNvSpPr txBox="1"/>
            <p:nvPr/>
          </p:nvSpPr>
          <p:spPr>
            <a:xfrm>
              <a:off x="7662672" y="5568950"/>
              <a:ext cx="3398598"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bởi địa lý, mà hoàn toàn xuất phát từ bản chất kinh doanh.</a:t>
              </a:r>
            </a:p>
          </p:txBody>
        </p:sp>
        <p:sp>
          <p:nvSpPr>
            <p:cNvPr id="63" name="TextBox 63"/>
            <p:cNvSpPr txBox="1"/>
            <p:nvPr/>
          </p:nvSpPr>
          <p:spPr>
            <a:xfrm>
              <a:off x="7519797" y="5873750"/>
              <a:ext cx="3011736" cy="191643"/>
            </a:xfrm>
            <a:prstGeom prst="rect">
              <a:avLst/>
            </a:prstGeom>
            <a:noFill/>
            <a:ln>
              <a:noFill/>
            </a:ln>
          </p:spPr>
          <p:txBody>
            <a:bodyPr wrap="none" lIns="0" tIns="0" rIns="0" bIns="0" anchor="t" anchorCtr="0">
              <a:spAutoFit/>
            </a:bodyPr>
            <a:lstStyle/>
            <a:p>
              <a:pPr algn="l"/>
              <a:r>
                <a:rPr lang="vi" sz="980" b="1" dirty="0">
                  <a:solidFill>
                    <a:srgbClr val="059669"/>
                  </a:solidFill>
                  <a:latin typeface="+mn-lt"/>
                  <a:ea typeface="+mn-ea"/>
                  <a:cs typeface="+mn-cs"/>
                </a:rPr>
                <a:t>➔ Mô hình có thể triển khai mở rộng toàn quốc.</a:t>
              </a:r>
            </a:p>
          </p:txBody>
        </p:sp>
      </p:grpSp>
      <p:grpSp>
        <p:nvGrpSpPr>
          <p:cNvPr id="68" name="footer"/>
          <p:cNvGrpSpPr/>
          <p:nvPr/>
        </p:nvGrpSpPr>
        <p:grpSpPr>
          <a:xfrm>
            <a:off x="661797" y="6429375"/>
            <a:ext cx="10868406" cy="264668"/>
            <a:chOff x="661797" y="6429375"/>
            <a:chExt cx="10868406" cy="264668"/>
          </a:xfrm>
        </p:grpSpPr>
        <p:sp>
          <p:nvSpPr>
            <p:cNvPr id="65" name="Line 65"/>
            <p:cNvSpPr/>
            <p:nvPr/>
          </p:nvSpPr>
          <p:spPr>
            <a:xfrm>
              <a:off x="666750" y="6429375"/>
              <a:ext cx="10858500" cy="9525"/>
            </a:xfrm>
            <a:custGeom>
              <a:avLst/>
              <a:gdLst/>
              <a:ahLst/>
              <a:cxnLst/>
              <a:rect l="l" t="t" r="r" b="b"/>
              <a:pathLst>
                <a:path w="10858500" h="9525">
                  <a:moveTo>
                    <a:pt x="0" y="0"/>
                  </a:moveTo>
                  <a:lnTo>
                    <a:pt x="10858500" y="0"/>
                  </a:lnTo>
                </a:path>
              </a:pathLst>
            </a:custGeom>
            <a:noFill/>
            <a:ln w="9525">
              <a:solidFill>
                <a:srgbClr val="E2E8F0"/>
              </a:solidFill>
            </a:ln>
          </p:spPr>
          <p:txBody>
            <a:bodyPr/>
            <a:lstStyle/>
            <a:p>
              <a:endParaRPr lang="en-US"/>
            </a:p>
          </p:txBody>
        </p:sp>
        <p:sp>
          <p:nvSpPr>
            <p:cNvPr id="66" name="TextBox 66"/>
            <p:cNvSpPr txBox="1"/>
            <p:nvPr/>
          </p:nvSpPr>
          <p:spPr>
            <a:xfrm>
              <a:off x="661797" y="6502400"/>
              <a:ext cx="5799743"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Đồ Án Machine Learning Phân Khúc Khách Hàng Bán Sỉ • Project 22 (UCI Wholesale Customers)</a:t>
              </a:r>
            </a:p>
          </p:txBody>
        </p:sp>
        <p:sp>
          <p:nvSpPr>
            <p:cNvPr id="67" name="TextBox 67"/>
            <p:cNvSpPr txBox="1"/>
            <p:nvPr/>
          </p:nvSpPr>
          <p:spPr>
            <a:xfrm>
              <a:off x="11116836" y="6502400"/>
              <a:ext cx="413367" cy="191643"/>
            </a:xfrm>
            <a:prstGeom prst="rect">
              <a:avLst/>
            </a:prstGeom>
            <a:noFill/>
            <a:ln>
              <a:noFill/>
            </a:ln>
          </p:spPr>
          <p:txBody>
            <a:bodyPr wrap="none" lIns="0" tIns="0" rIns="0" bIns="0" anchor="t" anchorCtr="0">
              <a:spAutoFit/>
            </a:bodyPr>
            <a:lstStyle/>
            <a:p>
              <a:pPr algn="r"/>
              <a:r>
                <a:rPr lang="vi" sz="980" b="1" dirty="0">
                  <a:solidFill>
                    <a:srgbClr val="475569"/>
                  </a:solidFill>
                  <a:latin typeface="+mn-lt"/>
                  <a:ea typeface="+mn-ea"/>
                  <a:cs typeface="+mn-cs"/>
                </a:rPr>
                <a:t>10 / 15</a:t>
              </a:r>
            </a:p>
          </p:txBody>
        </p:sp>
      </p:grpSp>
    </p:spTree>
  </p:cSld>
  <p:clrMapOvr>
    <a:masterClrMapping/>
  </p:clrMapOvr>
  <mc:AlternateContent xmlns:mc="http://schemas.openxmlformats.org/markup-compatibility/2006" xmlns:p14="http://schemas.microsoft.com/office/powerpoint/2010/main">
    <mc:Choice Requires="p14">
      <p:transition spd="med" p14:dur="700">
        <p14:reveal dir="r"/>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400"/>
                            </p:stCondLst>
                            <p:childTnLst>
                              <p:par>
                                <p:cTn id="9" presetID="10" presetClass="entr" presetSubtype="0" fill="hold" nodeType="afterEffect">
                                  <p:stCondLst>
                                    <p:cond delay="50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par>
                          <p:cTn id="12" fill="hold">
                            <p:stCondLst>
                              <p:cond delay="1400"/>
                            </p:stCondLst>
                            <p:childTnLst>
                              <p:par>
                                <p:cTn id="13" presetID="22" presetClass="entr" presetSubtype="4" fill="hold" nodeType="afterEffect">
                                  <p:stCondLst>
                                    <p:cond delay="500"/>
                                  </p:stCondLst>
                                  <p:childTnLst>
                                    <p:set>
                                      <p:cBhvr>
                                        <p:cTn id="14" dur="1" fill="hold">
                                          <p:stCondLst>
                                            <p:cond delay="0"/>
                                          </p:stCondLst>
                                        </p:cTn>
                                        <p:tgtEl>
                                          <p:spTgt spid="47"/>
                                        </p:tgtEl>
                                        <p:attrNameLst>
                                          <p:attrName>style.visibility</p:attrName>
                                        </p:attrNameLst>
                                      </p:cBhvr>
                                      <p:to>
                                        <p:strVal val="visible"/>
                                      </p:to>
                                    </p:set>
                                    <p:animEffect transition="in" filter="wipe(down)">
                                      <p:cBhvr>
                                        <p:cTn id="15" dur="700"/>
                                        <p:tgtEl>
                                          <p:spTgt spid="47"/>
                                        </p:tgtEl>
                                      </p:cBhvr>
                                    </p:animEffect>
                                  </p:childTnLst>
                                </p:cTn>
                              </p:par>
                            </p:childTnLst>
                          </p:cTn>
                        </p:par>
                        <p:par>
                          <p:cTn id="16" fill="hold">
                            <p:stCondLst>
                              <p:cond delay="2600"/>
                            </p:stCondLst>
                            <p:childTnLst>
                              <p:par>
                                <p:cTn id="17" presetID="2" presetClass="entr" presetSubtype="4" fill="hold" nodeType="afterEffect">
                                  <p:stCondLst>
                                    <p:cond delay="500"/>
                                  </p:stCondLst>
                                  <p:childTnLst>
                                    <p:set>
                                      <p:cBhvr>
                                        <p:cTn id="18" dur="1" fill="hold">
                                          <p:stCondLst>
                                            <p:cond delay="0"/>
                                          </p:stCondLst>
                                        </p:cTn>
                                        <p:tgtEl>
                                          <p:spTgt spid="64"/>
                                        </p:tgtEl>
                                        <p:attrNameLst>
                                          <p:attrName>style.visibility</p:attrName>
                                        </p:attrNameLst>
                                      </p:cBhvr>
                                      <p:to>
                                        <p:strVal val="visible"/>
                                      </p:to>
                                    </p:set>
                                    <p:anim calcmode="lin" valueType="num">
                                      <p:cBhvr additive="base">
                                        <p:cTn id="19" dur="700" fill="hold"/>
                                        <p:tgtEl>
                                          <p:spTgt spid="64"/>
                                        </p:tgtEl>
                                        <p:attrNameLst>
                                          <p:attrName>ppt_x</p:attrName>
                                        </p:attrNameLst>
                                      </p:cBhvr>
                                      <p:tavLst>
                                        <p:tav tm="0">
                                          <p:val>
                                            <p:strVal val="#ppt_x"/>
                                          </p:val>
                                        </p:tav>
                                        <p:tav tm="100000">
                                          <p:val>
                                            <p:strVal val="#ppt_x"/>
                                          </p:val>
                                        </p:tav>
                                      </p:tavLst>
                                    </p:anim>
                                    <p:anim calcmode="lin" valueType="num">
                                      <p:cBhvr additive="base">
                                        <p:cTn id="20" dur="700" fill="hold"/>
                                        <p:tgtEl>
                                          <p:spTgt spid="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page-background"/>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8FAFC"/>
            </a:solidFill>
            <a:ln>
              <a:noFill/>
            </a:ln>
          </p:spPr>
          <p:txBody>
            <a:bodyPr/>
            <a:lstStyle/>
            <a:p>
              <a:endParaRPr lang="en-US"/>
            </a:p>
          </p:txBody>
        </p:sp>
        <p:sp>
          <p:nvSpPr>
            <p:cNvPr id="3" name="Rectangle 3"/>
            <p:cNvSpPr/>
            <p:nvPr/>
          </p:nvSpPr>
          <p:spPr>
            <a:xfrm>
              <a:off x="0" y="0"/>
              <a:ext cx="12192000" cy="57150"/>
            </a:xfrm>
            <a:prstGeom prst="rect">
              <a:avLst/>
            </a:prstGeom>
            <a:gradFill>
              <a:gsLst>
                <a:gs pos="0">
                  <a:srgbClr val="1E3A8A"/>
                </a:gs>
                <a:gs pos="50000">
                  <a:schemeClr val="accent1"/>
                </a:gs>
                <a:gs pos="100000">
                  <a:srgbClr val="0EA5E9"/>
                </a:gs>
              </a:gsLst>
              <a:lin ang="0" scaled="1"/>
            </a:gradFill>
            <a:ln>
              <a:noFill/>
            </a:ln>
          </p:spPr>
          <p:txBody>
            <a:bodyPr/>
            <a:lstStyle/>
            <a:p>
              <a:endParaRPr lang="en-US"/>
            </a:p>
          </p:txBody>
        </p:sp>
      </p:grpSp>
      <p:grpSp>
        <p:nvGrpSpPr>
          <p:cNvPr id="9" name="header"/>
          <p:cNvGrpSpPr/>
          <p:nvPr/>
        </p:nvGrpSpPr>
        <p:grpSpPr>
          <a:xfrm>
            <a:off x="654558" y="304800"/>
            <a:ext cx="8292630" cy="899478"/>
            <a:chOff x="654558" y="304800"/>
            <a:chExt cx="8292630" cy="899478"/>
          </a:xfrm>
        </p:grpSpPr>
        <p:sp>
          <p:nvSpPr>
            <p:cNvPr id="5" name="Rectangle 5"/>
            <p:cNvSpPr/>
            <p:nvPr/>
          </p:nvSpPr>
          <p:spPr>
            <a:xfrm>
              <a:off x="666750" y="304800"/>
              <a:ext cx="1828800" cy="247650"/>
            </a:xfrm>
            <a:prstGeom prst="roundRect">
              <a:avLst>
                <a:gd name="adj" fmla="val 23077"/>
              </a:avLst>
            </a:prstGeom>
            <a:solidFill>
              <a:srgbClr val="EFF6FF"/>
            </a:solidFill>
            <a:ln w="9525">
              <a:solidFill>
                <a:srgbClr val="BFDBFE"/>
              </a:solidFill>
            </a:ln>
          </p:spPr>
          <p:txBody>
            <a:bodyPr/>
            <a:lstStyle/>
            <a:p>
              <a:endParaRPr lang="en-US"/>
            </a:p>
          </p:txBody>
        </p:sp>
        <p:sp>
          <p:nvSpPr>
            <p:cNvPr id="6" name="TextBox 6"/>
            <p:cNvSpPr txBox="1"/>
            <p:nvPr/>
          </p:nvSpPr>
          <p:spPr>
            <a:xfrm>
              <a:off x="844207" y="365125"/>
              <a:ext cx="1473886" cy="161925"/>
            </a:xfrm>
            <a:prstGeom prst="rect">
              <a:avLst/>
            </a:prstGeom>
            <a:noFill/>
            <a:ln>
              <a:noFill/>
            </a:ln>
          </p:spPr>
          <p:txBody>
            <a:bodyPr wrap="none" lIns="0" tIns="0" rIns="0" bIns="0" anchor="t" anchorCtr="0">
              <a:spAutoFit/>
            </a:bodyPr>
            <a:lstStyle/>
            <a:p>
              <a:pPr algn="ctr"/>
              <a:r>
                <a:rPr lang="vi" sz="820" b="1" spc="75" dirty="0">
                  <a:solidFill>
                    <a:srgbClr val="1D4ED8"/>
                  </a:solidFill>
                  <a:latin typeface="+mn-lt"/>
                  <a:ea typeface="+mn-ea"/>
                  <a:cs typeface="+mn-cs"/>
                </a:rPr>
                <a:t>KIẾN TRÚC HỆ THỐNG</a:t>
              </a:r>
            </a:p>
          </p:txBody>
        </p:sp>
        <p:sp>
          <p:nvSpPr>
            <p:cNvPr id="7" name="TextBox 7"/>
            <p:cNvSpPr txBox="1"/>
            <p:nvPr/>
          </p:nvSpPr>
          <p:spPr>
            <a:xfrm>
              <a:off x="654558" y="584200"/>
              <a:ext cx="8292630" cy="469392"/>
            </a:xfrm>
            <a:prstGeom prst="rect">
              <a:avLst/>
            </a:prstGeom>
            <a:noFill/>
            <a:ln>
              <a:noFill/>
            </a:ln>
          </p:spPr>
          <p:txBody>
            <a:bodyPr wrap="none" lIns="0" tIns="0" rIns="0" bIns="0" anchor="t" anchorCtr="0">
              <a:spAutoFit/>
            </a:bodyPr>
            <a:lstStyle/>
            <a:p>
              <a:pPr algn="l"/>
              <a:r>
                <a:rPr lang="vi" sz="2400" b="1" dirty="0">
                  <a:solidFill>
                    <a:srgbClr val="0F172A"/>
                  </a:solidFill>
                  <a:latin typeface="+mn-lt"/>
                  <a:ea typeface="+mn-ea"/>
                  <a:cs typeface="+mn-cs"/>
                </a:rPr>
                <a:t>Kiến Trúc Tổng Thể &amp; Tech Stack Triển Khai Thực Tế</a:t>
              </a:r>
            </a:p>
          </p:txBody>
        </p:sp>
        <p:sp>
          <p:nvSpPr>
            <p:cNvPr id="8" name="TextBox 8"/>
            <p:cNvSpPr txBox="1"/>
            <p:nvPr/>
          </p:nvSpPr>
          <p:spPr>
            <a:xfrm>
              <a:off x="661035" y="984250"/>
              <a:ext cx="5574385" cy="220028"/>
            </a:xfrm>
            <a:prstGeom prst="rect">
              <a:avLst/>
            </a:prstGeom>
            <a:noFill/>
            <a:ln>
              <a:noFill/>
            </a:ln>
          </p:spPr>
          <p:txBody>
            <a:bodyPr wrap="none" lIns="0" tIns="0" rIns="0" bIns="0" anchor="t" anchorCtr="0">
              <a:spAutoFit/>
            </a:bodyPr>
            <a:lstStyle/>
            <a:p>
              <a:pPr algn="l"/>
              <a:r>
                <a:rPr lang="vi" sz="1120" dirty="0">
                  <a:solidFill>
                    <a:srgbClr val="475569"/>
                  </a:solidFill>
                  <a:latin typeface="+mn-lt"/>
                  <a:ea typeface="+mn-ea"/>
                  <a:cs typeface="+mn-cs"/>
                </a:rPr>
                <a:t>Mô hình phục vụ 3 lớp: Giao diện trực quan, API trung gian và Lõi mô hình bất biến</a:t>
              </a:r>
            </a:p>
          </p:txBody>
        </p:sp>
      </p:grpSp>
      <p:grpSp>
        <p:nvGrpSpPr>
          <p:cNvPr id="58" name="system-architecture"/>
          <p:cNvGrpSpPr/>
          <p:nvPr/>
        </p:nvGrpSpPr>
        <p:grpSpPr>
          <a:xfrm>
            <a:off x="666750" y="1524000"/>
            <a:ext cx="10858500" cy="4667250"/>
            <a:chOff x="666750" y="1524000"/>
            <a:chExt cx="10858500" cy="4667250"/>
          </a:xfrm>
        </p:grpSpPr>
        <p:sp>
          <p:nvSpPr>
            <p:cNvPr id="10" name="Rectangle 10"/>
            <p:cNvSpPr/>
            <p:nvPr/>
          </p:nvSpPr>
          <p:spPr>
            <a:xfrm>
              <a:off x="666750" y="1524000"/>
              <a:ext cx="3429000" cy="4667250"/>
            </a:xfrm>
            <a:prstGeom prst="roundRect">
              <a:avLst>
                <a:gd name="adj" fmla="val 3889"/>
              </a:avLst>
            </a:prstGeom>
            <a:solidFill>
              <a:schemeClr val="lt1"/>
            </a:solidFill>
            <a:ln w="14288">
              <a:solidFill>
                <a:srgbClr val="E2E8F0"/>
              </a:solidFill>
            </a:ln>
          </p:spPr>
          <p:txBody>
            <a:bodyPr/>
            <a:lstStyle/>
            <a:p>
              <a:endParaRPr lang="en-US"/>
            </a:p>
          </p:txBody>
        </p:sp>
        <p:sp>
          <p:nvSpPr>
            <p:cNvPr id="11" name="Rectangle 11"/>
            <p:cNvSpPr/>
            <p:nvPr/>
          </p:nvSpPr>
          <p:spPr>
            <a:xfrm>
              <a:off x="666750" y="1524000"/>
              <a:ext cx="3429000" cy="57150"/>
            </a:xfrm>
            <a:prstGeom prst="roundRect">
              <a:avLst>
                <a:gd name="adj" fmla="val 50000"/>
              </a:avLst>
            </a:prstGeom>
            <a:solidFill>
              <a:srgbClr val="3B82F6"/>
            </a:solidFill>
            <a:ln>
              <a:noFill/>
            </a:ln>
          </p:spPr>
          <p:txBody>
            <a:bodyPr/>
            <a:lstStyle/>
            <a:p>
              <a:endParaRPr lang="en-US"/>
            </a:p>
          </p:txBody>
        </p:sp>
        <p:sp>
          <p:nvSpPr>
            <p:cNvPr id="12" name="TextBox 12"/>
            <p:cNvSpPr txBox="1"/>
            <p:nvPr/>
          </p:nvSpPr>
          <p:spPr>
            <a:xfrm>
              <a:off x="947547" y="1730375"/>
              <a:ext cx="2309787" cy="191643"/>
            </a:xfrm>
            <a:prstGeom prst="rect">
              <a:avLst/>
            </a:prstGeom>
            <a:noFill/>
            <a:ln>
              <a:noFill/>
            </a:ln>
          </p:spPr>
          <p:txBody>
            <a:bodyPr wrap="none" lIns="0" tIns="0" rIns="0" bIns="0" anchor="t" anchorCtr="0">
              <a:spAutoFit/>
            </a:bodyPr>
            <a:lstStyle/>
            <a:p>
              <a:pPr algn="l"/>
              <a:r>
                <a:rPr lang="vi" sz="980" b="1" dirty="0">
                  <a:solidFill>
                    <a:srgbClr val="1D4ED8"/>
                  </a:solidFill>
                  <a:latin typeface="+mn-lt"/>
                  <a:ea typeface="+mn-ea"/>
                  <a:cs typeface="+mn-cs"/>
                </a:rPr>
                <a:t>TẦNG 1: TRÌNH DIỄN (FRONTEND)</a:t>
              </a:r>
            </a:p>
          </p:txBody>
        </p:sp>
        <p:sp>
          <p:nvSpPr>
            <p:cNvPr id="13" name="TextBox 13"/>
            <p:cNvSpPr txBox="1"/>
            <p:nvPr/>
          </p:nvSpPr>
          <p:spPr>
            <a:xfrm>
              <a:off x="945642" y="1978025"/>
              <a:ext cx="1710046" cy="264033"/>
            </a:xfrm>
            <a:prstGeom prst="rect">
              <a:avLst/>
            </a:prstGeom>
            <a:noFill/>
            <a:ln>
              <a:noFill/>
            </a:ln>
          </p:spPr>
          <p:txBody>
            <a:bodyPr wrap="none" lIns="0" tIns="0" rIns="0" bIns="0" anchor="t" anchorCtr="0">
              <a:spAutoFit/>
            </a:bodyPr>
            <a:lstStyle/>
            <a:p>
              <a:pPr algn="l"/>
              <a:r>
                <a:rPr lang="vi" sz="1350" b="1" dirty="0">
                  <a:solidFill>
                    <a:srgbClr val="0F172A"/>
                  </a:solidFill>
                  <a:latin typeface="+mn-lt"/>
                  <a:ea typeface="+mn-ea"/>
                  <a:cs typeface="+mn-cs"/>
                </a:rPr>
                <a:t>React 18 + Tailwind</a:t>
              </a:r>
            </a:p>
          </p:txBody>
        </p:sp>
        <p:sp>
          <p:nvSpPr>
            <p:cNvPr id="14" name="TextBox 14"/>
            <p:cNvSpPr txBox="1"/>
            <p:nvPr/>
          </p:nvSpPr>
          <p:spPr>
            <a:xfrm>
              <a:off x="947547" y="2254250"/>
              <a:ext cx="2550439"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Giao diện SPA hiện đại, đáp ứng đa thiết bị</a:t>
              </a:r>
            </a:p>
          </p:txBody>
        </p:sp>
        <p:sp>
          <p:nvSpPr>
            <p:cNvPr id="15" name="Rectangle 15"/>
            <p:cNvSpPr/>
            <p:nvPr/>
          </p:nvSpPr>
          <p:spPr>
            <a:xfrm>
              <a:off x="904875" y="2619375"/>
              <a:ext cx="2952750" cy="619125"/>
            </a:xfrm>
            <a:prstGeom prst="roundRect">
              <a:avLst>
                <a:gd name="adj" fmla="val 12308"/>
              </a:avLst>
            </a:prstGeom>
            <a:solidFill>
              <a:srgbClr val="F8FAFC"/>
            </a:solidFill>
            <a:ln w="9525">
              <a:solidFill>
                <a:srgbClr val="E2E8F0"/>
              </a:solidFill>
            </a:ln>
          </p:spPr>
          <p:txBody>
            <a:bodyPr/>
            <a:lstStyle/>
            <a:p>
              <a:endParaRPr lang="en-US"/>
            </a:p>
          </p:txBody>
        </p:sp>
        <p:sp>
          <p:nvSpPr>
            <p:cNvPr id="16" name="TextBox 16"/>
            <p:cNvSpPr txBox="1"/>
            <p:nvPr/>
          </p:nvSpPr>
          <p:spPr>
            <a:xfrm>
              <a:off x="1042797" y="2749550"/>
              <a:ext cx="2144634" cy="191643"/>
            </a:xfrm>
            <a:prstGeom prst="rect">
              <a:avLst/>
            </a:prstGeom>
            <a:noFill/>
            <a:ln>
              <a:noFill/>
            </a:ln>
          </p:spPr>
          <p:txBody>
            <a:bodyPr wrap="none" lIns="0" tIns="0" rIns="0" bIns="0" anchor="t" anchorCtr="0">
              <a:spAutoFit/>
            </a:bodyPr>
            <a:lstStyle/>
            <a:p>
              <a:pPr algn="l"/>
              <a:r>
                <a:rPr lang="vi" sz="980" b="1" dirty="0">
                  <a:solidFill>
                    <a:srgbClr val="0F172A"/>
                  </a:solidFill>
                  <a:latin typeface="+mn-lt"/>
                  <a:ea typeface="+mn-ea"/>
                  <a:cs typeface="+mn-cs"/>
                </a:rPr>
                <a:t>Biểu Mẫu Nhập Liệu 6 Đặc Trưng:</a:t>
              </a:r>
            </a:p>
          </p:txBody>
        </p:sp>
        <p:sp>
          <p:nvSpPr>
            <p:cNvPr id="17" name="TextBox 17"/>
            <p:cNvSpPr txBox="1"/>
            <p:nvPr/>
          </p:nvSpPr>
          <p:spPr>
            <a:xfrm>
              <a:off x="1042988" y="2981325"/>
              <a:ext cx="2067513" cy="176212"/>
            </a:xfrm>
            <a:prstGeom prst="rect">
              <a:avLst/>
            </a:prstGeom>
            <a:noFill/>
            <a:ln>
              <a:noFill/>
            </a:ln>
          </p:spPr>
          <p:txBody>
            <a:bodyPr wrap="none" lIns="0" tIns="0" rIns="0" bIns="0" anchor="t" anchorCtr="0">
              <a:spAutoFit/>
            </a:bodyPr>
            <a:lstStyle/>
            <a:p>
              <a:pPr algn="l"/>
              <a:r>
                <a:rPr lang="vi" sz="900" dirty="0">
                  <a:solidFill>
                    <a:srgbClr val="64748B"/>
                  </a:solidFill>
                  <a:latin typeface="+mn-lt"/>
                  <a:ea typeface="+mn-ea"/>
                  <a:cs typeface="+mn-cs"/>
                </a:rPr>
                <a:t>Kiểm tra giá trị biên &amp; cảnh báo tức thì</a:t>
              </a:r>
            </a:p>
          </p:txBody>
        </p:sp>
        <p:sp>
          <p:nvSpPr>
            <p:cNvPr id="18" name="Rectangle 18"/>
            <p:cNvSpPr/>
            <p:nvPr/>
          </p:nvSpPr>
          <p:spPr>
            <a:xfrm>
              <a:off x="904875" y="3333750"/>
              <a:ext cx="2952750" cy="619125"/>
            </a:xfrm>
            <a:prstGeom prst="roundRect">
              <a:avLst>
                <a:gd name="adj" fmla="val 12308"/>
              </a:avLst>
            </a:prstGeom>
            <a:solidFill>
              <a:srgbClr val="F8FAFC"/>
            </a:solidFill>
            <a:ln w="9525">
              <a:solidFill>
                <a:srgbClr val="E2E8F0"/>
              </a:solidFill>
            </a:ln>
          </p:spPr>
          <p:txBody>
            <a:bodyPr/>
            <a:lstStyle/>
            <a:p>
              <a:endParaRPr lang="en-US"/>
            </a:p>
          </p:txBody>
        </p:sp>
        <p:sp>
          <p:nvSpPr>
            <p:cNvPr id="19" name="TextBox 19"/>
            <p:cNvSpPr txBox="1"/>
            <p:nvPr/>
          </p:nvSpPr>
          <p:spPr>
            <a:xfrm>
              <a:off x="1042797" y="3463925"/>
              <a:ext cx="1850797" cy="191643"/>
            </a:xfrm>
            <a:prstGeom prst="rect">
              <a:avLst/>
            </a:prstGeom>
            <a:noFill/>
            <a:ln>
              <a:noFill/>
            </a:ln>
          </p:spPr>
          <p:txBody>
            <a:bodyPr wrap="none" lIns="0" tIns="0" rIns="0" bIns="0" anchor="t" anchorCtr="0">
              <a:spAutoFit/>
            </a:bodyPr>
            <a:lstStyle/>
            <a:p>
              <a:pPr algn="l"/>
              <a:r>
                <a:rPr lang="vi" sz="980" b="1" dirty="0">
                  <a:solidFill>
                    <a:srgbClr val="0F172A"/>
                  </a:solidFill>
                  <a:latin typeface="+mn-lt"/>
                  <a:ea typeface="+mn-ea"/>
                  <a:cs typeface="+mn-cs"/>
                </a:rPr>
                <a:t>Trực Quan Hóa Đồ Thị Động:</a:t>
              </a:r>
            </a:p>
          </p:txBody>
        </p:sp>
        <p:sp>
          <p:nvSpPr>
            <p:cNvPr id="20" name="TextBox 20"/>
            <p:cNvSpPr txBox="1"/>
            <p:nvPr/>
          </p:nvSpPr>
          <p:spPr>
            <a:xfrm>
              <a:off x="1042988" y="3695700"/>
              <a:ext cx="2121473" cy="176212"/>
            </a:xfrm>
            <a:prstGeom prst="rect">
              <a:avLst/>
            </a:prstGeom>
            <a:noFill/>
            <a:ln>
              <a:noFill/>
            </a:ln>
          </p:spPr>
          <p:txBody>
            <a:bodyPr wrap="none" lIns="0" tIns="0" rIns="0" bIns="0" anchor="t" anchorCtr="0">
              <a:spAutoFit/>
            </a:bodyPr>
            <a:lstStyle/>
            <a:p>
              <a:pPr algn="l"/>
              <a:r>
                <a:rPr lang="vi" sz="900" dirty="0">
                  <a:solidFill>
                    <a:srgbClr val="64748B"/>
                  </a:solidFill>
                  <a:latin typeface="+mn-lt"/>
                  <a:ea typeface="+mn-ea"/>
                  <a:cs typeface="+mn-cs"/>
                </a:rPr>
                <a:t>Radar chart so sánh hồ sơ với tâm cụm</a:t>
              </a:r>
            </a:p>
          </p:txBody>
        </p:sp>
        <p:sp>
          <p:nvSpPr>
            <p:cNvPr id="21" name="Rectangle 21"/>
            <p:cNvSpPr/>
            <p:nvPr/>
          </p:nvSpPr>
          <p:spPr>
            <a:xfrm>
              <a:off x="904875" y="4048125"/>
              <a:ext cx="2952750" cy="619125"/>
            </a:xfrm>
            <a:prstGeom prst="roundRect">
              <a:avLst>
                <a:gd name="adj" fmla="val 12308"/>
              </a:avLst>
            </a:prstGeom>
            <a:solidFill>
              <a:srgbClr val="F8FAFC"/>
            </a:solidFill>
            <a:ln w="9525">
              <a:solidFill>
                <a:srgbClr val="E2E8F0"/>
              </a:solidFill>
            </a:ln>
          </p:spPr>
          <p:txBody>
            <a:bodyPr/>
            <a:lstStyle/>
            <a:p>
              <a:endParaRPr lang="en-US"/>
            </a:p>
          </p:txBody>
        </p:sp>
        <p:sp>
          <p:nvSpPr>
            <p:cNvPr id="22" name="TextBox 22"/>
            <p:cNvSpPr txBox="1"/>
            <p:nvPr/>
          </p:nvSpPr>
          <p:spPr>
            <a:xfrm>
              <a:off x="1042797" y="4178300"/>
              <a:ext cx="1875216" cy="191643"/>
            </a:xfrm>
            <a:prstGeom prst="rect">
              <a:avLst/>
            </a:prstGeom>
            <a:noFill/>
            <a:ln>
              <a:noFill/>
            </a:ln>
          </p:spPr>
          <p:txBody>
            <a:bodyPr wrap="none" lIns="0" tIns="0" rIns="0" bIns="0" anchor="t" anchorCtr="0">
              <a:spAutoFit/>
            </a:bodyPr>
            <a:lstStyle/>
            <a:p>
              <a:pPr algn="l"/>
              <a:r>
                <a:rPr lang="vi" sz="980" b="1" dirty="0">
                  <a:solidFill>
                    <a:srgbClr val="0F172A"/>
                  </a:solidFill>
                  <a:latin typeface="+mn-lt"/>
                  <a:ea typeface="+mn-ea"/>
                  <a:cs typeface="+mn-cs"/>
                </a:rPr>
                <a:t>Xử Lý Batch &amp; Xuất Báo Cáo:</a:t>
              </a:r>
            </a:p>
          </p:txBody>
        </p:sp>
        <p:sp>
          <p:nvSpPr>
            <p:cNvPr id="23" name="TextBox 23"/>
            <p:cNvSpPr txBox="1"/>
            <p:nvPr/>
          </p:nvSpPr>
          <p:spPr>
            <a:xfrm>
              <a:off x="1042988" y="4410075"/>
              <a:ext cx="2078860" cy="176212"/>
            </a:xfrm>
            <a:prstGeom prst="rect">
              <a:avLst/>
            </a:prstGeom>
            <a:noFill/>
            <a:ln>
              <a:noFill/>
            </a:ln>
          </p:spPr>
          <p:txBody>
            <a:bodyPr wrap="none" lIns="0" tIns="0" rIns="0" bIns="0" anchor="t" anchorCtr="0">
              <a:spAutoFit/>
            </a:bodyPr>
            <a:lstStyle/>
            <a:p>
              <a:pPr algn="l"/>
              <a:r>
                <a:rPr lang="vi" sz="900" dirty="0">
                  <a:solidFill>
                    <a:srgbClr val="64748B"/>
                  </a:solidFill>
                  <a:latin typeface="+mn-lt"/>
                  <a:ea typeface="+mn-ea"/>
                  <a:cs typeface="+mn-cs"/>
                </a:rPr>
                <a:t>Tải lên file CSV và phân loại hàng loạt</a:t>
              </a:r>
            </a:p>
          </p:txBody>
        </p:sp>
        <p:sp>
          <p:nvSpPr>
            <p:cNvPr id="24" name="Rectangle 24"/>
            <p:cNvSpPr/>
            <p:nvPr/>
          </p:nvSpPr>
          <p:spPr>
            <a:xfrm>
              <a:off x="904875" y="5572125"/>
              <a:ext cx="2952750" cy="428625"/>
            </a:xfrm>
            <a:prstGeom prst="roundRect">
              <a:avLst>
                <a:gd name="adj" fmla="val 17778"/>
              </a:avLst>
            </a:prstGeom>
            <a:solidFill>
              <a:srgbClr val="EFF6FF"/>
            </a:solidFill>
            <a:ln>
              <a:noFill/>
            </a:ln>
          </p:spPr>
          <p:txBody>
            <a:bodyPr/>
            <a:lstStyle/>
            <a:p>
              <a:endParaRPr lang="en-US"/>
            </a:p>
          </p:txBody>
        </p:sp>
        <p:sp>
          <p:nvSpPr>
            <p:cNvPr id="25" name="TextBox 25"/>
            <p:cNvSpPr txBox="1"/>
            <p:nvPr/>
          </p:nvSpPr>
          <p:spPr>
            <a:xfrm>
              <a:off x="1178585" y="5715000"/>
              <a:ext cx="2405330" cy="176212"/>
            </a:xfrm>
            <a:prstGeom prst="rect">
              <a:avLst/>
            </a:prstGeom>
            <a:noFill/>
            <a:ln>
              <a:noFill/>
            </a:ln>
          </p:spPr>
          <p:txBody>
            <a:bodyPr wrap="none" lIns="0" tIns="0" rIns="0" bIns="0" anchor="t" anchorCtr="0">
              <a:spAutoFit/>
            </a:bodyPr>
            <a:lstStyle/>
            <a:p>
              <a:pPr algn="ctr"/>
              <a:r>
                <a:rPr lang="vi" sz="900" b="1" dirty="0">
                  <a:solidFill>
                    <a:srgbClr val="1D4ED8"/>
                  </a:solidFill>
                  <a:latin typeface="+mn-lt"/>
                  <a:ea typeface="+mn-ea"/>
                  <a:cs typeface="+mn-cs"/>
                </a:rPr>
                <a:t>TypeScript • Vite • TailwindCSS • Chart.js</a:t>
              </a:r>
            </a:p>
          </p:txBody>
        </p:sp>
        <p:sp>
          <p:nvSpPr>
            <p:cNvPr id="26" name="Rectangle 26"/>
            <p:cNvSpPr/>
            <p:nvPr/>
          </p:nvSpPr>
          <p:spPr>
            <a:xfrm>
              <a:off x="4381500" y="1524000"/>
              <a:ext cx="3429000" cy="4667250"/>
            </a:xfrm>
            <a:prstGeom prst="roundRect">
              <a:avLst>
                <a:gd name="adj" fmla="val 3889"/>
              </a:avLst>
            </a:prstGeom>
            <a:solidFill>
              <a:schemeClr val="lt1"/>
            </a:solidFill>
            <a:ln w="14288">
              <a:solidFill>
                <a:srgbClr val="E2E8F0"/>
              </a:solidFill>
            </a:ln>
          </p:spPr>
          <p:txBody>
            <a:bodyPr/>
            <a:lstStyle/>
            <a:p>
              <a:endParaRPr lang="en-US"/>
            </a:p>
          </p:txBody>
        </p:sp>
        <p:sp>
          <p:nvSpPr>
            <p:cNvPr id="27" name="Rectangle 27"/>
            <p:cNvSpPr/>
            <p:nvPr/>
          </p:nvSpPr>
          <p:spPr>
            <a:xfrm>
              <a:off x="4381500" y="1524000"/>
              <a:ext cx="3429000" cy="57150"/>
            </a:xfrm>
            <a:prstGeom prst="roundRect">
              <a:avLst>
                <a:gd name="adj" fmla="val 50000"/>
              </a:avLst>
            </a:prstGeom>
            <a:solidFill>
              <a:srgbClr val="059669"/>
            </a:solidFill>
            <a:ln>
              <a:noFill/>
            </a:ln>
          </p:spPr>
          <p:txBody>
            <a:bodyPr/>
            <a:lstStyle/>
            <a:p>
              <a:endParaRPr lang="en-US"/>
            </a:p>
          </p:txBody>
        </p:sp>
        <p:sp>
          <p:nvSpPr>
            <p:cNvPr id="28" name="TextBox 28"/>
            <p:cNvSpPr txBox="1"/>
            <p:nvPr/>
          </p:nvSpPr>
          <p:spPr>
            <a:xfrm>
              <a:off x="4662297" y="1730375"/>
              <a:ext cx="2457100" cy="191643"/>
            </a:xfrm>
            <a:prstGeom prst="rect">
              <a:avLst/>
            </a:prstGeom>
            <a:noFill/>
            <a:ln>
              <a:noFill/>
            </a:ln>
          </p:spPr>
          <p:txBody>
            <a:bodyPr wrap="none" lIns="0" tIns="0" rIns="0" bIns="0" anchor="t" anchorCtr="0">
              <a:spAutoFit/>
            </a:bodyPr>
            <a:lstStyle/>
            <a:p>
              <a:pPr algn="l"/>
              <a:r>
                <a:rPr lang="vi" sz="980" b="1" dirty="0">
                  <a:solidFill>
                    <a:srgbClr val="065F46"/>
                  </a:solidFill>
                  <a:latin typeface="+mn-lt"/>
                  <a:ea typeface="+mn-ea"/>
                  <a:cs typeface="+mn-cs"/>
                </a:rPr>
                <a:t>TẦNG 2: XỬ LÝ DỊCH VỤ (BACKEND)</a:t>
              </a:r>
            </a:p>
          </p:txBody>
        </p:sp>
        <p:sp>
          <p:nvSpPr>
            <p:cNvPr id="29" name="TextBox 29"/>
            <p:cNvSpPr txBox="1"/>
            <p:nvPr/>
          </p:nvSpPr>
          <p:spPr>
            <a:xfrm>
              <a:off x="4660392" y="1978025"/>
              <a:ext cx="1535801" cy="264033"/>
            </a:xfrm>
            <a:prstGeom prst="rect">
              <a:avLst/>
            </a:prstGeom>
            <a:noFill/>
            <a:ln>
              <a:noFill/>
            </a:ln>
          </p:spPr>
          <p:txBody>
            <a:bodyPr wrap="none" lIns="0" tIns="0" rIns="0" bIns="0" anchor="t" anchorCtr="0">
              <a:spAutoFit/>
            </a:bodyPr>
            <a:lstStyle/>
            <a:p>
              <a:pPr algn="l"/>
              <a:r>
                <a:rPr lang="vi" sz="1350" b="1" dirty="0">
                  <a:solidFill>
                    <a:srgbClr val="0F172A"/>
                  </a:solidFill>
                  <a:latin typeface="+mn-lt"/>
                  <a:ea typeface="+mn-ea"/>
                  <a:cs typeface="+mn-cs"/>
                </a:rPr>
                <a:t>Fastify REST API</a:t>
              </a:r>
            </a:p>
          </p:txBody>
        </p:sp>
        <p:sp>
          <p:nvSpPr>
            <p:cNvPr id="30" name="TextBox 30"/>
            <p:cNvSpPr txBox="1"/>
            <p:nvPr/>
          </p:nvSpPr>
          <p:spPr>
            <a:xfrm>
              <a:off x="4662297" y="2254250"/>
              <a:ext cx="2526563"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Microservice Node.js tốc độ cao &amp; bảo mật</a:t>
              </a:r>
            </a:p>
          </p:txBody>
        </p:sp>
        <p:sp>
          <p:nvSpPr>
            <p:cNvPr id="31" name="Rectangle 31"/>
            <p:cNvSpPr/>
            <p:nvPr/>
          </p:nvSpPr>
          <p:spPr>
            <a:xfrm>
              <a:off x="4619625" y="2619375"/>
              <a:ext cx="2952750" cy="619125"/>
            </a:xfrm>
            <a:prstGeom prst="roundRect">
              <a:avLst>
                <a:gd name="adj" fmla="val 12308"/>
              </a:avLst>
            </a:prstGeom>
            <a:solidFill>
              <a:srgbClr val="F8FAFC"/>
            </a:solidFill>
            <a:ln w="9525">
              <a:solidFill>
                <a:srgbClr val="E2E8F0"/>
              </a:solidFill>
            </a:ln>
          </p:spPr>
          <p:txBody>
            <a:bodyPr/>
            <a:lstStyle/>
            <a:p>
              <a:endParaRPr lang="en-US"/>
            </a:p>
          </p:txBody>
        </p:sp>
        <p:sp>
          <p:nvSpPr>
            <p:cNvPr id="32" name="TextBox 32"/>
            <p:cNvSpPr txBox="1"/>
            <p:nvPr/>
          </p:nvSpPr>
          <p:spPr>
            <a:xfrm>
              <a:off x="4757547" y="2749550"/>
              <a:ext cx="1231633" cy="191643"/>
            </a:xfrm>
            <a:prstGeom prst="rect">
              <a:avLst/>
            </a:prstGeom>
            <a:noFill/>
            <a:ln>
              <a:noFill/>
            </a:ln>
          </p:spPr>
          <p:txBody>
            <a:bodyPr wrap="none" lIns="0" tIns="0" rIns="0" bIns="0" anchor="t" anchorCtr="0">
              <a:spAutoFit/>
            </a:bodyPr>
            <a:lstStyle/>
            <a:p>
              <a:pPr algn="l"/>
              <a:r>
                <a:rPr lang="vi" sz="980" b="1" dirty="0">
                  <a:solidFill>
                    <a:srgbClr val="059669"/>
                  </a:solidFill>
                  <a:latin typeface="+mn-lt"/>
                  <a:ea typeface="+mn-ea"/>
                  <a:cs typeface="+mn-cs"/>
                </a:rPr>
                <a:t>POST /api/segment</a:t>
              </a:r>
            </a:p>
          </p:txBody>
        </p:sp>
        <p:sp>
          <p:nvSpPr>
            <p:cNvPr id="33" name="TextBox 33"/>
            <p:cNvSpPr txBox="1"/>
            <p:nvPr/>
          </p:nvSpPr>
          <p:spPr>
            <a:xfrm>
              <a:off x="4757738" y="2981325"/>
              <a:ext cx="2714915" cy="176212"/>
            </a:xfrm>
            <a:prstGeom prst="rect">
              <a:avLst/>
            </a:prstGeom>
            <a:noFill/>
            <a:ln>
              <a:noFill/>
            </a:ln>
          </p:spPr>
          <p:txBody>
            <a:bodyPr wrap="none" lIns="0" tIns="0" rIns="0" bIns="0" anchor="t" anchorCtr="0">
              <a:spAutoFit/>
            </a:bodyPr>
            <a:lstStyle/>
            <a:p>
              <a:pPr algn="l"/>
              <a:r>
                <a:rPr lang="vi" sz="900" dirty="0">
                  <a:solidFill>
                    <a:srgbClr val="64748B"/>
                  </a:solidFill>
                  <a:latin typeface="+mn-lt"/>
                  <a:ea typeface="+mn-ea"/>
                  <a:cs typeface="+mn-cs"/>
                </a:rPr>
                <a:t>Nhận 6 biến chi tiêu ➔ trả về nhãn cụm &amp; độ cách</a:t>
              </a:r>
            </a:p>
          </p:txBody>
        </p:sp>
        <p:sp>
          <p:nvSpPr>
            <p:cNvPr id="34" name="Rectangle 34"/>
            <p:cNvSpPr/>
            <p:nvPr/>
          </p:nvSpPr>
          <p:spPr>
            <a:xfrm>
              <a:off x="4619625" y="3333750"/>
              <a:ext cx="2952750" cy="619125"/>
            </a:xfrm>
            <a:prstGeom prst="roundRect">
              <a:avLst>
                <a:gd name="adj" fmla="val 12308"/>
              </a:avLst>
            </a:prstGeom>
            <a:solidFill>
              <a:srgbClr val="F8FAFC"/>
            </a:solidFill>
            <a:ln w="9525">
              <a:solidFill>
                <a:srgbClr val="E2E8F0"/>
              </a:solidFill>
            </a:ln>
          </p:spPr>
          <p:txBody>
            <a:bodyPr/>
            <a:lstStyle/>
            <a:p>
              <a:endParaRPr lang="en-US"/>
            </a:p>
          </p:txBody>
        </p:sp>
        <p:sp>
          <p:nvSpPr>
            <p:cNvPr id="35" name="TextBox 35"/>
            <p:cNvSpPr txBox="1"/>
            <p:nvPr/>
          </p:nvSpPr>
          <p:spPr>
            <a:xfrm>
              <a:off x="4757547" y="3463925"/>
              <a:ext cx="1270149" cy="191643"/>
            </a:xfrm>
            <a:prstGeom prst="rect">
              <a:avLst/>
            </a:prstGeom>
            <a:noFill/>
            <a:ln>
              <a:noFill/>
            </a:ln>
          </p:spPr>
          <p:txBody>
            <a:bodyPr wrap="none" lIns="0" tIns="0" rIns="0" bIns="0" anchor="t" anchorCtr="0">
              <a:spAutoFit/>
            </a:bodyPr>
            <a:lstStyle/>
            <a:p>
              <a:pPr algn="l"/>
              <a:r>
                <a:rPr lang="vi" sz="980" b="1" dirty="0">
                  <a:solidFill>
                    <a:srgbClr val="059669"/>
                  </a:solidFill>
                  <a:latin typeface="+mn-lt"/>
                  <a:ea typeface="+mn-ea"/>
                  <a:cs typeface="+mn-cs"/>
                </a:rPr>
                <a:t>GET /api/dashboard</a:t>
              </a:r>
            </a:p>
          </p:txBody>
        </p:sp>
        <p:sp>
          <p:nvSpPr>
            <p:cNvPr id="36" name="TextBox 36"/>
            <p:cNvSpPr txBox="1"/>
            <p:nvPr/>
          </p:nvSpPr>
          <p:spPr>
            <a:xfrm>
              <a:off x="4757738" y="3695700"/>
              <a:ext cx="2526002" cy="176212"/>
            </a:xfrm>
            <a:prstGeom prst="rect">
              <a:avLst/>
            </a:prstGeom>
            <a:noFill/>
            <a:ln>
              <a:noFill/>
            </a:ln>
          </p:spPr>
          <p:txBody>
            <a:bodyPr wrap="none" lIns="0" tIns="0" rIns="0" bIns="0" anchor="t" anchorCtr="0">
              <a:spAutoFit/>
            </a:bodyPr>
            <a:lstStyle/>
            <a:p>
              <a:pPr algn="l"/>
              <a:r>
                <a:rPr lang="vi" sz="900" dirty="0">
                  <a:solidFill>
                    <a:srgbClr val="64748B"/>
                  </a:solidFill>
                  <a:latin typeface="+mn-lt"/>
                  <a:ea typeface="+mn-ea"/>
                  <a:cs typeface="+mn-cs"/>
                </a:rPr>
                <a:t>Cung cấp thống kê tổng thể và thông tin model</a:t>
              </a:r>
            </a:p>
          </p:txBody>
        </p:sp>
        <p:sp>
          <p:nvSpPr>
            <p:cNvPr id="37" name="Rectangle 37"/>
            <p:cNvSpPr/>
            <p:nvPr/>
          </p:nvSpPr>
          <p:spPr>
            <a:xfrm>
              <a:off x="4619625" y="4048125"/>
              <a:ext cx="2952750" cy="619125"/>
            </a:xfrm>
            <a:prstGeom prst="roundRect">
              <a:avLst>
                <a:gd name="adj" fmla="val 12308"/>
              </a:avLst>
            </a:prstGeom>
            <a:solidFill>
              <a:srgbClr val="F8FAFC"/>
            </a:solidFill>
            <a:ln w="9525">
              <a:solidFill>
                <a:srgbClr val="E2E8F0"/>
              </a:solidFill>
            </a:ln>
          </p:spPr>
          <p:txBody>
            <a:bodyPr/>
            <a:lstStyle/>
            <a:p>
              <a:endParaRPr lang="en-US"/>
            </a:p>
          </p:txBody>
        </p:sp>
        <p:sp>
          <p:nvSpPr>
            <p:cNvPr id="38" name="TextBox 38"/>
            <p:cNvSpPr txBox="1"/>
            <p:nvPr/>
          </p:nvSpPr>
          <p:spPr>
            <a:xfrm>
              <a:off x="4757547" y="4178300"/>
              <a:ext cx="983743" cy="191643"/>
            </a:xfrm>
            <a:prstGeom prst="rect">
              <a:avLst/>
            </a:prstGeom>
            <a:noFill/>
            <a:ln>
              <a:noFill/>
            </a:ln>
          </p:spPr>
          <p:txBody>
            <a:bodyPr wrap="none" lIns="0" tIns="0" rIns="0" bIns="0" anchor="t" anchorCtr="0">
              <a:spAutoFit/>
            </a:bodyPr>
            <a:lstStyle/>
            <a:p>
              <a:pPr algn="l"/>
              <a:r>
                <a:rPr lang="vi" sz="980" b="1" dirty="0">
                  <a:solidFill>
                    <a:srgbClr val="059669"/>
                  </a:solidFill>
                  <a:latin typeface="+mn-lt"/>
                  <a:ea typeface="+mn-ea"/>
                  <a:cs typeface="+mn-cs"/>
                </a:rPr>
                <a:t>GET /api/health</a:t>
              </a:r>
            </a:p>
          </p:txBody>
        </p:sp>
        <p:sp>
          <p:nvSpPr>
            <p:cNvPr id="39" name="TextBox 39"/>
            <p:cNvSpPr txBox="1"/>
            <p:nvPr/>
          </p:nvSpPr>
          <p:spPr>
            <a:xfrm>
              <a:off x="4757738" y="4410075"/>
              <a:ext cx="2563086" cy="176212"/>
            </a:xfrm>
            <a:prstGeom prst="rect">
              <a:avLst/>
            </a:prstGeom>
            <a:noFill/>
            <a:ln>
              <a:noFill/>
            </a:ln>
          </p:spPr>
          <p:txBody>
            <a:bodyPr wrap="none" lIns="0" tIns="0" rIns="0" bIns="0" anchor="t" anchorCtr="0">
              <a:spAutoFit/>
            </a:bodyPr>
            <a:lstStyle/>
            <a:p>
              <a:pPr algn="l"/>
              <a:r>
                <a:rPr lang="vi" sz="900" dirty="0">
                  <a:solidFill>
                    <a:srgbClr val="64748B"/>
                  </a:solidFill>
                  <a:latin typeface="+mn-lt"/>
                  <a:ea typeface="+mn-ea"/>
                  <a:cs typeface="+mn-cs"/>
                </a:rPr>
                <a:t>Kiểm tra trạng thái sẵn sàng (Readiness probe)</a:t>
              </a:r>
            </a:p>
          </p:txBody>
        </p:sp>
        <p:sp>
          <p:nvSpPr>
            <p:cNvPr id="40" name="Rectangle 40"/>
            <p:cNvSpPr/>
            <p:nvPr/>
          </p:nvSpPr>
          <p:spPr>
            <a:xfrm>
              <a:off x="4619625" y="5572125"/>
              <a:ext cx="2952750" cy="428625"/>
            </a:xfrm>
            <a:prstGeom prst="roundRect">
              <a:avLst>
                <a:gd name="adj" fmla="val 17778"/>
              </a:avLst>
            </a:prstGeom>
            <a:solidFill>
              <a:srgbClr val="ECFDF5"/>
            </a:solidFill>
            <a:ln>
              <a:noFill/>
            </a:ln>
          </p:spPr>
          <p:txBody>
            <a:bodyPr/>
            <a:lstStyle/>
            <a:p>
              <a:endParaRPr lang="en-US"/>
            </a:p>
          </p:txBody>
        </p:sp>
        <p:sp>
          <p:nvSpPr>
            <p:cNvPr id="41" name="TextBox 41"/>
            <p:cNvSpPr txBox="1"/>
            <p:nvPr/>
          </p:nvSpPr>
          <p:spPr>
            <a:xfrm>
              <a:off x="4963765" y="5715000"/>
              <a:ext cx="2264470" cy="176212"/>
            </a:xfrm>
            <a:prstGeom prst="rect">
              <a:avLst/>
            </a:prstGeom>
            <a:noFill/>
            <a:ln>
              <a:noFill/>
            </a:ln>
          </p:spPr>
          <p:txBody>
            <a:bodyPr wrap="none" lIns="0" tIns="0" rIns="0" bIns="0" anchor="t" anchorCtr="0">
              <a:spAutoFit/>
            </a:bodyPr>
            <a:lstStyle/>
            <a:p>
              <a:pPr algn="ctr"/>
              <a:r>
                <a:rPr lang="vi" sz="900" b="1" dirty="0">
                  <a:solidFill>
                    <a:srgbClr val="065F46"/>
                  </a:solidFill>
                  <a:latin typeface="+mn-lt"/>
                  <a:ea typeface="+mn-ea"/>
                  <a:cs typeface="+mn-cs"/>
                </a:rPr>
                <a:t>Fastify • Pydantic/Zod Schema • CORS</a:t>
              </a:r>
            </a:p>
          </p:txBody>
        </p:sp>
        <p:sp>
          <p:nvSpPr>
            <p:cNvPr id="42" name="Rectangle 42"/>
            <p:cNvSpPr/>
            <p:nvPr/>
          </p:nvSpPr>
          <p:spPr>
            <a:xfrm>
              <a:off x="8096250" y="1524000"/>
              <a:ext cx="3429000" cy="4667250"/>
            </a:xfrm>
            <a:prstGeom prst="roundRect">
              <a:avLst>
                <a:gd name="adj" fmla="val 3889"/>
              </a:avLst>
            </a:prstGeom>
            <a:solidFill>
              <a:schemeClr val="lt1"/>
            </a:solidFill>
            <a:ln w="19050">
              <a:solidFill>
                <a:schemeClr val="accent3"/>
              </a:solidFill>
            </a:ln>
          </p:spPr>
          <p:txBody>
            <a:bodyPr/>
            <a:lstStyle/>
            <a:p>
              <a:endParaRPr lang="en-US"/>
            </a:p>
          </p:txBody>
        </p:sp>
        <p:sp>
          <p:nvSpPr>
            <p:cNvPr id="43" name="Rectangle 43"/>
            <p:cNvSpPr/>
            <p:nvPr/>
          </p:nvSpPr>
          <p:spPr>
            <a:xfrm>
              <a:off x="8096250" y="1524000"/>
              <a:ext cx="3429000" cy="57150"/>
            </a:xfrm>
            <a:prstGeom prst="roundRect">
              <a:avLst>
                <a:gd name="adj" fmla="val 50000"/>
              </a:avLst>
            </a:prstGeom>
            <a:solidFill>
              <a:schemeClr val="accent3"/>
            </a:solidFill>
            <a:ln>
              <a:noFill/>
            </a:ln>
          </p:spPr>
          <p:txBody>
            <a:bodyPr/>
            <a:lstStyle/>
            <a:p>
              <a:endParaRPr lang="en-US"/>
            </a:p>
          </p:txBody>
        </p:sp>
        <p:sp>
          <p:nvSpPr>
            <p:cNvPr id="44" name="TextBox 44"/>
            <p:cNvSpPr txBox="1"/>
            <p:nvPr/>
          </p:nvSpPr>
          <p:spPr>
            <a:xfrm>
              <a:off x="8377047" y="1730375"/>
              <a:ext cx="2867201" cy="191643"/>
            </a:xfrm>
            <a:prstGeom prst="rect">
              <a:avLst/>
            </a:prstGeom>
            <a:noFill/>
            <a:ln>
              <a:noFill/>
            </a:ln>
          </p:spPr>
          <p:txBody>
            <a:bodyPr wrap="none" lIns="0" tIns="0" rIns="0" bIns="0" anchor="t" anchorCtr="0">
              <a:spAutoFit/>
            </a:bodyPr>
            <a:lstStyle/>
            <a:p>
              <a:pPr algn="l"/>
              <a:r>
                <a:rPr lang="vi" sz="980" b="1" dirty="0">
                  <a:solidFill>
                    <a:srgbClr val="6B21A8"/>
                  </a:solidFill>
                  <a:latin typeface="+mn-lt"/>
                  <a:ea typeface="+mn-ea"/>
                  <a:cs typeface="+mn-cs"/>
                </a:rPr>
                <a:t>TẦNG 3: TRỌNG TÂM MÔ HÌNH (ML CORE)</a:t>
              </a:r>
            </a:p>
          </p:txBody>
        </p:sp>
        <p:sp>
          <p:nvSpPr>
            <p:cNvPr id="45" name="TextBox 45"/>
            <p:cNvSpPr txBox="1"/>
            <p:nvPr/>
          </p:nvSpPr>
          <p:spPr>
            <a:xfrm>
              <a:off x="8375142" y="1978025"/>
              <a:ext cx="1407612" cy="264033"/>
            </a:xfrm>
            <a:prstGeom prst="rect">
              <a:avLst/>
            </a:prstGeom>
            <a:noFill/>
            <a:ln>
              <a:noFill/>
            </a:ln>
          </p:spPr>
          <p:txBody>
            <a:bodyPr wrap="none" lIns="0" tIns="0" rIns="0" bIns="0" anchor="t" anchorCtr="0">
              <a:spAutoFit/>
            </a:bodyPr>
            <a:lstStyle/>
            <a:p>
              <a:pPr algn="l"/>
              <a:r>
                <a:rPr lang="vi" sz="1350" b="1" dirty="0">
                  <a:solidFill>
                    <a:srgbClr val="0F172A"/>
                  </a:solidFill>
                  <a:latin typeface="+mn-lt"/>
                  <a:ea typeface="+mn-ea"/>
                  <a:cs typeface="+mn-cs"/>
                </a:rPr>
                <a:t>Frozen Artifacts</a:t>
              </a:r>
            </a:p>
          </p:txBody>
        </p:sp>
        <p:sp>
          <p:nvSpPr>
            <p:cNvPr id="46" name="TextBox 46"/>
            <p:cNvSpPr txBox="1"/>
            <p:nvPr/>
          </p:nvSpPr>
          <p:spPr>
            <a:xfrm>
              <a:off x="8377047" y="2254250"/>
              <a:ext cx="2699890"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Mô hình đóng băng bất biến (Zero Retraining)</a:t>
              </a:r>
            </a:p>
          </p:txBody>
        </p:sp>
        <p:sp>
          <p:nvSpPr>
            <p:cNvPr id="47" name="Rectangle 47"/>
            <p:cNvSpPr/>
            <p:nvPr/>
          </p:nvSpPr>
          <p:spPr>
            <a:xfrm>
              <a:off x="8334375" y="2619375"/>
              <a:ext cx="2952750" cy="619125"/>
            </a:xfrm>
            <a:prstGeom prst="roundRect">
              <a:avLst>
                <a:gd name="adj" fmla="val 12308"/>
              </a:avLst>
            </a:prstGeom>
            <a:solidFill>
              <a:srgbClr val="F8FAFC"/>
            </a:solidFill>
            <a:ln w="9525">
              <a:solidFill>
                <a:srgbClr val="E2E8F0"/>
              </a:solidFill>
            </a:ln>
          </p:spPr>
          <p:txBody>
            <a:bodyPr/>
            <a:lstStyle/>
            <a:p>
              <a:endParaRPr lang="en-US"/>
            </a:p>
          </p:txBody>
        </p:sp>
        <p:sp>
          <p:nvSpPr>
            <p:cNvPr id="48" name="TextBox 48"/>
            <p:cNvSpPr txBox="1"/>
            <p:nvPr/>
          </p:nvSpPr>
          <p:spPr>
            <a:xfrm>
              <a:off x="8472297" y="2749550"/>
              <a:ext cx="1755866" cy="191643"/>
            </a:xfrm>
            <a:prstGeom prst="rect">
              <a:avLst/>
            </a:prstGeom>
            <a:noFill/>
            <a:ln>
              <a:noFill/>
            </a:ln>
          </p:spPr>
          <p:txBody>
            <a:bodyPr wrap="none" lIns="0" tIns="0" rIns="0" bIns="0" anchor="t" anchorCtr="0">
              <a:spAutoFit/>
            </a:bodyPr>
            <a:lstStyle/>
            <a:p>
              <a:pPr algn="l"/>
              <a:r>
                <a:rPr lang="vi" sz="980" b="1" dirty="0">
                  <a:solidFill>
                    <a:srgbClr val="7C3AED"/>
                  </a:solidFill>
                  <a:latin typeface="+mn-lt"/>
                  <a:ea typeface="+mn-ea"/>
                  <a:cs typeface="+mn-cs"/>
                </a:rPr>
                <a:t>SHA-256 Checksum Guard:</a:t>
              </a:r>
            </a:p>
          </p:txBody>
        </p:sp>
        <p:sp>
          <p:nvSpPr>
            <p:cNvPr id="49" name="TextBox 49"/>
            <p:cNvSpPr txBox="1"/>
            <p:nvPr/>
          </p:nvSpPr>
          <p:spPr>
            <a:xfrm>
              <a:off x="8472488" y="2981325"/>
              <a:ext cx="2673920" cy="176212"/>
            </a:xfrm>
            <a:prstGeom prst="rect">
              <a:avLst/>
            </a:prstGeom>
            <a:noFill/>
            <a:ln>
              <a:noFill/>
            </a:ln>
          </p:spPr>
          <p:txBody>
            <a:bodyPr wrap="none" lIns="0" tIns="0" rIns="0" bIns="0" anchor="t" anchorCtr="0">
              <a:spAutoFit/>
            </a:bodyPr>
            <a:lstStyle/>
            <a:p>
              <a:pPr algn="l"/>
              <a:r>
                <a:rPr lang="vi" sz="900" dirty="0">
                  <a:solidFill>
                    <a:srgbClr val="64748B"/>
                  </a:solidFill>
                  <a:latin typeface="+mn-lt"/>
                  <a:ea typeface="+mn-ea"/>
                  <a:cs typeface="+mn-cs"/>
                </a:rPr>
                <a:t>Chống can thiệp hoặc sửa đổi file model trái phép</a:t>
              </a:r>
            </a:p>
          </p:txBody>
        </p:sp>
        <p:sp>
          <p:nvSpPr>
            <p:cNvPr id="50" name="Rectangle 50"/>
            <p:cNvSpPr/>
            <p:nvPr/>
          </p:nvSpPr>
          <p:spPr>
            <a:xfrm>
              <a:off x="8334375" y="3333750"/>
              <a:ext cx="2952750" cy="619125"/>
            </a:xfrm>
            <a:prstGeom prst="roundRect">
              <a:avLst>
                <a:gd name="adj" fmla="val 12308"/>
              </a:avLst>
            </a:prstGeom>
            <a:solidFill>
              <a:srgbClr val="F8FAFC"/>
            </a:solidFill>
            <a:ln w="9525">
              <a:solidFill>
                <a:srgbClr val="E2E8F0"/>
              </a:solidFill>
            </a:ln>
          </p:spPr>
          <p:txBody>
            <a:bodyPr/>
            <a:lstStyle/>
            <a:p>
              <a:endParaRPr lang="en-US"/>
            </a:p>
          </p:txBody>
        </p:sp>
        <p:sp>
          <p:nvSpPr>
            <p:cNvPr id="51" name="TextBox 51"/>
            <p:cNvSpPr txBox="1"/>
            <p:nvPr/>
          </p:nvSpPr>
          <p:spPr>
            <a:xfrm>
              <a:off x="8472297" y="3463925"/>
              <a:ext cx="1454432" cy="191643"/>
            </a:xfrm>
            <a:prstGeom prst="rect">
              <a:avLst/>
            </a:prstGeom>
            <a:noFill/>
            <a:ln>
              <a:noFill/>
            </a:ln>
          </p:spPr>
          <p:txBody>
            <a:bodyPr wrap="none" lIns="0" tIns="0" rIns="0" bIns="0" anchor="t" anchorCtr="0">
              <a:spAutoFit/>
            </a:bodyPr>
            <a:lstStyle/>
            <a:p>
              <a:pPr algn="l"/>
              <a:r>
                <a:rPr lang="vi" sz="980" b="1" dirty="0">
                  <a:solidFill>
                    <a:srgbClr val="7C3AED"/>
                  </a:solidFill>
                  <a:latin typeface="+mn-lt"/>
                  <a:ea typeface="+mn-ea"/>
                  <a:cs typeface="+mn-cs"/>
                </a:rPr>
                <a:t>Python ↔ Node Parity:</a:t>
              </a:r>
            </a:p>
          </p:txBody>
        </p:sp>
        <p:sp>
          <p:nvSpPr>
            <p:cNvPr id="52" name="TextBox 52"/>
            <p:cNvSpPr txBox="1"/>
            <p:nvPr/>
          </p:nvSpPr>
          <p:spPr>
            <a:xfrm>
              <a:off x="8472488" y="3695700"/>
              <a:ext cx="3017447" cy="176212"/>
            </a:xfrm>
            <a:prstGeom prst="rect">
              <a:avLst/>
            </a:prstGeom>
            <a:noFill/>
            <a:ln>
              <a:noFill/>
            </a:ln>
          </p:spPr>
          <p:txBody>
            <a:bodyPr wrap="none" lIns="0" tIns="0" rIns="0" bIns="0" anchor="t" anchorCtr="0">
              <a:spAutoFit/>
            </a:bodyPr>
            <a:lstStyle/>
            <a:p>
              <a:pPr algn="l"/>
              <a:r>
                <a:rPr lang="vi" sz="900" dirty="0">
                  <a:solidFill>
                    <a:srgbClr val="64748B"/>
                  </a:solidFill>
                  <a:latin typeface="+mn-lt"/>
                  <a:ea typeface="+mn-ea"/>
                  <a:cs typeface="+mn-cs"/>
                </a:rPr>
                <a:t>Kiểm định dự đoán chính xác tuyệt đối trên 2 môi trường</a:t>
              </a:r>
            </a:p>
          </p:txBody>
        </p:sp>
        <p:sp>
          <p:nvSpPr>
            <p:cNvPr id="53" name="Rectangle 53"/>
            <p:cNvSpPr/>
            <p:nvPr/>
          </p:nvSpPr>
          <p:spPr>
            <a:xfrm>
              <a:off x="8334375" y="4048125"/>
              <a:ext cx="2952750" cy="619125"/>
            </a:xfrm>
            <a:prstGeom prst="roundRect">
              <a:avLst>
                <a:gd name="adj" fmla="val 12308"/>
              </a:avLst>
            </a:prstGeom>
            <a:solidFill>
              <a:srgbClr val="F8FAFC"/>
            </a:solidFill>
            <a:ln w="9525">
              <a:solidFill>
                <a:srgbClr val="E2E8F0"/>
              </a:solidFill>
            </a:ln>
          </p:spPr>
          <p:txBody>
            <a:bodyPr/>
            <a:lstStyle/>
            <a:p>
              <a:endParaRPr lang="en-US"/>
            </a:p>
          </p:txBody>
        </p:sp>
        <p:sp>
          <p:nvSpPr>
            <p:cNvPr id="54" name="TextBox 54"/>
            <p:cNvSpPr txBox="1"/>
            <p:nvPr/>
          </p:nvSpPr>
          <p:spPr>
            <a:xfrm>
              <a:off x="8472297" y="4178300"/>
              <a:ext cx="1788756" cy="191643"/>
            </a:xfrm>
            <a:prstGeom prst="rect">
              <a:avLst/>
            </a:prstGeom>
            <a:noFill/>
            <a:ln>
              <a:noFill/>
            </a:ln>
          </p:spPr>
          <p:txBody>
            <a:bodyPr wrap="none" lIns="0" tIns="0" rIns="0" bIns="0" anchor="t" anchorCtr="0">
              <a:spAutoFit/>
            </a:bodyPr>
            <a:lstStyle/>
            <a:p>
              <a:pPr algn="l"/>
              <a:r>
                <a:rPr lang="vi" sz="980" b="1" dirty="0">
                  <a:solidFill>
                    <a:srgbClr val="7C3AED"/>
                  </a:solidFill>
                  <a:latin typeface="+mn-lt"/>
                  <a:ea typeface="+mn-ea"/>
                  <a:cs typeface="+mn-cs"/>
                </a:rPr>
                <a:t>Tải Model 1 Lần (Singleton):</a:t>
              </a:r>
            </a:p>
          </p:txBody>
        </p:sp>
        <p:sp>
          <p:nvSpPr>
            <p:cNvPr id="55" name="TextBox 55"/>
            <p:cNvSpPr txBox="1"/>
            <p:nvPr/>
          </p:nvSpPr>
          <p:spPr>
            <a:xfrm>
              <a:off x="8472488" y="4410075"/>
              <a:ext cx="2525710" cy="176212"/>
            </a:xfrm>
            <a:prstGeom prst="rect">
              <a:avLst/>
            </a:prstGeom>
            <a:noFill/>
            <a:ln>
              <a:noFill/>
            </a:ln>
          </p:spPr>
          <p:txBody>
            <a:bodyPr wrap="none" lIns="0" tIns="0" rIns="0" bIns="0" anchor="t" anchorCtr="0">
              <a:spAutoFit/>
            </a:bodyPr>
            <a:lstStyle/>
            <a:p>
              <a:pPr algn="l"/>
              <a:r>
                <a:rPr lang="vi" sz="900" dirty="0">
                  <a:solidFill>
                    <a:srgbClr val="64748B"/>
                  </a:solidFill>
                  <a:latin typeface="+mn-lt"/>
                  <a:ea typeface="+mn-ea"/>
                  <a:cs typeface="+mn-cs"/>
                </a:rPr>
                <a:t>Phản hồi inference dưới 10ms trên mỗi request</a:t>
              </a:r>
            </a:p>
          </p:txBody>
        </p:sp>
        <p:sp>
          <p:nvSpPr>
            <p:cNvPr id="56" name="Rectangle 56"/>
            <p:cNvSpPr/>
            <p:nvPr/>
          </p:nvSpPr>
          <p:spPr>
            <a:xfrm>
              <a:off x="8334375" y="5572125"/>
              <a:ext cx="2952750" cy="428625"/>
            </a:xfrm>
            <a:prstGeom prst="roundRect">
              <a:avLst>
                <a:gd name="adj" fmla="val 17778"/>
              </a:avLst>
            </a:prstGeom>
            <a:solidFill>
              <a:srgbClr val="F3E8FF"/>
            </a:solidFill>
            <a:ln>
              <a:noFill/>
            </a:ln>
          </p:spPr>
          <p:txBody>
            <a:bodyPr/>
            <a:lstStyle/>
            <a:p>
              <a:endParaRPr lang="en-US"/>
            </a:p>
          </p:txBody>
        </p:sp>
        <p:sp>
          <p:nvSpPr>
            <p:cNvPr id="57" name="TextBox 57"/>
            <p:cNvSpPr txBox="1"/>
            <p:nvPr/>
          </p:nvSpPr>
          <p:spPr>
            <a:xfrm>
              <a:off x="8756556" y="5715000"/>
              <a:ext cx="2108387" cy="176212"/>
            </a:xfrm>
            <a:prstGeom prst="rect">
              <a:avLst/>
            </a:prstGeom>
            <a:noFill/>
            <a:ln>
              <a:noFill/>
            </a:ln>
          </p:spPr>
          <p:txBody>
            <a:bodyPr wrap="none" lIns="0" tIns="0" rIns="0" bIns="0" anchor="t" anchorCtr="0">
              <a:spAutoFit/>
            </a:bodyPr>
            <a:lstStyle/>
            <a:p>
              <a:pPr algn="ctr"/>
              <a:r>
                <a:rPr lang="vi" sz="900" b="1" dirty="0">
                  <a:solidFill>
                    <a:srgbClr val="6B21A8"/>
                  </a:solidFill>
                  <a:latin typeface="+mn-lt"/>
                  <a:ea typeface="+mn-ea"/>
                  <a:cs typeface="+mn-cs"/>
                </a:rPr>
                <a:t>Scikit-Learn • Joblib • Docker Ready</a:t>
              </a:r>
            </a:p>
          </p:txBody>
        </p:sp>
      </p:grpSp>
      <p:grpSp>
        <p:nvGrpSpPr>
          <p:cNvPr id="62" name="footer"/>
          <p:cNvGrpSpPr/>
          <p:nvPr/>
        </p:nvGrpSpPr>
        <p:grpSpPr>
          <a:xfrm>
            <a:off x="661797" y="6429375"/>
            <a:ext cx="10868406" cy="264668"/>
            <a:chOff x="661797" y="6429375"/>
            <a:chExt cx="10868406" cy="264668"/>
          </a:xfrm>
        </p:grpSpPr>
        <p:sp>
          <p:nvSpPr>
            <p:cNvPr id="59" name="Line 59"/>
            <p:cNvSpPr/>
            <p:nvPr/>
          </p:nvSpPr>
          <p:spPr>
            <a:xfrm>
              <a:off x="666750" y="6429375"/>
              <a:ext cx="10858500" cy="9525"/>
            </a:xfrm>
            <a:custGeom>
              <a:avLst/>
              <a:gdLst/>
              <a:ahLst/>
              <a:cxnLst/>
              <a:rect l="l" t="t" r="r" b="b"/>
              <a:pathLst>
                <a:path w="10858500" h="9525">
                  <a:moveTo>
                    <a:pt x="0" y="0"/>
                  </a:moveTo>
                  <a:lnTo>
                    <a:pt x="10858500" y="0"/>
                  </a:lnTo>
                </a:path>
              </a:pathLst>
            </a:custGeom>
            <a:noFill/>
            <a:ln w="9525">
              <a:solidFill>
                <a:srgbClr val="E2E8F0"/>
              </a:solidFill>
            </a:ln>
          </p:spPr>
          <p:txBody>
            <a:bodyPr/>
            <a:lstStyle/>
            <a:p>
              <a:endParaRPr lang="en-US"/>
            </a:p>
          </p:txBody>
        </p:sp>
        <p:sp>
          <p:nvSpPr>
            <p:cNvPr id="60" name="TextBox 60"/>
            <p:cNvSpPr txBox="1"/>
            <p:nvPr/>
          </p:nvSpPr>
          <p:spPr>
            <a:xfrm>
              <a:off x="661797" y="6502400"/>
              <a:ext cx="5799743"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Đồ Án Machine Learning Phân Khúc Khách Hàng Bán Sỉ • Project 22 (UCI Wholesale Customers)</a:t>
              </a:r>
            </a:p>
          </p:txBody>
        </p:sp>
        <p:sp>
          <p:nvSpPr>
            <p:cNvPr id="61" name="TextBox 61"/>
            <p:cNvSpPr txBox="1"/>
            <p:nvPr/>
          </p:nvSpPr>
          <p:spPr>
            <a:xfrm>
              <a:off x="11116836" y="6502400"/>
              <a:ext cx="413367" cy="191643"/>
            </a:xfrm>
            <a:prstGeom prst="rect">
              <a:avLst/>
            </a:prstGeom>
            <a:noFill/>
            <a:ln>
              <a:noFill/>
            </a:ln>
          </p:spPr>
          <p:txBody>
            <a:bodyPr wrap="none" lIns="0" tIns="0" rIns="0" bIns="0" anchor="t" anchorCtr="0">
              <a:spAutoFit/>
            </a:bodyPr>
            <a:lstStyle/>
            <a:p>
              <a:pPr algn="r"/>
              <a:r>
                <a:rPr lang="vi" sz="980" b="1" dirty="0">
                  <a:solidFill>
                    <a:srgbClr val="475569"/>
                  </a:solidFill>
                  <a:latin typeface="+mn-lt"/>
                  <a:ea typeface="+mn-ea"/>
                  <a:cs typeface="+mn-cs"/>
                </a:rPr>
                <a:t>11 / 15</a:t>
              </a:r>
            </a:p>
          </p:txBody>
        </p:sp>
      </p:grpSp>
    </p:spTree>
  </p:cSld>
  <p:clrMapOvr>
    <a:masterClrMapping/>
  </p:clrMapOvr>
  <mc:AlternateContent xmlns:mc="http://schemas.openxmlformats.org/markup-compatibility/2006">
    <mc:Choice xmlns:p14="http://schemas.microsoft.com/office/powerpoint/2010/main" Requires="p14">
      <p:transition spd="med" p14:dur="600">
        <p:wipe dir="r"/>
      </p:transition>
    </mc:Choice>
    <mc:Fallback>
      <p:transition spd="med">
        <p:wipe dir="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400"/>
                            </p:stCondLst>
                            <p:childTnLst>
                              <p:par>
                                <p:cTn id="9" presetID="2" presetClass="entr" presetSubtype="4" fill="hold" nodeType="afterEffect">
                                  <p:stCondLst>
                                    <p:cond delay="500"/>
                                  </p:stCondLst>
                                  <p:childTnLst>
                                    <p:set>
                                      <p:cBhvr>
                                        <p:cTn id="10" dur="1" fill="hold">
                                          <p:stCondLst>
                                            <p:cond delay="0"/>
                                          </p:stCondLst>
                                        </p:cTn>
                                        <p:tgtEl>
                                          <p:spTgt spid="58"/>
                                        </p:tgtEl>
                                        <p:attrNameLst>
                                          <p:attrName>style.visibility</p:attrName>
                                        </p:attrNameLst>
                                      </p:cBhvr>
                                      <p:to>
                                        <p:strVal val="visible"/>
                                      </p:to>
                                    </p:set>
                                    <p:anim calcmode="lin" valueType="num">
                                      <p:cBhvr additive="base">
                                        <p:cTn id="11" dur="800" fill="hold"/>
                                        <p:tgtEl>
                                          <p:spTgt spid="58"/>
                                        </p:tgtEl>
                                        <p:attrNameLst>
                                          <p:attrName>ppt_x</p:attrName>
                                        </p:attrNameLst>
                                      </p:cBhvr>
                                      <p:tavLst>
                                        <p:tav tm="0">
                                          <p:val>
                                            <p:strVal val="#ppt_x"/>
                                          </p:val>
                                        </p:tav>
                                        <p:tav tm="100000">
                                          <p:val>
                                            <p:strVal val="#ppt_x"/>
                                          </p:val>
                                        </p:tav>
                                      </p:tavLst>
                                    </p:anim>
                                    <p:anim calcmode="lin" valueType="num">
                                      <p:cBhvr additive="base">
                                        <p:cTn id="12" dur="800" fill="hold"/>
                                        <p:tgtEl>
                                          <p:spTgt spid="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page-background"/>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8FAFC"/>
            </a:solidFill>
            <a:ln>
              <a:noFill/>
            </a:ln>
          </p:spPr>
          <p:txBody>
            <a:bodyPr/>
            <a:lstStyle/>
            <a:p>
              <a:endParaRPr lang="en-US"/>
            </a:p>
          </p:txBody>
        </p:sp>
        <p:sp>
          <p:nvSpPr>
            <p:cNvPr id="3" name="Rectangle 3"/>
            <p:cNvSpPr/>
            <p:nvPr/>
          </p:nvSpPr>
          <p:spPr>
            <a:xfrm>
              <a:off x="0" y="0"/>
              <a:ext cx="12192000" cy="57150"/>
            </a:xfrm>
            <a:prstGeom prst="rect">
              <a:avLst/>
            </a:prstGeom>
            <a:gradFill>
              <a:gsLst>
                <a:gs pos="0">
                  <a:srgbClr val="1E3A8A"/>
                </a:gs>
                <a:gs pos="50000">
                  <a:schemeClr val="accent1"/>
                </a:gs>
                <a:gs pos="100000">
                  <a:srgbClr val="0EA5E9"/>
                </a:gs>
              </a:gsLst>
              <a:lin ang="0" scaled="1"/>
            </a:gradFill>
            <a:ln>
              <a:noFill/>
            </a:ln>
          </p:spPr>
          <p:txBody>
            <a:bodyPr/>
            <a:lstStyle/>
            <a:p>
              <a:endParaRPr lang="en-US"/>
            </a:p>
          </p:txBody>
        </p:sp>
      </p:grpSp>
      <p:grpSp>
        <p:nvGrpSpPr>
          <p:cNvPr id="9" name="header"/>
          <p:cNvGrpSpPr/>
          <p:nvPr/>
        </p:nvGrpSpPr>
        <p:grpSpPr>
          <a:xfrm>
            <a:off x="654558" y="304800"/>
            <a:ext cx="9426807" cy="899478"/>
            <a:chOff x="654558" y="304800"/>
            <a:chExt cx="9426807" cy="899478"/>
          </a:xfrm>
        </p:grpSpPr>
        <p:sp>
          <p:nvSpPr>
            <p:cNvPr id="5" name="Rectangle 5"/>
            <p:cNvSpPr/>
            <p:nvPr/>
          </p:nvSpPr>
          <p:spPr>
            <a:xfrm>
              <a:off x="666750" y="304800"/>
              <a:ext cx="1657350" cy="247650"/>
            </a:xfrm>
            <a:prstGeom prst="roundRect">
              <a:avLst>
                <a:gd name="adj" fmla="val 23077"/>
              </a:avLst>
            </a:prstGeom>
            <a:solidFill>
              <a:srgbClr val="EFF6FF"/>
            </a:solidFill>
            <a:ln w="9525">
              <a:solidFill>
                <a:srgbClr val="BFDBFE"/>
              </a:solidFill>
            </a:ln>
          </p:spPr>
          <p:txBody>
            <a:bodyPr/>
            <a:lstStyle/>
            <a:p>
              <a:endParaRPr lang="en-US"/>
            </a:p>
          </p:txBody>
        </p:sp>
        <p:sp>
          <p:nvSpPr>
            <p:cNvPr id="6" name="TextBox 6"/>
            <p:cNvSpPr txBox="1"/>
            <p:nvPr/>
          </p:nvSpPr>
          <p:spPr>
            <a:xfrm>
              <a:off x="824249" y="365125"/>
              <a:ext cx="1342351" cy="161925"/>
            </a:xfrm>
            <a:prstGeom prst="rect">
              <a:avLst/>
            </a:prstGeom>
            <a:noFill/>
            <a:ln>
              <a:noFill/>
            </a:ln>
          </p:spPr>
          <p:txBody>
            <a:bodyPr wrap="none" lIns="0" tIns="0" rIns="0" bIns="0" anchor="t" anchorCtr="0">
              <a:spAutoFit/>
            </a:bodyPr>
            <a:lstStyle/>
            <a:p>
              <a:pPr algn="ctr"/>
              <a:r>
                <a:rPr lang="vi" sz="820" b="1" spc="75" dirty="0">
                  <a:solidFill>
                    <a:srgbClr val="1D4ED8"/>
                  </a:solidFill>
                  <a:latin typeface="+mn-lt"/>
                  <a:ea typeface="+mn-ea"/>
                  <a:cs typeface="+mn-cs"/>
                </a:rPr>
                <a:t>ỨNG DỤNG THỰC TẾ</a:t>
              </a:r>
            </a:p>
          </p:txBody>
        </p:sp>
        <p:sp>
          <p:nvSpPr>
            <p:cNvPr id="7" name="TextBox 7"/>
            <p:cNvSpPr txBox="1"/>
            <p:nvPr/>
          </p:nvSpPr>
          <p:spPr>
            <a:xfrm>
              <a:off x="654558" y="584200"/>
              <a:ext cx="9426807" cy="469392"/>
            </a:xfrm>
            <a:prstGeom prst="rect">
              <a:avLst/>
            </a:prstGeom>
            <a:noFill/>
            <a:ln>
              <a:noFill/>
            </a:ln>
          </p:spPr>
          <p:txBody>
            <a:bodyPr wrap="none" lIns="0" tIns="0" rIns="0" bIns="0" anchor="t" anchorCtr="0">
              <a:spAutoFit/>
            </a:bodyPr>
            <a:lstStyle/>
            <a:p>
              <a:pPr algn="l"/>
              <a:r>
                <a:rPr lang="vi" sz="2400" b="1" dirty="0">
                  <a:solidFill>
                    <a:srgbClr val="0F172A"/>
                  </a:solidFill>
                  <a:latin typeface="+mn-lt"/>
                  <a:ea typeface="+mn-ea"/>
                  <a:cs typeface="+mn-cs"/>
                </a:rPr>
                <a:t>Giao Diện Ứng Dụng Web &amp; Dự Đoán Phân Khúc Trực Tuyến</a:t>
              </a:r>
            </a:p>
          </p:txBody>
        </p:sp>
        <p:sp>
          <p:nvSpPr>
            <p:cNvPr id="8" name="TextBox 8"/>
            <p:cNvSpPr txBox="1"/>
            <p:nvPr/>
          </p:nvSpPr>
          <p:spPr>
            <a:xfrm>
              <a:off x="661035" y="984250"/>
              <a:ext cx="6769661" cy="220028"/>
            </a:xfrm>
            <a:prstGeom prst="rect">
              <a:avLst/>
            </a:prstGeom>
            <a:noFill/>
            <a:ln>
              <a:noFill/>
            </a:ln>
          </p:spPr>
          <p:txBody>
            <a:bodyPr wrap="none" lIns="0" tIns="0" rIns="0" bIns="0" anchor="t" anchorCtr="0">
              <a:spAutoFit/>
            </a:bodyPr>
            <a:lstStyle/>
            <a:p>
              <a:pPr algn="l"/>
              <a:r>
                <a:rPr lang="vi" sz="1120" dirty="0">
                  <a:solidFill>
                    <a:srgbClr val="475569"/>
                  </a:solidFill>
                  <a:latin typeface="+mn-lt"/>
                  <a:ea typeface="+mn-ea"/>
                  <a:cs typeface="+mn-cs"/>
                </a:rPr>
                <a:t>Trải nghiệm người dùng: Biểu mẫu nhập liệu trực quan, dự đoán dưới 10ms và khuyến nghị nghiệp vụ</a:t>
              </a:r>
            </a:p>
          </p:txBody>
        </p:sp>
      </p:grpSp>
      <p:grpSp>
        <p:nvGrpSpPr>
          <p:cNvPr id="55" name="browser-mockup"/>
          <p:cNvGrpSpPr/>
          <p:nvPr/>
        </p:nvGrpSpPr>
        <p:grpSpPr>
          <a:xfrm>
            <a:off x="666750" y="1428750"/>
            <a:ext cx="11251718" cy="4905375"/>
            <a:chOff x="666750" y="1428750"/>
            <a:chExt cx="11251718" cy="4905375"/>
          </a:xfrm>
        </p:grpSpPr>
        <p:sp>
          <p:nvSpPr>
            <p:cNvPr id="10" name="Rectangle 10"/>
            <p:cNvSpPr/>
            <p:nvPr/>
          </p:nvSpPr>
          <p:spPr>
            <a:xfrm>
              <a:off x="666750" y="1428750"/>
              <a:ext cx="10858500" cy="4905375"/>
            </a:xfrm>
            <a:prstGeom prst="roundRect">
              <a:avLst>
                <a:gd name="adj" fmla="val 2718"/>
              </a:avLst>
            </a:prstGeom>
            <a:solidFill>
              <a:schemeClr val="lt1"/>
            </a:solidFill>
            <a:ln w="19050">
              <a:solidFill>
                <a:srgbClr val="CBD5E1"/>
              </a:solidFill>
            </a:ln>
          </p:spPr>
          <p:txBody>
            <a:bodyPr/>
            <a:lstStyle/>
            <a:p>
              <a:endParaRPr lang="en-US"/>
            </a:p>
          </p:txBody>
        </p:sp>
        <p:sp>
          <p:nvSpPr>
            <p:cNvPr id="11" name="Rectangle 11"/>
            <p:cNvSpPr/>
            <p:nvPr/>
          </p:nvSpPr>
          <p:spPr>
            <a:xfrm>
              <a:off x="666750" y="1428750"/>
              <a:ext cx="10858500" cy="381000"/>
            </a:xfrm>
            <a:prstGeom prst="roundRect">
              <a:avLst>
                <a:gd name="adj" fmla="val 35000"/>
              </a:avLst>
            </a:prstGeom>
            <a:solidFill>
              <a:srgbClr val="F1F5F9"/>
            </a:solidFill>
            <a:ln>
              <a:noFill/>
            </a:ln>
          </p:spPr>
          <p:txBody>
            <a:bodyPr/>
            <a:lstStyle/>
            <a:p>
              <a:endParaRPr lang="en-US"/>
            </a:p>
          </p:txBody>
        </p:sp>
        <p:sp>
          <p:nvSpPr>
            <p:cNvPr id="12" name="Ellipse 12"/>
            <p:cNvSpPr/>
            <p:nvPr/>
          </p:nvSpPr>
          <p:spPr>
            <a:xfrm>
              <a:off x="847725" y="1562100"/>
              <a:ext cx="114300" cy="114300"/>
            </a:xfrm>
            <a:prstGeom prst="ellipse">
              <a:avLst/>
            </a:prstGeom>
            <a:solidFill>
              <a:srgbClr val="EF4444"/>
            </a:solidFill>
            <a:ln>
              <a:noFill/>
            </a:ln>
          </p:spPr>
          <p:txBody>
            <a:bodyPr/>
            <a:lstStyle/>
            <a:p>
              <a:endParaRPr lang="en-US"/>
            </a:p>
          </p:txBody>
        </p:sp>
        <p:sp>
          <p:nvSpPr>
            <p:cNvPr id="13" name="Ellipse 13"/>
            <p:cNvSpPr/>
            <p:nvPr/>
          </p:nvSpPr>
          <p:spPr>
            <a:xfrm>
              <a:off x="1038225" y="1562100"/>
              <a:ext cx="114300" cy="114300"/>
            </a:xfrm>
            <a:prstGeom prst="ellipse">
              <a:avLst/>
            </a:prstGeom>
            <a:solidFill>
              <a:srgbClr val="F59E0B"/>
            </a:solidFill>
            <a:ln>
              <a:noFill/>
            </a:ln>
          </p:spPr>
          <p:txBody>
            <a:bodyPr/>
            <a:lstStyle/>
            <a:p>
              <a:endParaRPr lang="en-US"/>
            </a:p>
          </p:txBody>
        </p:sp>
        <p:sp>
          <p:nvSpPr>
            <p:cNvPr id="14" name="Ellipse 14"/>
            <p:cNvSpPr/>
            <p:nvPr/>
          </p:nvSpPr>
          <p:spPr>
            <a:xfrm>
              <a:off x="1228725" y="1562100"/>
              <a:ext cx="114300" cy="114300"/>
            </a:xfrm>
            <a:prstGeom prst="ellipse">
              <a:avLst/>
            </a:prstGeom>
            <a:solidFill>
              <a:schemeClr val="accent2"/>
            </a:solidFill>
            <a:ln>
              <a:noFill/>
            </a:ln>
          </p:spPr>
          <p:txBody>
            <a:bodyPr/>
            <a:lstStyle/>
            <a:p>
              <a:endParaRPr lang="en-US"/>
            </a:p>
          </p:txBody>
        </p:sp>
        <p:sp>
          <p:nvSpPr>
            <p:cNvPr id="15" name="Rectangle 15"/>
            <p:cNvSpPr/>
            <p:nvPr/>
          </p:nvSpPr>
          <p:spPr>
            <a:xfrm>
              <a:off x="2381250" y="1495425"/>
              <a:ext cx="6667500" cy="247650"/>
            </a:xfrm>
            <a:prstGeom prst="roundRect">
              <a:avLst>
                <a:gd name="adj" fmla="val 23077"/>
              </a:avLst>
            </a:prstGeom>
            <a:solidFill>
              <a:schemeClr val="lt1"/>
            </a:solidFill>
            <a:ln w="9525">
              <a:solidFill>
                <a:srgbClr val="E2E8F0"/>
              </a:solidFill>
            </a:ln>
          </p:spPr>
          <p:txBody>
            <a:bodyPr/>
            <a:lstStyle/>
            <a:p>
              <a:endParaRPr lang="en-US"/>
            </a:p>
          </p:txBody>
        </p:sp>
        <p:sp>
          <p:nvSpPr>
            <p:cNvPr id="16" name="TextBox 16"/>
            <p:cNvSpPr txBox="1"/>
            <p:nvPr/>
          </p:nvSpPr>
          <p:spPr>
            <a:xfrm>
              <a:off x="3636991" y="1543050"/>
              <a:ext cx="4156018" cy="176212"/>
            </a:xfrm>
            <a:prstGeom prst="rect">
              <a:avLst/>
            </a:prstGeom>
            <a:noFill/>
            <a:ln>
              <a:noFill/>
            </a:ln>
          </p:spPr>
          <p:txBody>
            <a:bodyPr wrap="none" lIns="0" tIns="0" rIns="0" bIns="0" anchor="t" anchorCtr="0">
              <a:spAutoFit/>
            </a:bodyPr>
            <a:lstStyle/>
            <a:p>
              <a:pPr algn="ctr"/>
              <a:r>
                <a:rPr lang="vi" sz="900" dirty="0">
                  <a:solidFill>
                    <a:srgbClr val="64748B"/>
                  </a:solidFill>
                  <a:latin typeface="+mn-lt"/>
                  <a:ea typeface="+mn-ea"/>
                  <a:cs typeface="+mn-cs"/>
                </a:rPr>
                <a:t>http://localhost:3000 • Hệ Thống Phân Khúc Khách Hàng Bán Sỉ (Project 22)</a:t>
              </a:r>
            </a:p>
          </p:txBody>
        </p:sp>
        <p:grpSp>
          <p:nvGrpSpPr>
            <p:cNvPr id="39" name="Group 39"/>
            <p:cNvGrpSpPr/>
            <p:nvPr/>
          </p:nvGrpSpPr>
          <p:grpSpPr>
            <a:xfrm>
              <a:off x="946785" y="2051050"/>
              <a:ext cx="4387215" cy="2682875"/>
              <a:chOff x="946785" y="2051050"/>
              <a:chExt cx="4387215" cy="2682875"/>
            </a:xfrm>
          </p:grpSpPr>
          <p:sp>
            <p:nvSpPr>
              <p:cNvPr id="17" name="TextBox 17"/>
              <p:cNvSpPr txBox="1"/>
              <p:nvPr/>
            </p:nvSpPr>
            <p:spPr>
              <a:xfrm>
                <a:off x="946785" y="2051050"/>
                <a:ext cx="2407162" cy="220028"/>
              </a:xfrm>
              <a:prstGeom prst="rect">
                <a:avLst/>
              </a:prstGeom>
              <a:noFill/>
              <a:ln>
                <a:noFill/>
              </a:ln>
            </p:spPr>
            <p:txBody>
              <a:bodyPr wrap="none" lIns="0" tIns="0" rIns="0" bIns="0" anchor="t" anchorCtr="0">
                <a:spAutoFit/>
              </a:bodyPr>
              <a:lstStyle/>
              <a:p>
                <a:pPr algn="l"/>
                <a:r>
                  <a:rPr lang="vi" sz="1120" b="1" dirty="0">
                    <a:solidFill>
                      <a:srgbClr val="0F172A"/>
                    </a:solidFill>
                    <a:latin typeface="+mn-lt"/>
                    <a:ea typeface="+mn-ea"/>
                    <a:cs typeface="+mn-cs"/>
                  </a:rPr>
                  <a:t>Biểu Mẫu Nhập Liệu Khách Hàng</a:t>
                </a:r>
              </a:p>
            </p:txBody>
          </p:sp>
          <p:sp>
            <p:nvSpPr>
              <p:cNvPr id="18" name="TextBox 18"/>
              <p:cNvSpPr txBox="1"/>
              <p:nvPr/>
            </p:nvSpPr>
            <p:spPr>
              <a:xfrm>
                <a:off x="947738" y="2286000"/>
                <a:ext cx="3112226" cy="176212"/>
              </a:xfrm>
              <a:prstGeom prst="rect">
                <a:avLst/>
              </a:prstGeom>
              <a:noFill/>
              <a:ln>
                <a:noFill/>
              </a:ln>
            </p:spPr>
            <p:txBody>
              <a:bodyPr wrap="none" lIns="0" tIns="0" rIns="0" bIns="0" anchor="t" anchorCtr="0">
                <a:spAutoFit/>
              </a:bodyPr>
              <a:lstStyle/>
              <a:p>
                <a:pPr algn="l"/>
                <a:r>
                  <a:rPr lang="vi" sz="900" dirty="0">
                    <a:solidFill>
                      <a:srgbClr val="64748B"/>
                    </a:solidFill>
                    <a:latin typeface="+mn-lt"/>
                    <a:ea typeface="+mn-ea"/>
                    <a:cs typeface="+mn-cs"/>
                  </a:rPr>
                  <a:t>Nhập mức chi tiêu hằng năm của 6 nhóm mặt hàng (m.u.)</a:t>
                </a:r>
              </a:p>
            </p:txBody>
          </p:sp>
          <p:sp>
            <p:nvSpPr>
              <p:cNvPr id="19" name="Rectangle 19"/>
              <p:cNvSpPr/>
              <p:nvPr/>
            </p:nvSpPr>
            <p:spPr>
              <a:xfrm>
                <a:off x="952500" y="2571750"/>
                <a:ext cx="2095500" cy="428625"/>
              </a:xfrm>
              <a:prstGeom prst="roundRect">
                <a:avLst>
                  <a:gd name="adj" fmla="val 13333"/>
                </a:avLst>
              </a:prstGeom>
              <a:solidFill>
                <a:srgbClr val="F8FAFC"/>
              </a:solidFill>
              <a:ln w="9525">
                <a:solidFill>
                  <a:srgbClr val="CBD5E1"/>
                </a:solidFill>
              </a:ln>
            </p:spPr>
            <p:txBody>
              <a:bodyPr/>
              <a:lstStyle/>
              <a:p>
                <a:endParaRPr lang="en-US"/>
              </a:p>
            </p:txBody>
          </p:sp>
          <p:sp>
            <p:nvSpPr>
              <p:cNvPr id="20" name="TextBox 20"/>
              <p:cNvSpPr txBox="1"/>
              <p:nvPr/>
            </p:nvSpPr>
            <p:spPr>
              <a:xfrm>
                <a:off x="1090612" y="2641600"/>
                <a:ext cx="888275" cy="161925"/>
              </a:xfrm>
              <a:prstGeom prst="rect">
                <a:avLst/>
              </a:prstGeom>
              <a:noFill/>
              <a:ln>
                <a:noFill/>
              </a:ln>
            </p:spPr>
            <p:txBody>
              <a:bodyPr wrap="none" lIns="0" tIns="0" rIns="0" bIns="0" anchor="t" anchorCtr="0">
                <a:spAutoFit/>
              </a:bodyPr>
              <a:lstStyle/>
              <a:p>
                <a:pPr algn="l"/>
                <a:r>
                  <a:rPr lang="vi" sz="820" dirty="0">
                    <a:solidFill>
                      <a:srgbClr val="64748B"/>
                    </a:solidFill>
                    <a:latin typeface="+mn-lt"/>
                    <a:ea typeface="+mn-ea"/>
                    <a:cs typeface="+mn-cs"/>
                  </a:rPr>
                  <a:t>Fresh (Tươi sống)</a:t>
                </a:r>
              </a:p>
            </p:txBody>
          </p:sp>
          <p:sp>
            <p:nvSpPr>
              <p:cNvPr id="21" name="TextBox 21"/>
              <p:cNvSpPr txBox="1"/>
              <p:nvPr/>
            </p:nvSpPr>
            <p:spPr>
              <a:xfrm>
                <a:off x="1090041" y="2787650"/>
                <a:ext cx="443032" cy="205359"/>
              </a:xfrm>
              <a:prstGeom prst="rect">
                <a:avLst/>
              </a:prstGeom>
              <a:noFill/>
              <a:ln>
                <a:noFill/>
              </a:ln>
            </p:spPr>
            <p:txBody>
              <a:bodyPr wrap="none" lIns="0" tIns="0" rIns="0" bIns="0" anchor="t" anchorCtr="0">
                <a:spAutoFit/>
              </a:bodyPr>
              <a:lstStyle/>
              <a:p>
                <a:pPr algn="l"/>
                <a:r>
                  <a:rPr lang="vi" sz="1050" b="1" dirty="0">
                    <a:solidFill>
                      <a:srgbClr val="0F172A"/>
                    </a:solidFill>
                    <a:latin typeface="+mn-lt"/>
                    <a:ea typeface="+mn-ea"/>
                    <a:cs typeface="+mn-cs"/>
                  </a:rPr>
                  <a:t>12,500</a:t>
                </a:r>
              </a:p>
            </p:txBody>
          </p:sp>
          <p:sp>
            <p:nvSpPr>
              <p:cNvPr id="22" name="Rectangle 22"/>
              <p:cNvSpPr/>
              <p:nvPr/>
            </p:nvSpPr>
            <p:spPr>
              <a:xfrm>
                <a:off x="3238500" y="2571750"/>
                <a:ext cx="2095500" cy="428625"/>
              </a:xfrm>
              <a:prstGeom prst="roundRect">
                <a:avLst>
                  <a:gd name="adj" fmla="val 13333"/>
                </a:avLst>
              </a:prstGeom>
              <a:solidFill>
                <a:srgbClr val="F8FAFC"/>
              </a:solidFill>
              <a:ln w="9525">
                <a:solidFill>
                  <a:srgbClr val="CBD5E1"/>
                </a:solidFill>
              </a:ln>
            </p:spPr>
            <p:txBody>
              <a:bodyPr/>
              <a:lstStyle/>
              <a:p>
                <a:endParaRPr lang="en-US"/>
              </a:p>
            </p:txBody>
          </p:sp>
          <p:sp>
            <p:nvSpPr>
              <p:cNvPr id="23" name="TextBox 23"/>
              <p:cNvSpPr txBox="1"/>
              <p:nvPr/>
            </p:nvSpPr>
            <p:spPr>
              <a:xfrm>
                <a:off x="3376612" y="2641600"/>
                <a:ext cx="514374" cy="161925"/>
              </a:xfrm>
              <a:prstGeom prst="rect">
                <a:avLst/>
              </a:prstGeom>
              <a:noFill/>
              <a:ln>
                <a:noFill/>
              </a:ln>
            </p:spPr>
            <p:txBody>
              <a:bodyPr wrap="none" lIns="0" tIns="0" rIns="0" bIns="0" anchor="t" anchorCtr="0">
                <a:spAutoFit/>
              </a:bodyPr>
              <a:lstStyle/>
              <a:p>
                <a:pPr algn="l"/>
                <a:r>
                  <a:rPr lang="vi" sz="820" dirty="0">
                    <a:solidFill>
                      <a:srgbClr val="64748B"/>
                    </a:solidFill>
                    <a:latin typeface="+mn-lt"/>
                    <a:ea typeface="+mn-ea"/>
                    <a:cs typeface="+mn-cs"/>
                  </a:rPr>
                  <a:t>Milk (Sữa)</a:t>
                </a:r>
              </a:p>
            </p:txBody>
          </p:sp>
          <p:sp>
            <p:nvSpPr>
              <p:cNvPr id="24" name="TextBox 24"/>
              <p:cNvSpPr txBox="1"/>
              <p:nvPr/>
            </p:nvSpPr>
            <p:spPr>
              <a:xfrm>
                <a:off x="3376041" y="2787650"/>
                <a:ext cx="364413" cy="205359"/>
              </a:xfrm>
              <a:prstGeom prst="rect">
                <a:avLst/>
              </a:prstGeom>
              <a:noFill/>
              <a:ln>
                <a:noFill/>
              </a:ln>
            </p:spPr>
            <p:txBody>
              <a:bodyPr wrap="none" lIns="0" tIns="0" rIns="0" bIns="0" anchor="t" anchorCtr="0">
                <a:spAutoFit/>
              </a:bodyPr>
              <a:lstStyle/>
              <a:p>
                <a:pPr algn="l"/>
                <a:r>
                  <a:rPr lang="vi" sz="1050" b="1" dirty="0">
                    <a:solidFill>
                      <a:srgbClr val="0F172A"/>
                    </a:solidFill>
                    <a:latin typeface="+mn-lt"/>
                    <a:ea typeface="+mn-ea"/>
                    <a:cs typeface="+mn-cs"/>
                  </a:rPr>
                  <a:t>2,100</a:t>
                </a:r>
              </a:p>
            </p:txBody>
          </p:sp>
          <p:sp>
            <p:nvSpPr>
              <p:cNvPr id="25" name="Rectangle 25"/>
              <p:cNvSpPr/>
              <p:nvPr/>
            </p:nvSpPr>
            <p:spPr>
              <a:xfrm>
                <a:off x="952500" y="3143250"/>
                <a:ext cx="2095500" cy="428625"/>
              </a:xfrm>
              <a:prstGeom prst="roundRect">
                <a:avLst>
                  <a:gd name="adj" fmla="val 13333"/>
                </a:avLst>
              </a:prstGeom>
              <a:solidFill>
                <a:srgbClr val="F8FAFC"/>
              </a:solidFill>
              <a:ln w="9525">
                <a:solidFill>
                  <a:srgbClr val="CBD5E1"/>
                </a:solidFill>
              </a:ln>
            </p:spPr>
            <p:txBody>
              <a:bodyPr/>
              <a:lstStyle/>
              <a:p>
                <a:endParaRPr lang="en-US"/>
              </a:p>
            </p:txBody>
          </p:sp>
          <p:sp>
            <p:nvSpPr>
              <p:cNvPr id="26" name="TextBox 26"/>
              <p:cNvSpPr txBox="1"/>
              <p:nvPr/>
            </p:nvSpPr>
            <p:spPr>
              <a:xfrm>
                <a:off x="1090612" y="3213100"/>
                <a:ext cx="919207" cy="161925"/>
              </a:xfrm>
              <a:prstGeom prst="rect">
                <a:avLst/>
              </a:prstGeom>
              <a:noFill/>
              <a:ln>
                <a:noFill/>
              </a:ln>
            </p:spPr>
            <p:txBody>
              <a:bodyPr wrap="none" lIns="0" tIns="0" rIns="0" bIns="0" anchor="t" anchorCtr="0">
                <a:spAutoFit/>
              </a:bodyPr>
              <a:lstStyle/>
              <a:p>
                <a:pPr algn="l"/>
                <a:r>
                  <a:rPr lang="vi" sz="820" dirty="0">
                    <a:solidFill>
                      <a:srgbClr val="64748B"/>
                    </a:solidFill>
                    <a:latin typeface="+mn-lt"/>
                    <a:ea typeface="+mn-ea"/>
                    <a:cs typeface="+mn-cs"/>
                  </a:rPr>
                  <a:t>Grocery (Tạp hóa)</a:t>
                </a:r>
              </a:p>
            </p:txBody>
          </p:sp>
          <p:sp>
            <p:nvSpPr>
              <p:cNvPr id="27" name="TextBox 27"/>
              <p:cNvSpPr txBox="1"/>
              <p:nvPr/>
            </p:nvSpPr>
            <p:spPr>
              <a:xfrm>
                <a:off x="1090041" y="3359150"/>
                <a:ext cx="364413" cy="205359"/>
              </a:xfrm>
              <a:prstGeom prst="rect">
                <a:avLst/>
              </a:prstGeom>
              <a:noFill/>
              <a:ln>
                <a:noFill/>
              </a:ln>
            </p:spPr>
            <p:txBody>
              <a:bodyPr wrap="none" lIns="0" tIns="0" rIns="0" bIns="0" anchor="t" anchorCtr="0">
                <a:spAutoFit/>
              </a:bodyPr>
              <a:lstStyle/>
              <a:p>
                <a:pPr algn="l"/>
                <a:r>
                  <a:rPr lang="vi" sz="1050" b="1" dirty="0">
                    <a:solidFill>
                      <a:srgbClr val="0F172A"/>
                    </a:solidFill>
                    <a:latin typeface="+mn-lt"/>
                    <a:ea typeface="+mn-ea"/>
                    <a:cs typeface="+mn-cs"/>
                  </a:rPr>
                  <a:t>3,200</a:t>
                </a:r>
              </a:p>
            </p:txBody>
          </p:sp>
          <p:sp>
            <p:nvSpPr>
              <p:cNvPr id="28" name="Rectangle 28"/>
              <p:cNvSpPr/>
              <p:nvPr/>
            </p:nvSpPr>
            <p:spPr>
              <a:xfrm>
                <a:off x="3238500" y="3143250"/>
                <a:ext cx="2095500" cy="428625"/>
              </a:xfrm>
              <a:prstGeom prst="roundRect">
                <a:avLst>
                  <a:gd name="adj" fmla="val 13333"/>
                </a:avLst>
              </a:prstGeom>
              <a:solidFill>
                <a:srgbClr val="F8FAFC"/>
              </a:solidFill>
              <a:ln w="9525">
                <a:solidFill>
                  <a:srgbClr val="CBD5E1"/>
                </a:solidFill>
              </a:ln>
            </p:spPr>
            <p:txBody>
              <a:bodyPr/>
              <a:lstStyle/>
              <a:p>
                <a:endParaRPr lang="en-US"/>
              </a:p>
            </p:txBody>
          </p:sp>
          <p:sp>
            <p:nvSpPr>
              <p:cNvPr id="29" name="TextBox 29"/>
              <p:cNvSpPr txBox="1"/>
              <p:nvPr/>
            </p:nvSpPr>
            <p:spPr>
              <a:xfrm>
                <a:off x="3376612" y="3213100"/>
                <a:ext cx="968278" cy="161925"/>
              </a:xfrm>
              <a:prstGeom prst="rect">
                <a:avLst/>
              </a:prstGeom>
              <a:noFill/>
              <a:ln>
                <a:noFill/>
              </a:ln>
            </p:spPr>
            <p:txBody>
              <a:bodyPr wrap="none" lIns="0" tIns="0" rIns="0" bIns="0" anchor="t" anchorCtr="0">
                <a:spAutoFit/>
              </a:bodyPr>
              <a:lstStyle/>
              <a:p>
                <a:pPr algn="l"/>
                <a:r>
                  <a:rPr lang="vi" sz="820" dirty="0">
                    <a:solidFill>
                      <a:srgbClr val="64748B"/>
                    </a:solidFill>
                    <a:latin typeface="+mn-lt"/>
                    <a:ea typeface="+mn-ea"/>
                    <a:cs typeface="+mn-cs"/>
                  </a:rPr>
                  <a:t>Frozen (Đông lạnh)</a:t>
                </a:r>
              </a:p>
            </p:txBody>
          </p:sp>
          <p:sp>
            <p:nvSpPr>
              <p:cNvPr id="30" name="TextBox 30"/>
              <p:cNvSpPr txBox="1"/>
              <p:nvPr/>
            </p:nvSpPr>
            <p:spPr>
              <a:xfrm>
                <a:off x="3376041" y="3359150"/>
                <a:ext cx="364413" cy="205359"/>
              </a:xfrm>
              <a:prstGeom prst="rect">
                <a:avLst/>
              </a:prstGeom>
              <a:noFill/>
              <a:ln>
                <a:noFill/>
              </a:ln>
            </p:spPr>
            <p:txBody>
              <a:bodyPr wrap="none" lIns="0" tIns="0" rIns="0" bIns="0" anchor="t" anchorCtr="0">
                <a:spAutoFit/>
              </a:bodyPr>
              <a:lstStyle/>
              <a:p>
                <a:pPr algn="l"/>
                <a:r>
                  <a:rPr lang="vi" sz="1050" b="1" dirty="0">
                    <a:solidFill>
                      <a:srgbClr val="0F172A"/>
                    </a:solidFill>
                    <a:latin typeface="+mn-lt"/>
                    <a:ea typeface="+mn-ea"/>
                    <a:cs typeface="+mn-cs"/>
                  </a:rPr>
                  <a:t>4,800</a:t>
                </a:r>
              </a:p>
            </p:txBody>
          </p:sp>
          <p:sp>
            <p:nvSpPr>
              <p:cNvPr id="31" name="Rectangle 31"/>
              <p:cNvSpPr/>
              <p:nvPr/>
            </p:nvSpPr>
            <p:spPr>
              <a:xfrm>
                <a:off x="952500" y="3714750"/>
                <a:ext cx="2095500" cy="428625"/>
              </a:xfrm>
              <a:prstGeom prst="roundRect">
                <a:avLst>
                  <a:gd name="adj" fmla="val 13333"/>
                </a:avLst>
              </a:prstGeom>
              <a:solidFill>
                <a:srgbClr val="F8FAFC"/>
              </a:solidFill>
              <a:ln w="9525">
                <a:solidFill>
                  <a:srgbClr val="CBD5E1"/>
                </a:solidFill>
              </a:ln>
            </p:spPr>
            <p:txBody>
              <a:bodyPr/>
              <a:lstStyle/>
              <a:p>
                <a:endParaRPr lang="en-US"/>
              </a:p>
            </p:txBody>
          </p:sp>
          <p:sp>
            <p:nvSpPr>
              <p:cNvPr id="32" name="TextBox 32"/>
              <p:cNvSpPr txBox="1"/>
              <p:nvPr/>
            </p:nvSpPr>
            <p:spPr>
              <a:xfrm>
                <a:off x="1090612" y="3784600"/>
                <a:ext cx="912266" cy="161925"/>
              </a:xfrm>
              <a:prstGeom prst="rect">
                <a:avLst/>
              </a:prstGeom>
              <a:noFill/>
              <a:ln>
                <a:noFill/>
              </a:ln>
            </p:spPr>
            <p:txBody>
              <a:bodyPr wrap="none" lIns="0" tIns="0" rIns="0" bIns="0" anchor="t" anchorCtr="0">
                <a:spAutoFit/>
              </a:bodyPr>
              <a:lstStyle/>
              <a:p>
                <a:pPr algn="l"/>
                <a:r>
                  <a:rPr lang="vi" sz="820" dirty="0">
                    <a:solidFill>
                      <a:srgbClr val="64748B"/>
                    </a:solidFill>
                    <a:latin typeface="+mn-lt"/>
                    <a:ea typeface="+mn-ea"/>
                    <a:cs typeface="+mn-cs"/>
                  </a:rPr>
                  <a:t>Detergents_Paper</a:t>
                </a:r>
              </a:p>
            </p:txBody>
          </p:sp>
          <p:sp>
            <p:nvSpPr>
              <p:cNvPr id="33" name="TextBox 33"/>
              <p:cNvSpPr txBox="1"/>
              <p:nvPr/>
            </p:nvSpPr>
            <p:spPr>
              <a:xfrm>
                <a:off x="1090041" y="3930650"/>
                <a:ext cx="246526" cy="205359"/>
              </a:xfrm>
              <a:prstGeom prst="rect">
                <a:avLst/>
              </a:prstGeom>
              <a:noFill/>
              <a:ln>
                <a:noFill/>
              </a:ln>
            </p:spPr>
            <p:txBody>
              <a:bodyPr wrap="none" lIns="0" tIns="0" rIns="0" bIns="0" anchor="t" anchorCtr="0">
                <a:spAutoFit/>
              </a:bodyPr>
              <a:lstStyle/>
              <a:p>
                <a:pPr algn="l"/>
                <a:r>
                  <a:rPr lang="vi" sz="1050" b="1" dirty="0">
                    <a:solidFill>
                      <a:srgbClr val="0F172A"/>
                    </a:solidFill>
                    <a:latin typeface="+mn-lt"/>
                    <a:ea typeface="+mn-ea"/>
                    <a:cs typeface="+mn-cs"/>
                  </a:rPr>
                  <a:t>450</a:t>
                </a:r>
              </a:p>
            </p:txBody>
          </p:sp>
          <p:sp>
            <p:nvSpPr>
              <p:cNvPr id="34" name="Rectangle 34"/>
              <p:cNvSpPr/>
              <p:nvPr/>
            </p:nvSpPr>
            <p:spPr>
              <a:xfrm>
                <a:off x="3238500" y="3714750"/>
                <a:ext cx="2095500" cy="428625"/>
              </a:xfrm>
              <a:prstGeom prst="roundRect">
                <a:avLst>
                  <a:gd name="adj" fmla="val 13333"/>
                </a:avLst>
              </a:prstGeom>
              <a:solidFill>
                <a:srgbClr val="F8FAFC"/>
              </a:solidFill>
              <a:ln w="9525">
                <a:solidFill>
                  <a:srgbClr val="CBD5E1"/>
                </a:solidFill>
              </a:ln>
            </p:spPr>
            <p:txBody>
              <a:bodyPr/>
              <a:lstStyle/>
              <a:p>
                <a:endParaRPr lang="en-US"/>
              </a:p>
            </p:txBody>
          </p:sp>
          <p:sp>
            <p:nvSpPr>
              <p:cNvPr id="35" name="TextBox 35"/>
              <p:cNvSpPr txBox="1"/>
              <p:nvPr/>
            </p:nvSpPr>
            <p:spPr>
              <a:xfrm>
                <a:off x="3376612" y="3784600"/>
                <a:ext cx="1102803" cy="161925"/>
              </a:xfrm>
              <a:prstGeom prst="rect">
                <a:avLst/>
              </a:prstGeom>
              <a:noFill/>
              <a:ln>
                <a:noFill/>
              </a:ln>
            </p:spPr>
            <p:txBody>
              <a:bodyPr wrap="none" lIns="0" tIns="0" rIns="0" bIns="0" anchor="t" anchorCtr="0">
                <a:spAutoFit/>
              </a:bodyPr>
              <a:lstStyle/>
              <a:p>
                <a:pPr algn="l"/>
                <a:r>
                  <a:rPr lang="vi" sz="820" dirty="0">
                    <a:solidFill>
                      <a:srgbClr val="64748B"/>
                    </a:solidFill>
                    <a:latin typeface="+mn-lt"/>
                    <a:ea typeface="+mn-ea"/>
                    <a:cs typeface="+mn-cs"/>
                  </a:rPr>
                  <a:t>Delicassen (Đồ nguội)</a:t>
                </a:r>
              </a:p>
            </p:txBody>
          </p:sp>
          <p:sp>
            <p:nvSpPr>
              <p:cNvPr id="36" name="TextBox 36"/>
              <p:cNvSpPr txBox="1"/>
              <p:nvPr/>
            </p:nvSpPr>
            <p:spPr>
              <a:xfrm>
                <a:off x="3376041" y="3930650"/>
                <a:ext cx="246526" cy="205359"/>
              </a:xfrm>
              <a:prstGeom prst="rect">
                <a:avLst/>
              </a:prstGeom>
              <a:noFill/>
              <a:ln>
                <a:noFill/>
              </a:ln>
            </p:spPr>
            <p:txBody>
              <a:bodyPr wrap="none" lIns="0" tIns="0" rIns="0" bIns="0" anchor="t" anchorCtr="0">
                <a:spAutoFit/>
              </a:bodyPr>
              <a:lstStyle/>
              <a:p>
                <a:pPr algn="l"/>
                <a:r>
                  <a:rPr lang="vi" sz="1050" b="1" dirty="0">
                    <a:solidFill>
                      <a:srgbClr val="0F172A"/>
                    </a:solidFill>
                    <a:latin typeface="+mn-lt"/>
                    <a:ea typeface="+mn-ea"/>
                    <a:cs typeface="+mn-cs"/>
                  </a:rPr>
                  <a:t>950</a:t>
                </a:r>
              </a:p>
            </p:txBody>
          </p:sp>
          <p:sp>
            <p:nvSpPr>
              <p:cNvPr id="37" name="Rectangle 37"/>
              <p:cNvSpPr/>
              <p:nvPr/>
            </p:nvSpPr>
            <p:spPr>
              <a:xfrm>
                <a:off x="952500" y="4333875"/>
                <a:ext cx="4381500" cy="400050"/>
              </a:xfrm>
              <a:prstGeom prst="roundRect">
                <a:avLst>
                  <a:gd name="adj" fmla="val 19048"/>
                </a:avLst>
              </a:prstGeom>
              <a:solidFill>
                <a:schemeClr val="accent1"/>
              </a:solidFill>
              <a:ln>
                <a:noFill/>
              </a:ln>
            </p:spPr>
            <p:txBody>
              <a:bodyPr/>
              <a:lstStyle/>
              <a:p>
                <a:endParaRPr lang="en-US"/>
              </a:p>
            </p:txBody>
          </p:sp>
          <p:sp>
            <p:nvSpPr>
              <p:cNvPr id="38" name="TextBox 38"/>
              <p:cNvSpPr txBox="1"/>
              <p:nvPr/>
            </p:nvSpPr>
            <p:spPr>
              <a:xfrm>
                <a:off x="1719475" y="4454525"/>
                <a:ext cx="2847549" cy="205359"/>
              </a:xfrm>
              <a:prstGeom prst="rect">
                <a:avLst/>
              </a:prstGeom>
              <a:noFill/>
              <a:ln>
                <a:noFill/>
              </a:ln>
            </p:spPr>
            <p:txBody>
              <a:bodyPr wrap="none" lIns="0" tIns="0" rIns="0" bIns="0" anchor="t" anchorCtr="0">
                <a:spAutoFit/>
              </a:bodyPr>
              <a:lstStyle/>
              <a:p>
                <a:pPr algn="ctr"/>
                <a:r>
                  <a:rPr lang="vi" sz="1050" b="1" dirty="0">
                    <a:solidFill>
                      <a:srgbClr val="FFFFFF"/>
                    </a:solidFill>
                    <a:latin typeface="+mn-lt"/>
                    <a:ea typeface="+mn-ea"/>
                    <a:cs typeface="+mn-cs"/>
                  </a:rPr>
                  <a:t>🔍 PHÂN TÍCH &amp; DỰ ĐOÁN PHÂN KHÚC</a:t>
                </a:r>
              </a:p>
            </p:txBody>
          </p:sp>
        </p:grpSp>
        <p:grpSp>
          <p:nvGrpSpPr>
            <p:cNvPr id="54" name="Group 54"/>
            <p:cNvGrpSpPr/>
            <p:nvPr/>
          </p:nvGrpSpPr>
          <p:grpSpPr>
            <a:xfrm>
              <a:off x="5715000" y="2000250"/>
              <a:ext cx="6203468" cy="3905250"/>
              <a:chOff x="5715000" y="2000250"/>
              <a:chExt cx="6203468" cy="3905250"/>
            </a:xfrm>
          </p:grpSpPr>
          <p:sp>
            <p:nvSpPr>
              <p:cNvPr id="40" name="Rectangle 40"/>
              <p:cNvSpPr/>
              <p:nvPr/>
            </p:nvSpPr>
            <p:spPr>
              <a:xfrm>
                <a:off x="5715000" y="2000250"/>
                <a:ext cx="5334000" cy="3905250"/>
              </a:xfrm>
              <a:prstGeom prst="roundRect">
                <a:avLst>
                  <a:gd name="adj" fmla="val 2927"/>
                </a:avLst>
              </a:prstGeom>
              <a:solidFill>
                <a:srgbClr val="F8FAFC"/>
              </a:solidFill>
              <a:ln w="9525">
                <a:solidFill>
                  <a:srgbClr val="E2E8F0"/>
                </a:solidFill>
              </a:ln>
            </p:spPr>
            <p:txBody>
              <a:bodyPr/>
              <a:lstStyle/>
              <a:p>
                <a:endParaRPr lang="en-US"/>
              </a:p>
            </p:txBody>
          </p:sp>
          <p:sp>
            <p:nvSpPr>
              <p:cNvPr id="41" name="TextBox 41"/>
              <p:cNvSpPr txBox="1"/>
              <p:nvPr/>
            </p:nvSpPr>
            <p:spPr>
              <a:xfrm>
                <a:off x="5947410" y="2193925"/>
                <a:ext cx="2528670" cy="220028"/>
              </a:xfrm>
              <a:prstGeom prst="rect">
                <a:avLst/>
              </a:prstGeom>
              <a:noFill/>
              <a:ln>
                <a:noFill/>
              </a:ln>
            </p:spPr>
            <p:txBody>
              <a:bodyPr wrap="none" lIns="0" tIns="0" rIns="0" bIns="0" anchor="t" anchorCtr="0">
                <a:spAutoFit/>
              </a:bodyPr>
              <a:lstStyle/>
              <a:p>
                <a:pPr algn="l"/>
                <a:r>
                  <a:rPr lang="vi" sz="1120" b="1" dirty="0">
                    <a:solidFill>
                      <a:srgbClr val="0F172A"/>
                    </a:solidFill>
                    <a:latin typeface="+mn-lt"/>
                    <a:ea typeface="+mn-ea"/>
                    <a:cs typeface="+mn-cs"/>
                  </a:rPr>
                  <a:t>Kết Quả Phân Tích Thời Gian Thực</a:t>
                </a:r>
              </a:p>
            </p:txBody>
          </p:sp>
          <p:sp>
            <p:nvSpPr>
              <p:cNvPr id="42" name="Rectangle 42"/>
              <p:cNvSpPr/>
              <p:nvPr/>
            </p:nvSpPr>
            <p:spPr>
              <a:xfrm>
                <a:off x="5953125" y="2524125"/>
                <a:ext cx="4857750" cy="857250"/>
              </a:xfrm>
              <a:prstGeom prst="roundRect">
                <a:avLst>
                  <a:gd name="adj" fmla="val 11111"/>
                </a:avLst>
              </a:prstGeom>
              <a:solidFill>
                <a:srgbClr val="ECFDF5"/>
              </a:solidFill>
              <a:ln w="14288">
                <a:solidFill>
                  <a:schemeClr val="accent2"/>
                </a:solidFill>
              </a:ln>
            </p:spPr>
            <p:txBody>
              <a:bodyPr/>
              <a:lstStyle/>
              <a:p>
                <a:endParaRPr lang="en-US"/>
              </a:p>
            </p:txBody>
          </p:sp>
          <p:sp>
            <p:nvSpPr>
              <p:cNvPr id="43" name="TextBox 43"/>
              <p:cNvSpPr txBox="1"/>
              <p:nvPr/>
            </p:nvSpPr>
            <p:spPr>
              <a:xfrm>
                <a:off x="6186297" y="2682875"/>
                <a:ext cx="1581949" cy="191643"/>
              </a:xfrm>
              <a:prstGeom prst="rect">
                <a:avLst/>
              </a:prstGeom>
              <a:noFill/>
              <a:ln>
                <a:noFill/>
              </a:ln>
            </p:spPr>
            <p:txBody>
              <a:bodyPr wrap="none" lIns="0" tIns="0" rIns="0" bIns="0" anchor="t" anchorCtr="0">
                <a:spAutoFit/>
              </a:bodyPr>
              <a:lstStyle/>
              <a:p>
                <a:pPr algn="l"/>
                <a:r>
                  <a:rPr lang="vi" sz="980" b="1" dirty="0">
                    <a:solidFill>
                      <a:srgbClr val="065F46"/>
                    </a:solidFill>
                    <a:latin typeface="+mn-lt"/>
                    <a:ea typeface="+mn-ea"/>
                    <a:cs typeface="+mn-cs"/>
                  </a:rPr>
                  <a:t>PHÂN KHÚC DỰ ĐOÁN:</a:t>
                </a:r>
              </a:p>
            </p:txBody>
          </p:sp>
          <p:sp>
            <p:nvSpPr>
              <p:cNvPr id="44" name="TextBox 44"/>
              <p:cNvSpPr txBox="1"/>
              <p:nvPr/>
            </p:nvSpPr>
            <p:spPr>
              <a:xfrm>
                <a:off x="6180582" y="2936875"/>
                <a:ext cx="4568447" cy="410718"/>
              </a:xfrm>
              <a:prstGeom prst="rect">
                <a:avLst/>
              </a:prstGeom>
              <a:noFill/>
              <a:ln>
                <a:noFill/>
              </a:ln>
            </p:spPr>
            <p:txBody>
              <a:bodyPr wrap="none" lIns="0" tIns="0" rIns="0" bIns="0" anchor="t" anchorCtr="0">
                <a:spAutoFit/>
              </a:bodyPr>
              <a:lstStyle/>
              <a:p>
                <a:pPr algn="l"/>
                <a:r>
                  <a:rPr lang="vi" sz="2100" b="1" dirty="0">
                    <a:solidFill>
                      <a:srgbClr val="059669"/>
                    </a:solidFill>
                    <a:latin typeface="+mn-lt"/>
                    <a:ea typeface="+mn-ea"/>
                    <a:cs typeface="+mn-cs"/>
                  </a:rPr>
                  <a:t>CỤM 1 — NHÀ HÀNG / HORECA</a:t>
                </a:r>
              </a:p>
            </p:txBody>
          </p:sp>
          <p:sp>
            <p:nvSpPr>
              <p:cNvPr id="45" name="TextBox 45"/>
              <p:cNvSpPr txBox="1"/>
              <p:nvPr/>
            </p:nvSpPr>
            <p:spPr>
              <a:xfrm>
                <a:off x="9329547" y="2968625"/>
                <a:ext cx="1327760" cy="191643"/>
              </a:xfrm>
              <a:prstGeom prst="rect">
                <a:avLst/>
              </a:prstGeom>
              <a:noFill/>
              <a:ln>
                <a:noFill/>
              </a:ln>
            </p:spPr>
            <p:txBody>
              <a:bodyPr wrap="none" lIns="0" tIns="0" rIns="0" bIns="0" anchor="t" anchorCtr="0">
                <a:spAutoFit/>
              </a:bodyPr>
              <a:lstStyle/>
              <a:p>
                <a:pPr algn="l"/>
                <a:r>
                  <a:rPr lang="vi" sz="980" dirty="0">
                    <a:solidFill>
                      <a:srgbClr val="065F46"/>
                    </a:solidFill>
                    <a:latin typeface="+mn-lt"/>
                    <a:ea typeface="+mn-ea"/>
                    <a:cs typeface="+mn-cs"/>
                  </a:rPr>
                  <a:t>Độ tương đồng: </a:t>
                </a:r>
                <a:r>
                  <a:rPr lang="vi" sz="980" b="1" dirty="0">
                    <a:solidFill>
                      <a:srgbClr val="065F46"/>
                    </a:solidFill>
                    <a:latin typeface="+mn-lt"/>
                    <a:ea typeface="+mn-ea"/>
                    <a:cs typeface="+mn-cs"/>
                  </a:rPr>
                  <a:t>94.8%</a:t>
                </a:r>
              </a:p>
            </p:txBody>
          </p:sp>
          <p:sp>
            <p:nvSpPr>
              <p:cNvPr id="46" name="Rectangle 46"/>
              <p:cNvSpPr/>
              <p:nvPr/>
            </p:nvSpPr>
            <p:spPr>
              <a:xfrm>
                <a:off x="5953125" y="3524250"/>
                <a:ext cx="4857750" cy="2190750"/>
              </a:xfrm>
              <a:prstGeom prst="roundRect">
                <a:avLst>
                  <a:gd name="adj" fmla="val 4348"/>
                </a:avLst>
              </a:prstGeom>
              <a:solidFill>
                <a:schemeClr val="lt1"/>
              </a:solidFill>
              <a:ln w="9525">
                <a:solidFill>
                  <a:srgbClr val="E2E8F0"/>
                </a:solidFill>
              </a:ln>
            </p:spPr>
            <p:txBody>
              <a:bodyPr/>
              <a:lstStyle/>
              <a:p>
                <a:endParaRPr lang="en-US"/>
              </a:p>
            </p:txBody>
          </p:sp>
          <p:sp>
            <p:nvSpPr>
              <p:cNvPr id="47" name="TextBox 47"/>
              <p:cNvSpPr txBox="1"/>
              <p:nvPr/>
            </p:nvSpPr>
            <p:spPr>
              <a:xfrm>
                <a:off x="6138291" y="3683000"/>
                <a:ext cx="2697428" cy="205359"/>
              </a:xfrm>
              <a:prstGeom prst="rect">
                <a:avLst/>
              </a:prstGeom>
              <a:noFill/>
              <a:ln>
                <a:noFill/>
              </a:ln>
            </p:spPr>
            <p:txBody>
              <a:bodyPr wrap="none" lIns="0" tIns="0" rIns="0" bIns="0" anchor="t" anchorCtr="0">
                <a:spAutoFit/>
              </a:bodyPr>
              <a:lstStyle/>
              <a:p>
                <a:pPr algn="l"/>
                <a:r>
                  <a:rPr lang="vi" sz="1050" b="1" dirty="0">
                    <a:solidFill>
                      <a:srgbClr val="0F172A"/>
                    </a:solidFill>
                    <a:latin typeface="+mn-lt"/>
                    <a:ea typeface="+mn-ea"/>
                    <a:cs typeface="+mn-cs"/>
                  </a:rPr>
                  <a:t>Đặc Điểm &amp; Khuyến Nghị Từ Hệ Thống:</a:t>
                </a:r>
              </a:p>
            </p:txBody>
          </p:sp>
          <p:sp>
            <p:nvSpPr>
              <p:cNvPr id="48" name="TextBox 48"/>
              <p:cNvSpPr txBox="1"/>
              <p:nvPr/>
            </p:nvSpPr>
            <p:spPr>
              <a:xfrm>
                <a:off x="6138672" y="3968750"/>
                <a:ext cx="5779796"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b="1" dirty="0">
                    <a:solidFill>
                      <a:srgbClr val="334155"/>
                    </a:solidFill>
                    <a:latin typeface="+mn-lt"/>
                    <a:ea typeface="+mn-ea"/>
                    <a:cs typeface="+mn-cs"/>
                  </a:rPr>
                  <a:t>Chi tiêu Fresh vượt trội (12,500 m.u.):</a:t>
                </a:r>
                <a:r>
                  <a:rPr lang="vi" sz="980" dirty="0">
                    <a:solidFill>
                      <a:srgbClr val="334155"/>
                    </a:solidFill>
                    <a:latin typeface="+mn-lt"/>
                    <a:ea typeface="+mn-ea"/>
                    <a:cs typeface="+mn-cs"/>
                  </a:rPr>
                  <a:t> Nhu cầu tiêu thụ rau củ, thịt tươi sống hằng ngày rất cao.</a:t>
                </a:r>
              </a:p>
            </p:txBody>
          </p:sp>
          <p:sp>
            <p:nvSpPr>
              <p:cNvPr id="49" name="TextBox 49"/>
              <p:cNvSpPr txBox="1"/>
              <p:nvPr/>
            </p:nvSpPr>
            <p:spPr>
              <a:xfrm>
                <a:off x="6138672" y="4254500"/>
                <a:ext cx="5209560"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b="1" dirty="0">
                    <a:solidFill>
                      <a:srgbClr val="334155"/>
                    </a:solidFill>
                    <a:latin typeface="+mn-lt"/>
                    <a:ea typeface="+mn-ea"/>
                    <a:cs typeface="+mn-cs"/>
                  </a:rPr>
                  <a:t>Chi tiêu Frozen cao (4,800 m.u.):</a:t>
                </a:r>
                <a:r>
                  <a:rPr lang="vi" sz="980" dirty="0">
                    <a:solidFill>
                      <a:srgbClr val="334155"/>
                    </a:solidFill>
                    <a:latin typeface="+mn-lt"/>
                    <a:ea typeface="+mn-ea"/>
                    <a:cs typeface="+mn-cs"/>
                  </a:rPr>
                  <a:t> Phù hợp với cơ cấu nhà bếp nhà hàng chuẩn bị sẵn.</a:t>
                </a:r>
              </a:p>
            </p:txBody>
          </p:sp>
          <p:sp>
            <p:nvSpPr>
              <p:cNvPr id="50" name="TextBox 50"/>
              <p:cNvSpPr txBox="1"/>
              <p:nvPr/>
            </p:nvSpPr>
            <p:spPr>
              <a:xfrm>
                <a:off x="6138672" y="4540250"/>
                <a:ext cx="5162993"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b="1" dirty="0">
                    <a:solidFill>
                      <a:srgbClr val="334155"/>
                    </a:solidFill>
                    <a:latin typeface="+mn-lt"/>
                    <a:ea typeface="+mn-ea"/>
                    <a:cs typeface="+mn-cs"/>
                  </a:rPr>
                  <a:t>Khoảng cách Euclidean tới tâm Cụm 1:</a:t>
                </a:r>
                <a:r>
                  <a:rPr lang="vi" sz="980" dirty="0">
                    <a:solidFill>
                      <a:srgbClr val="334155"/>
                    </a:solidFill>
                    <a:latin typeface="+mn-lt"/>
                    <a:ea typeface="+mn-ea"/>
                    <a:cs typeface="+mn-cs"/>
                  </a:rPr>
                  <a:t> 0.412 (Gần hơn nhiều so với Cụm 0: 2.185).</a:t>
                </a:r>
              </a:p>
            </p:txBody>
          </p:sp>
          <p:sp>
            <p:nvSpPr>
              <p:cNvPr id="51" name="Rectangle 51"/>
              <p:cNvSpPr/>
              <p:nvPr/>
            </p:nvSpPr>
            <p:spPr>
              <a:xfrm>
                <a:off x="6143625" y="4953000"/>
                <a:ext cx="4476750" cy="571500"/>
              </a:xfrm>
              <a:prstGeom prst="roundRect">
                <a:avLst>
                  <a:gd name="adj" fmla="val 13333"/>
                </a:avLst>
              </a:prstGeom>
              <a:solidFill>
                <a:srgbClr val="EFF6FF"/>
              </a:solidFill>
              <a:ln>
                <a:noFill/>
              </a:ln>
            </p:spPr>
            <p:txBody>
              <a:bodyPr/>
              <a:lstStyle/>
              <a:p>
                <a:endParaRPr lang="en-US"/>
              </a:p>
            </p:txBody>
          </p:sp>
          <p:sp>
            <p:nvSpPr>
              <p:cNvPr id="52" name="TextBox 52"/>
              <p:cNvSpPr txBox="1"/>
              <p:nvPr/>
            </p:nvSpPr>
            <p:spPr>
              <a:xfrm>
                <a:off x="6329172" y="5064125"/>
                <a:ext cx="3425172" cy="191643"/>
              </a:xfrm>
              <a:prstGeom prst="rect">
                <a:avLst/>
              </a:prstGeom>
              <a:noFill/>
              <a:ln>
                <a:noFill/>
              </a:ln>
            </p:spPr>
            <p:txBody>
              <a:bodyPr wrap="none" lIns="0" tIns="0" rIns="0" bIns="0" anchor="t" anchorCtr="0">
                <a:spAutoFit/>
              </a:bodyPr>
              <a:lstStyle/>
              <a:p>
                <a:pPr algn="l"/>
                <a:r>
                  <a:rPr lang="vi" sz="980" b="1" dirty="0">
                    <a:solidFill>
                      <a:srgbClr val="1E40AF"/>
                    </a:solidFill>
                    <a:latin typeface="+mn-lt"/>
                    <a:ea typeface="+mn-ea"/>
                    <a:cs typeface="+mn-cs"/>
                  </a:rPr>
                  <a:t>HÀNH ĐỘNG GỢI Ý CHO NHÂN VIÊN KINH DOANH:</a:t>
                </a:r>
              </a:p>
            </p:txBody>
          </p:sp>
          <p:sp>
            <p:nvSpPr>
              <p:cNvPr id="53" name="TextBox 53"/>
              <p:cNvSpPr txBox="1"/>
              <p:nvPr/>
            </p:nvSpPr>
            <p:spPr>
              <a:xfrm>
                <a:off x="6329362" y="5267325"/>
                <a:ext cx="5052415" cy="176212"/>
              </a:xfrm>
              <a:prstGeom prst="rect">
                <a:avLst/>
              </a:prstGeom>
              <a:noFill/>
              <a:ln>
                <a:noFill/>
              </a:ln>
            </p:spPr>
            <p:txBody>
              <a:bodyPr wrap="none" lIns="0" tIns="0" rIns="0" bIns="0" anchor="t" anchorCtr="0">
                <a:spAutoFit/>
              </a:bodyPr>
              <a:lstStyle/>
              <a:p>
                <a:pPr algn="l"/>
                <a:r>
                  <a:rPr lang="vi" sz="900" dirty="0">
                    <a:solidFill>
                      <a:srgbClr val="1E3A8A"/>
                    </a:solidFill>
                    <a:latin typeface="+mn-lt"/>
                    <a:ea typeface="+mn-ea"/>
                    <a:cs typeface="+mn-cs"/>
                  </a:rPr>
                  <a:t>Gửi báo giá ưu đãi nguồn hàng thủy hải sản tươi sống và đề xuất lịch giao 6h sáng hằng ngày.</a:t>
                </a:r>
              </a:p>
            </p:txBody>
          </p:sp>
        </p:grpSp>
      </p:grpSp>
      <p:grpSp>
        <p:nvGrpSpPr>
          <p:cNvPr id="59" name="footer"/>
          <p:cNvGrpSpPr/>
          <p:nvPr/>
        </p:nvGrpSpPr>
        <p:grpSpPr>
          <a:xfrm>
            <a:off x="661797" y="6429375"/>
            <a:ext cx="10868406" cy="264668"/>
            <a:chOff x="661797" y="6429375"/>
            <a:chExt cx="10868406" cy="264668"/>
          </a:xfrm>
        </p:grpSpPr>
        <p:sp>
          <p:nvSpPr>
            <p:cNvPr id="56" name="Line 56"/>
            <p:cNvSpPr/>
            <p:nvPr/>
          </p:nvSpPr>
          <p:spPr>
            <a:xfrm>
              <a:off x="666750" y="6429375"/>
              <a:ext cx="10858500" cy="9525"/>
            </a:xfrm>
            <a:custGeom>
              <a:avLst/>
              <a:gdLst/>
              <a:ahLst/>
              <a:cxnLst/>
              <a:rect l="l" t="t" r="r" b="b"/>
              <a:pathLst>
                <a:path w="10858500" h="9525">
                  <a:moveTo>
                    <a:pt x="0" y="0"/>
                  </a:moveTo>
                  <a:lnTo>
                    <a:pt x="10858500" y="0"/>
                  </a:lnTo>
                </a:path>
              </a:pathLst>
            </a:custGeom>
            <a:noFill/>
            <a:ln w="9525">
              <a:solidFill>
                <a:srgbClr val="E2E8F0"/>
              </a:solidFill>
            </a:ln>
          </p:spPr>
          <p:txBody>
            <a:bodyPr/>
            <a:lstStyle/>
            <a:p>
              <a:endParaRPr lang="en-US"/>
            </a:p>
          </p:txBody>
        </p:sp>
        <p:sp>
          <p:nvSpPr>
            <p:cNvPr id="57" name="TextBox 57"/>
            <p:cNvSpPr txBox="1"/>
            <p:nvPr/>
          </p:nvSpPr>
          <p:spPr>
            <a:xfrm>
              <a:off x="661797" y="6502400"/>
              <a:ext cx="5799743"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Đồ Án Machine Learning Phân Khúc Khách Hàng Bán Sỉ • Project 22 (UCI Wholesale Customers)</a:t>
              </a:r>
            </a:p>
          </p:txBody>
        </p:sp>
        <p:sp>
          <p:nvSpPr>
            <p:cNvPr id="58" name="TextBox 58"/>
            <p:cNvSpPr txBox="1"/>
            <p:nvPr/>
          </p:nvSpPr>
          <p:spPr>
            <a:xfrm>
              <a:off x="11116836" y="6502400"/>
              <a:ext cx="413367" cy="191643"/>
            </a:xfrm>
            <a:prstGeom prst="rect">
              <a:avLst/>
            </a:prstGeom>
            <a:noFill/>
            <a:ln>
              <a:noFill/>
            </a:ln>
          </p:spPr>
          <p:txBody>
            <a:bodyPr wrap="none" lIns="0" tIns="0" rIns="0" bIns="0" anchor="t" anchorCtr="0">
              <a:spAutoFit/>
            </a:bodyPr>
            <a:lstStyle/>
            <a:p>
              <a:pPr algn="r"/>
              <a:r>
                <a:rPr lang="vi" sz="980" b="1" dirty="0">
                  <a:solidFill>
                    <a:srgbClr val="475569"/>
                  </a:solidFill>
                  <a:latin typeface="+mn-lt"/>
                  <a:ea typeface="+mn-ea"/>
                  <a:cs typeface="+mn-cs"/>
                </a:rPr>
                <a:t>12 / 15</a:t>
              </a:r>
            </a:p>
          </p:txBody>
        </p:sp>
      </p:grpSp>
    </p:spTree>
  </p:cSld>
  <p:clrMapOvr>
    <a:masterClrMapping/>
  </p:clrMapOvr>
  <mc:AlternateContent xmlns:mc="http://schemas.openxmlformats.org/markup-compatibility/2006">
    <mc:Choice xmlns:p14="http://schemas.microsoft.com/office/powerpoint/2010/main" Requires="p14">
      <p:transition spd="med" p14:dur="600">
        <p:split/>
      </p:transition>
    </mc:Choice>
    <mc:Fallback>
      <p:transition spd="med">
        <p:spli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400"/>
                            </p:stCondLst>
                            <p:childTnLst>
                              <p:par>
                                <p:cTn id="9" presetID="23" presetClass="entr" presetSubtype="16" fill="hold" nodeType="afterEffect">
                                  <p:stCondLst>
                                    <p:cond delay="500"/>
                                  </p:stCondLst>
                                  <p:childTnLst>
                                    <p:set>
                                      <p:cBhvr>
                                        <p:cTn id="10" dur="1" fill="hold">
                                          <p:stCondLst>
                                            <p:cond delay="0"/>
                                          </p:stCondLst>
                                        </p:cTn>
                                        <p:tgtEl>
                                          <p:spTgt spid="55"/>
                                        </p:tgtEl>
                                        <p:attrNameLst>
                                          <p:attrName>style.visibility</p:attrName>
                                        </p:attrNameLst>
                                      </p:cBhvr>
                                      <p:to>
                                        <p:strVal val="visible"/>
                                      </p:to>
                                    </p:set>
                                    <p:anim calcmode="lin" valueType="num">
                                      <p:cBhvr>
                                        <p:cTn id="11" dur="800" fill="hold"/>
                                        <p:tgtEl>
                                          <p:spTgt spid="55"/>
                                        </p:tgtEl>
                                        <p:attrNameLst>
                                          <p:attrName>ppt_w</p:attrName>
                                        </p:attrNameLst>
                                      </p:cBhvr>
                                      <p:tavLst>
                                        <p:tav tm="0">
                                          <p:val>
                                            <p:fltVal val="0"/>
                                          </p:val>
                                        </p:tav>
                                        <p:tav tm="100000">
                                          <p:val>
                                            <p:strVal val="#ppt_w"/>
                                          </p:val>
                                        </p:tav>
                                      </p:tavLst>
                                    </p:anim>
                                    <p:anim calcmode="lin" valueType="num">
                                      <p:cBhvr>
                                        <p:cTn id="12" dur="800" fill="hold"/>
                                        <p:tgtEl>
                                          <p:spTgt spid="5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page-background"/>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8FAFC"/>
            </a:solidFill>
            <a:ln>
              <a:noFill/>
            </a:ln>
          </p:spPr>
          <p:txBody>
            <a:bodyPr/>
            <a:lstStyle/>
            <a:p>
              <a:endParaRPr lang="en-US"/>
            </a:p>
          </p:txBody>
        </p:sp>
        <p:sp>
          <p:nvSpPr>
            <p:cNvPr id="3" name="Rectangle 3"/>
            <p:cNvSpPr/>
            <p:nvPr/>
          </p:nvSpPr>
          <p:spPr>
            <a:xfrm>
              <a:off x="0" y="0"/>
              <a:ext cx="12192000" cy="57150"/>
            </a:xfrm>
            <a:prstGeom prst="rect">
              <a:avLst/>
            </a:prstGeom>
            <a:gradFill>
              <a:gsLst>
                <a:gs pos="0">
                  <a:srgbClr val="1E3A8A"/>
                </a:gs>
                <a:gs pos="50000">
                  <a:schemeClr val="accent1"/>
                </a:gs>
                <a:gs pos="100000">
                  <a:srgbClr val="0EA5E9"/>
                </a:gs>
              </a:gsLst>
              <a:lin ang="0" scaled="1"/>
            </a:gradFill>
            <a:ln>
              <a:noFill/>
            </a:ln>
          </p:spPr>
          <p:txBody>
            <a:bodyPr/>
            <a:lstStyle/>
            <a:p>
              <a:endParaRPr lang="en-US"/>
            </a:p>
          </p:txBody>
        </p:sp>
      </p:grpSp>
      <p:grpSp>
        <p:nvGrpSpPr>
          <p:cNvPr id="9" name="header"/>
          <p:cNvGrpSpPr/>
          <p:nvPr/>
        </p:nvGrpSpPr>
        <p:grpSpPr>
          <a:xfrm>
            <a:off x="654558" y="304800"/>
            <a:ext cx="7645095" cy="899478"/>
            <a:chOff x="654558" y="304800"/>
            <a:chExt cx="7645095" cy="899478"/>
          </a:xfrm>
        </p:grpSpPr>
        <p:sp>
          <p:nvSpPr>
            <p:cNvPr id="5" name="Rectangle 5"/>
            <p:cNvSpPr/>
            <p:nvPr/>
          </p:nvSpPr>
          <p:spPr>
            <a:xfrm>
              <a:off x="666750" y="304800"/>
              <a:ext cx="1828800" cy="247650"/>
            </a:xfrm>
            <a:prstGeom prst="roundRect">
              <a:avLst>
                <a:gd name="adj" fmla="val 23077"/>
              </a:avLst>
            </a:prstGeom>
            <a:solidFill>
              <a:srgbClr val="EFF6FF"/>
            </a:solidFill>
            <a:ln w="9525">
              <a:solidFill>
                <a:srgbClr val="BFDBFE"/>
              </a:solidFill>
            </a:ln>
          </p:spPr>
          <p:txBody>
            <a:bodyPr/>
            <a:lstStyle/>
            <a:p>
              <a:endParaRPr lang="en-US"/>
            </a:p>
          </p:txBody>
        </p:sp>
        <p:sp>
          <p:nvSpPr>
            <p:cNvPr id="6" name="TextBox 6"/>
            <p:cNvSpPr txBox="1"/>
            <p:nvPr/>
          </p:nvSpPr>
          <p:spPr>
            <a:xfrm>
              <a:off x="802148" y="365125"/>
              <a:ext cx="1558004" cy="161925"/>
            </a:xfrm>
            <a:prstGeom prst="rect">
              <a:avLst/>
            </a:prstGeom>
            <a:noFill/>
            <a:ln>
              <a:noFill/>
            </a:ln>
          </p:spPr>
          <p:txBody>
            <a:bodyPr wrap="none" lIns="0" tIns="0" rIns="0" bIns="0" anchor="t" anchorCtr="0">
              <a:spAutoFit/>
            </a:bodyPr>
            <a:lstStyle/>
            <a:p>
              <a:pPr algn="ctr"/>
              <a:r>
                <a:rPr lang="vi" sz="820" b="1" spc="75" dirty="0">
                  <a:solidFill>
                    <a:srgbClr val="1D4ED8"/>
                  </a:solidFill>
                  <a:latin typeface="+mn-lt"/>
                  <a:ea typeface="+mn-ea"/>
                  <a:cs typeface="+mn-cs"/>
                </a:rPr>
                <a:t>ĐẢM BẢO CHẤT LƯỢNG</a:t>
              </a:r>
            </a:p>
          </p:txBody>
        </p:sp>
        <p:sp>
          <p:nvSpPr>
            <p:cNvPr id="7" name="TextBox 7"/>
            <p:cNvSpPr txBox="1"/>
            <p:nvPr/>
          </p:nvSpPr>
          <p:spPr>
            <a:xfrm>
              <a:off x="654558" y="584200"/>
              <a:ext cx="7645095" cy="469392"/>
            </a:xfrm>
            <a:prstGeom prst="rect">
              <a:avLst/>
            </a:prstGeom>
            <a:noFill/>
            <a:ln>
              <a:noFill/>
            </a:ln>
          </p:spPr>
          <p:txBody>
            <a:bodyPr wrap="none" lIns="0" tIns="0" rIns="0" bIns="0" anchor="t" anchorCtr="0">
              <a:spAutoFit/>
            </a:bodyPr>
            <a:lstStyle/>
            <a:p>
              <a:pPr algn="l"/>
              <a:r>
                <a:rPr lang="vi" sz="2400" b="1" dirty="0">
                  <a:solidFill>
                    <a:srgbClr val="0F172A"/>
                  </a:solidFill>
                  <a:latin typeface="+mn-lt"/>
                  <a:ea typeface="+mn-ea"/>
                  <a:cs typeface="+mn-cs"/>
                </a:rPr>
                <a:t>Kiểm Thử Toàn Diện, Bảo Mật &amp; Quy Trình CI/CD</a:t>
              </a:r>
            </a:p>
          </p:txBody>
        </p:sp>
        <p:sp>
          <p:nvSpPr>
            <p:cNvPr id="8" name="TextBox 8"/>
            <p:cNvSpPr txBox="1"/>
            <p:nvPr/>
          </p:nvSpPr>
          <p:spPr>
            <a:xfrm>
              <a:off x="661035" y="984250"/>
              <a:ext cx="5733411" cy="220028"/>
            </a:xfrm>
            <a:prstGeom prst="rect">
              <a:avLst/>
            </a:prstGeom>
            <a:noFill/>
            <a:ln>
              <a:noFill/>
            </a:ln>
          </p:spPr>
          <p:txBody>
            <a:bodyPr wrap="none" lIns="0" tIns="0" rIns="0" bIns="0" anchor="t" anchorCtr="0">
              <a:spAutoFit/>
            </a:bodyPr>
            <a:lstStyle/>
            <a:p>
              <a:pPr algn="l"/>
              <a:r>
                <a:rPr lang="vi" sz="1120" dirty="0">
                  <a:solidFill>
                    <a:srgbClr val="475569"/>
                  </a:solidFill>
                  <a:latin typeface="+mn-lt"/>
                  <a:ea typeface="+mn-ea"/>
                  <a:cs typeface="+mn-cs"/>
                </a:rPr>
                <a:t>Chứng minh tính ổn định, độ tin cậy và sự sẵn sàng bàn giao của hệ thống phần mềm</a:t>
              </a:r>
            </a:p>
          </p:txBody>
        </p:sp>
      </p:grpSp>
      <p:grpSp>
        <p:nvGrpSpPr>
          <p:cNvPr id="31" name="testing-suite"/>
          <p:cNvGrpSpPr/>
          <p:nvPr/>
        </p:nvGrpSpPr>
        <p:grpSpPr>
          <a:xfrm>
            <a:off x="666750" y="1428750"/>
            <a:ext cx="5238750" cy="4905375"/>
            <a:chOff x="666750" y="1428750"/>
            <a:chExt cx="5238750" cy="4905375"/>
          </a:xfrm>
        </p:grpSpPr>
        <p:sp>
          <p:nvSpPr>
            <p:cNvPr id="10" name="Rectangle 10"/>
            <p:cNvSpPr/>
            <p:nvPr/>
          </p:nvSpPr>
          <p:spPr>
            <a:xfrm>
              <a:off x="666750" y="1428750"/>
              <a:ext cx="5238750" cy="4905375"/>
            </a:xfrm>
            <a:prstGeom prst="roundRect">
              <a:avLst>
                <a:gd name="adj" fmla="val 2718"/>
              </a:avLst>
            </a:prstGeom>
            <a:solidFill>
              <a:schemeClr val="lt1"/>
            </a:solidFill>
            <a:ln w="14288">
              <a:solidFill>
                <a:srgbClr val="E2E8F0"/>
              </a:solidFill>
            </a:ln>
          </p:spPr>
          <p:txBody>
            <a:bodyPr/>
            <a:lstStyle/>
            <a:p>
              <a:endParaRPr lang="en-US"/>
            </a:p>
          </p:txBody>
        </p:sp>
        <p:sp>
          <p:nvSpPr>
            <p:cNvPr id="11" name="Rectangle 11"/>
            <p:cNvSpPr/>
            <p:nvPr/>
          </p:nvSpPr>
          <p:spPr>
            <a:xfrm>
              <a:off x="666750" y="1428750"/>
              <a:ext cx="5238750" cy="57150"/>
            </a:xfrm>
            <a:prstGeom prst="roundRect">
              <a:avLst>
                <a:gd name="adj" fmla="val 50000"/>
              </a:avLst>
            </a:prstGeom>
            <a:solidFill>
              <a:schemeClr val="accent1"/>
            </a:solidFill>
            <a:ln>
              <a:noFill/>
            </a:ln>
          </p:spPr>
          <p:txBody>
            <a:bodyPr/>
            <a:lstStyle/>
            <a:p>
              <a:endParaRPr lang="en-US"/>
            </a:p>
          </p:txBody>
        </p:sp>
        <p:sp>
          <p:nvSpPr>
            <p:cNvPr id="12" name="TextBox 12"/>
            <p:cNvSpPr txBox="1"/>
            <p:nvPr/>
          </p:nvSpPr>
          <p:spPr>
            <a:xfrm>
              <a:off x="945642" y="1644650"/>
              <a:ext cx="3882344" cy="264033"/>
            </a:xfrm>
            <a:prstGeom prst="rect">
              <a:avLst/>
            </a:prstGeom>
            <a:noFill/>
            <a:ln>
              <a:noFill/>
            </a:ln>
          </p:spPr>
          <p:txBody>
            <a:bodyPr wrap="none" lIns="0" tIns="0" rIns="0" bIns="0" anchor="t" anchorCtr="0">
              <a:spAutoFit/>
            </a:bodyPr>
            <a:lstStyle/>
            <a:p>
              <a:pPr algn="l"/>
              <a:r>
                <a:rPr lang="vi" sz="1350" b="1" dirty="0">
                  <a:solidFill>
                    <a:srgbClr val="0F172A"/>
                  </a:solidFill>
                  <a:latin typeface="+mn-lt"/>
                  <a:ea typeface="+mn-ea"/>
                  <a:cs typeface="+mn-cs"/>
                </a:rPr>
                <a:t>Kim Tự Tháp Kiểm Thử Tự Động (Test Suite)</a:t>
              </a:r>
            </a:p>
          </p:txBody>
        </p:sp>
        <p:sp>
          <p:nvSpPr>
            <p:cNvPr id="13" name="TextBox 13"/>
            <p:cNvSpPr txBox="1"/>
            <p:nvPr/>
          </p:nvSpPr>
          <p:spPr>
            <a:xfrm>
              <a:off x="947547" y="1920875"/>
              <a:ext cx="3595069"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Kiểm định đa tầng từ thuật toán ML đến giao diện người dùng</a:t>
              </a:r>
            </a:p>
          </p:txBody>
        </p:sp>
        <p:grpSp>
          <p:nvGrpSpPr>
            <p:cNvPr id="17" name="Group 17"/>
            <p:cNvGrpSpPr/>
            <p:nvPr/>
          </p:nvGrpSpPr>
          <p:grpSpPr>
            <a:xfrm>
              <a:off x="2143125" y="2333625"/>
              <a:ext cx="2286000" cy="666750"/>
              <a:chOff x="2143125" y="2333625"/>
              <a:chExt cx="2286000" cy="666750"/>
            </a:xfrm>
          </p:grpSpPr>
          <p:sp>
            <p:nvSpPr>
              <p:cNvPr id="14" name="Polygon 14"/>
              <p:cNvSpPr/>
              <p:nvPr/>
            </p:nvSpPr>
            <p:spPr>
              <a:xfrm>
                <a:off x="2143125" y="2333625"/>
                <a:ext cx="2286000" cy="666750"/>
              </a:xfrm>
              <a:custGeom>
                <a:avLst/>
                <a:gdLst/>
                <a:ahLst/>
                <a:cxnLst/>
                <a:rect l="l" t="t" r="r" b="b"/>
                <a:pathLst>
                  <a:path w="2286000" h="666750">
                    <a:moveTo>
                      <a:pt x="476250" y="0"/>
                    </a:moveTo>
                    <a:lnTo>
                      <a:pt x="1809750" y="0"/>
                    </a:lnTo>
                    <a:lnTo>
                      <a:pt x="2286000" y="666750"/>
                    </a:lnTo>
                    <a:lnTo>
                      <a:pt x="0" y="666750"/>
                    </a:lnTo>
                    <a:close/>
                  </a:path>
                </a:pathLst>
              </a:custGeom>
              <a:solidFill>
                <a:srgbClr val="EFF6FF"/>
              </a:solidFill>
              <a:ln w="19050">
                <a:solidFill>
                  <a:srgbClr val="3B82F6"/>
                </a:solidFill>
              </a:ln>
            </p:spPr>
            <p:txBody>
              <a:bodyPr/>
              <a:lstStyle/>
              <a:p>
                <a:endParaRPr lang="en-US"/>
              </a:p>
            </p:txBody>
          </p:sp>
          <p:sp>
            <p:nvSpPr>
              <p:cNvPr id="15" name="TextBox 15"/>
              <p:cNvSpPr txBox="1"/>
              <p:nvPr/>
            </p:nvSpPr>
            <p:spPr>
              <a:xfrm>
                <a:off x="2355555" y="2511425"/>
                <a:ext cx="1861139" cy="205359"/>
              </a:xfrm>
              <a:prstGeom prst="rect">
                <a:avLst/>
              </a:prstGeom>
              <a:noFill/>
              <a:ln>
                <a:noFill/>
              </a:ln>
            </p:spPr>
            <p:txBody>
              <a:bodyPr wrap="none" lIns="0" tIns="0" rIns="0" bIns="0" anchor="t" anchorCtr="0">
                <a:spAutoFit/>
              </a:bodyPr>
              <a:lstStyle/>
              <a:p>
                <a:pPr algn="ctr"/>
                <a:r>
                  <a:rPr lang="vi" sz="1050" b="1" dirty="0">
                    <a:solidFill>
                      <a:srgbClr val="1D4ED8"/>
                    </a:solidFill>
                    <a:latin typeface="+mn-lt"/>
                    <a:ea typeface="+mn-ea"/>
                    <a:cs typeface="+mn-cs"/>
                  </a:rPr>
                  <a:t>E2E PLAYWRIGHT TESTS</a:t>
                </a:r>
              </a:p>
            </p:txBody>
          </p:sp>
          <p:sp>
            <p:nvSpPr>
              <p:cNvPr id="16" name="TextBox 16"/>
              <p:cNvSpPr txBox="1"/>
              <p:nvPr/>
            </p:nvSpPr>
            <p:spPr>
              <a:xfrm>
                <a:off x="2333140" y="2714625"/>
                <a:ext cx="1905971" cy="107722"/>
              </a:xfrm>
              <a:prstGeom prst="rect">
                <a:avLst/>
              </a:prstGeom>
              <a:noFill/>
              <a:ln>
                <a:noFill/>
              </a:ln>
            </p:spPr>
            <p:txBody>
              <a:bodyPr wrap="none" lIns="0" tIns="0" rIns="0" bIns="0" anchor="t" anchorCtr="0">
                <a:spAutoFit/>
              </a:bodyPr>
              <a:lstStyle/>
              <a:p>
                <a:pPr algn="ctr"/>
                <a:r>
                  <a:rPr lang="vi" sz="700" dirty="0">
                    <a:solidFill>
                      <a:srgbClr val="1E40AF"/>
                    </a:solidFill>
                    <a:latin typeface="+mn-lt"/>
                    <a:ea typeface="+mn-ea"/>
                    <a:cs typeface="+mn-cs"/>
                  </a:rPr>
                  <a:t>22/22 Tests Pass (Desktop &amp; Mobile Emulation)</a:t>
                </a:r>
              </a:p>
            </p:txBody>
          </p:sp>
        </p:grpSp>
        <p:grpSp>
          <p:nvGrpSpPr>
            <p:cNvPr id="21" name="Group 21"/>
            <p:cNvGrpSpPr/>
            <p:nvPr/>
          </p:nvGrpSpPr>
          <p:grpSpPr>
            <a:xfrm>
              <a:off x="1619250" y="3095625"/>
              <a:ext cx="3333750" cy="666750"/>
              <a:chOff x="1619250" y="3095625"/>
              <a:chExt cx="3333750" cy="666750"/>
            </a:xfrm>
          </p:grpSpPr>
          <p:sp>
            <p:nvSpPr>
              <p:cNvPr id="18" name="Polygon 18"/>
              <p:cNvSpPr/>
              <p:nvPr/>
            </p:nvSpPr>
            <p:spPr>
              <a:xfrm>
                <a:off x="1619250" y="3095625"/>
                <a:ext cx="3333750" cy="666750"/>
              </a:xfrm>
              <a:custGeom>
                <a:avLst/>
                <a:gdLst/>
                <a:ahLst/>
                <a:cxnLst/>
                <a:rect l="l" t="t" r="r" b="b"/>
                <a:pathLst>
                  <a:path w="3333750" h="666750">
                    <a:moveTo>
                      <a:pt x="476250" y="0"/>
                    </a:moveTo>
                    <a:lnTo>
                      <a:pt x="2857500" y="0"/>
                    </a:lnTo>
                    <a:lnTo>
                      <a:pt x="3333750" y="666750"/>
                    </a:lnTo>
                    <a:lnTo>
                      <a:pt x="0" y="666750"/>
                    </a:lnTo>
                    <a:close/>
                  </a:path>
                </a:pathLst>
              </a:custGeom>
              <a:solidFill>
                <a:srgbClr val="ECFDF5"/>
              </a:solidFill>
              <a:ln w="19050">
                <a:solidFill>
                  <a:schemeClr val="accent2"/>
                </a:solidFill>
              </a:ln>
            </p:spPr>
            <p:txBody>
              <a:bodyPr/>
              <a:lstStyle/>
              <a:p>
                <a:endParaRPr lang="en-US"/>
              </a:p>
            </p:txBody>
          </p:sp>
          <p:sp>
            <p:nvSpPr>
              <p:cNvPr id="19" name="TextBox 19"/>
              <p:cNvSpPr txBox="1"/>
              <p:nvPr/>
            </p:nvSpPr>
            <p:spPr>
              <a:xfrm>
                <a:off x="2036166" y="3273425"/>
                <a:ext cx="2499918" cy="205359"/>
              </a:xfrm>
              <a:prstGeom prst="rect">
                <a:avLst/>
              </a:prstGeom>
              <a:noFill/>
              <a:ln>
                <a:noFill/>
              </a:ln>
            </p:spPr>
            <p:txBody>
              <a:bodyPr wrap="none" lIns="0" tIns="0" rIns="0" bIns="0" anchor="t" anchorCtr="0">
                <a:spAutoFit/>
              </a:bodyPr>
              <a:lstStyle/>
              <a:p>
                <a:pPr algn="ctr"/>
                <a:r>
                  <a:rPr lang="vi" sz="1050" b="1" dirty="0">
                    <a:solidFill>
                      <a:srgbClr val="065F46"/>
                    </a:solidFill>
                    <a:latin typeface="+mn-lt"/>
                    <a:ea typeface="+mn-ea"/>
                    <a:cs typeface="+mn-cs"/>
                  </a:rPr>
                  <a:t>BACKEND &amp; INTEGRATION TESTS</a:t>
                </a:r>
              </a:p>
            </p:txBody>
          </p:sp>
          <p:sp>
            <p:nvSpPr>
              <p:cNvPr id="20" name="TextBox 20"/>
              <p:cNvSpPr txBox="1"/>
              <p:nvPr/>
            </p:nvSpPr>
            <p:spPr>
              <a:xfrm>
                <a:off x="1945040" y="3476625"/>
                <a:ext cx="2682170" cy="176212"/>
              </a:xfrm>
              <a:prstGeom prst="rect">
                <a:avLst/>
              </a:prstGeom>
              <a:noFill/>
              <a:ln>
                <a:noFill/>
              </a:ln>
            </p:spPr>
            <p:txBody>
              <a:bodyPr wrap="none" lIns="0" tIns="0" rIns="0" bIns="0" anchor="t" anchorCtr="0">
                <a:spAutoFit/>
              </a:bodyPr>
              <a:lstStyle/>
              <a:p>
                <a:pPr algn="ctr"/>
                <a:r>
                  <a:rPr lang="vi" sz="900" dirty="0">
                    <a:solidFill>
                      <a:srgbClr val="064E3B"/>
                    </a:solidFill>
                    <a:latin typeface="+mn-lt"/>
                    <a:ea typeface="+mn-ea"/>
                    <a:cs typeface="+mn-cs"/>
                  </a:rPr>
                  <a:t>15/15 Tests Pass (Fastify, Health, Strict Schema)</a:t>
                </a:r>
              </a:p>
            </p:txBody>
          </p:sp>
        </p:grpSp>
        <p:grpSp>
          <p:nvGrpSpPr>
            <p:cNvPr id="25" name="Group 25"/>
            <p:cNvGrpSpPr/>
            <p:nvPr/>
          </p:nvGrpSpPr>
          <p:grpSpPr>
            <a:xfrm>
              <a:off x="1047750" y="3857625"/>
              <a:ext cx="4476750" cy="762000"/>
              <a:chOff x="1047750" y="3857625"/>
              <a:chExt cx="4476750" cy="762000"/>
            </a:xfrm>
          </p:grpSpPr>
          <p:sp>
            <p:nvSpPr>
              <p:cNvPr id="22" name="Polygon 22"/>
              <p:cNvSpPr/>
              <p:nvPr/>
            </p:nvSpPr>
            <p:spPr>
              <a:xfrm>
                <a:off x="1047750" y="3857625"/>
                <a:ext cx="4476750" cy="762000"/>
              </a:xfrm>
              <a:custGeom>
                <a:avLst/>
                <a:gdLst/>
                <a:ahLst/>
                <a:cxnLst/>
                <a:rect l="l" t="t" r="r" b="b"/>
                <a:pathLst>
                  <a:path w="4476750" h="762000">
                    <a:moveTo>
                      <a:pt x="523875" y="0"/>
                    </a:moveTo>
                    <a:lnTo>
                      <a:pt x="3952875" y="0"/>
                    </a:lnTo>
                    <a:lnTo>
                      <a:pt x="4476750" y="762000"/>
                    </a:lnTo>
                    <a:lnTo>
                      <a:pt x="0" y="762000"/>
                    </a:lnTo>
                    <a:close/>
                  </a:path>
                </a:pathLst>
              </a:custGeom>
              <a:solidFill>
                <a:srgbClr val="FAF5FF"/>
              </a:solidFill>
              <a:ln w="19050">
                <a:solidFill>
                  <a:schemeClr val="accent3"/>
                </a:solidFill>
              </a:ln>
            </p:spPr>
            <p:txBody>
              <a:bodyPr/>
              <a:lstStyle/>
              <a:p>
                <a:endParaRPr lang="en-US"/>
              </a:p>
            </p:txBody>
          </p:sp>
          <p:sp>
            <p:nvSpPr>
              <p:cNvPr id="23" name="TextBox 23"/>
              <p:cNvSpPr txBox="1"/>
              <p:nvPr/>
            </p:nvSpPr>
            <p:spPr>
              <a:xfrm>
                <a:off x="2384694" y="4064000"/>
                <a:ext cx="1802862" cy="205359"/>
              </a:xfrm>
              <a:prstGeom prst="rect">
                <a:avLst/>
              </a:prstGeom>
              <a:noFill/>
              <a:ln>
                <a:noFill/>
              </a:ln>
            </p:spPr>
            <p:txBody>
              <a:bodyPr wrap="none" lIns="0" tIns="0" rIns="0" bIns="0" anchor="t" anchorCtr="0">
                <a:spAutoFit/>
              </a:bodyPr>
              <a:lstStyle/>
              <a:p>
                <a:pPr algn="ctr"/>
                <a:r>
                  <a:rPr lang="vi" sz="1050" b="1" dirty="0">
                    <a:solidFill>
                      <a:srgbClr val="6B21A8"/>
                    </a:solidFill>
                    <a:latin typeface="+mn-lt"/>
                    <a:ea typeface="+mn-ea"/>
                    <a:cs typeface="+mn-cs"/>
                  </a:rPr>
                  <a:t>PYTHON ML UNIT TESTS</a:t>
                </a:r>
              </a:p>
            </p:txBody>
          </p:sp>
          <p:sp>
            <p:nvSpPr>
              <p:cNvPr id="24" name="TextBox 24"/>
              <p:cNvSpPr txBox="1"/>
              <p:nvPr/>
            </p:nvSpPr>
            <p:spPr>
              <a:xfrm>
                <a:off x="1660153" y="4295775"/>
                <a:ext cx="3251945" cy="176212"/>
              </a:xfrm>
              <a:prstGeom prst="rect">
                <a:avLst/>
              </a:prstGeom>
              <a:noFill/>
              <a:ln>
                <a:noFill/>
              </a:ln>
            </p:spPr>
            <p:txBody>
              <a:bodyPr wrap="none" lIns="0" tIns="0" rIns="0" bIns="0" anchor="t" anchorCtr="0">
                <a:spAutoFit/>
              </a:bodyPr>
              <a:lstStyle/>
              <a:p>
                <a:pPr algn="ctr"/>
                <a:r>
                  <a:rPr lang="vi" sz="900" dirty="0">
                    <a:solidFill>
                      <a:srgbClr val="581C87"/>
                    </a:solidFill>
                    <a:latin typeface="+mn-lt"/>
                    <a:ea typeface="+mn-ea"/>
                    <a:cs typeface="+mn-cs"/>
                  </a:rPr>
                  <a:t>8/8 Tests Pass (Leakage Guard, Sklearn Parity, Checksum)</a:t>
                </a:r>
              </a:p>
            </p:txBody>
          </p:sp>
        </p:grpSp>
        <p:sp>
          <p:nvSpPr>
            <p:cNvPr id="26" name="Rectangle 26"/>
            <p:cNvSpPr/>
            <p:nvPr/>
          </p:nvSpPr>
          <p:spPr>
            <a:xfrm>
              <a:off x="904875" y="4905375"/>
              <a:ext cx="4714875" cy="1143000"/>
            </a:xfrm>
            <a:prstGeom prst="roundRect">
              <a:avLst>
                <a:gd name="adj" fmla="val 8333"/>
              </a:avLst>
            </a:prstGeom>
            <a:solidFill>
              <a:srgbClr val="F8FAFC"/>
            </a:solidFill>
            <a:ln w="9525">
              <a:solidFill>
                <a:srgbClr val="E2E8F0"/>
              </a:solidFill>
            </a:ln>
          </p:spPr>
          <p:txBody>
            <a:bodyPr/>
            <a:lstStyle/>
            <a:p>
              <a:endParaRPr lang="en-US"/>
            </a:p>
          </p:txBody>
        </p:sp>
        <p:sp>
          <p:nvSpPr>
            <p:cNvPr id="27" name="TextBox 27"/>
            <p:cNvSpPr txBox="1"/>
            <p:nvPr/>
          </p:nvSpPr>
          <p:spPr>
            <a:xfrm>
              <a:off x="1090041" y="5064125"/>
              <a:ext cx="2682306" cy="205359"/>
            </a:xfrm>
            <a:prstGeom prst="rect">
              <a:avLst/>
            </a:prstGeom>
            <a:noFill/>
            <a:ln>
              <a:noFill/>
            </a:ln>
          </p:spPr>
          <p:txBody>
            <a:bodyPr wrap="none" lIns="0" tIns="0" rIns="0" bIns="0" anchor="t" anchorCtr="0">
              <a:spAutoFit/>
            </a:bodyPr>
            <a:lstStyle/>
            <a:p>
              <a:pPr algn="l"/>
              <a:r>
                <a:rPr lang="vi" sz="1050" b="1" dirty="0">
                  <a:solidFill>
                    <a:srgbClr val="0F172A"/>
                  </a:solidFill>
                  <a:latin typeface="+mn-lt"/>
                  <a:ea typeface="+mn-ea"/>
                  <a:cs typeface="+mn-cs"/>
                </a:rPr>
                <a:t>TIÊU CHÍ AN TOÀN ĐÃ KIỂM CHỨNG:</a:t>
              </a:r>
            </a:p>
          </p:txBody>
        </p:sp>
        <p:sp>
          <p:nvSpPr>
            <p:cNvPr id="28" name="TextBox 28"/>
            <p:cNvSpPr txBox="1"/>
            <p:nvPr/>
          </p:nvSpPr>
          <p:spPr>
            <a:xfrm>
              <a:off x="1090422" y="5302250"/>
              <a:ext cx="4330980"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 </a:t>
              </a:r>
              <a:r>
                <a:rPr lang="vi" sz="980" b="1" dirty="0">
                  <a:solidFill>
                    <a:srgbClr val="334155"/>
                  </a:solidFill>
                  <a:latin typeface="+mn-lt"/>
                  <a:ea typeface="+mn-ea"/>
                  <a:cs typeface="+mn-cs"/>
                </a:rPr>
                <a:t>Chống can thiệp file model:</a:t>
              </a:r>
              <a:r>
                <a:rPr lang="vi" sz="980" dirty="0">
                  <a:solidFill>
                    <a:srgbClr val="334155"/>
                  </a:solidFill>
                  <a:latin typeface="+mn-lt"/>
                  <a:ea typeface="+mn-ea"/>
                  <a:cs typeface="+mn-cs"/>
                </a:rPr>
                <a:t> Tự động từ chối nếu SHA-256 bị sai lệch</a:t>
              </a:r>
            </a:p>
          </p:txBody>
        </p:sp>
        <p:sp>
          <p:nvSpPr>
            <p:cNvPr id="29" name="TextBox 29"/>
            <p:cNvSpPr txBox="1"/>
            <p:nvPr/>
          </p:nvSpPr>
          <p:spPr>
            <a:xfrm>
              <a:off x="1090422" y="5540375"/>
              <a:ext cx="4247458"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 </a:t>
              </a:r>
              <a:r>
                <a:rPr lang="vi" sz="980" b="1" dirty="0">
                  <a:solidFill>
                    <a:srgbClr val="334155"/>
                  </a:solidFill>
                  <a:latin typeface="+mn-lt"/>
                  <a:ea typeface="+mn-ea"/>
                  <a:cs typeface="+mn-cs"/>
                </a:rPr>
                <a:t>Bảo vệ tập Test:</a:t>
              </a:r>
              <a:r>
                <a:rPr lang="vi" sz="980" dirty="0">
                  <a:solidFill>
                    <a:srgbClr val="334155"/>
                  </a:solidFill>
                  <a:latin typeface="+mn-lt"/>
                  <a:ea typeface="+mn-ea"/>
                  <a:cs typeface="+mn-cs"/>
                </a:rPr>
                <a:t> Không bao giờ xuất file test.csv ra runner công khai</a:t>
              </a:r>
            </a:p>
          </p:txBody>
        </p:sp>
        <p:sp>
          <p:nvSpPr>
            <p:cNvPr id="30" name="TextBox 30"/>
            <p:cNvSpPr txBox="1"/>
            <p:nvPr/>
          </p:nvSpPr>
          <p:spPr>
            <a:xfrm>
              <a:off x="1090422" y="5778500"/>
              <a:ext cx="4378060"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 </a:t>
              </a:r>
              <a:r>
                <a:rPr lang="vi" sz="980" b="1" dirty="0">
                  <a:solidFill>
                    <a:srgbClr val="334155"/>
                  </a:solidFill>
                  <a:latin typeface="+mn-lt"/>
                  <a:ea typeface="+mn-ea"/>
                  <a:cs typeface="+mn-cs"/>
                </a:rPr>
                <a:t>Bảo mật mã nguồn:</a:t>
              </a:r>
              <a:r>
                <a:rPr lang="vi" sz="980" dirty="0">
                  <a:solidFill>
                    <a:srgbClr val="334155"/>
                  </a:solidFill>
                  <a:latin typeface="+mn-lt"/>
                  <a:ea typeface="+mn-ea"/>
                  <a:cs typeface="+mn-cs"/>
                </a:rPr>
                <a:t> npm audit đạt 0 lỗ hổng bảo mật (0 vulnerabilities)</a:t>
              </a:r>
            </a:p>
          </p:txBody>
        </p:sp>
      </p:grpSp>
      <p:grpSp>
        <p:nvGrpSpPr>
          <p:cNvPr id="55" name="ci-cd-cards"/>
          <p:cNvGrpSpPr/>
          <p:nvPr/>
        </p:nvGrpSpPr>
        <p:grpSpPr>
          <a:xfrm>
            <a:off x="6286500" y="1428750"/>
            <a:ext cx="5238750" cy="4905375"/>
            <a:chOff x="6286500" y="1428750"/>
            <a:chExt cx="5238750" cy="4905375"/>
          </a:xfrm>
        </p:grpSpPr>
        <p:sp>
          <p:nvSpPr>
            <p:cNvPr id="32" name="Rectangle 32"/>
            <p:cNvSpPr/>
            <p:nvPr/>
          </p:nvSpPr>
          <p:spPr>
            <a:xfrm>
              <a:off x="6286500" y="1428750"/>
              <a:ext cx="5238750" cy="2286000"/>
            </a:xfrm>
            <a:prstGeom prst="roundRect">
              <a:avLst>
                <a:gd name="adj" fmla="val 5833"/>
              </a:avLst>
            </a:prstGeom>
            <a:solidFill>
              <a:schemeClr val="lt1"/>
            </a:solidFill>
            <a:ln w="19050">
              <a:solidFill>
                <a:schemeClr val="accent2"/>
              </a:solidFill>
            </a:ln>
          </p:spPr>
          <p:txBody>
            <a:bodyPr/>
            <a:lstStyle/>
            <a:p>
              <a:endParaRPr lang="en-US"/>
            </a:p>
          </p:txBody>
        </p:sp>
        <p:sp>
          <p:nvSpPr>
            <p:cNvPr id="33" name="Rectangle 33"/>
            <p:cNvSpPr/>
            <p:nvPr/>
          </p:nvSpPr>
          <p:spPr>
            <a:xfrm>
              <a:off x="6286500" y="1428750"/>
              <a:ext cx="5238750" cy="57150"/>
            </a:xfrm>
            <a:prstGeom prst="roundRect">
              <a:avLst>
                <a:gd name="adj" fmla="val 50000"/>
              </a:avLst>
            </a:prstGeom>
            <a:solidFill>
              <a:schemeClr val="accent2"/>
            </a:solidFill>
            <a:ln>
              <a:noFill/>
            </a:ln>
          </p:spPr>
          <p:txBody>
            <a:bodyPr/>
            <a:lstStyle/>
            <a:p>
              <a:endParaRPr lang="en-US"/>
            </a:p>
          </p:txBody>
        </p:sp>
        <p:sp>
          <p:nvSpPr>
            <p:cNvPr id="34" name="TextBox 34"/>
            <p:cNvSpPr txBox="1"/>
            <p:nvPr/>
          </p:nvSpPr>
          <p:spPr>
            <a:xfrm>
              <a:off x="6565392" y="1644650"/>
              <a:ext cx="3772405" cy="264033"/>
            </a:xfrm>
            <a:prstGeom prst="rect">
              <a:avLst/>
            </a:prstGeom>
            <a:noFill/>
            <a:ln>
              <a:noFill/>
            </a:ln>
          </p:spPr>
          <p:txBody>
            <a:bodyPr wrap="none" lIns="0" tIns="0" rIns="0" bIns="0" anchor="t" anchorCtr="0">
              <a:spAutoFit/>
            </a:bodyPr>
            <a:lstStyle/>
            <a:p>
              <a:pPr algn="l"/>
              <a:r>
                <a:rPr lang="vi" sz="1350" b="1" dirty="0">
                  <a:solidFill>
                    <a:srgbClr val="065F46"/>
                  </a:solidFill>
                  <a:latin typeface="+mn-lt"/>
                  <a:ea typeface="+mn-ea"/>
                  <a:cs typeface="+mn-cs"/>
                </a:rPr>
                <a:t>Quy Trình CI/CD Tự Động (GitHub Actions)</a:t>
              </a:r>
            </a:p>
          </p:txBody>
        </p:sp>
        <p:sp>
          <p:nvSpPr>
            <p:cNvPr id="35" name="TextBox 35"/>
            <p:cNvSpPr txBox="1"/>
            <p:nvPr/>
          </p:nvSpPr>
          <p:spPr>
            <a:xfrm>
              <a:off x="6567297" y="1920875"/>
              <a:ext cx="4011320"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Xác thực tự động trên các runner độc lập mỗi khi cập nhật mã nguồn</a:t>
              </a:r>
            </a:p>
          </p:txBody>
        </p:sp>
        <p:grpSp>
          <p:nvGrpSpPr>
            <p:cNvPr id="45" name="Group 45"/>
            <p:cNvGrpSpPr/>
            <p:nvPr/>
          </p:nvGrpSpPr>
          <p:grpSpPr>
            <a:xfrm>
              <a:off x="6572250" y="2286000"/>
              <a:ext cx="4667250" cy="1238250"/>
              <a:chOff x="6572250" y="2286000"/>
              <a:chExt cx="4667250" cy="1238250"/>
            </a:xfrm>
          </p:grpSpPr>
          <p:sp>
            <p:nvSpPr>
              <p:cNvPr id="36" name="Rectangle 36"/>
              <p:cNvSpPr/>
              <p:nvPr/>
            </p:nvSpPr>
            <p:spPr>
              <a:xfrm>
                <a:off x="6572250" y="2286000"/>
                <a:ext cx="2238375" cy="619125"/>
              </a:xfrm>
              <a:prstGeom prst="roundRect">
                <a:avLst>
                  <a:gd name="adj" fmla="val 12308"/>
                </a:avLst>
              </a:prstGeom>
              <a:solidFill>
                <a:srgbClr val="ECFDF5"/>
              </a:solidFill>
              <a:ln>
                <a:noFill/>
              </a:ln>
            </p:spPr>
            <p:txBody>
              <a:bodyPr/>
              <a:lstStyle/>
              <a:p>
                <a:endParaRPr lang="en-US"/>
              </a:p>
            </p:txBody>
          </p:sp>
          <p:sp>
            <p:nvSpPr>
              <p:cNvPr id="37" name="TextBox 37"/>
              <p:cNvSpPr txBox="1"/>
              <p:nvPr/>
            </p:nvSpPr>
            <p:spPr>
              <a:xfrm>
                <a:off x="6710362" y="2409825"/>
                <a:ext cx="1239810" cy="176212"/>
              </a:xfrm>
              <a:prstGeom prst="rect">
                <a:avLst/>
              </a:prstGeom>
              <a:noFill/>
              <a:ln>
                <a:noFill/>
              </a:ln>
            </p:spPr>
            <p:txBody>
              <a:bodyPr wrap="none" lIns="0" tIns="0" rIns="0" bIns="0" anchor="t" anchorCtr="0">
                <a:spAutoFit/>
              </a:bodyPr>
              <a:lstStyle/>
              <a:p>
                <a:pPr algn="l"/>
                <a:r>
                  <a:rPr lang="vi" sz="900" b="1" dirty="0">
                    <a:solidFill>
                      <a:srgbClr val="065F46"/>
                    </a:solidFill>
                    <a:latin typeface="+mn-lt"/>
                    <a:ea typeface="+mn-ea"/>
                    <a:cs typeface="+mn-cs"/>
                  </a:rPr>
                  <a:t>WINDOWS RUNNER</a:t>
                </a:r>
              </a:p>
            </p:txBody>
          </p:sp>
          <p:sp>
            <p:nvSpPr>
              <p:cNvPr id="38" name="TextBox 38"/>
              <p:cNvSpPr txBox="1"/>
              <p:nvPr/>
            </p:nvSpPr>
            <p:spPr>
              <a:xfrm>
                <a:off x="6709791" y="2616200"/>
                <a:ext cx="1604086" cy="205359"/>
              </a:xfrm>
              <a:prstGeom prst="rect">
                <a:avLst/>
              </a:prstGeom>
              <a:noFill/>
              <a:ln>
                <a:noFill/>
              </a:ln>
            </p:spPr>
            <p:txBody>
              <a:bodyPr wrap="none" lIns="0" tIns="0" rIns="0" bIns="0" anchor="t" anchorCtr="0">
                <a:spAutoFit/>
              </a:bodyPr>
              <a:lstStyle/>
              <a:p>
                <a:pPr algn="l"/>
                <a:r>
                  <a:rPr lang="vi" sz="1050" b="1" dirty="0">
                    <a:solidFill>
                      <a:srgbClr val="059669"/>
                    </a:solidFill>
                    <a:latin typeface="+mn-lt"/>
                    <a:ea typeface="+mn-ea"/>
                    <a:cs typeface="+mn-cs"/>
                  </a:rPr>
                  <a:t>✓ 100% PASS (Gate 8)</a:t>
                </a:r>
              </a:p>
            </p:txBody>
          </p:sp>
          <p:sp>
            <p:nvSpPr>
              <p:cNvPr id="39" name="Rectangle 39"/>
              <p:cNvSpPr/>
              <p:nvPr/>
            </p:nvSpPr>
            <p:spPr>
              <a:xfrm>
                <a:off x="9001125" y="2286000"/>
                <a:ext cx="2238375" cy="619125"/>
              </a:xfrm>
              <a:prstGeom prst="roundRect">
                <a:avLst>
                  <a:gd name="adj" fmla="val 12308"/>
                </a:avLst>
              </a:prstGeom>
              <a:solidFill>
                <a:srgbClr val="ECFDF5"/>
              </a:solidFill>
              <a:ln>
                <a:noFill/>
              </a:ln>
            </p:spPr>
            <p:txBody>
              <a:bodyPr/>
              <a:lstStyle/>
              <a:p>
                <a:endParaRPr lang="en-US"/>
              </a:p>
            </p:txBody>
          </p:sp>
          <p:sp>
            <p:nvSpPr>
              <p:cNvPr id="40" name="TextBox 40"/>
              <p:cNvSpPr txBox="1"/>
              <p:nvPr/>
            </p:nvSpPr>
            <p:spPr>
              <a:xfrm>
                <a:off x="9139238" y="2409825"/>
                <a:ext cx="1133198" cy="176212"/>
              </a:xfrm>
              <a:prstGeom prst="rect">
                <a:avLst/>
              </a:prstGeom>
              <a:noFill/>
              <a:ln>
                <a:noFill/>
              </a:ln>
            </p:spPr>
            <p:txBody>
              <a:bodyPr wrap="none" lIns="0" tIns="0" rIns="0" bIns="0" anchor="t" anchorCtr="0">
                <a:spAutoFit/>
              </a:bodyPr>
              <a:lstStyle/>
              <a:p>
                <a:pPr algn="l"/>
                <a:r>
                  <a:rPr lang="vi" sz="900" b="1" dirty="0">
                    <a:solidFill>
                      <a:srgbClr val="065F46"/>
                    </a:solidFill>
                    <a:latin typeface="+mn-lt"/>
                    <a:ea typeface="+mn-ea"/>
                    <a:cs typeface="+mn-cs"/>
                  </a:rPr>
                  <a:t>UBUNTU RUNNER</a:t>
                </a:r>
              </a:p>
            </p:txBody>
          </p:sp>
          <p:sp>
            <p:nvSpPr>
              <p:cNvPr id="41" name="TextBox 41"/>
              <p:cNvSpPr txBox="1"/>
              <p:nvPr/>
            </p:nvSpPr>
            <p:spPr>
              <a:xfrm>
                <a:off x="9138666" y="2616200"/>
                <a:ext cx="1726143" cy="205359"/>
              </a:xfrm>
              <a:prstGeom prst="rect">
                <a:avLst/>
              </a:prstGeom>
              <a:noFill/>
              <a:ln>
                <a:noFill/>
              </a:ln>
            </p:spPr>
            <p:txBody>
              <a:bodyPr wrap="none" lIns="0" tIns="0" rIns="0" bIns="0" anchor="t" anchorCtr="0">
                <a:spAutoFit/>
              </a:bodyPr>
              <a:lstStyle/>
              <a:p>
                <a:pPr algn="l"/>
                <a:r>
                  <a:rPr lang="vi" sz="1050" b="1" dirty="0">
                    <a:solidFill>
                      <a:srgbClr val="059669"/>
                    </a:solidFill>
                    <a:latin typeface="+mn-lt"/>
                    <a:ea typeface="+mn-ea"/>
                    <a:cs typeface="+mn-cs"/>
                  </a:rPr>
                  <a:t>✓ 100% PASS (Gate 9.3)</a:t>
                </a:r>
              </a:p>
            </p:txBody>
          </p:sp>
          <p:sp>
            <p:nvSpPr>
              <p:cNvPr id="42" name="Rectangle 42"/>
              <p:cNvSpPr/>
              <p:nvPr/>
            </p:nvSpPr>
            <p:spPr>
              <a:xfrm>
                <a:off x="6572250" y="3000375"/>
                <a:ext cx="4667250" cy="523875"/>
              </a:xfrm>
              <a:prstGeom prst="roundRect">
                <a:avLst>
                  <a:gd name="adj" fmla="val 14545"/>
                </a:avLst>
              </a:prstGeom>
              <a:solidFill>
                <a:srgbClr val="F8FAFC"/>
              </a:solidFill>
              <a:ln w="9525">
                <a:solidFill>
                  <a:srgbClr val="E2E8F0"/>
                </a:solidFill>
              </a:ln>
            </p:spPr>
            <p:txBody>
              <a:bodyPr/>
              <a:lstStyle/>
              <a:p>
                <a:endParaRPr lang="en-US"/>
              </a:p>
            </p:txBody>
          </p:sp>
          <p:sp>
            <p:nvSpPr>
              <p:cNvPr id="43" name="TextBox 43"/>
              <p:cNvSpPr txBox="1"/>
              <p:nvPr/>
            </p:nvSpPr>
            <p:spPr>
              <a:xfrm>
                <a:off x="6710362" y="3105150"/>
                <a:ext cx="2130299" cy="176212"/>
              </a:xfrm>
              <a:prstGeom prst="rect">
                <a:avLst/>
              </a:prstGeom>
              <a:noFill/>
              <a:ln>
                <a:noFill/>
              </a:ln>
            </p:spPr>
            <p:txBody>
              <a:bodyPr wrap="none" lIns="0" tIns="0" rIns="0" bIns="0" anchor="t" anchorCtr="0">
                <a:spAutoFit/>
              </a:bodyPr>
              <a:lstStyle/>
              <a:p>
                <a:pPr marL="76200" indent="-76200" algn="l">
                  <a:buClr>
                    <a:srgbClr val="334155"/>
                  </a:buClr>
                  <a:buSzTx/>
                  <a:buFontTx/>
                  <a:buChar char="•"/>
                </a:pPr>
                <a:r>
                  <a:rPr lang="vi" sz="900" dirty="0">
                    <a:solidFill>
                      <a:srgbClr val="334155"/>
                    </a:solidFill>
                    <a:latin typeface="+mn-lt"/>
                    <a:ea typeface="+mn-ea"/>
                    <a:cs typeface="+mn-cs"/>
                  </a:rPr>
                  <a:t>Clean environment checkout &amp; npm ci</a:t>
                </a:r>
              </a:p>
            </p:txBody>
          </p:sp>
          <p:sp>
            <p:nvSpPr>
              <p:cNvPr id="44" name="TextBox 44"/>
              <p:cNvSpPr txBox="1"/>
              <p:nvPr/>
            </p:nvSpPr>
            <p:spPr>
              <a:xfrm>
                <a:off x="6710362" y="3295650"/>
                <a:ext cx="3788668" cy="176212"/>
              </a:xfrm>
              <a:prstGeom prst="rect">
                <a:avLst/>
              </a:prstGeom>
              <a:noFill/>
              <a:ln>
                <a:noFill/>
              </a:ln>
            </p:spPr>
            <p:txBody>
              <a:bodyPr wrap="none" lIns="0" tIns="0" rIns="0" bIns="0" anchor="t" anchorCtr="0">
                <a:spAutoFit/>
              </a:bodyPr>
              <a:lstStyle/>
              <a:p>
                <a:pPr marL="76200" indent="-76200" algn="l">
                  <a:buClr>
                    <a:srgbClr val="334155"/>
                  </a:buClr>
                  <a:buSzTx/>
                  <a:buFontTx/>
                  <a:buChar char="•"/>
                </a:pPr>
                <a:r>
                  <a:rPr lang="vi" sz="900" dirty="0">
                    <a:solidFill>
                      <a:srgbClr val="334155"/>
                    </a:solidFill>
                    <a:latin typeface="+mn-lt"/>
                    <a:ea typeface="+mn-ea"/>
                    <a:cs typeface="+mn-cs"/>
                  </a:rPr>
                  <a:t>Cross-platform verification: Windows CRLF ↔ Linux LF compatibility</a:t>
                </a:r>
              </a:p>
            </p:txBody>
          </p:sp>
        </p:grpSp>
        <p:sp>
          <p:nvSpPr>
            <p:cNvPr id="46" name="Rectangle 46"/>
            <p:cNvSpPr/>
            <p:nvPr/>
          </p:nvSpPr>
          <p:spPr>
            <a:xfrm>
              <a:off x="6286500" y="3952875"/>
              <a:ext cx="5238750" cy="2381250"/>
            </a:xfrm>
            <a:prstGeom prst="roundRect">
              <a:avLst>
                <a:gd name="adj" fmla="val 5600"/>
              </a:avLst>
            </a:prstGeom>
            <a:solidFill>
              <a:schemeClr val="lt1"/>
            </a:solidFill>
            <a:ln w="14288">
              <a:solidFill>
                <a:srgbClr val="E2E8F0"/>
              </a:solidFill>
            </a:ln>
          </p:spPr>
          <p:txBody>
            <a:bodyPr/>
            <a:lstStyle/>
            <a:p>
              <a:endParaRPr lang="en-US"/>
            </a:p>
          </p:txBody>
        </p:sp>
        <p:sp>
          <p:nvSpPr>
            <p:cNvPr id="47" name="Rectangle 47"/>
            <p:cNvSpPr/>
            <p:nvPr/>
          </p:nvSpPr>
          <p:spPr>
            <a:xfrm>
              <a:off x="6286500" y="3952875"/>
              <a:ext cx="5238750" cy="57150"/>
            </a:xfrm>
            <a:prstGeom prst="roundRect">
              <a:avLst>
                <a:gd name="adj" fmla="val 50000"/>
              </a:avLst>
            </a:prstGeom>
            <a:solidFill>
              <a:schemeClr val="accent1"/>
            </a:solidFill>
            <a:ln>
              <a:noFill/>
            </a:ln>
          </p:spPr>
          <p:txBody>
            <a:bodyPr/>
            <a:lstStyle/>
            <a:p>
              <a:endParaRPr lang="en-US"/>
            </a:p>
          </p:txBody>
        </p:sp>
        <p:sp>
          <p:nvSpPr>
            <p:cNvPr id="48" name="TextBox 48"/>
            <p:cNvSpPr txBox="1"/>
            <p:nvPr/>
          </p:nvSpPr>
          <p:spPr>
            <a:xfrm>
              <a:off x="6565392" y="4121150"/>
              <a:ext cx="3073380" cy="264033"/>
            </a:xfrm>
            <a:prstGeom prst="rect">
              <a:avLst/>
            </a:prstGeom>
            <a:noFill/>
            <a:ln>
              <a:noFill/>
            </a:ln>
          </p:spPr>
          <p:txBody>
            <a:bodyPr wrap="none" lIns="0" tIns="0" rIns="0" bIns="0" anchor="t" anchorCtr="0">
              <a:spAutoFit/>
            </a:bodyPr>
            <a:lstStyle/>
            <a:p>
              <a:pPr algn="l"/>
              <a:r>
                <a:rPr lang="vi" sz="1350" b="1" dirty="0">
                  <a:solidFill>
                    <a:srgbClr val="1E40AF"/>
                  </a:solidFill>
                  <a:latin typeface="+mn-lt"/>
                  <a:ea typeface="+mn-ea"/>
                  <a:cs typeface="+mn-cs"/>
                </a:rPr>
                <a:t>Khả Năng Tái Lập (Reproducibility)</a:t>
              </a:r>
            </a:p>
          </p:txBody>
        </p:sp>
        <p:sp>
          <p:nvSpPr>
            <p:cNvPr id="49" name="TextBox 49"/>
            <p:cNvSpPr txBox="1"/>
            <p:nvPr/>
          </p:nvSpPr>
          <p:spPr>
            <a:xfrm>
              <a:off x="6567297" y="4410075"/>
              <a:ext cx="4195556"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b="1" dirty="0">
                  <a:solidFill>
                    <a:srgbClr val="334155"/>
                  </a:solidFill>
                  <a:latin typeface="+mn-lt"/>
                  <a:ea typeface="+mn-ea"/>
                  <a:cs typeface="+mn-cs"/>
                </a:rPr>
                <a:t>Single Command Setup:</a:t>
              </a:r>
              <a:r>
                <a:rPr lang="vi" sz="980" dirty="0">
                  <a:solidFill>
                    <a:srgbClr val="334155"/>
                  </a:solidFill>
                  <a:latin typeface="+mn-lt"/>
                  <a:ea typeface="+mn-ea"/>
                  <a:cs typeface="+mn-cs"/>
                </a:rPr>
                <a:t> Khởi chạy toàn bộ hệ thống bằng </a:t>
              </a:r>
              <a:r>
                <a:rPr lang="vi" sz="980" dirty="0">
                  <a:solidFill>
                    <a:srgbClr val="334155"/>
                  </a:solidFill>
                  <a:latin typeface="Consolas"/>
                  <a:ea typeface="Consolas"/>
                  <a:cs typeface="Consolas"/>
                </a:rPr>
                <a:t>run.bat</a:t>
              </a:r>
            </a:p>
          </p:txBody>
        </p:sp>
        <p:sp>
          <p:nvSpPr>
            <p:cNvPr id="50" name="TextBox 50"/>
            <p:cNvSpPr txBox="1"/>
            <p:nvPr/>
          </p:nvSpPr>
          <p:spPr>
            <a:xfrm>
              <a:off x="6567297" y="4683125"/>
              <a:ext cx="4274205"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b="1" dirty="0">
                  <a:solidFill>
                    <a:srgbClr val="334155"/>
                  </a:solidFill>
                  <a:latin typeface="+mn-lt"/>
                  <a:ea typeface="+mn-ea"/>
                  <a:cs typeface="+mn-cs"/>
                </a:rPr>
                <a:t>Deterministic Pipeline:</a:t>
              </a:r>
              <a:r>
                <a:rPr lang="vi" sz="980" dirty="0">
                  <a:solidFill>
                    <a:srgbClr val="334155"/>
                  </a:solidFill>
                  <a:latin typeface="+mn-lt"/>
                  <a:ea typeface="+mn-ea"/>
                  <a:cs typeface="+mn-cs"/>
                </a:rPr>
                <a:t> Cùng seed 42 luôn sinh ra đúng 100% kết quả</a:t>
              </a:r>
            </a:p>
          </p:txBody>
        </p:sp>
        <p:sp>
          <p:nvSpPr>
            <p:cNvPr id="51" name="TextBox 51"/>
            <p:cNvSpPr txBox="1"/>
            <p:nvPr/>
          </p:nvSpPr>
          <p:spPr>
            <a:xfrm>
              <a:off x="6567297" y="4981575"/>
              <a:ext cx="3851922"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b="1" dirty="0">
                  <a:solidFill>
                    <a:srgbClr val="334155"/>
                  </a:solidFill>
                  <a:latin typeface="+mn-lt"/>
                  <a:ea typeface="+mn-ea"/>
                  <a:cs typeface="+mn-cs"/>
                </a:rPr>
                <a:t>Dokumentation Trọn Vẹn:</a:t>
              </a:r>
              <a:r>
                <a:rPr lang="vi" sz="980" dirty="0">
                  <a:solidFill>
                    <a:srgbClr val="334155"/>
                  </a:solidFill>
                  <a:latin typeface="+mn-lt"/>
                  <a:ea typeface="+mn-ea"/>
                  <a:cs typeface="+mn-cs"/>
                </a:rPr>
                <a:t> Hệ thống tài liệu kiến trúc tại </a:t>
              </a:r>
              <a:r>
                <a:rPr lang="vi" sz="980" dirty="0">
                  <a:solidFill>
                    <a:srgbClr val="334155"/>
                  </a:solidFill>
                  <a:latin typeface="Consolas"/>
                  <a:ea typeface="Consolas"/>
                  <a:cs typeface="Consolas"/>
                </a:rPr>
                <a:t>docs/</a:t>
              </a:r>
            </a:p>
          </p:txBody>
        </p:sp>
        <p:sp>
          <p:nvSpPr>
            <p:cNvPr id="52" name="Rectangle 52"/>
            <p:cNvSpPr/>
            <p:nvPr/>
          </p:nvSpPr>
          <p:spPr>
            <a:xfrm>
              <a:off x="6572250" y="5429250"/>
              <a:ext cx="4667250" cy="714375"/>
            </a:xfrm>
            <a:prstGeom prst="roundRect">
              <a:avLst>
                <a:gd name="adj" fmla="val 10667"/>
              </a:avLst>
            </a:prstGeom>
            <a:solidFill>
              <a:srgbClr val="EFF6FF"/>
            </a:solidFill>
            <a:ln>
              <a:noFill/>
            </a:ln>
          </p:spPr>
          <p:txBody>
            <a:bodyPr/>
            <a:lstStyle/>
            <a:p>
              <a:endParaRPr lang="en-US"/>
            </a:p>
          </p:txBody>
        </p:sp>
        <p:sp>
          <p:nvSpPr>
            <p:cNvPr id="53" name="TextBox 53"/>
            <p:cNvSpPr txBox="1"/>
            <p:nvPr/>
          </p:nvSpPr>
          <p:spPr>
            <a:xfrm>
              <a:off x="6757797" y="5568950"/>
              <a:ext cx="2611996" cy="191643"/>
            </a:xfrm>
            <a:prstGeom prst="rect">
              <a:avLst/>
            </a:prstGeom>
            <a:noFill/>
            <a:ln>
              <a:noFill/>
            </a:ln>
          </p:spPr>
          <p:txBody>
            <a:bodyPr wrap="none" lIns="0" tIns="0" rIns="0" bIns="0" anchor="t" anchorCtr="0">
              <a:spAutoFit/>
            </a:bodyPr>
            <a:lstStyle/>
            <a:p>
              <a:pPr algn="l"/>
              <a:r>
                <a:rPr lang="vi" sz="980" b="1" dirty="0">
                  <a:solidFill>
                    <a:srgbClr val="1D4ED8"/>
                  </a:solidFill>
                  <a:latin typeface="+mn-lt"/>
                  <a:ea typeface="+mn-ea"/>
                  <a:cs typeface="+mn-cs"/>
                </a:rPr>
                <a:t>SẴN SÀNG CHO ĐÁNH GIÁ HỘI ĐỒNG:</a:t>
              </a:r>
            </a:p>
          </p:txBody>
        </p:sp>
        <p:sp>
          <p:nvSpPr>
            <p:cNvPr id="54" name="TextBox 54"/>
            <p:cNvSpPr txBox="1"/>
            <p:nvPr/>
          </p:nvSpPr>
          <p:spPr>
            <a:xfrm>
              <a:off x="6757988" y="5838825"/>
              <a:ext cx="4411426" cy="176212"/>
            </a:xfrm>
            <a:prstGeom prst="rect">
              <a:avLst/>
            </a:prstGeom>
            <a:noFill/>
            <a:ln>
              <a:noFill/>
            </a:ln>
          </p:spPr>
          <p:txBody>
            <a:bodyPr wrap="none" lIns="0" tIns="0" rIns="0" bIns="0" anchor="t" anchorCtr="0">
              <a:spAutoFit/>
            </a:bodyPr>
            <a:lstStyle/>
            <a:p>
              <a:pPr algn="l"/>
              <a:r>
                <a:rPr lang="vi" sz="900" dirty="0">
                  <a:solidFill>
                    <a:srgbClr val="1E40AF"/>
                  </a:solidFill>
                  <a:latin typeface="+mn-lt"/>
                  <a:ea typeface="+mn-ea"/>
                  <a:cs typeface="+mn-cs"/>
                </a:rPr>
                <a:t>Tất cả bài test có thể chạy lại trực tiếp tại buổi bảo vệ đồ án mà không có sai lệch.</a:t>
              </a:r>
            </a:p>
          </p:txBody>
        </p:sp>
      </p:grpSp>
      <p:grpSp>
        <p:nvGrpSpPr>
          <p:cNvPr id="59" name="footer"/>
          <p:cNvGrpSpPr/>
          <p:nvPr/>
        </p:nvGrpSpPr>
        <p:grpSpPr>
          <a:xfrm>
            <a:off x="661797" y="6429375"/>
            <a:ext cx="10868406" cy="264668"/>
            <a:chOff x="661797" y="6429375"/>
            <a:chExt cx="10868406" cy="264668"/>
          </a:xfrm>
        </p:grpSpPr>
        <p:sp>
          <p:nvSpPr>
            <p:cNvPr id="56" name="Line 56"/>
            <p:cNvSpPr/>
            <p:nvPr/>
          </p:nvSpPr>
          <p:spPr>
            <a:xfrm>
              <a:off x="666750" y="6429375"/>
              <a:ext cx="10858500" cy="9525"/>
            </a:xfrm>
            <a:custGeom>
              <a:avLst/>
              <a:gdLst/>
              <a:ahLst/>
              <a:cxnLst/>
              <a:rect l="l" t="t" r="r" b="b"/>
              <a:pathLst>
                <a:path w="10858500" h="9525">
                  <a:moveTo>
                    <a:pt x="0" y="0"/>
                  </a:moveTo>
                  <a:lnTo>
                    <a:pt x="10858500" y="0"/>
                  </a:lnTo>
                </a:path>
              </a:pathLst>
            </a:custGeom>
            <a:noFill/>
            <a:ln w="9525">
              <a:solidFill>
                <a:srgbClr val="E2E8F0"/>
              </a:solidFill>
            </a:ln>
          </p:spPr>
          <p:txBody>
            <a:bodyPr/>
            <a:lstStyle/>
            <a:p>
              <a:endParaRPr lang="en-US"/>
            </a:p>
          </p:txBody>
        </p:sp>
        <p:sp>
          <p:nvSpPr>
            <p:cNvPr id="57" name="TextBox 57"/>
            <p:cNvSpPr txBox="1"/>
            <p:nvPr/>
          </p:nvSpPr>
          <p:spPr>
            <a:xfrm>
              <a:off x="661797" y="6502400"/>
              <a:ext cx="5799743"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Đồ Án Machine Learning Phân Khúc Khách Hàng Bán Sỉ • Project 22 (UCI Wholesale Customers)</a:t>
              </a:r>
            </a:p>
          </p:txBody>
        </p:sp>
        <p:sp>
          <p:nvSpPr>
            <p:cNvPr id="58" name="TextBox 58"/>
            <p:cNvSpPr txBox="1"/>
            <p:nvPr/>
          </p:nvSpPr>
          <p:spPr>
            <a:xfrm>
              <a:off x="11116836" y="6502400"/>
              <a:ext cx="413367" cy="191643"/>
            </a:xfrm>
            <a:prstGeom prst="rect">
              <a:avLst/>
            </a:prstGeom>
            <a:noFill/>
            <a:ln>
              <a:noFill/>
            </a:ln>
          </p:spPr>
          <p:txBody>
            <a:bodyPr wrap="none" lIns="0" tIns="0" rIns="0" bIns="0" anchor="t" anchorCtr="0">
              <a:spAutoFit/>
            </a:bodyPr>
            <a:lstStyle/>
            <a:p>
              <a:pPr algn="r"/>
              <a:r>
                <a:rPr lang="vi" sz="980" b="1" dirty="0">
                  <a:solidFill>
                    <a:srgbClr val="475569"/>
                  </a:solidFill>
                  <a:latin typeface="+mn-lt"/>
                  <a:ea typeface="+mn-ea"/>
                  <a:cs typeface="+mn-cs"/>
                </a:rPr>
                <a:t>13 / 15</a:t>
              </a:r>
            </a:p>
          </p:txBody>
        </p:sp>
      </p:grpSp>
    </p:spTree>
  </p:cSld>
  <p:clrMapOvr>
    <a:masterClrMapping/>
  </p:clrMapOvr>
  <mc:AlternateContent xmlns:mc="http://schemas.openxmlformats.org/markup-compatibility/2006">
    <mc:Choice xmlns:p14="http://schemas.microsoft.com/office/powerpoint/2010/main" Requires="p14">
      <p:transition spd="med" p14:dur="600">
        <p:push dir="r"/>
      </p:transition>
    </mc:Choice>
    <mc:Fallback>
      <p:transition spd="med">
        <p:push dir="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400"/>
                            </p:stCondLst>
                            <p:childTnLst>
                              <p:par>
                                <p:cTn id="9" presetID="2" presetClass="entr" presetSubtype="4" fill="hold" nodeType="afterEffect">
                                  <p:stCondLst>
                                    <p:cond delay="500"/>
                                  </p:stCondLst>
                                  <p:childTnLst>
                                    <p:set>
                                      <p:cBhvr>
                                        <p:cTn id="10" dur="1" fill="hold">
                                          <p:stCondLst>
                                            <p:cond delay="0"/>
                                          </p:stCondLst>
                                        </p:cTn>
                                        <p:tgtEl>
                                          <p:spTgt spid="31"/>
                                        </p:tgtEl>
                                        <p:attrNameLst>
                                          <p:attrName>style.visibility</p:attrName>
                                        </p:attrNameLst>
                                      </p:cBhvr>
                                      <p:to>
                                        <p:strVal val="visible"/>
                                      </p:to>
                                    </p:set>
                                    <p:anim calcmode="lin" valueType="num">
                                      <p:cBhvr additive="base">
                                        <p:cTn id="11" dur="700" fill="hold"/>
                                        <p:tgtEl>
                                          <p:spTgt spid="31"/>
                                        </p:tgtEl>
                                        <p:attrNameLst>
                                          <p:attrName>ppt_x</p:attrName>
                                        </p:attrNameLst>
                                      </p:cBhvr>
                                      <p:tavLst>
                                        <p:tav tm="0">
                                          <p:val>
                                            <p:strVal val="#ppt_x"/>
                                          </p:val>
                                        </p:tav>
                                        <p:tav tm="100000">
                                          <p:val>
                                            <p:strVal val="#ppt_x"/>
                                          </p:val>
                                        </p:tav>
                                      </p:tavLst>
                                    </p:anim>
                                    <p:anim calcmode="lin" valueType="num">
                                      <p:cBhvr additive="base">
                                        <p:cTn id="12" dur="700" fill="hold"/>
                                        <p:tgtEl>
                                          <p:spTgt spid="31"/>
                                        </p:tgtEl>
                                        <p:attrNameLst>
                                          <p:attrName>ppt_y</p:attrName>
                                        </p:attrNameLst>
                                      </p:cBhvr>
                                      <p:tavLst>
                                        <p:tav tm="0">
                                          <p:val>
                                            <p:strVal val="1+#ppt_h/2"/>
                                          </p:val>
                                        </p:tav>
                                        <p:tav tm="100000">
                                          <p:val>
                                            <p:strVal val="#ppt_y"/>
                                          </p:val>
                                        </p:tav>
                                      </p:tavLst>
                                    </p:anim>
                                  </p:childTnLst>
                                </p:cTn>
                              </p:par>
                            </p:childTnLst>
                          </p:cTn>
                        </p:par>
                        <p:par>
                          <p:cTn id="13" fill="hold">
                            <p:stCondLst>
                              <p:cond delay="1600"/>
                            </p:stCondLst>
                            <p:childTnLst>
                              <p:par>
                                <p:cTn id="14" presetID="2" presetClass="entr" presetSubtype="4" fill="hold" nodeType="afterEffect">
                                  <p:stCondLst>
                                    <p:cond delay="500"/>
                                  </p:stCondLst>
                                  <p:childTnLst>
                                    <p:set>
                                      <p:cBhvr>
                                        <p:cTn id="15" dur="1" fill="hold">
                                          <p:stCondLst>
                                            <p:cond delay="0"/>
                                          </p:stCondLst>
                                        </p:cTn>
                                        <p:tgtEl>
                                          <p:spTgt spid="55"/>
                                        </p:tgtEl>
                                        <p:attrNameLst>
                                          <p:attrName>style.visibility</p:attrName>
                                        </p:attrNameLst>
                                      </p:cBhvr>
                                      <p:to>
                                        <p:strVal val="visible"/>
                                      </p:to>
                                    </p:set>
                                    <p:anim calcmode="lin" valueType="num">
                                      <p:cBhvr additive="base">
                                        <p:cTn id="16" dur="700" fill="hold"/>
                                        <p:tgtEl>
                                          <p:spTgt spid="55"/>
                                        </p:tgtEl>
                                        <p:attrNameLst>
                                          <p:attrName>ppt_x</p:attrName>
                                        </p:attrNameLst>
                                      </p:cBhvr>
                                      <p:tavLst>
                                        <p:tav tm="0">
                                          <p:val>
                                            <p:strVal val="#ppt_x"/>
                                          </p:val>
                                        </p:tav>
                                        <p:tav tm="100000">
                                          <p:val>
                                            <p:strVal val="#ppt_x"/>
                                          </p:val>
                                        </p:tav>
                                      </p:tavLst>
                                    </p:anim>
                                    <p:anim calcmode="lin" valueType="num">
                                      <p:cBhvr additive="base">
                                        <p:cTn id="17" dur="700" fill="hold"/>
                                        <p:tgtEl>
                                          <p:spTgt spid="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page-background"/>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8FAFC"/>
            </a:solidFill>
            <a:ln>
              <a:noFill/>
            </a:ln>
          </p:spPr>
          <p:txBody>
            <a:bodyPr/>
            <a:lstStyle/>
            <a:p>
              <a:endParaRPr lang="en-US"/>
            </a:p>
          </p:txBody>
        </p:sp>
        <p:sp>
          <p:nvSpPr>
            <p:cNvPr id="3" name="Rectangle 3"/>
            <p:cNvSpPr/>
            <p:nvPr/>
          </p:nvSpPr>
          <p:spPr>
            <a:xfrm>
              <a:off x="0" y="0"/>
              <a:ext cx="12192000" cy="57150"/>
            </a:xfrm>
            <a:prstGeom prst="rect">
              <a:avLst/>
            </a:prstGeom>
            <a:gradFill>
              <a:gsLst>
                <a:gs pos="0">
                  <a:srgbClr val="1E3A8A"/>
                </a:gs>
                <a:gs pos="50000">
                  <a:schemeClr val="accent1"/>
                </a:gs>
                <a:gs pos="100000">
                  <a:srgbClr val="0EA5E9"/>
                </a:gs>
              </a:gsLst>
              <a:lin ang="0" scaled="1"/>
            </a:gradFill>
            <a:ln>
              <a:noFill/>
            </a:ln>
          </p:spPr>
          <p:txBody>
            <a:bodyPr/>
            <a:lstStyle/>
            <a:p>
              <a:endParaRPr lang="en-US"/>
            </a:p>
          </p:txBody>
        </p:sp>
      </p:grpSp>
      <p:grpSp>
        <p:nvGrpSpPr>
          <p:cNvPr id="9" name="header"/>
          <p:cNvGrpSpPr/>
          <p:nvPr/>
        </p:nvGrpSpPr>
        <p:grpSpPr>
          <a:xfrm>
            <a:off x="654558" y="304800"/>
            <a:ext cx="8378928" cy="899478"/>
            <a:chOff x="654558" y="304800"/>
            <a:chExt cx="8378928" cy="899478"/>
          </a:xfrm>
        </p:grpSpPr>
        <p:sp>
          <p:nvSpPr>
            <p:cNvPr id="5" name="Rectangle 5"/>
            <p:cNvSpPr/>
            <p:nvPr/>
          </p:nvSpPr>
          <p:spPr>
            <a:xfrm>
              <a:off x="666750" y="304800"/>
              <a:ext cx="2428875" cy="247650"/>
            </a:xfrm>
            <a:prstGeom prst="roundRect">
              <a:avLst>
                <a:gd name="adj" fmla="val 23077"/>
              </a:avLst>
            </a:prstGeom>
            <a:solidFill>
              <a:srgbClr val="EFF6FF"/>
            </a:solidFill>
            <a:ln w="9525">
              <a:solidFill>
                <a:srgbClr val="BFDBFE"/>
              </a:solidFill>
            </a:ln>
          </p:spPr>
          <p:txBody>
            <a:bodyPr/>
            <a:lstStyle/>
            <a:p>
              <a:endParaRPr lang="en-US"/>
            </a:p>
          </p:txBody>
        </p:sp>
        <p:sp>
          <p:nvSpPr>
            <p:cNvPr id="6" name="TextBox 6"/>
            <p:cNvSpPr txBox="1"/>
            <p:nvPr/>
          </p:nvSpPr>
          <p:spPr>
            <a:xfrm>
              <a:off x="860698" y="365125"/>
              <a:ext cx="2040979" cy="161925"/>
            </a:xfrm>
            <a:prstGeom prst="rect">
              <a:avLst/>
            </a:prstGeom>
            <a:noFill/>
            <a:ln>
              <a:noFill/>
            </a:ln>
          </p:spPr>
          <p:txBody>
            <a:bodyPr wrap="none" lIns="0" tIns="0" rIns="0" bIns="0" anchor="t" anchorCtr="0">
              <a:spAutoFit/>
            </a:bodyPr>
            <a:lstStyle/>
            <a:p>
              <a:pPr algn="ctr"/>
              <a:r>
                <a:rPr lang="vi" sz="820" b="1" spc="75" dirty="0">
                  <a:solidFill>
                    <a:srgbClr val="1D4ED8"/>
                  </a:solidFill>
                  <a:latin typeface="+mn-lt"/>
                  <a:ea typeface="+mn-ea"/>
                  <a:cs typeface="+mn-cs"/>
                </a:rPr>
                <a:t>ĐÁNH GIÁ &amp;AMP; ĐỊNH HƯỚNG</a:t>
              </a:r>
            </a:p>
          </p:txBody>
        </p:sp>
        <p:sp>
          <p:nvSpPr>
            <p:cNvPr id="7" name="TextBox 7"/>
            <p:cNvSpPr txBox="1"/>
            <p:nvPr/>
          </p:nvSpPr>
          <p:spPr>
            <a:xfrm>
              <a:off x="654558" y="584200"/>
              <a:ext cx="8378928" cy="469392"/>
            </a:xfrm>
            <a:prstGeom prst="rect">
              <a:avLst/>
            </a:prstGeom>
            <a:noFill/>
            <a:ln>
              <a:noFill/>
            </a:ln>
          </p:spPr>
          <p:txBody>
            <a:bodyPr wrap="none" lIns="0" tIns="0" rIns="0" bIns="0" anchor="t" anchorCtr="0">
              <a:spAutoFit/>
            </a:bodyPr>
            <a:lstStyle/>
            <a:p>
              <a:pPr algn="l"/>
              <a:r>
                <a:rPr lang="vi" sz="2400" b="1" dirty="0">
                  <a:solidFill>
                    <a:srgbClr val="0F172A"/>
                  </a:solidFill>
                  <a:latin typeface="+mn-lt"/>
                  <a:ea typeface="+mn-ea"/>
                  <a:cs typeface="+mn-cs"/>
                </a:rPr>
                <a:t>Giới Hạn Nghiên Cứu &amp; Lộ Trình Phát Triển Tương Lai</a:t>
              </a:r>
            </a:p>
          </p:txBody>
        </p:sp>
        <p:sp>
          <p:nvSpPr>
            <p:cNvPr id="8" name="TextBox 8"/>
            <p:cNvSpPr txBox="1"/>
            <p:nvPr/>
          </p:nvSpPr>
          <p:spPr>
            <a:xfrm>
              <a:off x="661035" y="984250"/>
              <a:ext cx="5372782" cy="220028"/>
            </a:xfrm>
            <a:prstGeom prst="rect">
              <a:avLst/>
            </a:prstGeom>
            <a:noFill/>
            <a:ln>
              <a:noFill/>
            </a:ln>
          </p:spPr>
          <p:txBody>
            <a:bodyPr wrap="none" lIns="0" tIns="0" rIns="0" bIns="0" anchor="t" anchorCtr="0">
              <a:spAutoFit/>
            </a:bodyPr>
            <a:lstStyle/>
            <a:p>
              <a:pPr algn="l"/>
              <a:r>
                <a:rPr lang="vi" sz="1120" dirty="0">
                  <a:solidFill>
                    <a:srgbClr val="475569"/>
                  </a:solidFill>
                  <a:latin typeface="+mn-lt"/>
                  <a:ea typeface="+mn-ea"/>
                  <a:cs typeface="+mn-cs"/>
                </a:rPr>
                <a:t>Cái nhìn khách quan về phạm vi đề tài và các bước tiến hóa công nghệ tiếp theo</a:t>
              </a:r>
            </a:p>
          </p:txBody>
        </p:sp>
      </p:grpSp>
      <p:grpSp>
        <p:nvGrpSpPr>
          <p:cNvPr id="29" name="project-limitations"/>
          <p:cNvGrpSpPr/>
          <p:nvPr/>
        </p:nvGrpSpPr>
        <p:grpSpPr>
          <a:xfrm>
            <a:off x="666750" y="1428750"/>
            <a:ext cx="5143500" cy="4905375"/>
            <a:chOff x="666750" y="1428750"/>
            <a:chExt cx="5143500" cy="4905375"/>
          </a:xfrm>
        </p:grpSpPr>
        <p:sp>
          <p:nvSpPr>
            <p:cNvPr id="10" name="Rectangle 10"/>
            <p:cNvSpPr/>
            <p:nvPr/>
          </p:nvSpPr>
          <p:spPr>
            <a:xfrm>
              <a:off x="666750" y="1428750"/>
              <a:ext cx="5143500" cy="4905375"/>
            </a:xfrm>
            <a:prstGeom prst="roundRect">
              <a:avLst>
                <a:gd name="adj" fmla="val 2718"/>
              </a:avLst>
            </a:prstGeom>
            <a:solidFill>
              <a:schemeClr val="lt1"/>
            </a:solidFill>
            <a:ln w="14288">
              <a:solidFill>
                <a:srgbClr val="E2E8F0"/>
              </a:solidFill>
            </a:ln>
          </p:spPr>
          <p:txBody>
            <a:bodyPr/>
            <a:lstStyle/>
            <a:p>
              <a:endParaRPr lang="en-US"/>
            </a:p>
          </p:txBody>
        </p:sp>
        <p:sp>
          <p:nvSpPr>
            <p:cNvPr id="11" name="Rectangle 11"/>
            <p:cNvSpPr/>
            <p:nvPr/>
          </p:nvSpPr>
          <p:spPr>
            <a:xfrm>
              <a:off x="666750" y="1428750"/>
              <a:ext cx="5143500" cy="57150"/>
            </a:xfrm>
            <a:prstGeom prst="roundRect">
              <a:avLst>
                <a:gd name="adj" fmla="val 50000"/>
              </a:avLst>
            </a:prstGeom>
            <a:solidFill>
              <a:srgbClr val="F59E0B"/>
            </a:solidFill>
            <a:ln>
              <a:noFill/>
            </a:ln>
          </p:spPr>
          <p:txBody>
            <a:bodyPr/>
            <a:lstStyle/>
            <a:p>
              <a:endParaRPr lang="en-US"/>
            </a:p>
          </p:txBody>
        </p:sp>
        <p:sp>
          <p:nvSpPr>
            <p:cNvPr id="12" name="TextBox 12"/>
            <p:cNvSpPr txBox="1"/>
            <p:nvPr/>
          </p:nvSpPr>
          <p:spPr>
            <a:xfrm>
              <a:off x="945642" y="1644650"/>
              <a:ext cx="2552869" cy="264033"/>
            </a:xfrm>
            <a:prstGeom prst="rect">
              <a:avLst/>
            </a:prstGeom>
            <a:noFill/>
            <a:ln>
              <a:noFill/>
            </a:ln>
          </p:spPr>
          <p:txBody>
            <a:bodyPr wrap="none" lIns="0" tIns="0" rIns="0" bIns="0" anchor="t" anchorCtr="0">
              <a:spAutoFit/>
            </a:bodyPr>
            <a:lstStyle/>
            <a:p>
              <a:pPr algn="l"/>
              <a:r>
                <a:rPr lang="vi" sz="1350" b="1" dirty="0">
                  <a:solidFill>
                    <a:srgbClr val="0F172A"/>
                  </a:solidFill>
                  <a:latin typeface="+mn-lt"/>
                  <a:ea typeface="+mn-ea"/>
                  <a:cs typeface="+mn-cs"/>
                </a:rPr>
                <a:t>Giới Hạn Hiện Tại Của Đề Tài</a:t>
              </a:r>
            </a:p>
          </p:txBody>
        </p:sp>
        <p:sp>
          <p:nvSpPr>
            <p:cNvPr id="13" name="TextBox 13"/>
            <p:cNvSpPr txBox="1"/>
            <p:nvPr/>
          </p:nvSpPr>
          <p:spPr>
            <a:xfrm>
              <a:off x="947547" y="1920875"/>
              <a:ext cx="3996860"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Các yếu tố ràng buộc khách quan từ tập dữ liệu và phạm vi môn học</a:t>
              </a:r>
            </a:p>
          </p:txBody>
        </p:sp>
        <p:sp>
          <p:nvSpPr>
            <p:cNvPr id="14" name="Rectangle 14"/>
            <p:cNvSpPr/>
            <p:nvPr/>
          </p:nvSpPr>
          <p:spPr>
            <a:xfrm>
              <a:off x="904875" y="2333625"/>
              <a:ext cx="4667250" cy="1047750"/>
            </a:xfrm>
            <a:prstGeom prst="roundRect">
              <a:avLst>
                <a:gd name="adj" fmla="val 9091"/>
              </a:avLst>
            </a:prstGeom>
            <a:solidFill>
              <a:srgbClr val="F8FAFC"/>
            </a:solidFill>
            <a:ln w="9525">
              <a:solidFill>
                <a:srgbClr val="E2E8F0"/>
              </a:solidFill>
            </a:ln>
          </p:spPr>
          <p:txBody>
            <a:bodyPr/>
            <a:lstStyle/>
            <a:p>
              <a:endParaRPr lang="en-US"/>
            </a:p>
          </p:txBody>
        </p:sp>
        <p:sp>
          <p:nvSpPr>
            <p:cNvPr id="15" name="TextBox 15"/>
            <p:cNvSpPr txBox="1"/>
            <p:nvPr/>
          </p:nvSpPr>
          <p:spPr>
            <a:xfrm>
              <a:off x="1089660" y="2479675"/>
              <a:ext cx="3143267" cy="220028"/>
            </a:xfrm>
            <a:prstGeom prst="rect">
              <a:avLst/>
            </a:prstGeom>
            <a:noFill/>
            <a:ln>
              <a:noFill/>
            </a:ln>
          </p:spPr>
          <p:txBody>
            <a:bodyPr wrap="none" lIns="0" tIns="0" rIns="0" bIns="0" anchor="t" anchorCtr="0">
              <a:spAutoFit/>
            </a:bodyPr>
            <a:lstStyle/>
            <a:p>
              <a:pPr algn="l"/>
              <a:r>
                <a:rPr lang="vi" sz="1120" b="1" dirty="0">
                  <a:solidFill>
                    <a:srgbClr val="B45309"/>
                  </a:solidFill>
                  <a:latin typeface="+mn-lt"/>
                  <a:ea typeface="+mn-ea"/>
                  <a:cs typeface="+mn-cs"/>
                </a:rPr>
                <a:t>1. Kích Thước Mẫu Hạn Chế (440 Quan Sát)</a:t>
              </a:r>
            </a:p>
          </p:txBody>
        </p:sp>
        <p:sp>
          <p:nvSpPr>
            <p:cNvPr id="16" name="TextBox 16"/>
            <p:cNvSpPr txBox="1"/>
            <p:nvPr/>
          </p:nvSpPr>
          <p:spPr>
            <a:xfrm>
              <a:off x="1090422" y="2749550"/>
              <a:ext cx="4047790"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Tập dữ liệu tương đối nhỏ, dù đủ cho thuật toán phân cụm K-Means</a:t>
              </a:r>
            </a:p>
          </p:txBody>
        </p:sp>
        <p:sp>
          <p:nvSpPr>
            <p:cNvPr id="17" name="TextBox 17"/>
            <p:cNvSpPr txBox="1"/>
            <p:nvPr/>
          </p:nvSpPr>
          <p:spPr>
            <a:xfrm>
              <a:off x="1090422" y="2968625"/>
              <a:ext cx="4264439" cy="191643"/>
            </a:xfrm>
            <a:prstGeom prst="rect">
              <a:avLst/>
            </a:prstGeom>
            <a:noFill/>
            <a:ln>
              <a:noFill/>
            </a:ln>
          </p:spPr>
          <p:txBody>
            <a:bodyPr wrap="none" lIns="0" tIns="0" rIns="0" bIns="0" anchor="t" anchorCtr="0">
              <a:spAutoFit/>
            </a:bodyPr>
            <a:lstStyle/>
            <a:p>
              <a:pPr algn="l"/>
              <a:r>
                <a:rPr lang="vi" sz="980" dirty="0">
                  <a:solidFill>
                    <a:srgbClr val="334155"/>
                  </a:solidFill>
                  <a:latin typeface="+mn-lt"/>
                  <a:ea typeface="+mn-ea"/>
                  <a:cs typeface="+mn-cs"/>
                </a:rPr>
                <a:t>cơ bản nhưng chưa bao quát được toàn bộ phân khúc thị trường rộng lớn.</a:t>
              </a:r>
            </a:p>
          </p:txBody>
        </p:sp>
        <p:sp>
          <p:nvSpPr>
            <p:cNvPr id="18" name="TextBox 18"/>
            <p:cNvSpPr txBox="1"/>
            <p:nvPr/>
          </p:nvSpPr>
          <p:spPr>
            <a:xfrm>
              <a:off x="1090612" y="3171825"/>
              <a:ext cx="3806160" cy="176212"/>
            </a:xfrm>
            <a:prstGeom prst="rect">
              <a:avLst/>
            </a:prstGeom>
            <a:noFill/>
            <a:ln>
              <a:noFill/>
            </a:ln>
          </p:spPr>
          <p:txBody>
            <a:bodyPr wrap="none" lIns="0" tIns="0" rIns="0" bIns="0" anchor="t" anchorCtr="0">
              <a:spAutoFit/>
            </a:bodyPr>
            <a:lstStyle/>
            <a:p>
              <a:pPr algn="l"/>
              <a:r>
                <a:rPr lang="vi" sz="900" dirty="0">
                  <a:solidFill>
                    <a:srgbClr val="64748B"/>
                  </a:solidFill>
                  <a:latin typeface="+mn-lt"/>
                  <a:ea typeface="+mn-ea"/>
                  <a:cs typeface="+mn-cs"/>
                </a:rPr>
                <a:t>Cần bổ sung thêm dữ liệu giao dịch từ nhiều nhà phân phối khác nhau.</a:t>
              </a:r>
            </a:p>
          </p:txBody>
        </p:sp>
        <p:sp>
          <p:nvSpPr>
            <p:cNvPr id="19" name="Rectangle 19"/>
            <p:cNvSpPr/>
            <p:nvPr/>
          </p:nvSpPr>
          <p:spPr>
            <a:xfrm>
              <a:off x="904875" y="3571875"/>
              <a:ext cx="4667250" cy="1047750"/>
            </a:xfrm>
            <a:prstGeom prst="roundRect">
              <a:avLst>
                <a:gd name="adj" fmla="val 9091"/>
              </a:avLst>
            </a:prstGeom>
            <a:solidFill>
              <a:srgbClr val="F8FAFC"/>
            </a:solidFill>
            <a:ln w="9525">
              <a:solidFill>
                <a:srgbClr val="E2E8F0"/>
              </a:solidFill>
            </a:ln>
          </p:spPr>
          <p:txBody>
            <a:bodyPr/>
            <a:lstStyle/>
            <a:p>
              <a:endParaRPr lang="en-US"/>
            </a:p>
          </p:txBody>
        </p:sp>
        <p:sp>
          <p:nvSpPr>
            <p:cNvPr id="20" name="TextBox 20"/>
            <p:cNvSpPr txBox="1"/>
            <p:nvPr/>
          </p:nvSpPr>
          <p:spPr>
            <a:xfrm>
              <a:off x="1089660" y="3717925"/>
              <a:ext cx="3015933" cy="220028"/>
            </a:xfrm>
            <a:prstGeom prst="rect">
              <a:avLst/>
            </a:prstGeom>
            <a:noFill/>
            <a:ln>
              <a:noFill/>
            </a:ln>
          </p:spPr>
          <p:txBody>
            <a:bodyPr wrap="none" lIns="0" tIns="0" rIns="0" bIns="0" anchor="t" anchorCtr="0">
              <a:spAutoFit/>
            </a:bodyPr>
            <a:lstStyle/>
            <a:p>
              <a:pPr algn="l"/>
              <a:r>
                <a:rPr lang="vi" sz="1120" b="1" dirty="0">
                  <a:solidFill>
                    <a:srgbClr val="B45309"/>
                  </a:solidFill>
                  <a:latin typeface="+mn-lt"/>
                  <a:ea typeface="+mn-ea"/>
                  <a:cs typeface="+mn-cs"/>
                </a:rPr>
                <a:t>2. Dữ Liệu Tĩnh &amp; Thiếu Yếu Tố Thời Gian</a:t>
              </a:r>
            </a:p>
          </p:txBody>
        </p:sp>
        <p:sp>
          <p:nvSpPr>
            <p:cNvPr id="21" name="TextBox 21"/>
            <p:cNvSpPr txBox="1"/>
            <p:nvPr/>
          </p:nvSpPr>
          <p:spPr>
            <a:xfrm>
              <a:off x="1090422" y="3987800"/>
              <a:ext cx="4415016"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6 biến chi tiêu là tổng hợp hằng năm, không có mốc thời gian (timestamp).</a:t>
              </a:r>
            </a:p>
          </p:txBody>
        </p:sp>
        <p:sp>
          <p:nvSpPr>
            <p:cNvPr id="22" name="TextBox 22"/>
            <p:cNvSpPr txBox="1"/>
            <p:nvPr/>
          </p:nvSpPr>
          <p:spPr>
            <a:xfrm>
              <a:off x="1090422" y="4206875"/>
              <a:ext cx="4133343"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Chưa thể phân tích tính thời vụ (mùa du lịch, lễ tết) hay tần suất mua.</a:t>
              </a:r>
            </a:p>
          </p:txBody>
        </p:sp>
        <p:sp>
          <p:nvSpPr>
            <p:cNvPr id="23" name="TextBox 23"/>
            <p:cNvSpPr txBox="1"/>
            <p:nvPr/>
          </p:nvSpPr>
          <p:spPr>
            <a:xfrm>
              <a:off x="1090612" y="4410075"/>
              <a:ext cx="4263625" cy="176212"/>
            </a:xfrm>
            <a:prstGeom prst="rect">
              <a:avLst/>
            </a:prstGeom>
            <a:noFill/>
            <a:ln>
              <a:noFill/>
            </a:ln>
          </p:spPr>
          <p:txBody>
            <a:bodyPr wrap="none" lIns="0" tIns="0" rIns="0" bIns="0" anchor="t" anchorCtr="0">
              <a:spAutoFit/>
            </a:bodyPr>
            <a:lstStyle/>
            <a:p>
              <a:pPr algn="l"/>
              <a:r>
                <a:rPr lang="vi" sz="900" dirty="0">
                  <a:solidFill>
                    <a:srgbClr val="64748B"/>
                  </a:solidFill>
                  <a:latin typeface="+mn-lt"/>
                  <a:ea typeface="+mn-ea"/>
                  <a:cs typeface="+mn-cs"/>
                </a:rPr>
                <a:t>Chưa khai thác được các thuộc tính Recency &amp; Frequency trong mô hình RFM.</a:t>
              </a:r>
            </a:p>
          </p:txBody>
        </p:sp>
        <p:sp>
          <p:nvSpPr>
            <p:cNvPr id="24" name="Rectangle 24"/>
            <p:cNvSpPr/>
            <p:nvPr/>
          </p:nvSpPr>
          <p:spPr>
            <a:xfrm>
              <a:off x="904875" y="4810125"/>
              <a:ext cx="4667250" cy="1285875"/>
            </a:xfrm>
            <a:prstGeom prst="roundRect">
              <a:avLst>
                <a:gd name="adj" fmla="val 7407"/>
              </a:avLst>
            </a:prstGeom>
            <a:solidFill>
              <a:srgbClr val="F8FAFC"/>
            </a:solidFill>
            <a:ln w="9525">
              <a:solidFill>
                <a:srgbClr val="E2E8F0"/>
              </a:solidFill>
            </a:ln>
          </p:spPr>
          <p:txBody>
            <a:bodyPr/>
            <a:lstStyle/>
            <a:p>
              <a:endParaRPr lang="en-US"/>
            </a:p>
          </p:txBody>
        </p:sp>
        <p:sp>
          <p:nvSpPr>
            <p:cNvPr id="25" name="TextBox 25"/>
            <p:cNvSpPr txBox="1"/>
            <p:nvPr/>
          </p:nvSpPr>
          <p:spPr>
            <a:xfrm>
              <a:off x="1089660" y="4956175"/>
              <a:ext cx="2926313" cy="220028"/>
            </a:xfrm>
            <a:prstGeom prst="rect">
              <a:avLst/>
            </a:prstGeom>
            <a:noFill/>
            <a:ln>
              <a:noFill/>
            </a:ln>
          </p:spPr>
          <p:txBody>
            <a:bodyPr wrap="none" lIns="0" tIns="0" rIns="0" bIns="0" anchor="t" anchorCtr="0">
              <a:spAutoFit/>
            </a:bodyPr>
            <a:lstStyle/>
            <a:p>
              <a:pPr algn="l"/>
              <a:r>
                <a:rPr lang="vi" sz="1120" b="1" dirty="0">
                  <a:solidFill>
                    <a:srgbClr val="B45309"/>
                  </a:solidFill>
                  <a:latin typeface="+mn-lt"/>
                  <a:ea typeface="+mn-ea"/>
                  <a:cs typeface="+mn-cs"/>
                </a:rPr>
                <a:t>3. Giả Định Cụm Hình Cầu Của K-Means</a:t>
              </a:r>
            </a:p>
          </p:txBody>
        </p:sp>
        <p:sp>
          <p:nvSpPr>
            <p:cNvPr id="26" name="TextBox 26"/>
            <p:cNvSpPr txBox="1"/>
            <p:nvPr/>
          </p:nvSpPr>
          <p:spPr>
            <a:xfrm>
              <a:off x="1090422" y="5226050"/>
              <a:ext cx="4285002"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K-Means ngầm định các cụm có hình cầu lồi và phương sai tương đồng.</a:t>
              </a:r>
            </a:p>
          </p:txBody>
        </p:sp>
        <p:sp>
          <p:nvSpPr>
            <p:cNvPr id="27" name="TextBox 27"/>
            <p:cNvSpPr txBox="1"/>
            <p:nvPr/>
          </p:nvSpPr>
          <p:spPr>
            <a:xfrm>
              <a:off x="1090422" y="5445125"/>
              <a:ext cx="4399656"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Với dữ liệu phân bố mật độ phức tạp, K-Means có thể bỏ lỡ hình thái cụm.</a:t>
              </a:r>
            </a:p>
          </p:txBody>
        </p:sp>
        <p:sp>
          <p:nvSpPr>
            <p:cNvPr id="28" name="TextBox 28"/>
            <p:cNvSpPr txBox="1"/>
            <p:nvPr/>
          </p:nvSpPr>
          <p:spPr>
            <a:xfrm>
              <a:off x="1090612" y="5743575"/>
              <a:ext cx="3915739" cy="176212"/>
            </a:xfrm>
            <a:prstGeom prst="rect">
              <a:avLst/>
            </a:prstGeom>
            <a:noFill/>
            <a:ln>
              <a:noFill/>
            </a:ln>
          </p:spPr>
          <p:txBody>
            <a:bodyPr wrap="none" lIns="0" tIns="0" rIns="0" bIns="0" anchor="t" anchorCtr="0">
              <a:spAutoFit/>
            </a:bodyPr>
            <a:lstStyle/>
            <a:p>
              <a:pPr algn="l"/>
              <a:r>
                <a:rPr lang="vi" sz="900" b="1" dirty="0">
                  <a:solidFill>
                    <a:srgbClr val="991B1B"/>
                  </a:solidFill>
                  <a:latin typeface="+mn-lt"/>
                  <a:ea typeface="+mn-ea"/>
                  <a:cs typeface="+mn-cs"/>
                </a:rPr>
                <a:t>➔ D011 đã giảm thiểu rủi ro này bằng Log1p transform trước khi fit.</a:t>
              </a:r>
            </a:p>
          </p:txBody>
        </p:sp>
      </p:grpSp>
      <p:grpSp>
        <p:nvGrpSpPr>
          <p:cNvPr id="49" name="future-roadmap"/>
          <p:cNvGrpSpPr/>
          <p:nvPr/>
        </p:nvGrpSpPr>
        <p:grpSpPr>
          <a:xfrm>
            <a:off x="6191250" y="1428750"/>
            <a:ext cx="5514315" cy="4905375"/>
            <a:chOff x="6191250" y="1428750"/>
            <a:chExt cx="5514315" cy="4905375"/>
          </a:xfrm>
        </p:grpSpPr>
        <p:sp>
          <p:nvSpPr>
            <p:cNvPr id="30" name="Rectangle 30"/>
            <p:cNvSpPr/>
            <p:nvPr/>
          </p:nvSpPr>
          <p:spPr>
            <a:xfrm>
              <a:off x="6191250" y="1428750"/>
              <a:ext cx="5334000" cy="4905375"/>
            </a:xfrm>
            <a:prstGeom prst="roundRect">
              <a:avLst>
                <a:gd name="adj" fmla="val 2718"/>
              </a:avLst>
            </a:prstGeom>
            <a:solidFill>
              <a:schemeClr val="lt1"/>
            </a:solidFill>
            <a:ln w="14288">
              <a:solidFill>
                <a:srgbClr val="E2E8F0"/>
              </a:solidFill>
            </a:ln>
          </p:spPr>
          <p:txBody>
            <a:bodyPr/>
            <a:lstStyle/>
            <a:p>
              <a:endParaRPr lang="en-US"/>
            </a:p>
          </p:txBody>
        </p:sp>
        <p:sp>
          <p:nvSpPr>
            <p:cNvPr id="31" name="Rectangle 31"/>
            <p:cNvSpPr/>
            <p:nvPr/>
          </p:nvSpPr>
          <p:spPr>
            <a:xfrm>
              <a:off x="6191250" y="1428750"/>
              <a:ext cx="5334000" cy="57150"/>
            </a:xfrm>
            <a:prstGeom prst="roundRect">
              <a:avLst>
                <a:gd name="adj" fmla="val 50000"/>
              </a:avLst>
            </a:prstGeom>
            <a:solidFill>
              <a:schemeClr val="accent2"/>
            </a:solidFill>
            <a:ln>
              <a:noFill/>
            </a:ln>
          </p:spPr>
          <p:txBody>
            <a:bodyPr/>
            <a:lstStyle/>
            <a:p>
              <a:endParaRPr lang="en-US"/>
            </a:p>
          </p:txBody>
        </p:sp>
        <p:sp>
          <p:nvSpPr>
            <p:cNvPr id="32" name="TextBox 32"/>
            <p:cNvSpPr txBox="1"/>
            <p:nvPr/>
          </p:nvSpPr>
          <p:spPr>
            <a:xfrm>
              <a:off x="6470142" y="1644650"/>
              <a:ext cx="3486418" cy="264033"/>
            </a:xfrm>
            <a:prstGeom prst="rect">
              <a:avLst/>
            </a:prstGeom>
            <a:noFill/>
            <a:ln>
              <a:noFill/>
            </a:ln>
          </p:spPr>
          <p:txBody>
            <a:bodyPr wrap="none" lIns="0" tIns="0" rIns="0" bIns="0" anchor="t" anchorCtr="0">
              <a:spAutoFit/>
            </a:bodyPr>
            <a:lstStyle/>
            <a:p>
              <a:pPr algn="l"/>
              <a:r>
                <a:rPr lang="vi" sz="1350" b="1" dirty="0">
                  <a:solidFill>
                    <a:srgbClr val="0F172A"/>
                  </a:solidFill>
                  <a:latin typeface="+mn-lt"/>
                  <a:ea typeface="+mn-ea"/>
                  <a:cs typeface="+mn-cs"/>
                </a:rPr>
                <a:t>Hướng Phát Triển Tương Lai (Roadmap)</a:t>
              </a:r>
            </a:p>
          </p:txBody>
        </p:sp>
        <p:sp>
          <p:nvSpPr>
            <p:cNvPr id="33" name="TextBox 33"/>
            <p:cNvSpPr txBox="1"/>
            <p:nvPr/>
          </p:nvSpPr>
          <p:spPr>
            <a:xfrm>
              <a:off x="6472047" y="1920875"/>
              <a:ext cx="4187599"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Kế hoạch mở rộng nâng cấp hệ thống trong môi trường sản xuất thực tế</a:t>
              </a:r>
            </a:p>
          </p:txBody>
        </p:sp>
        <p:sp>
          <p:nvSpPr>
            <p:cNvPr id="34" name="Rectangle 34"/>
            <p:cNvSpPr/>
            <p:nvPr/>
          </p:nvSpPr>
          <p:spPr>
            <a:xfrm>
              <a:off x="6429375" y="2333625"/>
              <a:ext cx="4857750" cy="1047750"/>
            </a:xfrm>
            <a:prstGeom prst="roundRect">
              <a:avLst>
                <a:gd name="adj" fmla="val 9091"/>
              </a:avLst>
            </a:prstGeom>
            <a:solidFill>
              <a:srgbClr val="ECFDF5"/>
            </a:solidFill>
            <a:ln w="9525">
              <a:solidFill>
                <a:srgbClr val="A7F3D0"/>
              </a:solidFill>
            </a:ln>
          </p:spPr>
          <p:txBody>
            <a:bodyPr/>
            <a:lstStyle/>
            <a:p>
              <a:endParaRPr lang="en-US"/>
            </a:p>
          </p:txBody>
        </p:sp>
        <p:sp>
          <p:nvSpPr>
            <p:cNvPr id="35" name="TextBox 35"/>
            <p:cNvSpPr txBox="1"/>
            <p:nvPr/>
          </p:nvSpPr>
          <p:spPr>
            <a:xfrm>
              <a:off x="6614160" y="2479675"/>
              <a:ext cx="4569255" cy="220028"/>
            </a:xfrm>
            <a:prstGeom prst="rect">
              <a:avLst/>
            </a:prstGeom>
            <a:noFill/>
            <a:ln>
              <a:noFill/>
            </a:ln>
          </p:spPr>
          <p:txBody>
            <a:bodyPr wrap="none" lIns="0" tIns="0" rIns="0" bIns="0" anchor="t" anchorCtr="0">
              <a:spAutoFit/>
            </a:bodyPr>
            <a:lstStyle/>
            <a:p>
              <a:pPr algn="l"/>
              <a:r>
                <a:rPr lang="vi" sz="1120" b="1" dirty="0">
                  <a:solidFill>
                    <a:srgbClr val="065F46"/>
                  </a:solidFill>
                  <a:latin typeface="+mn-lt"/>
                  <a:ea typeface="+mn-ea"/>
                  <a:cs typeface="+mn-cs"/>
                </a:rPr>
                <a:t>GIAI ĐOẠN 1: MỞ RỘNG MÔ HÌNH RFM &amp; CHUỖI THỜI GIAN</a:t>
              </a:r>
            </a:p>
          </p:txBody>
        </p:sp>
        <p:sp>
          <p:nvSpPr>
            <p:cNvPr id="36" name="TextBox 36"/>
            <p:cNvSpPr txBox="1"/>
            <p:nvPr/>
          </p:nvSpPr>
          <p:spPr>
            <a:xfrm>
              <a:off x="6614922" y="2749550"/>
              <a:ext cx="2901292"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Thu thập log giao dịch chi tiết theo ngày để tính:</a:t>
              </a:r>
            </a:p>
          </p:txBody>
        </p:sp>
        <p:sp>
          <p:nvSpPr>
            <p:cNvPr id="37" name="TextBox 37"/>
            <p:cNvSpPr txBox="1"/>
            <p:nvPr/>
          </p:nvSpPr>
          <p:spPr>
            <a:xfrm>
              <a:off x="6757797" y="2968625"/>
              <a:ext cx="4056662" cy="191643"/>
            </a:xfrm>
            <a:prstGeom prst="rect">
              <a:avLst/>
            </a:prstGeom>
            <a:noFill/>
            <a:ln>
              <a:noFill/>
            </a:ln>
          </p:spPr>
          <p:txBody>
            <a:bodyPr wrap="none" lIns="0" tIns="0" rIns="0" bIns="0" anchor="t" anchorCtr="0">
              <a:spAutoFit/>
            </a:bodyPr>
            <a:lstStyle/>
            <a:p>
              <a:pPr marL="78148" indent="-78148" algn="l">
                <a:buClr>
                  <a:srgbClr val="064E3B"/>
                </a:buClr>
                <a:buSzTx/>
                <a:buFontTx/>
                <a:buChar char="•"/>
              </a:pPr>
              <a:r>
                <a:rPr lang="vi" sz="980" b="1" dirty="0">
                  <a:solidFill>
                    <a:srgbClr val="064E3B"/>
                  </a:solidFill>
                  <a:latin typeface="+mn-lt"/>
                  <a:ea typeface="+mn-ea"/>
                  <a:cs typeface="+mn-cs"/>
                </a:rPr>
                <a:t>Recency</a:t>
              </a:r>
              <a:r>
                <a:rPr lang="vi" sz="980" dirty="0">
                  <a:solidFill>
                    <a:srgbClr val="064E3B"/>
                  </a:solidFill>
                  <a:latin typeface="+mn-lt"/>
                  <a:ea typeface="+mn-ea"/>
                  <a:cs typeface="+mn-cs"/>
                </a:rPr>
                <a:t> (Lần mua gần nhất), </a:t>
              </a:r>
              <a:r>
                <a:rPr lang="vi" sz="980" b="1" dirty="0">
                  <a:solidFill>
                    <a:srgbClr val="064E3B"/>
                  </a:solidFill>
                  <a:latin typeface="+mn-lt"/>
                  <a:ea typeface="+mn-ea"/>
                  <a:cs typeface="+mn-cs"/>
                </a:rPr>
                <a:t>Frequency</a:t>
              </a:r>
              <a:r>
                <a:rPr lang="vi" sz="980" dirty="0">
                  <a:solidFill>
                    <a:srgbClr val="064E3B"/>
                  </a:solidFill>
                  <a:latin typeface="+mn-lt"/>
                  <a:ea typeface="+mn-ea"/>
                  <a:cs typeface="+mn-cs"/>
                </a:rPr>
                <a:t> (Tần suất) và </a:t>
              </a:r>
              <a:r>
                <a:rPr lang="vi" sz="980" b="1" dirty="0">
                  <a:solidFill>
                    <a:srgbClr val="064E3B"/>
                  </a:solidFill>
                  <a:latin typeface="+mn-lt"/>
                  <a:ea typeface="+mn-ea"/>
                  <a:cs typeface="+mn-cs"/>
                </a:rPr>
                <a:t>Monetary</a:t>
              </a:r>
              <a:r>
                <a:rPr lang="vi" sz="980" dirty="0">
                  <a:solidFill>
                    <a:srgbClr val="064E3B"/>
                  </a:solidFill>
                  <a:latin typeface="+mn-lt"/>
                  <a:ea typeface="+mn-ea"/>
                  <a:cs typeface="+mn-cs"/>
                </a:rPr>
                <a:t>.</a:t>
              </a:r>
            </a:p>
          </p:txBody>
        </p:sp>
        <p:sp>
          <p:nvSpPr>
            <p:cNvPr id="38" name="TextBox 38"/>
            <p:cNvSpPr txBox="1"/>
            <p:nvPr/>
          </p:nvSpPr>
          <p:spPr>
            <a:xfrm>
              <a:off x="6615112" y="3171825"/>
              <a:ext cx="4065475" cy="176212"/>
            </a:xfrm>
            <a:prstGeom prst="rect">
              <a:avLst/>
            </a:prstGeom>
            <a:noFill/>
            <a:ln>
              <a:noFill/>
            </a:ln>
          </p:spPr>
          <p:txBody>
            <a:bodyPr wrap="none" lIns="0" tIns="0" rIns="0" bIns="0" anchor="t" anchorCtr="0">
              <a:spAutoFit/>
            </a:bodyPr>
            <a:lstStyle/>
            <a:p>
              <a:pPr algn="l"/>
              <a:r>
                <a:rPr lang="vi" sz="900" dirty="0">
                  <a:solidFill>
                    <a:srgbClr val="065F46"/>
                  </a:solidFill>
                  <a:latin typeface="+mn-lt"/>
                  <a:ea typeface="+mn-ea"/>
                  <a:cs typeface="+mn-cs"/>
                </a:rPr>
                <a:t>Nhận diện sớm các khách hàng bán sỉ có nguy cơ rời bỏ (Churn prediction).</a:t>
              </a:r>
            </a:p>
          </p:txBody>
        </p:sp>
        <p:sp>
          <p:nvSpPr>
            <p:cNvPr id="39" name="Rectangle 39"/>
            <p:cNvSpPr/>
            <p:nvPr/>
          </p:nvSpPr>
          <p:spPr>
            <a:xfrm>
              <a:off x="6429375" y="3571875"/>
              <a:ext cx="4857750" cy="1047750"/>
            </a:xfrm>
            <a:prstGeom prst="roundRect">
              <a:avLst>
                <a:gd name="adj" fmla="val 9091"/>
              </a:avLst>
            </a:prstGeom>
            <a:solidFill>
              <a:srgbClr val="EFF6FF"/>
            </a:solidFill>
            <a:ln w="9525">
              <a:solidFill>
                <a:srgbClr val="BFDBFE"/>
              </a:solidFill>
            </a:ln>
          </p:spPr>
          <p:txBody>
            <a:bodyPr/>
            <a:lstStyle/>
            <a:p>
              <a:endParaRPr lang="en-US"/>
            </a:p>
          </p:txBody>
        </p:sp>
        <p:sp>
          <p:nvSpPr>
            <p:cNvPr id="40" name="TextBox 40"/>
            <p:cNvSpPr txBox="1"/>
            <p:nvPr/>
          </p:nvSpPr>
          <p:spPr>
            <a:xfrm>
              <a:off x="6614160" y="3717925"/>
              <a:ext cx="5091405" cy="220028"/>
            </a:xfrm>
            <a:prstGeom prst="rect">
              <a:avLst/>
            </a:prstGeom>
            <a:noFill/>
            <a:ln>
              <a:noFill/>
            </a:ln>
          </p:spPr>
          <p:txBody>
            <a:bodyPr wrap="none" lIns="0" tIns="0" rIns="0" bIns="0" anchor="t" anchorCtr="0">
              <a:spAutoFit/>
            </a:bodyPr>
            <a:lstStyle/>
            <a:p>
              <a:pPr algn="l"/>
              <a:r>
                <a:rPr lang="vi" sz="1120" b="1" dirty="0">
                  <a:solidFill>
                    <a:srgbClr val="1D4ED8"/>
                  </a:solidFill>
                  <a:latin typeface="+mn-lt"/>
                  <a:ea typeface="+mn-ea"/>
                  <a:cs typeface="+mn-cs"/>
                </a:rPr>
                <a:t>GIAI ĐOẠN 2: THỬ NGHIỆM MÔ HÌNH NÂNG CAO (GMM / DBSCAN)</a:t>
              </a:r>
            </a:p>
          </p:txBody>
        </p:sp>
        <p:sp>
          <p:nvSpPr>
            <p:cNvPr id="41" name="TextBox 41"/>
            <p:cNvSpPr txBox="1"/>
            <p:nvPr/>
          </p:nvSpPr>
          <p:spPr>
            <a:xfrm>
              <a:off x="6614922" y="3987800"/>
              <a:ext cx="5023681"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Thử nghiệm </a:t>
              </a:r>
              <a:r>
                <a:rPr lang="vi" sz="980" b="1" dirty="0">
                  <a:solidFill>
                    <a:srgbClr val="334155"/>
                  </a:solidFill>
                  <a:latin typeface="+mn-lt"/>
                  <a:ea typeface="+mn-ea"/>
                  <a:cs typeface="+mn-cs"/>
                </a:rPr>
                <a:t>Gaussian Mixture Models (GMM)</a:t>
              </a:r>
              <a:r>
                <a:rPr lang="vi" sz="980" dirty="0">
                  <a:solidFill>
                    <a:srgbClr val="334155"/>
                  </a:solidFill>
                  <a:latin typeface="+mn-lt"/>
                  <a:ea typeface="+mn-ea"/>
                  <a:cs typeface="+mn-cs"/>
                </a:rPr>
                <a:t> để phân cụm mềm (Soft clustering),</a:t>
              </a:r>
            </a:p>
          </p:txBody>
        </p:sp>
        <p:sp>
          <p:nvSpPr>
            <p:cNvPr id="42" name="TextBox 42"/>
            <p:cNvSpPr txBox="1"/>
            <p:nvPr/>
          </p:nvSpPr>
          <p:spPr>
            <a:xfrm>
              <a:off x="6757797" y="4206875"/>
              <a:ext cx="3874963" cy="191643"/>
            </a:xfrm>
            <a:prstGeom prst="rect">
              <a:avLst/>
            </a:prstGeom>
            <a:noFill/>
            <a:ln>
              <a:noFill/>
            </a:ln>
          </p:spPr>
          <p:txBody>
            <a:bodyPr wrap="none" lIns="0" tIns="0" rIns="0" bIns="0" anchor="t" anchorCtr="0">
              <a:spAutoFit/>
            </a:bodyPr>
            <a:lstStyle/>
            <a:p>
              <a:pPr algn="l"/>
              <a:r>
                <a:rPr lang="vi" sz="980" dirty="0">
                  <a:solidFill>
                    <a:srgbClr val="1E40AF"/>
                  </a:solidFill>
                  <a:latin typeface="+mn-lt"/>
                  <a:ea typeface="+mn-ea"/>
                  <a:cs typeface="+mn-cs"/>
                </a:rPr>
                <a:t>cho phép một khách hàng thuộc về nhiều cụm với xác suất cụ thể.</a:t>
              </a:r>
            </a:p>
          </p:txBody>
        </p:sp>
        <p:sp>
          <p:nvSpPr>
            <p:cNvPr id="43" name="TextBox 43"/>
            <p:cNvSpPr txBox="1"/>
            <p:nvPr/>
          </p:nvSpPr>
          <p:spPr>
            <a:xfrm>
              <a:off x="6615112" y="4410075"/>
              <a:ext cx="4416505" cy="176212"/>
            </a:xfrm>
            <a:prstGeom prst="rect">
              <a:avLst/>
            </a:prstGeom>
            <a:noFill/>
            <a:ln>
              <a:noFill/>
            </a:ln>
          </p:spPr>
          <p:txBody>
            <a:bodyPr wrap="none" lIns="0" tIns="0" rIns="0" bIns="0" anchor="t" anchorCtr="0">
              <a:spAutoFit/>
            </a:bodyPr>
            <a:lstStyle/>
            <a:p>
              <a:pPr algn="l"/>
              <a:r>
                <a:rPr lang="vi" sz="900" dirty="0">
                  <a:solidFill>
                    <a:srgbClr val="1D4ED8"/>
                  </a:solidFill>
                  <a:latin typeface="+mn-lt"/>
                  <a:ea typeface="+mn-ea"/>
                  <a:cs typeface="+mn-cs"/>
                </a:rPr>
                <a:t>Thử nghiệm DBSCAN để tự động phát hiện và cô lập các điểm ngoại lệ dị thường.</a:t>
              </a:r>
            </a:p>
          </p:txBody>
        </p:sp>
        <p:sp>
          <p:nvSpPr>
            <p:cNvPr id="44" name="Rectangle 44"/>
            <p:cNvSpPr/>
            <p:nvPr/>
          </p:nvSpPr>
          <p:spPr>
            <a:xfrm>
              <a:off x="6429375" y="4810125"/>
              <a:ext cx="4857750" cy="1285875"/>
            </a:xfrm>
            <a:prstGeom prst="roundRect">
              <a:avLst>
                <a:gd name="adj" fmla="val 7407"/>
              </a:avLst>
            </a:prstGeom>
            <a:solidFill>
              <a:srgbClr val="FAF5FF"/>
            </a:solidFill>
            <a:ln w="9525">
              <a:solidFill>
                <a:srgbClr val="E9D5FF"/>
              </a:solidFill>
            </a:ln>
          </p:spPr>
          <p:txBody>
            <a:bodyPr/>
            <a:lstStyle/>
            <a:p>
              <a:endParaRPr lang="en-US"/>
            </a:p>
          </p:txBody>
        </p:sp>
        <p:sp>
          <p:nvSpPr>
            <p:cNvPr id="45" name="TextBox 45"/>
            <p:cNvSpPr txBox="1"/>
            <p:nvPr/>
          </p:nvSpPr>
          <p:spPr>
            <a:xfrm>
              <a:off x="6614160" y="4956175"/>
              <a:ext cx="4994291" cy="220028"/>
            </a:xfrm>
            <a:prstGeom prst="rect">
              <a:avLst/>
            </a:prstGeom>
            <a:noFill/>
            <a:ln>
              <a:noFill/>
            </a:ln>
          </p:spPr>
          <p:txBody>
            <a:bodyPr wrap="none" lIns="0" tIns="0" rIns="0" bIns="0" anchor="t" anchorCtr="0">
              <a:spAutoFit/>
            </a:bodyPr>
            <a:lstStyle/>
            <a:p>
              <a:pPr algn="l"/>
              <a:r>
                <a:rPr lang="vi" sz="1120" b="1" dirty="0">
                  <a:solidFill>
                    <a:srgbClr val="7C3AED"/>
                  </a:solidFill>
                  <a:latin typeface="+mn-lt"/>
                  <a:ea typeface="+mn-ea"/>
                  <a:cs typeface="+mn-cs"/>
                </a:rPr>
                <a:t>GIAI ĐOẠN 3: TỰ ĐỘNG HÓA TIẾP THỊ &amp; GỢI Ý (RECOMMENDER)</a:t>
              </a:r>
            </a:p>
          </p:txBody>
        </p:sp>
        <p:sp>
          <p:nvSpPr>
            <p:cNvPr id="46" name="TextBox 46"/>
            <p:cNvSpPr txBox="1"/>
            <p:nvPr/>
          </p:nvSpPr>
          <p:spPr>
            <a:xfrm>
              <a:off x="6614922" y="5226050"/>
              <a:ext cx="4091279"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Tích hợp hệ thống Recommendation Engine tự động gợi ý danh mục</a:t>
              </a:r>
            </a:p>
          </p:txBody>
        </p:sp>
        <p:sp>
          <p:nvSpPr>
            <p:cNvPr id="47" name="TextBox 47"/>
            <p:cNvSpPr txBox="1"/>
            <p:nvPr/>
          </p:nvSpPr>
          <p:spPr>
            <a:xfrm>
              <a:off x="6757797" y="5445125"/>
              <a:ext cx="3816439" cy="191643"/>
            </a:xfrm>
            <a:prstGeom prst="rect">
              <a:avLst/>
            </a:prstGeom>
            <a:noFill/>
            <a:ln>
              <a:noFill/>
            </a:ln>
          </p:spPr>
          <p:txBody>
            <a:bodyPr wrap="none" lIns="0" tIns="0" rIns="0" bIns="0" anchor="t" anchorCtr="0">
              <a:spAutoFit/>
            </a:bodyPr>
            <a:lstStyle/>
            <a:p>
              <a:pPr algn="l"/>
              <a:r>
                <a:rPr lang="vi" sz="980" dirty="0">
                  <a:solidFill>
                    <a:srgbClr val="6B21A8"/>
                  </a:solidFill>
                  <a:latin typeface="+mn-lt"/>
                  <a:ea typeface="+mn-ea"/>
                  <a:cs typeface="+mn-cs"/>
                </a:rPr>
                <a:t>hàng hóa cross-sell dựa trên hành vi chi tiêu của từng phân khúc.</a:t>
              </a:r>
            </a:p>
          </p:txBody>
        </p:sp>
        <p:sp>
          <p:nvSpPr>
            <p:cNvPr id="48" name="TextBox 48"/>
            <p:cNvSpPr txBox="1"/>
            <p:nvPr/>
          </p:nvSpPr>
          <p:spPr>
            <a:xfrm>
              <a:off x="6615112" y="5743575"/>
              <a:ext cx="4489262" cy="176212"/>
            </a:xfrm>
            <a:prstGeom prst="rect">
              <a:avLst/>
            </a:prstGeom>
            <a:noFill/>
            <a:ln>
              <a:noFill/>
            </a:ln>
          </p:spPr>
          <p:txBody>
            <a:bodyPr wrap="none" lIns="0" tIns="0" rIns="0" bIns="0" anchor="t" anchorCtr="0">
              <a:spAutoFit/>
            </a:bodyPr>
            <a:lstStyle/>
            <a:p>
              <a:pPr algn="l"/>
              <a:r>
                <a:rPr lang="vi" sz="900" b="1" dirty="0">
                  <a:solidFill>
                    <a:srgbClr val="7C3AED"/>
                  </a:solidFill>
                  <a:latin typeface="+mn-lt"/>
                  <a:ea typeface="+mn-ea"/>
                  <a:cs typeface="+mn-cs"/>
                </a:rPr>
                <a:t>➔ Biến đồ án học thuật thành giải pháp phần mềm doanh nghiệp thương mại.</a:t>
              </a:r>
            </a:p>
          </p:txBody>
        </p:sp>
      </p:grpSp>
      <p:grpSp>
        <p:nvGrpSpPr>
          <p:cNvPr id="53" name="footer"/>
          <p:cNvGrpSpPr/>
          <p:nvPr/>
        </p:nvGrpSpPr>
        <p:grpSpPr>
          <a:xfrm>
            <a:off x="661797" y="6429375"/>
            <a:ext cx="10868406" cy="264668"/>
            <a:chOff x="661797" y="6429375"/>
            <a:chExt cx="10868406" cy="264668"/>
          </a:xfrm>
        </p:grpSpPr>
        <p:sp>
          <p:nvSpPr>
            <p:cNvPr id="50" name="Line 50"/>
            <p:cNvSpPr/>
            <p:nvPr/>
          </p:nvSpPr>
          <p:spPr>
            <a:xfrm>
              <a:off x="666750" y="6429375"/>
              <a:ext cx="10858500" cy="9525"/>
            </a:xfrm>
            <a:custGeom>
              <a:avLst/>
              <a:gdLst/>
              <a:ahLst/>
              <a:cxnLst/>
              <a:rect l="l" t="t" r="r" b="b"/>
              <a:pathLst>
                <a:path w="10858500" h="9525">
                  <a:moveTo>
                    <a:pt x="0" y="0"/>
                  </a:moveTo>
                  <a:lnTo>
                    <a:pt x="10858500" y="0"/>
                  </a:lnTo>
                </a:path>
              </a:pathLst>
            </a:custGeom>
            <a:noFill/>
            <a:ln w="9525">
              <a:solidFill>
                <a:srgbClr val="E2E8F0"/>
              </a:solidFill>
            </a:ln>
          </p:spPr>
          <p:txBody>
            <a:bodyPr/>
            <a:lstStyle/>
            <a:p>
              <a:endParaRPr lang="en-US"/>
            </a:p>
          </p:txBody>
        </p:sp>
        <p:sp>
          <p:nvSpPr>
            <p:cNvPr id="51" name="TextBox 51"/>
            <p:cNvSpPr txBox="1"/>
            <p:nvPr/>
          </p:nvSpPr>
          <p:spPr>
            <a:xfrm>
              <a:off x="661797" y="6502400"/>
              <a:ext cx="5799743"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Đồ Án Machine Learning Phân Khúc Khách Hàng Bán Sỉ • Project 22 (UCI Wholesale Customers)</a:t>
              </a:r>
            </a:p>
          </p:txBody>
        </p:sp>
        <p:sp>
          <p:nvSpPr>
            <p:cNvPr id="52" name="TextBox 52"/>
            <p:cNvSpPr txBox="1"/>
            <p:nvPr/>
          </p:nvSpPr>
          <p:spPr>
            <a:xfrm>
              <a:off x="11116836" y="6502400"/>
              <a:ext cx="413367" cy="191643"/>
            </a:xfrm>
            <a:prstGeom prst="rect">
              <a:avLst/>
            </a:prstGeom>
            <a:noFill/>
            <a:ln>
              <a:noFill/>
            </a:ln>
          </p:spPr>
          <p:txBody>
            <a:bodyPr wrap="none" lIns="0" tIns="0" rIns="0" bIns="0" anchor="t" anchorCtr="0">
              <a:spAutoFit/>
            </a:bodyPr>
            <a:lstStyle/>
            <a:p>
              <a:pPr algn="r"/>
              <a:r>
                <a:rPr lang="vi" sz="980" b="1" dirty="0">
                  <a:solidFill>
                    <a:srgbClr val="475569"/>
                  </a:solidFill>
                  <a:latin typeface="+mn-lt"/>
                  <a:ea typeface="+mn-ea"/>
                  <a:cs typeface="+mn-cs"/>
                </a:rPr>
                <a:t>14 / 15</a:t>
              </a:r>
            </a:p>
          </p:txBody>
        </p:sp>
      </p:grpSp>
    </p:spTree>
  </p:cSld>
  <p:clrMapOvr>
    <a:masterClrMapping/>
  </p:clrMapOvr>
  <mc:AlternateContent xmlns:mc="http://schemas.openxmlformats.org/markup-compatibility/2006" xmlns:p14="http://schemas.microsoft.com/office/powerpoint/2010/main">
    <mc:Choice Requires="p14">
      <p:transition spd="med" p14:dur="700">
        <p14:reveal dir="r"/>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400"/>
                            </p:stCondLst>
                            <p:childTnLst>
                              <p:par>
                                <p:cTn id="9" presetID="2" presetClass="entr" presetSubtype="4" fill="hold" nodeType="afterEffect">
                                  <p:stCondLst>
                                    <p:cond delay="50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700" fill="hold"/>
                                        <p:tgtEl>
                                          <p:spTgt spid="29"/>
                                        </p:tgtEl>
                                        <p:attrNameLst>
                                          <p:attrName>ppt_x</p:attrName>
                                        </p:attrNameLst>
                                      </p:cBhvr>
                                      <p:tavLst>
                                        <p:tav tm="0">
                                          <p:val>
                                            <p:strVal val="#ppt_x"/>
                                          </p:val>
                                        </p:tav>
                                        <p:tav tm="100000">
                                          <p:val>
                                            <p:strVal val="#ppt_x"/>
                                          </p:val>
                                        </p:tav>
                                      </p:tavLst>
                                    </p:anim>
                                    <p:anim calcmode="lin" valueType="num">
                                      <p:cBhvr additive="base">
                                        <p:cTn id="12" dur="700" fill="hold"/>
                                        <p:tgtEl>
                                          <p:spTgt spid="29"/>
                                        </p:tgtEl>
                                        <p:attrNameLst>
                                          <p:attrName>ppt_y</p:attrName>
                                        </p:attrNameLst>
                                      </p:cBhvr>
                                      <p:tavLst>
                                        <p:tav tm="0">
                                          <p:val>
                                            <p:strVal val="1+#ppt_h/2"/>
                                          </p:val>
                                        </p:tav>
                                        <p:tav tm="100000">
                                          <p:val>
                                            <p:strVal val="#ppt_y"/>
                                          </p:val>
                                        </p:tav>
                                      </p:tavLst>
                                    </p:anim>
                                  </p:childTnLst>
                                </p:cTn>
                              </p:par>
                            </p:childTnLst>
                          </p:cTn>
                        </p:par>
                        <p:par>
                          <p:cTn id="13" fill="hold">
                            <p:stCondLst>
                              <p:cond delay="1600"/>
                            </p:stCondLst>
                            <p:childTnLst>
                              <p:par>
                                <p:cTn id="14" presetID="2" presetClass="entr" presetSubtype="4" fill="hold" nodeType="afterEffect">
                                  <p:stCondLst>
                                    <p:cond delay="500"/>
                                  </p:stCondLst>
                                  <p:childTnLst>
                                    <p:set>
                                      <p:cBhvr>
                                        <p:cTn id="15" dur="1" fill="hold">
                                          <p:stCondLst>
                                            <p:cond delay="0"/>
                                          </p:stCondLst>
                                        </p:cTn>
                                        <p:tgtEl>
                                          <p:spTgt spid="49"/>
                                        </p:tgtEl>
                                        <p:attrNameLst>
                                          <p:attrName>style.visibility</p:attrName>
                                        </p:attrNameLst>
                                      </p:cBhvr>
                                      <p:to>
                                        <p:strVal val="visible"/>
                                      </p:to>
                                    </p:set>
                                    <p:anim calcmode="lin" valueType="num">
                                      <p:cBhvr additive="base">
                                        <p:cTn id="16" dur="700" fill="hold"/>
                                        <p:tgtEl>
                                          <p:spTgt spid="49"/>
                                        </p:tgtEl>
                                        <p:attrNameLst>
                                          <p:attrName>ppt_x</p:attrName>
                                        </p:attrNameLst>
                                      </p:cBhvr>
                                      <p:tavLst>
                                        <p:tav tm="0">
                                          <p:val>
                                            <p:strVal val="#ppt_x"/>
                                          </p:val>
                                        </p:tav>
                                        <p:tav tm="100000">
                                          <p:val>
                                            <p:strVal val="#ppt_x"/>
                                          </p:val>
                                        </p:tav>
                                      </p:tavLst>
                                    </p:anim>
                                    <p:anim calcmode="lin" valueType="num">
                                      <p:cBhvr additive="base">
                                        <p:cTn id="17" dur="700" fill="hold"/>
                                        <p:tgtEl>
                                          <p:spTgt spid="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page-background"/>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8FAFC"/>
            </a:solidFill>
            <a:ln>
              <a:noFill/>
            </a:ln>
          </p:spPr>
          <p:txBody>
            <a:bodyPr/>
            <a:lstStyle/>
            <a:p>
              <a:endParaRPr lang="en-US"/>
            </a:p>
          </p:txBody>
        </p:sp>
        <p:sp>
          <p:nvSpPr>
            <p:cNvPr id="3" name="Rectangle 3"/>
            <p:cNvSpPr/>
            <p:nvPr/>
          </p:nvSpPr>
          <p:spPr>
            <a:xfrm>
              <a:off x="0" y="0"/>
              <a:ext cx="12192000" cy="57150"/>
            </a:xfrm>
            <a:prstGeom prst="rect">
              <a:avLst/>
            </a:prstGeom>
            <a:gradFill>
              <a:gsLst>
                <a:gs pos="0">
                  <a:srgbClr val="1E3A8A"/>
                </a:gs>
                <a:gs pos="50000">
                  <a:schemeClr val="accent1"/>
                </a:gs>
                <a:gs pos="100000">
                  <a:srgbClr val="0EA5E9"/>
                </a:gs>
              </a:gsLst>
              <a:lin ang="0" scaled="1"/>
            </a:gradFill>
            <a:ln>
              <a:noFill/>
            </a:ln>
          </p:spPr>
          <p:txBody>
            <a:bodyPr/>
            <a:lstStyle/>
            <a:p>
              <a:endParaRPr lang="en-US"/>
            </a:p>
          </p:txBody>
        </p:sp>
      </p:grpSp>
      <p:grpSp>
        <p:nvGrpSpPr>
          <p:cNvPr id="9" name="header"/>
          <p:cNvGrpSpPr/>
          <p:nvPr/>
        </p:nvGrpSpPr>
        <p:grpSpPr>
          <a:xfrm>
            <a:off x="654558" y="304800"/>
            <a:ext cx="7641632" cy="899478"/>
            <a:chOff x="654558" y="304800"/>
            <a:chExt cx="7641632" cy="899478"/>
          </a:xfrm>
        </p:grpSpPr>
        <p:sp>
          <p:nvSpPr>
            <p:cNvPr id="5" name="Rectangle 5"/>
            <p:cNvSpPr/>
            <p:nvPr/>
          </p:nvSpPr>
          <p:spPr>
            <a:xfrm>
              <a:off x="666750" y="304800"/>
              <a:ext cx="2171700" cy="247650"/>
            </a:xfrm>
            <a:prstGeom prst="roundRect">
              <a:avLst>
                <a:gd name="adj" fmla="val 23077"/>
              </a:avLst>
            </a:prstGeom>
            <a:solidFill>
              <a:srgbClr val="EFF6FF"/>
            </a:solidFill>
            <a:ln w="9525">
              <a:solidFill>
                <a:srgbClr val="BFDBFE"/>
              </a:solidFill>
            </a:ln>
          </p:spPr>
          <p:txBody>
            <a:bodyPr/>
            <a:lstStyle/>
            <a:p>
              <a:endParaRPr lang="en-US"/>
            </a:p>
          </p:txBody>
        </p:sp>
        <p:sp>
          <p:nvSpPr>
            <p:cNvPr id="6" name="TextBox 6"/>
            <p:cNvSpPr txBox="1"/>
            <p:nvPr/>
          </p:nvSpPr>
          <p:spPr>
            <a:xfrm>
              <a:off x="874465" y="365125"/>
              <a:ext cx="1756270" cy="161925"/>
            </a:xfrm>
            <a:prstGeom prst="rect">
              <a:avLst/>
            </a:prstGeom>
            <a:noFill/>
            <a:ln>
              <a:noFill/>
            </a:ln>
          </p:spPr>
          <p:txBody>
            <a:bodyPr wrap="none" lIns="0" tIns="0" rIns="0" bIns="0" anchor="t" anchorCtr="0">
              <a:spAutoFit/>
            </a:bodyPr>
            <a:lstStyle/>
            <a:p>
              <a:pPr algn="ctr"/>
              <a:r>
                <a:rPr lang="vi" sz="820" b="1" spc="75" dirty="0">
                  <a:solidFill>
                    <a:srgbClr val="1D4ED8"/>
                  </a:solidFill>
                  <a:latin typeface="+mn-lt"/>
                  <a:ea typeface="+mn-ea"/>
                  <a:cs typeface="+mn-cs"/>
                </a:rPr>
                <a:t>KẾT LUẬN &amp;AMP; HỎI ĐÁP</a:t>
              </a:r>
            </a:p>
          </p:txBody>
        </p:sp>
        <p:sp>
          <p:nvSpPr>
            <p:cNvPr id="7" name="TextBox 7"/>
            <p:cNvSpPr txBox="1"/>
            <p:nvPr/>
          </p:nvSpPr>
          <p:spPr>
            <a:xfrm>
              <a:off x="654558" y="584200"/>
              <a:ext cx="7641632" cy="469392"/>
            </a:xfrm>
            <a:prstGeom prst="rect">
              <a:avLst/>
            </a:prstGeom>
            <a:noFill/>
            <a:ln>
              <a:noFill/>
            </a:ln>
          </p:spPr>
          <p:txBody>
            <a:bodyPr wrap="none" lIns="0" tIns="0" rIns="0" bIns="0" anchor="t" anchorCtr="0">
              <a:spAutoFit/>
            </a:bodyPr>
            <a:lstStyle/>
            <a:p>
              <a:pPr algn="l"/>
              <a:r>
                <a:rPr lang="vi" sz="2400" b="1" dirty="0">
                  <a:solidFill>
                    <a:srgbClr val="0F172A"/>
                  </a:solidFill>
                  <a:latin typeface="+mn-lt"/>
                  <a:ea typeface="+mn-ea"/>
                  <a:cs typeface="+mn-cs"/>
                </a:rPr>
                <a:t>Tổng Kết Đồ Án &amp; Phiên Trao Đổi (Q&amp;A Session)</a:t>
              </a:r>
            </a:p>
          </p:txBody>
        </p:sp>
        <p:sp>
          <p:nvSpPr>
            <p:cNvPr id="8" name="TextBox 8"/>
            <p:cNvSpPr txBox="1"/>
            <p:nvPr/>
          </p:nvSpPr>
          <p:spPr>
            <a:xfrm>
              <a:off x="661035" y="984250"/>
              <a:ext cx="5548643" cy="220028"/>
            </a:xfrm>
            <a:prstGeom prst="rect">
              <a:avLst/>
            </a:prstGeom>
            <a:noFill/>
            <a:ln>
              <a:noFill/>
            </a:ln>
          </p:spPr>
          <p:txBody>
            <a:bodyPr wrap="none" lIns="0" tIns="0" rIns="0" bIns="0" anchor="t" anchorCtr="0">
              <a:spAutoFit/>
            </a:bodyPr>
            <a:lstStyle/>
            <a:p>
              <a:pPr algn="l"/>
              <a:r>
                <a:rPr lang="vi" sz="1120" dirty="0">
                  <a:solidFill>
                    <a:srgbClr val="475569"/>
                  </a:solidFill>
                  <a:latin typeface="+mn-lt"/>
                  <a:ea typeface="+mn-ea"/>
                  <a:cs typeface="+mn-cs"/>
                </a:rPr>
                <a:t>Khẳng định giá trị học thuật, tính ứng dụng thực tiễn và sẵn sàng giải đáp thắc mắc</a:t>
              </a:r>
            </a:p>
          </p:txBody>
        </p:sp>
      </p:grpSp>
      <p:grpSp>
        <p:nvGrpSpPr>
          <p:cNvPr id="46" name="conclusion-summary"/>
          <p:cNvGrpSpPr/>
          <p:nvPr/>
        </p:nvGrpSpPr>
        <p:grpSpPr>
          <a:xfrm>
            <a:off x="666750" y="1428750"/>
            <a:ext cx="10858500" cy="3095625"/>
            <a:chOff x="666750" y="1428750"/>
            <a:chExt cx="10858500" cy="3095625"/>
          </a:xfrm>
        </p:grpSpPr>
        <p:sp>
          <p:nvSpPr>
            <p:cNvPr id="10" name="Rectangle 10"/>
            <p:cNvSpPr/>
            <p:nvPr/>
          </p:nvSpPr>
          <p:spPr>
            <a:xfrm>
              <a:off x="666750" y="1428750"/>
              <a:ext cx="10858500" cy="1047750"/>
            </a:xfrm>
            <a:prstGeom prst="roundRect">
              <a:avLst>
                <a:gd name="adj" fmla="val 12727"/>
              </a:avLst>
            </a:prstGeom>
            <a:solidFill>
              <a:srgbClr val="1E293B"/>
            </a:solidFill>
            <a:ln>
              <a:noFill/>
            </a:ln>
          </p:spPr>
          <p:txBody>
            <a:bodyPr/>
            <a:lstStyle/>
            <a:p>
              <a:endParaRPr lang="en-US"/>
            </a:p>
          </p:txBody>
        </p:sp>
        <p:sp>
          <p:nvSpPr>
            <p:cNvPr id="11" name="TextBox 11"/>
            <p:cNvSpPr txBox="1"/>
            <p:nvPr/>
          </p:nvSpPr>
          <p:spPr>
            <a:xfrm>
              <a:off x="947547" y="1682750"/>
              <a:ext cx="2364895" cy="191643"/>
            </a:xfrm>
            <a:prstGeom prst="rect">
              <a:avLst/>
            </a:prstGeom>
            <a:noFill/>
            <a:ln>
              <a:noFill/>
            </a:ln>
          </p:spPr>
          <p:txBody>
            <a:bodyPr wrap="none" lIns="0" tIns="0" rIns="0" bIns="0" anchor="t" anchorCtr="0">
              <a:spAutoFit/>
            </a:bodyPr>
            <a:lstStyle/>
            <a:p>
              <a:pPr algn="l"/>
              <a:r>
                <a:rPr lang="vi" sz="980" b="1" spc="75" dirty="0">
                  <a:solidFill>
                    <a:srgbClr val="60A5FA"/>
                  </a:solidFill>
                  <a:latin typeface="+mn-lt"/>
                  <a:ea typeface="+mn-ea"/>
                  <a:cs typeface="+mn-cs"/>
                </a:rPr>
                <a:t>TỔNG KẾT ĐỒ ÁN PROJECT 22</a:t>
              </a:r>
            </a:p>
          </p:txBody>
        </p:sp>
        <p:sp>
          <p:nvSpPr>
            <p:cNvPr id="12" name="TextBox 12"/>
            <p:cNvSpPr txBox="1"/>
            <p:nvPr/>
          </p:nvSpPr>
          <p:spPr>
            <a:xfrm>
              <a:off x="943356" y="1914525"/>
              <a:ext cx="8462017" cy="352044"/>
            </a:xfrm>
            <a:prstGeom prst="rect">
              <a:avLst/>
            </a:prstGeom>
            <a:noFill/>
            <a:ln>
              <a:noFill/>
            </a:ln>
          </p:spPr>
          <p:txBody>
            <a:bodyPr wrap="none" lIns="0" tIns="0" rIns="0" bIns="0" anchor="t" anchorCtr="0">
              <a:spAutoFit/>
            </a:bodyPr>
            <a:lstStyle/>
            <a:p>
              <a:pPr algn="l"/>
              <a:r>
                <a:rPr lang="vi" sz="1800" b="1" dirty="0">
                  <a:solidFill>
                    <a:srgbClr val="FFFFFF"/>
                  </a:solidFill>
                  <a:latin typeface="+mn-lt"/>
                  <a:ea typeface="+mn-ea"/>
                  <a:cs typeface="+mn-cs"/>
                </a:rPr>
                <a:t>Hoàn Thành Toàn Diện Mục Tiêu Từ Nghiên Cứu Đến Triển Khai Thực Tế</a:t>
              </a:r>
            </a:p>
          </p:txBody>
        </p:sp>
        <p:sp>
          <p:nvSpPr>
            <p:cNvPr id="13" name="TextBox 13"/>
            <p:cNvSpPr txBox="1"/>
            <p:nvPr/>
          </p:nvSpPr>
          <p:spPr>
            <a:xfrm>
              <a:off x="947166" y="2235200"/>
              <a:ext cx="6600566" cy="205359"/>
            </a:xfrm>
            <a:prstGeom prst="rect">
              <a:avLst/>
            </a:prstGeom>
            <a:noFill/>
            <a:ln>
              <a:noFill/>
            </a:ln>
          </p:spPr>
          <p:txBody>
            <a:bodyPr wrap="none" lIns="0" tIns="0" rIns="0" bIns="0" anchor="t" anchorCtr="0">
              <a:spAutoFit/>
            </a:bodyPr>
            <a:lstStyle/>
            <a:p>
              <a:pPr algn="l"/>
              <a:r>
                <a:rPr lang="vi" sz="1050" dirty="0">
                  <a:solidFill>
                    <a:srgbClr val="94A3B8"/>
                  </a:solidFill>
                  <a:latin typeface="+mn-lt"/>
                  <a:ea typeface="+mn-ea"/>
                  <a:cs typeface="+mn-cs"/>
                </a:rPr>
                <a:t>Kết hợp chặt chẽ giữa học thuật chuẩn mực, kỹ thuật chống rò rỉ dữ liệu và kỹ năng công nghệ phần mềm</a:t>
              </a:r>
            </a:p>
          </p:txBody>
        </p:sp>
        <p:sp>
          <p:nvSpPr>
            <p:cNvPr id="14" name="Rectangle 14"/>
            <p:cNvSpPr/>
            <p:nvPr/>
          </p:nvSpPr>
          <p:spPr>
            <a:xfrm>
              <a:off x="666750" y="2667000"/>
              <a:ext cx="2524125" cy="1857375"/>
            </a:xfrm>
            <a:prstGeom prst="roundRect">
              <a:avLst>
                <a:gd name="adj" fmla="val 6154"/>
              </a:avLst>
            </a:prstGeom>
            <a:solidFill>
              <a:schemeClr val="lt1"/>
            </a:solidFill>
            <a:ln w="14288">
              <a:solidFill>
                <a:srgbClr val="E2E8F0"/>
              </a:solidFill>
            </a:ln>
          </p:spPr>
          <p:txBody>
            <a:bodyPr/>
            <a:lstStyle/>
            <a:p>
              <a:endParaRPr lang="en-US"/>
            </a:p>
          </p:txBody>
        </p:sp>
        <p:sp>
          <p:nvSpPr>
            <p:cNvPr id="15" name="Rectangle 15"/>
            <p:cNvSpPr/>
            <p:nvPr/>
          </p:nvSpPr>
          <p:spPr>
            <a:xfrm>
              <a:off x="666750" y="2667000"/>
              <a:ext cx="2524125" cy="38100"/>
            </a:xfrm>
            <a:prstGeom prst="roundRect">
              <a:avLst>
                <a:gd name="adj" fmla="val 50000"/>
              </a:avLst>
            </a:prstGeom>
            <a:solidFill>
              <a:schemeClr val="accent1"/>
            </a:solidFill>
            <a:ln>
              <a:noFill/>
            </a:ln>
          </p:spPr>
          <p:txBody>
            <a:bodyPr/>
            <a:lstStyle/>
            <a:p>
              <a:endParaRPr lang="en-US"/>
            </a:p>
          </p:txBody>
        </p:sp>
        <p:sp>
          <p:nvSpPr>
            <p:cNvPr id="16" name="TextBox 16"/>
            <p:cNvSpPr txBox="1"/>
            <p:nvPr/>
          </p:nvSpPr>
          <p:spPr>
            <a:xfrm>
              <a:off x="899541" y="2873375"/>
              <a:ext cx="1819679" cy="205359"/>
            </a:xfrm>
            <a:prstGeom prst="rect">
              <a:avLst/>
            </a:prstGeom>
            <a:noFill/>
            <a:ln>
              <a:noFill/>
            </a:ln>
          </p:spPr>
          <p:txBody>
            <a:bodyPr wrap="none" lIns="0" tIns="0" rIns="0" bIns="0" anchor="t" anchorCtr="0">
              <a:spAutoFit/>
            </a:bodyPr>
            <a:lstStyle/>
            <a:p>
              <a:pPr algn="l"/>
              <a:r>
                <a:rPr lang="vi" sz="1050" b="1" dirty="0">
                  <a:solidFill>
                    <a:srgbClr val="1E40AF"/>
                  </a:solidFill>
                  <a:latin typeface="+mn-lt"/>
                  <a:ea typeface="+mn-ea"/>
                  <a:cs typeface="+mn-cs"/>
                </a:rPr>
                <a:t>1. CHUẨN MỰC PIPELINE</a:t>
              </a:r>
            </a:p>
          </p:txBody>
        </p:sp>
        <p:sp>
          <p:nvSpPr>
            <p:cNvPr id="17" name="TextBox 17"/>
            <p:cNvSpPr txBox="1"/>
            <p:nvPr/>
          </p:nvSpPr>
          <p:spPr>
            <a:xfrm>
              <a:off x="899160" y="3146425"/>
              <a:ext cx="1680300" cy="220028"/>
            </a:xfrm>
            <a:prstGeom prst="rect">
              <a:avLst/>
            </a:prstGeom>
            <a:noFill/>
            <a:ln>
              <a:noFill/>
            </a:ln>
          </p:spPr>
          <p:txBody>
            <a:bodyPr wrap="none" lIns="0" tIns="0" rIns="0" bIns="0" anchor="t" anchorCtr="0">
              <a:spAutoFit/>
            </a:bodyPr>
            <a:lstStyle/>
            <a:p>
              <a:pPr algn="l"/>
              <a:r>
                <a:rPr lang="vi" sz="1120" b="1" dirty="0">
                  <a:solidFill>
                    <a:srgbClr val="0F172A"/>
                  </a:solidFill>
                  <a:latin typeface="+mn-lt"/>
                  <a:ea typeface="+mn-ea"/>
                  <a:cs typeface="+mn-cs"/>
                </a:rPr>
                <a:t>Chống Rò Rỉ Tuyệt Đối</a:t>
              </a:r>
            </a:p>
          </p:txBody>
        </p:sp>
        <p:sp>
          <p:nvSpPr>
            <p:cNvPr id="18" name="TextBox 18"/>
            <p:cNvSpPr txBox="1"/>
            <p:nvPr/>
          </p:nvSpPr>
          <p:spPr>
            <a:xfrm>
              <a:off x="899922" y="3444875"/>
              <a:ext cx="1574684"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Split 60/20/20 trước khi fit</a:t>
              </a:r>
            </a:p>
          </p:txBody>
        </p:sp>
        <p:sp>
          <p:nvSpPr>
            <p:cNvPr id="19" name="TextBox 19"/>
            <p:cNvSpPr txBox="1"/>
            <p:nvPr/>
          </p:nvSpPr>
          <p:spPr>
            <a:xfrm>
              <a:off x="899922" y="3683000"/>
              <a:ext cx="1722502"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log1p nén Skewness 92.6%</a:t>
              </a:r>
            </a:p>
          </p:txBody>
        </p:sp>
        <p:sp>
          <p:nvSpPr>
            <p:cNvPr id="20" name="TextBox 20"/>
            <p:cNvSpPr txBox="1"/>
            <p:nvPr/>
          </p:nvSpPr>
          <p:spPr>
            <a:xfrm>
              <a:off x="899922" y="3921125"/>
              <a:ext cx="1896842"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Tập test độc lập đánh giá 1 lần</a:t>
              </a:r>
            </a:p>
          </p:txBody>
        </p:sp>
        <p:sp>
          <p:nvSpPr>
            <p:cNvPr id="21" name="TextBox 21"/>
            <p:cNvSpPr txBox="1"/>
            <p:nvPr/>
          </p:nvSpPr>
          <p:spPr>
            <a:xfrm>
              <a:off x="900112" y="4219575"/>
              <a:ext cx="1871278" cy="176212"/>
            </a:xfrm>
            <a:prstGeom prst="rect">
              <a:avLst/>
            </a:prstGeom>
            <a:noFill/>
            <a:ln>
              <a:noFill/>
            </a:ln>
          </p:spPr>
          <p:txBody>
            <a:bodyPr wrap="none" lIns="0" tIns="0" rIns="0" bIns="0" anchor="t" anchorCtr="0">
              <a:spAutoFit/>
            </a:bodyPr>
            <a:lstStyle/>
            <a:p>
              <a:pPr algn="l"/>
              <a:r>
                <a:rPr lang="vi" sz="900" b="1" dirty="0">
                  <a:solidFill>
                    <a:srgbClr val="059669"/>
                  </a:solidFill>
                  <a:latin typeface="+mn-lt"/>
                  <a:ea typeface="+mn-ea"/>
                  <a:cs typeface="+mn-cs"/>
                </a:rPr>
                <a:t>✓ Đạt chuẩn học thuật cao nhất</a:t>
              </a:r>
            </a:p>
          </p:txBody>
        </p:sp>
        <p:sp>
          <p:nvSpPr>
            <p:cNvPr id="22" name="Rectangle 22"/>
            <p:cNvSpPr/>
            <p:nvPr/>
          </p:nvSpPr>
          <p:spPr>
            <a:xfrm>
              <a:off x="3429000" y="2667000"/>
              <a:ext cx="2524125" cy="1857375"/>
            </a:xfrm>
            <a:prstGeom prst="roundRect">
              <a:avLst>
                <a:gd name="adj" fmla="val 6154"/>
              </a:avLst>
            </a:prstGeom>
            <a:solidFill>
              <a:schemeClr val="lt1"/>
            </a:solidFill>
            <a:ln w="14288">
              <a:solidFill>
                <a:srgbClr val="E2E8F0"/>
              </a:solidFill>
            </a:ln>
          </p:spPr>
          <p:txBody>
            <a:bodyPr/>
            <a:lstStyle/>
            <a:p>
              <a:endParaRPr lang="en-US"/>
            </a:p>
          </p:txBody>
        </p:sp>
        <p:sp>
          <p:nvSpPr>
            <p:cNvPr id="23" name="Rectangle 23"/>
            <p:cNvSpPr/>
            <p:nvPr/>
          </p:nvSpPr>
          <p:spPr>
            <a:xfrm>
              <a:off x="3429000" y="2667000"/>
              <a:ext cx="2524125" cy="38100"/>
            </a:xfrm>
            <a:prstGeom prst="roundRect">
              <a:avLst>
                <a:gd name="adj" fmla="val 50000"/>
              </a:avLst>
            </a:prstGeom>
            <a:solidFill>
              <a:schemeClr val="accent2"/>
            </a:solidFill>
            <a:ln>
              <a:noFill/>
            </a:ln>
          </p:spPr>
          <p:txBody>
            <a:bodyPr/>
            <a:lstStyle/>
            <a:p>
              <a:endParaRPr lang="en-US"/>
            </a:p>
          </p:txBody>
        </p:sp>
        <p:sp>
          <p:nvSpPr>
            <p:cNvPr id="24" name="TextBox 24"/>
            <p:cNvSpPr txBox="1"/>
            <p:nvPr/>
          </p:nvSpPr>
          <p:spPr>
            <a:xfrm>
              <a:off x="3661791" y="2873375"/>
              <a:ext cx="1421268" cy="205359"/>
            </a:xfrm>
            <a:prstGeom prst="rect">
              <a:avLst/>
            </a:prstGeom>
            <a:noFill/>
            <a:ln>
              <a:noFill/>
            </a:ln>
          </p:spPr>
          <p:txBody>
            <a:bodyPr wrap="none" lIns="0" tIns="0" rIns="0" bIns="0" anchor="t" anchorCtr="0">
              <a:spAutoFit/>
            </a:bodyPr>
            <a:lstStyle/>
            <a:p>
              <a:pPr algn="l"/>
              <a:r>
                <a:rPr lang="vi" sz="1050" b="1" dirty="0">
                  <a:solidFill>
                    <a:srgbClr val="065F46"/>
                  </a:solidFill>
                  <a:latin typeface="+mn-lt"/>
                  <a:ea typeface="+mn-ea"/>
                  <a:cs typeface="+mn-cs"/>
                </a:rPr>
                <a:t>2. K-MEANS TỐI ƯU</a:t>
              </a:r>
            </a:p>
          </p:txBody>
        </p:sp>
        <p:sp>
          <p:nvSpPr>
            <p:cNvPr id="25" name="TextBox 25"/>
            <p:cNvSpPr txBox="1"/>
            <p:nvPr/>
          </p:nvSpPr>
          <p:spPr>
            <a:xfrm>
              <a:off x="3661410" y="3146425"/>
              <a:ext cx="1958894" cy="220028"/>
            </a:xfrm>
            <a:prstGeom prst="rect">
              <a:avLst/>
            </a:prstGeom>
            <a:noFill/>
            <a:ln>
              <a:noFill/>
            </a:ln>
          </p:spPr>
          <p:txBody>
            <a:bodyPr wrap="none" lIns="0" tIns="0" rIns="0" bIns="0" anchor="t" anchorCtr="0">
              <a:spAutoFit/>
            </a:bodyPr>
            <a:lstStyle/>
            <a:p>
              <a:pPr algn="l"/>
              <a:r>
                <a:rPr lang="vi" sz="1120" b="1" dirty="0">
                  <a:solidFill>
                    <a:srgbClr val="0F172A"/>
                  </a:solidFill>
                  <a:latin typeface="+mn-lt"/>
                  <a:ea typeface="+mn-ea"/>
                  <a:cs typeface="+mn-cs"/>
                </a:rPr>
                <a:t>K=2 Cụm Đóng Băng D011</a:t>
              </a:r>
            </a:p>
          </p:txBody>
        </p:sp>
        <p:sp>
          <p:nvSpPr>
            <p:cNvPr id="26" name="TextBox 26"/>
            <p:cNvSpPr txBox="1"/>
            <p:nvPr/>
          </p:nvSpPr>
          <p:spPr>
            <a:xfrm>
              <a:off x="3662172" y="3444875"/>
              <a:ext cx="1781032"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Silhouette Validation = 0.307</a:t>
              </a:r>
            </a:p>
          </p:txBody>
        </p:sp>
        <p:sp>
          <p:nvSpPr>
            <p:cNvPr id="27" name="TextBox 27"/>
            <p:cNvSpPr txBox="1"/>
            <p:nvPr/>
          </p:nvSpPr>
          <p:spPr>
            <a:xfrm>
              <a:off x="3662172" y="3683000"/>
              <a:ext cx="1919637"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Độ ổn định ARI 10 seed: 0.997</a:t>
              </a:r>
            </a:p>
          </p:txBody>
        </p:sp>
        <p:sp>
          <p:nvSpPr>
            <p:cNvPr id="28" name="TextBox 28"/>
            <p:cNvSpPr txBox="1"/>
            <p:nvPr/>
          </p:nvSpPr>
          <p:spPr>
            <a:xfrm>
              <a:off x="3662172" y="3921125"/>
              <a:ext cx="1533571"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Silhouette Test = 0.2389</a:t>
              </a:r>
            </a:p>
          </p:txBody>
        </p:sp>
        <p:sp>
          <p:nvSpPr>
            <p:cNvPr id="29" name="TextBox 29"/>
            <p:cNvSpPr txBox="1"/>
            <p:nvPr/>
          </p:nvSpPr>
          <p:spPr>
            <a:xfrm>
              <a:off x="3662362" y="4219575"/>
              <a:ext cx="1730099" cy="176212"/>
            </a:xfrm>
            <a:prstGeom prst="rect">
              <a:avLst/>
            </a:prstGeom>
            <a:noFill/>
            <a:ln>
              <a:noFill/>
            </a:ln>
          </p:spPr>
          <p:txBody>
            <a:bodyPr wrap="none" lIns="0" tIns="0" rIns="0" bIns="0" anchor="t" anchorCtr="0">
              <a:spAutoFit/>
            </a:bodyPr>
            <a:lstStyle/>
            <a:p>
              <a:pPr algn="l"/>
              <a:r>
                <a:rPr lang="vi" sz="900" b="1" dirty="0">
                  <a:solidFill>
                    <a:srgbClr val="059669"/>
                  </a:solidFill>
                  <a:latin typeface="+mn-lt"/>
                  <a:ea typeface="+mn-ea"/>
                  <a:cs typeface="+mn-cs"/>
                </a:rPr>
                <a:t>✓ Không phụ thuộc vào seed</a:t>
              </a:r>
            </a:p>
          </p:txBody>
        </p:sp>
        <p:sp>
          <p:nvSpPr>
            <p:cNvPr id="30" name="Rectangle 30"/>
            <p:cNvSpPr/>
            <p:nvPr/>
          </p:nvSpPr>
          <p:spPr>
            <a:xfrm>
              <a:off x="6191250" y="2667000"/>
              <a:ext cx="2524125" cy="1857375"/>
            </a:xfrm>
            <a:prstGeom prst="roundRect">
              <a:avLst>
                <a:gd name="adj" fmla="val 6154"/>
              </a:avLst>
            </a:prstGeom>
            <a:solidFill>
              <a:schemeClr val="lt1"/>
            </a:solidFill>
            <a:ln w="14288">
              <a:solidFill>
                <a:srgbClr val="E2E8F0"/>
              </a:solidFill>
            </a:ln>
          </p:spPr>
          <p:txBody>
            <a:bodyPr/>
            <a:lstStyle/>
            <a:p>
              <a:endParaRPr lang="en-US"/>
            </a:p>
          </p:txBody>
        </p:sp>
        <p:sp>
          <p:nvSpPr>
            <p:cNvPr id="31" name="Rectangle 31"/>
            <p:cNvSpPr/>
            <p:nvPr/>
          </p:nvSpPr>
          <p:spPr>
            <a:xfrm>
              <a:off x="6191250" y="2667000"/>
              <a:ext cx="2524125" cy="38100"/>
            </a:xfrm>
            <a:prstGeom prst="roundRect">
              <a:avLst>
                <a:gd name="adj" fmla="val 50000"/>
              </a:avLst>
            </a:prstGeom>
            <a:solidFill>
              <a:srgbClr val="F59E0B"/>
            </a:solidFill>
            <a:ln>
              <a:noFill/>
            </a:ln>
          </p:spPr>
          <p:txBody>
            <a:bodyPr/>
            <a:lstStyle/>
            <a:p>
              <a:endParaRPr lang="en-US"/>
            </a:p>
          </p:txBody>
        </p:sp>
        <p:sp>
          <p:nvSpPr>
            <p:cNvPr id="32" name="TextBox 32"/>
            <p:cNvSpPr txBox="1"/>
            <p:nvPr/>
          </p:nvSpPr>
          <p:spPr>
            <a:xfrm>
              <a:off x="6424041" y="2873375"/>
              <a:ext cx="1794737" cy="205359"/>
            </a:xfrm>
            <a:prstGeom prst="rect">
              <a:avLst/>
            </a:prstGeom>
            <a:noFill/>
            <a:ln>
              <a:noFill/>
            </a:ln>
          </p:spPr>
          <p:txBody>
            <a:bodyPr wrap="none" lIns="0" tIns="0" rIns="0" bIns="0" anchor="t" anchorCtr="0">
              <a:spAutoFit/>
            </a:bodyPr>
            <a:lstStyle/>
            <a:p>
              <a:pPr algn="l"/>
              <a:r>
                <a:rPr lang="vi" sz="1050" b="1" dirty="0">
                  <a:solidFill>
                    <a:srgbClr val="92400E"/>
                  </a:solidFill>
                  <a:latin typeface="+mn-lt"/>
                  <a:ea typeface="+mn-ea"/>
                  <a:cs typeface="+mn-cs"/>
                </a:rPr>
                <a:t>3. Ý NGHĨA KINH DOANH</a:t>
              </a:r>
            </a:p>
          </p:txBody>
        </p:sp>
        <p:sp>
          <p:nvSpPr>
            <p:cNvPr id="33" name="TextBox 33"/>
            <p:cNvSpPr txBox="1"/>
            <p:nvPr/>
          </p:nvSpPr>
          <p:spPr>
            <a:xfrm>
              <a:off x="6423660" y="3146425"/>
              <a:ext cx="1887324" cy="220028"/>
            </a:xfrm>
            <a:prstGeom prst="rect">
              <a:avLst/>
            </a:prstGeom>
            <a:noFill/>
            <a:ln>
              <a:noFill/>
            </a:ln>
          </p:spPr>
          <p:txBody>
            <a:bodyPr wrap="none" lIns="0" tIns="0" rIns="0" bIns="0" anchor="t" anchorCtr="0">
              <a:spAutoFit/>
            </a:bodyPr>
            <a:lstStyle/>
            <a:p>
              <a:pPr algn="l"/>
              <a:r>
                <a:rPr lang="vi" sz="1120" b="1" dirty="0">
                  <a:solidFill>
                    <a:srgbClr val="0F172A"/>
                  </a:solidFill>
                  <a:latin typeface="+mn-lt"/>
                  <a:ea typeface="+mn-ea"/>
                  <a:cs typeface="+mn-cs"/>
                </a:rPr>
                <a:t>2 Chân Dung Khách Hàng</a:t>
              </a:r>
            </a:p>
          </p:txBody>
        </p:sp>
        <p:sp>
          <p:nvSpPr>
            <p:cNvPr id="34" name="TextBox 34"/>
            <p:cNvSpPr txBox="1"/>
            <p:nvPr/>
          </p:nvSpPr>
          <p:spPr>
            <a:xfrm>
              <a:off x="6424422" y="3444875"/>
              <a:ext cx="2086064"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Cụm 0: Đại siêu thị (Grocery/Milk)</a:t>
              </a:r>
            </a:p>
          </p:txBody>
        </p:sp>
        <p:sp>
          <p:nvSpPr>
            <p:cNvPr id="35" name="TextBox 35"/>
            <p:cNvSpPr txBox="1"/>
            <p:nvPr/>
          </p:nvSpPr>
          <p:spPr>
            <a:xfrm>
              <a:off x="6424422" y="3683000"/>
              <a:ext cx="1904583"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Cụm 1: Horeca (Fresh/Frozen)</a:t>
              </a:r>
            </a:p>
          </p:txBody>
        </p:sp>
        <p:sp>
          <p:nvSpPr>
            <p:cNvPr id="36" name="TextBox 36"/>
            <p:cNvSpPr txBox="1"/>
            <p:nvPr/>
          </p:nvSpPr>
          <p:spPr>
            <a:xfrm>
              <a:off x="6424422" y="3921125"/>
              <a:ext cx="2092989"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Tương quan 90% với Channel thật</a:t>
              </a:r>
            </a:p>
          </p:txBody>
        </p:sp>
        <p:sp>
          <p:nvSpPr>
            <p:cNvPr id="37" name="TextBox 37"/>
            <p:cNvSpPr txBox="1"/>
            <p:nvPr/>
          </p:nvSpPr>
          <p:spPr>
            <a:xfrm>
              <a:off x="6424612" y="4219575"/>
              <a:ext cx="1521203" cy="176212"/>
            </a:xfrm>
            <a:prstGeom prst="rect">
              <a:avLst/>
            </a:prstGeom>
            <a:noFill/>
            <a:ln>
              <a:noFill/>
            </a:ln>
          </p:spPr>
          <p:txBody>
            <a:bodyPr wrap="none" lIns="0" tIns="0" rIns="0" bIns="0" anchor="t" anchorCtr="0">
              <a:spAutoFit/>
            </a:bodyPr>
            <a:lstStyle/>
            <a:p>
              <a:pPr algn="l"/>
              <a:r>
                <a:rPr lang="vi" sz="900" b="1" dirty="0">
                  <a:solidFill>
                    <a:srgbClr val="059669"/>
                  </a:solidFill>
                  <a:latin typeface="+mn-lt"/>
                  <a:ea typeface="+mn-ea"/>
                  <a:cs typeface="+mn-cs"/>
                </a:rPr>
                <a:t>✓ Ứng dụng thực tiễn cao</a:t>
              </a:r>
            </a:p>
          </p:txBody>
        </p:sp>
        <p:sp>
          <p:nvSpPr>
            <p:cNvPr id="38" name="Rectangle 38"/>
            <p:cNvSpPr/>
            <p:nvPr/>
          </p:nvSpPr>
          <p:spPr>
            <a:xfrm>
              <a:off x="8953500" y="2667000"/>
              <a:ext cx="2571750" cy="1857375"/>
            </a:xfrm>
            <a:prstGeom prst="roundRect">
              <a:avLst>
                <a:gd name="adj" fmla="val 6154"/>
              </a:avLst>
            </a:prstGeom>
            <a:solidFill>
              <a:schemeClr val="lt1"/>
            </a:solidFill>
            <a:ln w="14288">
              <a:solidFill>
                <a:srgbClr val="E2E8F0"/>
              </a:solidFill>
            </a:ln>
          </p:spPr>
          <p:txBody>
            <a:bodyPr/>
            <a:lstStyle/>
            <a:p>
              <a:endParaRPr lang="en-US"/>
            </a:p>
          </p:txBody>
        </p:sp>
        <p:sp>
          <p:nvSpPr>
            <p:cNvPr id="39" name="Rectangle 39"/>
            <p:cNvSpPr/>
            <p:nvPr/>
          </p:nvSpPr>
          <p:spPr>
            <a:xfrm>
              <a:off x="8953500" y="2667000"/>
              <a:ext cx="2571750" cy="38100"/>
            </a:xfrm>
            <a:prstGeom prst="roundRect">
              <a:avLst>
                <a:gd name="adj" fmla="val 50000"/>
              </a:avLst>
            </a:prstGeom>
            <a:solidFill>
              <a:schemeClr val="accent3"/>
            </a:solidFill>
            <a:ln>
              <a:noFill/>
            </a:ln>
          </p:spPr>
          <p:txBody>
            <a:bodyPr/>
            <a:lstStyle/>
            <a:p>
              <a:endParaRPr lang="en-US"/>
            </a:p>
          </p:txBody>
        </p:sp>
        <p:sp>
          <p:nvSpPr>
            <p:cNvPr id="40" name="TextBox 40"/>
            <p:cNvSpPr txBox="1"/>
            <p:nvPr/>
          </p:nvSpPr>
          <p:spPr>
            <a:xfrm>
              <a:off x="9186291" y="2873375"/>
              <a:ext cx="1238879" cy="205359"/>
            </a:xfrm>
            <a:prstGeom prst="rect">
              <a:avLst/>
            </a:prstGeom>
            <a:noFill/>
            <a:ln>
              <a:noFill/>
            </a:ln>
          </p:spPr>
          <p:txBody>
            <a:bodyPr wrap="none" lIns="0" tIns="0" rIns="0" bIns="0" anchor="t" anchorCtr="0">
              <a:spAutoFit/>
            </a:bodyPr>
            <a:lstStyle/>
            <a:p>
              <a:pPr algn="l"/>
              <a:r>
                <a:rPr lang="vi" sz="1050" b="1" dirty="0">
                  <a:solidFill>
                    <a:srgbClr val="6B21A8"/>
                  </a:solidFill>
                  <a:latin typeface="+mn-lt"/>
                  <a:ea typeface="+mn-ea"/>
                  <a:cs typeface="+mn-cs"/>
                </a:rPr>
                <a:t>4. WEB SERVING</a:t>
              </a:r>
            </a:p>
          </p:txBody>
        </p:sp>
        <p:sp>
          <p:nvSpPr>
            <p:cNvPr id="41" name="TextBox 41"/>
            <p:cNvSpPr txBox="1"/>
            <p:nvPr/>
          </p:nvSpPr>
          <p:spPr>
            <a:xfrm>
              <a:off x="9185910" y="3146425"/>
              <a:ext cx="1590254" cy="220028"/>
            </a:xfrm>
            <a:prstGeom prst="rect">
              <a:avLst/>
            </a:prstGeom>
            <a:noFill/>
            <a:ln>
              <a:noFill/>
            </a:ln>
          </p:spPr>
          <p:txBody>
            <a:bodyPr wrap="none" lIns="0" tIns="0" rIns="0" bIns="0" anchor="t" anchorCtr="0">
              <a:spAutoFit/>
            </a:bodyPr>
            <a:lstStyle/>
            <a:p>
              <a:pPr algn="l"/>
              <a:r>
                <a:rPr lang="vi" sz="1120" b="1" dirty="0">
                  <a:solidFill>
                    <a:srgbClr val="0F172A"/>
                  </a:solidFill>
                  <a:latin typeface="+mn-lt"/>
                  <a:ea typeface="+mn-ea"/>
                  <a:cs typeface="+mn-cs"/>
                </a:rPr>
                <a:t>Kiến Trúc Hoàn Thiện</a:t>
              </a:r>
            </a:p>
          </p:txBody>
        </p:sp>
        <p:sp>
          <p:nvSpPr>
            <p:cNvPr id="42" name="TextBox 42"/>
            <p:cNvSpPr txBox="1"/>
            <p:nvPr/>
          </p:nvSpPr>
          <p:spPr>
            <a:xfrm>
              <a:off x="9186672" y="3444875"/>
              <a:ext cx="1619167"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Fastify API + React Client</a:t>
              </a:r>
            </a:p>
          </p:txBody>
        </p:sp>
        <p:sp>
          <p:nvSpPr>
            <p:cNvPr id="43" name="TextBox 43"/>
            <p:cNvSpPr txBox="1"/>
            <p:nvPr/>
          </p:nvSpPr>
          <p:spPr>
            <a:xfrm>
              <a:off x="9186672" y="3683000"/>
              <a:ext cx="2114818"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Model SHA-256 Checksum Guard</a:t>
              </a:r>
            </a:p>
          </p:txBody>
        </p:sp>
        <p:sp>
          <p:nvSpPr>
            <p:cNvPr id="44" name="TextBox 44"/>
            <p:cNvSpPr txBox="1"/>
            <p:nvPr/>
          </p:nvSpPr>
          <p:spPr>
            <a:xfrm>
              <a:off x="9186672" y="3921125"/>
              <a:ext cx="1701937" cy="191643"/>
            </a:xfrm>
            <a:prstGeom prst="rect">
              <a:avLst/>
            </a:prstGeom>
            <a:noFill/>
            <a:ln>
              <a:noFill/>
            </a:ln>
          </p:spPr>
          <p:txBody>
            <a:bodyPr wrap="none" lIns="0" tIns="0" rIns="0" bIns="0" anchor="t" anchorCtr="0">
              <a:spAutoFit/>
            </a:bodyPr>
            <a:lstStyle/>
            <a:p>
              <a:pPr marL="78148" indent="-78148" algn="l">
                <a:buClr>
                  <a:srgbClr val="334155"/>
                </a:buClr>
                <a:buSzTx/>
                <a:buFontTx/>
                <a:buChar char="•"/>
              </a:pPr>
              <a:r>
                <a:rPr lang="vi" sz="980" dirty="0">
                  <a:solidFill>
                    <a:srgbClr val="334155"/>
                  </a:solidFill>
                  <a:latin typeface="+mn-lt"/>
                  <a:ea typeface="+mn-ea"/>
                  <a:cs typeface="+mn-cs"/>
                </a:rPr>
                <a:t>22/22 Playwright E2E Pass</a:t>
              </a:r>
            </a:p>
          </p:txBody>
        </p:sp>
        <p:sp>
          <p:nvSpPr>
            <p:cNvPr id="45" name="TextBox 45"/>
            <p:cNvSpPr txBox="1"/>
            <p:nvPr/>
          </p:nvSpPr>
          <p:spPr>
            <a:xfrm>
              <a:off x="9186862" y="4219575"/>
              <a:ext cx="1686748" cy="176212"/>
            </a:xfrm>
            <a:prstGeom prst="rect">
              <a:avLst/>
            </a:prstGeom>
            <a:noFill/>
            <a:ln>
              <a:noFill/>
            </a:ln>
          </p:spPr>
          <p:txBody>
            <a:bodyPr wrap="none" lIns="0" tIns="0" rIns="0" bIns="0" anchor="t" anchorCtr="0">
              <a:spAutoFit/>
            </a:bodyPr>
            <a:lstStyle/>
            <a:p>
              <a:pPr algn="l"/>
              <a:r>
                <a:rPr lang="vi" sz="900" b="1" dirty="0">
                  <a:solidFill>
                    <a:srgbClr val="059669"/>
                  </a:solidFill>
                  <a:latin typeface="+mn-lt"/>
                  <a:ea typeface="+mn-ea"/>
                  <a:cs typeface="+mn-cs"/>
                </a:rPr>
                <a:t>✓ Đạt tiêu chuẩn Production</a:t>
              </a:r>
            </a:p>
          </p:txBody>
        </p:sp>
      </p:grpSp>
      <p:grpSp>
        <p:nvGrpSpPr>
          <p:cNvPr id="53" name="qa-invite"/>
          <p:cNvGrpSpPr/>
          <p:nvPr/>
        </p:nvGrpSpPr>
        <p:grpSpPr>
          <a:xfrm>
            <a:off x="666750" y="4714875"/>
            <a:ext cx="10964997" cy="1571625"/>
            <a:chOff x="666750" y="4714875"/>
            <a:chExt cx="10964997" cy="1571625"/>
          </a:xfrm>
        </p:grpSpPr>
        <p:sp>
          <p:nvSpPr>
            <p:cNvPr id="47" name="Rectangle 47"/>
            <p:cNvSpPr/>
            <p:nvPr/>
          </p:nvSpPr>
          <p:spPr>
            <a:xfrm>
              <a:off x="666750" y="4714875"/>
              <a:ext cx="10858500" cy="1571625"/>
            </a:xfrm>
            <a:prstGeom prst="roundRect">
              <a:avLst>
                <a:gd name="adj" fmla="val 8485"/>
              </a:avLst>
            </a:prstGeom>
            <a:solidFill>
              <a:srgbClr val="EFF6FF"/>
            </a:solidFill>
            <a:ln w="19050">
              <a:solidFill>
                <a:srgbClr val="3B82F6"/>
              </a:solidFill>
            </a:ln>
          </p:spPr>
          <p:txBody>
            <a:bodyPr/>
            <a:lstStyle/>
            <a:p>
              <a:endParaRPr lang="en-US"/>
            </a:p>
          </p:txBody>
        </p:sp>
        <p:sp>
          <p:nvSpPr>
            <p:cNvPr id="48" name="TextBox 48"/>
            <p:cNvSpPr txBox="1"/>
            <p:nvPr/>
          </p:nvSpPr>
          <p:spPr>
            <a:xfrm>
              <a:off x="941832" y="4889500"/>
              <a:ext cx="9231217" cy="410718"/>
            </a:xfrm>
            <a:prstGeom prst="rect">
              <a:avLst/>
            </a:prstGeom>
            <a:noFill/>
            <a:ln>
              <a:noFill/>
            </a:ln>
          </p:spPr>
          <p:txBody>
            <a:bodyPr wrap="none" lIns="0" tIns="0" rIns="0" bIns="0" anchor="t" anchorCtr="0">
              <a:spAutoFit/>
            </a:bodyPr>
            <a:lstStyle/>
            <a:p>
              <a:pPr algn="l"/>
              <a:r>
                <a:rPr lang="vi" sz="2100" b="1" dirty="0">
                  <a:solidFill>
                    <a:srgbClr val="1E3A8A"/>
                  </a:solidFill>
                  <a:latin typeface="+mn-lt"/>
                  <a:ea typeface="+mn-ea"/>
                  <a:cs typeface="+mn-cs"/>
                </a:rPr>
                <a:t>XIN CHÂN THÀNH CẢM ƠN THẦY VÀ CÁC BẠN ĐÃ LẮNG NGHE!</a:t>
              </a:r>
            </a:p>
          </p:txBody>
        </p:sp>
        <p:sp>
          <p:nvSpPr>
            <p:cNvPr id="49" name="TextBox 49"/>
            <p:cNvSpPr txBox="1"/>
            <p:nvPr/>
          </p:nvSpPr>
          <p:spPr>
            <a:xfrm>
              <a:off x="946785" y="5337175"/>
              <a:ext cx="5855204" cy="220028"/>
            </a:xfrm>
            <a:prstGeom prst="rect">
              <a:avLst/>
            </a:prstGeom>
            <a:noFill/>
            <a:ln>
              <a:noFill/>
            </a:ln>
          </p:spPr>
          <p:txBody>
            <a:bodyPr wrap="none" lIns="0" tIns="0" rIns="0" bIns="0" anchor="t" anchorCtr="0">
              <a:spAutoFit/>
            </a:bodyPr>
            <a:lstStyle/>
            <a:p>
              <a:pPr algn="l"/>
              <a:r>
                <a:rPr lang="vi" sz="1120" dirty="0">
                  <a:solidFill>
                    <a:srgbClr val="1E40AF"/>
                  </a:solidFill>
                  <a:latin typeface="+mn-lt"/>
                  <a:ea typeface="+mn-ea"/>
                  <a:cs typeface="+mn-cs"/>
                </a:rPr>
                <a:t>Nhóm kính mời Thầy và Hội đồng đặt câu hỏi và đóng góp ý kiến cho Đồ án Project 22.</a:t>
              </a:r>
            </a:p>
          </p:txBody>
        </p:sp>
        <p:sp>
          <p:nvSpPr>
            <p:cNvPr id="50" name="Rectangle 50"/>
            <p:cNvSpPr/>
            <p:nvPr/>
          </p:nvSpPr>
          <p:spPr>
            <a:xfrm>
              <a:off x="952500" y="5715000"/>
              <a:ext cx="3048000" cy="400050"/>
            </a:xfrm>
            <a:prstGeom prst="roundRect">
              <a:avLst>
                <a:gd name="adj" fmla="val 19048"/>
              </a:avLst>
            </a:prstGeom>
            <a:solidFill>
              <a:srgbClr val="1E40AF"/>
            </a:solidFill>
            <a:ln>
              <a:noFill/>
            </a:ln>
          </p:spPr>
          <p:txBody>
            <a:bodyPr/>
            <a:lstStyle/>
            <a:p>
              <a:endParaRPr lang="en-US"/>
            </a:p>
          </p:txBody>
        </p:sp>
        <p:sp>
          <p:nvSpPr>
            <p:cNvPr id="51" name="TextBox 51"/>
            <p:cNvSpPr txBox="1"/>
            <p:nvPr/>
          </p:nvSpPr>
          <p:spPr>
            <a:xfrm>
              <a:off x="1040314" y="5835650"/>
              <a:ext cx="2872372" cy="205359"/>
            </a:xfrm>
            <a:prstGeom prst="rect">
              <a:avLst/>
            </a:prstGeom>
            <a:noFill/>
            <a:ln>
              <a:noFill/>
            </a:ln>
          </p:spPr>
          <p:txBody>
            <a:bodyPr wrap="none" lIns="0" tIns="0" rIns="0" bIns="0" anchor="t" anchorCtr="0">
              <a:spAutoFit/>
            </a:bodyPr>
            <a:lstStyle/>
            <a:p>
              <a:pPr algn="ctr"/>
              <a:r>
                <a:rPr lang="vi" sz="1050" b="1" dirty="0">
                  <a:solidFill>
                    <a:srgbClr val="FFFFFF"/>
                  </a:solidFill>
                  <a:latin typeface="+mn-lt"/>
                  <a:ea typeface="+mn-ea"/>
                  <a:cs typeface="+mn-cs"/>
                </a:rPr>
                <a:t>💬 PHIÊN HỎI ĐÁP &amp; THẢO LUẬN (Q&amp;A)</a:t>
              </a:r>
            </a:p>
          </p:txBody>
        </p:sp>
        <p:sp>
          <p:nvSpPr>
            <p:cNvPr id="52" name="TextBox 52"/>
            <p:cNvSpPr txBox="1"/>
            <p:nvPr/>
          </p:nvSpPr>
          <p:spPr>
            <a:xfrm>
              <a:off x="7138797" y="5835650"/>
              <a:ext cx="4492950"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Source Code &amp; Demo: github.com/... • Project 22 (Wholesale Segmentation)</a:t>
              </a:r>
            </a:p>
          </p:txBody>
        </p:sp>
      </p:grpSp>
      <p:grpSp>
        <p:nvGrpSpPr>
          <p:cNvPr id="57" name="footer"/>
          <p:cNvGrpSpPr/>
          <p:nvPr/>
        </p:nvGrpSpPr>
        <p:grpSpPr>
          <a:xfrm>
            <a:off x="661797" y="6429375"/>
            <a:ext cx="10868406" cy="264668"/>
            <a:chOff x="661797" y="6429375"/>
            <a:chExt cx="10868406" cy="264668"/>
          </a:xfrm>
        </p:grpSpPr>
        <p:sp>
          <p:nvSpPr>
            <p:cNvPr id="54" name="Line 54"/>
            <p:cNvSpPr/>
            <p:nvPr/>
          </p:nvSpPr>
          <p:spPr>
            <a:xfrm>
              <a:off x="666750" y="6429375"/>
              <a:ext cx="10858500" cy="9525"/>
            </a:xfrm>
            <a:custGeom>
              <a:avLst/>
              <a:gdLst/>
              <a:ahLst/>
              <a:cxnLst/>
              <a:rect l="l" t="t" r="r" b="b"/>
              <a:pathLst>
                <a:path w="10858500" h="9525">
                  <a:moveTo>
                    <a:pt x="0" y="0"/>
                  </a:moveTo>
                  <a:lnTo>
                    <a:pt x="10858500" y="0"/>
                  </a:lnTo>
                </a:path>
              </a:pathLst>
            </a:custGeom>
            <a:noFill/>
            <a:ln w="9525">
              <a:solidFill>
                <a:srgbClr val="E2E8F0"/>
              </a:solidFill>
            </a:ln>
          </p:spPr>
          <p:txBody>
            <a:bodyPr/>
            <a:lstStyle/>
            <a:p>
              <a:endParaRPr lang="en-US"/>
            </a:p>
          </p:txBody>
        </p:sp>
        <p:sp>
          <p:nvSpPr>
            <p:cNvPr id="55" name="TextBox 55"/>
            <p:cNvSpPr txBox="1"/>
            <p:nvPr/>
          </p:nvSpPr>
          <p:spPr>
            <a:xfrm>
              <a:off x="661797" y="6502400"/>
              <a:ext cx="5799743" cy="191643"/>
            </a:xfrm>
            <a:prstGeom prst="rect">
              <a:avLst/>
            </a:prstGeom>
            <a:noFill/>
            <a:ln>
              <a:noFill/>
            </a:ln>
          </p:spPr>
          <p:txBody>
            <a:bodyPr wrap="none" lIns="0" tIns="0" rIns="0" bIns="0" anchor="t" anchorCtr="0">
              <a:spAutoFit/>
            </a:bodyPr>
            <a:lstStyle/>
            <a:p>
              <a:pPr algn="l"/>
              <a:r>
                <a:rPr lang="vi" sz="980" dirty="0">
                  <a:solidFill>
                    <a:srgbClr val="64748B"/>
                  </a:solidFill>
                  <a:latin typeface="+mn-lt"/>
                  <a:ea typeface="+mn-ea"/>
                  <a:cs typeface="+mn-cs"/>
                </a:rPr>
                <a:t>Đồ Án Machine Learning Phân Khúc Khách Hàng Bán Sỉ • Project 22 (UCI Wholesale Customers)</a:t>
              </a:r>
            </a:p>
          </p:txBody>
        </p:sp>
        <p:sp>
          <p:nvSpPr>
            <p:cNvPr id="56" name="TextBox 56"/>
            <p:cNvSpPr txBox="1"/>
            <p:nvPr/>
          </p:nvSpPr>
          <p:spPr>
            <a:xfrm>
              <a:off x="11116836" y="6502400"/>
              <a:ext cx="413367" cy="191643"/>
            </a:xfrm>
            <a:prstGeom prst="rect">
              <a:avLst/>
            </a:prstGeom>
            <a:noFill/>
            <a:ln>
              <a:noFill/>
            </a:ln>
          </p:spPr>
          <p:txBody>
            <a:bodyPr wrap="none" lIns="0" tIns="0" rIns="0" bIns="0" anchor="t" anchorCtr="0">
              <a:spAutoFit/>
            </a:bodyPr>
            <a:lstStyle/>
            <a:p>
              <a:pPr algn="r"/>
              <a:r>
                <a:rPr lang="vi" sz="980" b="1" dirty="0">
                  <a:solidFill>
                    <a:srgbClr val="475569"/>
                  </a:solidFill>
                  <a:latin typeface="+mn-lt"/>
                  <a:ea typeface="+mn-ea"/>
                  <a:cs typeface="+mn-cs"/>
                </a:rPr>
                <a:t>15 / 15</a:t>
              </a:r>
            </a:p>
          </p:txBody>
        </p:sp>
      </p:grpSp>
    </p:spTree>
  </p:cSld>
  <p:clrMapOvr>
    <a:masterClrMapping/>
  </p:clrMapOvr>
  <mc:AlternateContent xmlns:mc="http://schemas.openxmlformats.org/markup-compatibility/2006" xmlns:p14="http://schemas.microsoft.com/office/powerpoint/2010/main">
    <mc:Choice Requires="p14">
      <p:transition spd="med" p14:dur="700">
        <p14:warp dir="in"/>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childTnLst>
                          </p:cTn>
                        </p:par>
                        <p:par>
                          <p:cTn id="8" fill="hold">
                            <p:stCondLst>
                              <p:cond delay="400"/>
                            </p:stCondLst>
                            <p:childTnLst>
                              <p:par>
                                <p:cTn id="9" presetID="23" presetClass="entr" presetSubtype="16" fill="hold" nodeType="afterEffect">
                                  <p:stCondLst>
                                    <p:cond delay="500"/>
                                  </p:stCondLst>
                                  <p:childTnLst>
                                    <p:set>
                                      <p:cBhvr>
                                        <p:cTn id="10" dur="1" fill="hold">
                                          <p:stCondLst>
                                            <p:cond delay="0"/>
                                          </p:stCondLst>
                                        </p:cTn>
                                        <p:tgtEl>
                                          <p:spTgt spid="46"/>
                                        </p:tgtEl>
                                        <p:attrNameLst>
                                          <p:attrName>style.visibility</p:attrName>
                                        </p:attrNameLst>
                                      </p:cBhvr>
                                      <p:to>
                                        <p:strVal val="visible"/>
                                      </p:to>
                                    </p:set>
                                    <p:anim calcmode="lin" valueType="num">
                                      <p:cBhvr>
                                        <p:cTn id="11" dur="700" fill="hold"/>
                                        <p:tgtEl>
                                          <p:spTgt spid="46"/>
                                        </p:tgtEl>
                                        <p:attrNameLst>
                                          <p:attrName>ppt_w</p:attrName>
                                        </p:attrNameLst>
                                      </p:cBhvr>
                                      <p:tavLst>
                                        <p:tav tm="0">
                                          <p:val>
                                            <p:fltVal val="0"/>
                                          </p:val>
                                        </p:tav>
                                        <p:tav tm="100000">
                                          <p:val>
                                            <p:strVal val="#ppt_w"/>
                                          </p:val>
                                        </p:tav>
                                      </p:tavLst>
                                    </p:anim>
                                    <p:anim calcmode="lin" valueType="num">
                                      <p:cBhvr>
                                        <p:cTn id="12" dur="700" fill="hold"/>
                                        <p:tgtEl>
                                          <p:spTgt spid="46"/>
                                        </p:tgtEl>
                                        <p:attrNameLst>
                                          <p:attrName>ppt_h</p:attrName>
                                        </p:attrNameLst>
                                      </p:cBhvr>
                                      <p:tavLst>
                                        <p:tav tm="0">
                                          <p:val>
                                            <p:fltVal val="0"/>
                                          </p:val>
                                        </p:tav>
                                        <p:tav tm="100000">
                                          <p:val>
                                            <p:strVal val="#ppt_h"/>
                                          </p:val>
                                        </p:tav>
                                      </p:tavLst>
                                    </p:anim>
                                  </p:childTnLst>
                                </p:cTn>
                              </p:par>
                            </p:childTnLst>
                          </p:cTn>
                        </p:par>
                        <p:par>
                          <p:cTn id="13" fill="hold">
                            <p:stCondLst>
                              <p:cond delay="1600"/>
                            </p:stCondLst>
                            <p:childTnLst>
                              <p:par>
                                <p:cTn id="14" presetID="2" presetClass="entr" presetSubtype="4" fill="hold" nodeType="afterEffect">
                                  <p:stCondLst>
                                    <p:cond delay="500"/>
                                  </p:stCondLst>
                                  <p:childTnLst>
                                    <p:set>
                                      <p:cBhvr>
                                        <p:cTn id="15" dur="1" fill="hold">
                                          <p:stCondLst>
                                            <p:cond delay="0"/>
                                          </p:stCondLst>
                                        </p:cTn>
                                        <p:tgtEl>
                                          <p:spTgt spid="53"/>
                                        </p:tgtEl>
                                        <p:attrNameLst>
                                          <p:attrName>style.visibility</p:attrName>
                                        </p:attrNameLst>
                                      </p:cBhvr>
                                      <p:to>
                                        <p:strVal val="visible"/>
                                      </p:to>
                                    </p:set>
                                    <p:anim calcmode="lin" valueType="num">
                                      <p:cBhvr additive="base">
                                        <p:cTn id="16" dur="700" fill="hold"/>
                                        <p:tgtEl>
                                          <p:spTgt spid="53"/>
                                        </p:tgtEl>
                                        <p:attrNameLst>
                                          <p:attrName>ppt_x</p:attrName>
                                        </p:attrNameLst>
                                      </p:cBhvr>
                                      <p:tavLst>
                                        <p:tav tm="0">
                                          <p:val>
                                            <p:strVal val="#ppt_x"/>
                                          </p:val>
                                        </p:tav>
                                        <p:tav tm="100000">
                                          <p:val>
                                            <p:strVal val="#ppt_x"/>
                                          </p:val>
                                        </p:tav>
                                      </p:tavLst>
                                    </p:anim>
                                    <p:anim calcmode="lin" valueType="num">
                                      <p:cBhvr additive="base">
                                        <p:cTn id="17" dur="7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roject22_kmeans_presentation">
  <a:themeElements>
    <a:clrScheme name="project22_kmeans_presentation">
      <a:dk1>
        <a:srgbClr val="1F2937"/>
      </a:dk1>
      <a:lt1>
        <a:srgbClr val="FFFFFF"/>
      </a:lt1>
      <a:dk2>
        <a:srgbClr val="1F497D"/>
      </a:dk2>
      <a:lt2>
        <a:srgbClr val="F8F9FA"/>
      </a:lt2>
      <a:accent1>
        <a:srgbClr val="2563EB"/>
      </a:accent1>
      <a:accent2>
        <a:srgbClr val="10B981"/>
      </a:accent2>
      <a:accent3>
        <a:srgbClr val="8B5CF6"/>
      </a:accent3>
      <a:accent4>
        <a:srgbClr val="2563EB"/>
      </a:accent4>
      <a:accent5>
        <a:srgbClr val="6B7280"/>
      </a:accent5>
      <a:accent6>
        <a:srgbClr val="E5E7EB"/>
      </a:accent6>
      <a:hlink>
        <a:srgbClr val="10B981"/>
      </a:hlink>
      <a:folHlink>
        <a:srgbClr val="8B5CF6"/>
      </a:folHlink>
    </a:clrScheme>
    <a:fontScheme name="project22_kmeans_presentatio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roject22_kmeans_presentatio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roject22_kmeans_presentation">
  <a:themeElements>
    <a:clrScheme name="project22_kmeans_presentation">
      <a:dk1>
        <a:srgbClr val="1F2937"/>
      </a:dk1>
      <a:lt1>
        <a:srgbClr val="FFFFFF"/>
      </a:lt1>
      <a:dk2>
        <a:srgbClr val="1F497D"/>
      </a:dk2>
      <a:lt2>
        <a:srgbClr val="F8F9FA"/>
      </a:lt2>
      <a:accent1>
        <a:srgbClr val="2563EB"/>
      </a:accent1>
      <a:accent2>
        <a:srgbClr val="10B981"/>
      </a:accent2>
      <a:accent3>
        <a:srgbClr val="8B5CF6"/>
      </a:accent3>
      <a:accent4>
        <a:srgbClr val="2563EB"/>
      </a:accent4>
      <a:accent5>
        <a:srgbClr val="6B7280"/>
      </a:accent5>
      <a:accent6>
        <a:srgbClr val="E5E7EB"/>
      </a:accent6>
      <a:hlink>
        <a:srgbClr val="10B981"/>
      </a:hlink>
      <a:folHlink>
        <a:srgbClr val="8B5CF6"/>
      </a:folHlink>
    </a:clrScheme>
    <a:fontScheme name="project22_kmeans_presentation">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roject22_kmeans_presentatio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6400</Words>
  <Application>Microsoft Office PowerPoint</Application>
  <PresentationFormat>Widescreen</PresentationFormat>
  <Paragraphs>640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Consolas</vt:lpstr>
      <vt:lpstr>project22_kmeans_presentation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Admin</cp:lastModifiedBy>
  <cp:revision>2</cp:revision>
  <dcterms:created xsi:type="dcterms:W3CDTF">2026-10-26T15:45:47Z</dcterms:created>
  <dcterms:modified xsi:type="dcterms:W3CDTF">2026-10-26T16:01:39Z</dcterms:modified>
  <cp:category/>
  <cp:contentStatus/>
  <dc:language>vi</dc:language>
</cp:coreProperties>
</file>