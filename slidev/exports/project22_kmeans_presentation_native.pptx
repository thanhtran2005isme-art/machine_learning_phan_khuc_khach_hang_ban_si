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vi"/>
    </a:defPPr>
    <a:lvl1pPr marL="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ject22_kmeans_presenta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vi" smtClean="0"/>
              <a:t>1/27/13</a:t>
            </a:fld>
            <a:endParaRPr lang="v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vi" smtClean="0"/>
              <a:t>‹#›</a:t>
            </a:fld>
            <a:endParaRPr lang="vi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ject22_kmeans_presentat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vi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vi" smtClean="0"/>
              <a:t>1/27/13</a:t>
            </a:fld>
            <a:endParaRPr lang="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vi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vi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vi" smtClean="0"/>
              <a:t>‹#›</a:t>
            </a:fld>
            <a:endParaRPr lang="v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vi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vi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vi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vi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vi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vi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vi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vi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vi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vi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"/>
      </a:defPPr>
      <a:lvl1pPr marL="0" algn="l" defTabSz="457200" rtl="0" eaLnBrk="1" latinLnBrk="0" hangingPunct="1">
        <a:defRPr sz="1800" kern="1200" lang="vi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vi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vi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vi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vi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vi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vi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vi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vi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ro-field"/>
          <p:cNvGrpSpPr/>
          <p:nvPr/>
        </p:nvGrpSpPr>
        <p:grpSpPr>
          <a:xfrm>
            <a:off x="0" y="0"/>
            <a:ext cx="12192000" cy="3429000"/>
            <a:chOff x="0" y="0"/>
            <a:chExt cx="12192000" cy="3429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3429000"/>
            </a:xfrm>
            <a:prstGeom prst="rect">
              <a:avLst/>
            </a:prstGeom>
            <a:gradFill>
              <a:gsLst>
                <a:gs pos="0">
                  <a:schemeClr val="accent1">
                    <a:alpha val="8000"/>
                  </a:schemeClr>
                </a:gs>
                <a:gs pos="100000">
                  <a:srgbClr val="1E40AF">
                    <a:alpha val="8000"/>
                  </a:srgb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3238500"/>
              <a:ext cx="3810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title-main"/>
          <p:cNvGrpSpPr/>
          <p:nvPr/>
        </p:nvGrpSpPr>
        <p:grpSpPr>
          <a:xfrm>
            <a:off x="552450" y="1778000"/>
            <a:ext cx="7515034" cy="1998218"/>
            <a:chOff x="552450" y="1778000"/>
            <a:chExt cx="7515034" cy="1998218"/>
          </a:xfrm>
        </p:grpSpPr>
        <p:sp>
          <p:nvSpPr>
            <p:cNvPr id="5" name="TextBox 5"/>
            <p:cNvSpPr txBox="1"/>
            <p:nvPr/>
          </p:nvSpPr>
          <p:spPr>
            <a:xfrm>
              <a:off x="552450" y="1778000"/>
              <a:ext cx="7515034" cy="1485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vi" sz="42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Phân Khúc Khách Hàng Bán Sỉ</a:t>
              </a:r>
              <a:br>
                <a:rPr lang="vi" sz="42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</a:br>
              <a:r>
                <a:rPr lang="vi" sz="42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Với K-Means Clustering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0832" y="3365500"/>
              <a:ext cx="60687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21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Project 22 — Machine Learning Fundamentals</a:t>
              </a:r>
            </a:p>
          </p:txBody>
        </p:sp>
      </p:grpSp>
      <p:grpSp>
        <p:nvGrpSpPr>
          <p:cNvPr id="29" name="info-cards"/>
          <p:cNvGrpSpPr/>
          <p:nvPr/>
        </p:nvGrpSpPr>
        <p:grpSpPr>
          <a:xfrm>
            <a:off x="571500" y="4381500"/>
            <a:ext cx="11049000" cy="857250"/>
            <a:chOff x="571500" y="4381500"/>
            <a:chExt cx="11049000" cy="857250"/>
          </a:xfrm>
        </p:grpSpPr>
        <p:grpSp>
          <p:nvGrpSpPr>
            <p:cNvPr id="14" name="card-dataset"/>
            <p:cNvGrpSpPr/>
            <p:nvPr/>
          </p:nvGrpSpPr>
          <p:grpSpPr>
            <a:xfrm>
              <a:off x="571500" y="4381500"/>
              <a:ext cx="3333750" cy="857250"/>
              <a:chOff x="571500" y="4381500"/>
              <a:chExt cx="3333750" cy="8572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4381500"/>
                <a:ext cx="3333750" cy="857250"/>
              </a:xfrm>
              <a:prstGeom prst="roundRect">
                <a:avLst>
                  <a:gd name="adj" fmla="val 13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809625" y="4655344"/>
                <a:ext cx="285750" cy="309562"/>
                <a:chOff x="809625" y="4655344"/>
                <a:chExt cx="285750" cy="309562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821531" y="4667250"/>
                  <a:ext cx="261938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8" h="142875">
                      <a:moveTo>
                        <a:pt x="261938" y="71438"/>
                      </a:moveTo>
                      <a:cubicBezTo>
                        <a:pt x="261938" y="110892"/>
                        <a:pt x="203299" y="142875"/>
                        <a:pt x="130969" y="142875"/>
                      </a:cubicBezTo>
                      <a:cubicBezTo>
                        <a:pt x="58638" y="142875"/>
                        <a:pt x="0" y="110892"/>
                        <a:pt x="0" y="71438"/>
                      </a:cubicBezTo>
                      <a:cubicBezTo>
                        <a:pt x="0" y="31983"/>
                        <a:pt x="58638" y="0"/>
                        <a:pt x="130969" y="0"/>
                      </a:cubicBezTo>
                      <a:cubicBezTo>
                        <a:pt x="203299" y="0"/>
                        <a:pt x="261938" y="31983"/>
                        <a:pt x="261938" y="71438"/>
                      </a:cubicBez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809625" y="4655344"/>
                  <a:ext cx="285750" cy="309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309562">
                      <a:moveTo>
                        <a:pt x="142875" y="0"/>
                      </a:moveTo>
                      <a:cubicBezTo>
                        <a:pt x="62761" y="0"/>
                        <a:pt x="0" y="36612"/>
                        <a:pt x="0" y="83344"/>
                      </a:cubicBezTo>
                      <a:lnTo>
                        <a:pt x="0" y="226219"/>
                      </a:lnTo>
                      <a:cubicBezTo>
                        <a:pt x="0" y="272951"/>
                        <a:pt x="62761" y="309562"/>
                        <a:pt x="142875" y="309562"/>
                      </a:cubicBezTo>
                      <a:cubicBezTo>
                        <a:pt x="222989" y="309562"/>
                        <a:pt x="285750" y="272951"/>
                        <a:pt x="285750" y="226219"/>
                      </a:cubicBezTo>
                      <a:lnTo>
                        <a:pt x="285750" y="83344"/>
                      </a:lnTo>
                      <a:cubicBezTo>
                        <a:pt x="285750" y="36612"/>
                        <a:pt x="222989" y="0"/>
                        <a:pt x="142875" y="0"/>
                      </a:cubicBezTo>
                      <a:close/>
                      <a:moveTo>
                        <a:pt x="261938" y="154781"/>
                      </a:moveTo>
                      <a:cubicBezTo>
                        <a:pt x="261938" y="169099"/>
                        <a:pt x="250210" y="183699"/>
                        <a:pt x="229776" y="194846"/>
                      </a:cubicBezTo>
                      <a:cubicBezTo>
                        <a:pt x="206767" y="207392"/>
                        <a:pt x="175900" y="214312"/>
                        <a:pt x="142875" y="214312"/>
                      </a:cubicBezTo>
                      <a:cubicBezTo>
                        <a:pt x="109850" y="214312"/>
                        <a:pt x="78983" y="207392"/>
                        <a:pt x="55974" y="194846"/>
                      </a:cubicBezTo>
                      <a:cubicBezTo>
                        <a:pt x="35540" y="183699"/>
                        <a:pt x="23812" y="169099"/>
                        <a:pt x="23812" y="154781"/>
                      </a:cubicBezTo>
                      <a:lnTo>
                        <a:pt x="23812" y="130016"/>
                      </a:lnTo>
                      <a:cubicBezTo>
                        <a:pt x="49203" y="152340"/>
                        <a:pt x="92616" y="166688"/>
                        <a:pt x="142875" y="166688"/>
                      </a:cubicBezTo>
                      <a:cubicBezTo>
                        <a:pt x="193134" y="166688"/>
                        <a:pt x="236547" y="152281"/>
                        <a:pt x="261938" y="130016"/>
                      </a:cubicBezTo>
                      <a:close/>
                      <a:moveTo>
                        <a:pt x="55974" y="43279"/>
                      </a:moveTo>
                      <a:cubicBezTo>
                        <a:pt x="78983" y="30733"/>
                        <a:pt x="109850" y="23812"/>
                        <a:pt x="142875" y="23812"/>
                      </a:cubicBezTo>
                      <a:cubicBezTo>
                        <a:pt x="175900" y="23812"/>
                        <a:pt x="206767" y="30733"/>
                        <a:pt x="229776" y="43279"/>
                      </a:cubicBezTo>
                      <a:cubicBezTo>
                        <a:pt x="250210" y="54426"/>
                        <a:pt x="261938" y="69026"/>
                        <a:pt x="261938" y="83344"/>
                      </a:cubicBezTo>
                      <a:cubicBezTo>
                        <a:pt x="261938" y="97661"/>
                        <a:pt x="250210" y="112261"/>
                        <a:pt x="229776" y="123408"/>
                      </a:cubicBezTo>
                      <a:cubicBezTo>
                        <a:pt x="206767" y="135954"/>
                        <a:pt x="175900" y="142875"/>
                        <a:pt x="142875" y="142875"/>
                      </a:cubicBezTo>
                      <a:cubicBezTo>
                        <a:pt x="109850" y="142875"/>
                        <a:pt x="78983" y="135954"/>
                        <a:pt x="55974" y="123408"/>
                      </a:cubicBezTo>
                      <a:cubicBezTo>
                        <a:pt x="35540" y="112261"/>
                        <a:pt x="23812" y="97661"/>
                        <a:pt x="23812" y="83344"/>
                      </a:cubicBezTo>
                      <a:cubicBezTo>
                        <a:pt x="23812" y="69026"/>
                        <a:pt x="35540" y="54426"/>
                        <a:pt x="55974" y="43279"/>
                      </a:cubicBezTo>
                      <a:close/>
                      <a:moveTo>
                        <a:pt x="229776" y="266283"/>
                      </a:moveTo>
                      <a:cubicBezTo>
                        <a:pt x="206767" y="278829"/>
                        <a:pt x="175900" y="285750"/>
                        <a:pt x="142875" y="285750"/>
                      </a:cubicBezTo>
                      <a:cubicBezTo>
                        <a:pt x="109850" y="285750"/>
                        <a:pt x="78983" y="278829"/>
                        <a:pt x="55974" y="266283"/>
                      </a:cubicBezTo>
                      <a:cubicBezTo>
                        <a:pt x="35540" y="255136"/>
                        <a:pt x="23812" y="240536"/>
                        <a:pt x="23812" y="226219"/>
                      </a:cubicBezTo>
                      <a:lnTo>
                        <a:pt x="23812" y="201454"/>
                      </a:lnTo>
                      <a:cubicBezTo>
                        <a:pt x="49203" y="223778"/>
                        <a:pt x="92616" y="238125"/>
                        <a:pt x="142875" y="238125"/>
                      </a:cubicBezTo>
                      <a:cubicBezTo>
                        <a:pt x="193134" y="238125"/>
                        <a:pt x="236547" y="223718"/>
                        <a:pt x="261938" y="201454"/>
                      </a:cubicBezTo>
                      <a:lnTo>
                        <a:pt x="261938" y="226219"/>
                      </a:lnTo>
                      <a:cubicBezTo>
                        <a:pt x="261938" y="240536"/>
                        <a:pt x="250210" y="255136"/>
                        <a:pt x="229776" y="26628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279779" y="4610100"/>
                <a:ext cx="20406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UCI Wholesale Customers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80541" y="4873625"/>
                <a:ext cx="187650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05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440 customers, 6 features</a:t>
                </a:r>
              </a:p>
            </p:txBody>
          </p:sp>
        </p:grpSp>
        <p:grpSp>
          <p:nvGrpSpPr>
            <p:cNvPr id="21" name="card-method"/>
            <p:cNvGrpSpPr/>
            <p:nvPr/>
          </p:nvGrpSpPr>
          <p:grpSpPr>
            <a:xfrm>
              <a:off x="4429125" y="4381500"/>
              <a:ext cx="3333750" cy="857250"/>
              <a:chOff x="4429125" y="4381500"/>
              <a:chExt cx="3333750" cy="8572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429125" y="4381500"/>
                <a:ext cx="3333750" cy="857250"/>
              </a:xfrm>
              <a:prstGeom prst="roundRect">
                <a:avLst>
                  <a:gd name="adj" fmla="val 13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4644085" y="4655344"/>
                <a:ext cx="331542" cy="325952"/>
                <a:chOff x="4644085" y="4655344"/>
                <a:chExt cx="331542" cy="325952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4656824" y="4675436"/>
                  <a:ext cx="105676" cy="160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76" h="160734">
                      <a:moveTo>
                        <a:pt x="105676" y="0"/>
                      </a:moveTo>
                      <a:lnTo>
                        <a:pt x="105676" y="107156"/>
                      </a:lnTo>
                      <a:lnTo>
                        <a:pt x="12808" y="160734"/>
                      </a:lnTo>
                      <a:cubicBezTo>
                        <a:pt x="0" y="91604"/>
                        <a:pt x="39389" y="23431"/>
                        <a:pt x="105676" y="0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4644085" y="4655344"/>
                  <a:ext cx="331542" cy="325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42" h="325952">
                      <a:moveTo>
                        <a:pt x="124368" y="137562"/>
                      </a:moveTo>
                      <a:cubicBezTo>
                        <a:pt x="128053" y="135435"/>
                        <a:pt x="130322" y="131503"/>
                        <a:pt x="130321" y="127248"/>
                      </a:cubicBezTo>
                      <a:lnTo>
                        <a:pt x="130321" y="20092"/>
                      </a:lnTo>
                      <a:cubicBezTo>
                        <a:pt x="130300" y="16240"/>
                        <a:pt x="128417" y="12637"/>
                        <a:pt x="125266" y="10421"/>
                      </a:cubicBezTo>
                      <a:cubicBezTo>
                        <a:pt x="122116" y="8205"/>
                        <a:pt x="118089" y="7649"/>
                        <a:pt x="114456" y="8930"/>
                      </a:cubicBezTo>
                      <a:cubicBezTo>
                        <a:pt x="42665" y="34338"/>
                        <a:pt x="0" y="108170"/>
                        <a:pt x="13834" y="183059"/>
                      </a:cubicBezTo>
                      <a:cubicBezTo>
                        <a:pt x="14538" y="186863"/>
                        <a:pt x="17047" y="190087"/>
                        <a:pt x="20561" y="191706"/>
                      </a:cubicBezTo>
                      <a:cubicBezTo>
                        <a:pt x="22121" y="192435"/>
                        <a:pt x="23824" y="192811"/>
                        <a:pt x="25546" y="192807"/>
                      </a:cubicBezTo>
                      <a:cubicBezTo>
                        <a:pt x="27636" y="192808"/>
                        <a:pt x="29689" y="192258"/>
                        <a:pt x="31500" y="191214"/>
                      </a:cubicBezTo>
                      <a:close/>
                      <a:moveTo>
                        <a:pt x="106509" y="38130"/>
                      </a:moveTo>
                      <a:lnTo>
                        <a:pt x="106509" y="120372"/>
                      </a:lnTo>
                      <a:lnTo>
                        <a:pt x="35250" y="161493"/>
                      </a:lnTo>
                      <a:cubicBezTo>
                        <a:pt x="35071" y="159246"/>
                        <a:pt x="35071" y="156984"/>
                        <a:pt x="35071" y="154781"/>
                      </a:cubicBezTo>
                      <a:cubicBezTo>
                        <a:pt x="35115" y="105575"/>
                        <a:pt x="62698" y="60533"/>
                        <a:pt x="106509" y="38130"/>
                      </a:cubicBezTo>
                      <a:close/>
                      <a:moveTo>
                        <a:pt x="166040" y="0"/>
                      </a:moveTo>
                      <a:cubicBezTo>
                        <a:pt x="159465" y="0"/>
                        <a:pt x="154134" y="5331"/>
                        <a:pt x="154134" y="11906"/>
                      </a:cubicBezTo>
                      <a:lnTo>
                        <a:pt x="154134" y="148560"/>
                      </a:lnTo>
                      <a:lnTo>
                        <a:pt x="36843" y="216887"/>
                      </a:lnTo>
                      <a:cubicBezTo>
                        <a:pt x="34093" y="218481"/>
                        <a:pt x="32095" y="221107"/>
                        <a:pt x="31293" y="224182"/>
                      </a:cubicBezTo>
                      <a:cubicBezTo>
                        <a:pt x="30491" y="227257"/>
                        <a:pt x="30951" y="230525"/>
                        <a:pt x="32571" y="233258"/>
                      </a:cubicBezTo>
                      <a:cubicBezTo>
                        <a:pt x="70572" y="297859"/>
                        <a:pt x="149397" y="325952"/>
                        <a:pt x="219690" y="299946"/>
                      </a:cubicBezTo>
                      <a:cubicBezTo>
                        <a:pt x="289982" y="273939"/>
                        <a:pt x="331542" y="201307"/>
                        <a:pt x="318346" y="127529"/>
                      </a:cubicBezTo>
                      <a:cubicBezTo>
                        <a:pt x="305149" y="53751"/>
                        <a:pt x="240989" y="28"/>
                        <a:pt x="166040" y="0"/>
                      </a:cubicBezTo>
                      <a:close/>
                      <a:moveTo>
                        <a:pt x="166040" y="285750"/>
                      </a:moveTo>
                      <a:cubicBezTo>
                        <a:pt x="123880" y="285637"/>
                        <a:pt x="84323" y="265341"/>
                        <a:pt x="59643" y="231160"/>
                      </a:cubicBezTo>
                      <a:lnTo>
                        <a:pt x="172038" y="165675"/>
                      </a:lnTo>
                      <a:cubicBezTo>
                        <a:pt x="175718" y="163551"/>
                        <a:pt x="177987" y="159626"/>
                        <a:pt x="177991" y="155377"/>
                      </a:cubicBezTo>
                      <a:lnTo>
                        <a:pt x="177991" y="24348"/>
                      </a:lnTo>
                      <a:cubicBezTo>
                        <a:pt x="247756" y="30678"/>
                        <a:pt x="300189" y="90784"/>
                        <a:pt x="296989" y="160763"/>
                      </a:cubicBezTo>
                      <a:cubicBezTo>
                        <a:pt x="293790" y="230741"/>
                        <a:pt x="236092" y="285813"/>
                        <a:pt x="166040" y="28575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5137404" y="4610100"/>
                <a:ext cx="11501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K-Means D011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138166" y="4873625"/>
                <a:ext cx="19502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05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log1p + StandardScaler, K=2</a:t>
                </a:r>
              </a:p>
            </p:txBody>
          </p:sp>
        </p:grpSp>
        <p:grpSp>
          <p:nvGrpSpPr>
            <p:cNvPr id="28" name="card-app"/>
            <p:cNvGrpSpPr/>
            <p:nvPr/>
          </p:nvGrpSpPr>
          <p:grpSpPr>
            <a:xfrm>
              <a:off x="8286750" y="4381500"/>
              <a:ext cx="3333750" cy="857250"/>
              <a:chOff x="8286750" y="4381500"/>
              <a:chExt cx="3333750" cy="857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86750" y="4381500"/>
                <a:ext cx="3333750" cy="857250"/>
              </a:xfrm>
              <a:prstGeom prst="roundRect">
                <a:avLst>
                  <a:gd name="adj" fmla="val 13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8489160" y="4666887"/>
                <a:ext cx="357180" cy="286114"/>
                <a:chOff x="8489160" y="4666887"/>
                <a:chExt cx="357180" cy="286114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8501062" y="4750594"/>
                  <a:ext cx="333375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119062">
                      <a:moveTo>
                        <a:pt x="333375" y="59531"/>
                      </a:moveTo>
                      <a:lnTo>
                        <a:pt x="261938" y="119062"/>
                      </a:lnTo>
                      <a:lnTo>
                        <a:pt x="71438" y="119062"/>
                      </a:lnTo>
                      <a:lnTo>
                        <a:pt x="0" y="59531"/>
                      </a:lnTo>
                      <a:lnTo>
                        <a:pt x="71438" y="0"/>
                      </a:lnTo>
                      <a:lnTo>
                        <a:pt x="261938" y="0"/>
                      </a:lnTo>
                      <a:close/>
                    </a:path>
                  </a:pathLst>
                </a:custGeom>
                <a:solidFill>
                  <a:schemeClr val="accent3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489160" y="4666887"/>
                  <a:ext cx="357180" cy="2861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80" h="286114">
                      <a:moveTo>
                        <a:pt x="90960" y="92860"/>
                      </a:moveTo>
                      <a:lnTo>
                        <a:pt x="30506" y="143238"/>
                      </a:lnTo>
                      <a:lnTo>
                        <a:pt x="90960" y="193617"/>
                      </a:lnTo>
                      <a:cubicBezTo>
                        <a:pt x="94324" y="196310"/>
                        <a:pt x="95971" y="200610"/>
                        <a:pt x="95265" y="204862"/>
                      </a:cubicBezTo>
                      <a:cubicBezTo>
                        <a:pt x="94559" y="209113"/>
                        <a:pt x="91611" y="212651"/>
                        <a:pt x="87557" y="214112"/>
                      </a:cubicBezTo>
                      <a:cubicBezTo>
                        <a:pt x="83503" y="215574"/>
                        <a:pt x="78976" y="214730"/>
                        <a:pt x="75720" y="211908"/>
                      </a:cubicBezTo>
                      <a:lnTo>
                        <a:pt x="4283" y="152376"/>
                      </a:lnTo>
                      <a:cubicBezTo>
                        <a:pt x="1569" y="150114"/>
                        <a:pt x="0" y="146764"/>
                        <a:pt x="0" y="143231"/>
                      </a:cubicBezTo>
                      <a:cubicBezTo>
                        <a:pt x="0" y="139698"/>
                        <a:pt x="1569" y="136347"/>
                        <a:pt x="4283" y="134085"/>
                      </a:cubicBezTo>
                      <a:lnTo>
                        <a:pt x="75720" y="74554"/>
                      </a:lnTo>
                      <a:cubicBezTo>
                        <a:pt x="80775" y="70346"/>
                        <a:pt x="88285" y="71032"/>
                        <a:pt x="92493" y="76087"/>
                      </a:cubicBezTo>
                      <a:cubicBezTo>
                        <a:pt x="96702" y="81142"/>
                        <a:pt x="96015" y="88652"/>
                        <a:pt x="90960" y="92860"/>
                      </a:cubicBezTo>
                      <a:close/>
                      <a:moveTo>
                        <a:pt x="352898" y="134085"/>
                      </a:moveTo>
                      <a:lnTo>
                        <a:pt x="281460" y="74554"/>
                      </a:lnTo>
                      <a:cubicBezTo>
                        <a:pt x="276405" y="70346"/>
                        <a:pt x="268896" y="71032"/>
                        <a:pt x="264687" y="76087"/>
                      </a:cubicBezTo>
                      <a:cubicBezTo>
                        <a:pt x="260479" y="81142"/>
                        <a:pt x="261165" y="88652"/>
                        <a:pt x="266220" y="92860"/>
                      </a:cubicBezTo>
                      <a:lnTo>
                        <a:pt x="326674" y="143238"/>
                      </a:lnTo>
                      <a:lnTo>
                        <a:pt x="266220" y="193617"/>
                      </a:lnTo>
                      <a:cubicBezTo>
                        <a:pt x="262856" y="196310"/>
                        <a:pt x="261210" y="200610"/>
                        <a:pt x="261915" y="204862"/>
                      </a:cubicBezTo>
                      <a:cubicBezTo>
                        <a:pt x="262621" y="209113"/>
                        <a:pt x="265569" y="212651"/>
                        <a:pt x="269623" y="214112"/>
                      </a:cubicBezTo>
                      <a:cubicBezTo>
                        <a:pt x="273677" y="215574"/>
                        <a:pt x="278204" y="214730"/>
                        <a:pt x="281460" y="211908"/>
                      </a:cubicBezTo>
                      <a:lnTo>
                        <a:pt x="352898" y="152376"/>
                      </a:lnTo>
                      <a:cubicBezTo>
                        <a:pt x="355611" y="150114"/>
                        <a:pt x="357180" y="146764"/>
                        <a:pt x="357180" y="143231"/>
                      </a:cubicBezTo>
                      <a:cubicBezTo>
                        <a:pt x="357180" y="139698"/>
                        <a:pt x="355611" y="136347"/>
                        <a:pt x="352898" y="134085"/>
                      </a:cubicBezTo>
                      <a:close/>
                      <a:moveTo>
                        <a:pt x="230278" y="1078"/>
                      </a:moveTo>
                      <a:cubicBezTo>
                        <a:pt x="227310" y="0"/>
                        <a:pt x="224035" y="146"/>
                        <a:pt x="221174" y="1483"/>
                      </a:cubicBezTo>
                      <a:cubicBezTo>
                        <a:pt x="218313" y="2820"/>
                        <a:pt x="216101" y="5238"/>
                        <a:pt x="215023" y="8207"/>
                      </a:cubicBezTo>
                      <a:lnTo>
                        <a:pt x="119773" y="270144"/>
                      </a:lnTo>
                      <a:cubicBezTo>
                        <a:pt x="118691" y="273114"/>
                        <a:pt x="118834" y="276393"/>
                        <a:pt x="120172" y="279257"/>
                      </a:cubicBezTo>
                      <a:cubicBezTo>
                        <a:pt x="121509" y="282121"/>
                        <a:pt x="123930" y="284336"/>
                        <a:pt x="126902" y="285414"/>
                      </a:cubicBezTo>
                      <a:cubicBezTo>
                        <a:pt x="128207" y="285877"/>
                        <a:pt x="129581" y="286114"/>
                        <a:pt x="130965" y="286113"/>
                      </a:cubicBezTo>
                      <a:cubicBezTo>
                        <a:pt x="135974" y="286113"/>
                        <a:pt x="140448" y="282978"/>
                        <a:pt x="142157" y="278270"/>
                      </a:cubicBezTo>
                      <a:lnTo>
                        <a:pt x="237407" y="16333"/>
                      </a:lnTo>
                      <a:cubicBezTo>
                        <a:pt x="238485" y="13364"/>
                        <a:pt x="238339" y="10089"/>
                        <a:pt x="237002" y="7229"/>
                      </a:cubicBezTo>
                      <a:cubicBezTo>
                        <a:pt x="235665" y="4368"/>
                        <a:pt x="233247" y="2155"/>
                        <a:pt x="230278" y="10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8995029" y="4610100"/>
                <a:ext cx="1782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Full Stack Application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95791" y="4873625"/>
                <a:ext cx="145996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05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React + Node.js + API</a:t>
                </a:r>
              </a:p>
            </p:txBody>
          </p:sp>
        </p:grpSp>
      </p:grpSp>
      <p:grpSp>
        <p:nvGrpSpPr>
          <p:cNvPr id="32" name="footer"/>
          <p:cNvGrpSpPr/>
          <p:nvPr/>
        </p:nvGrpSpPr>
        <p:grpSpPr>
          <a:xfrm>
            <a:off x="566166" y="6302375"/>
            <a:ext cx="11059669" cy="205359"/>
            <a:chOff x="566166" y="6302375"/>
            <a:chExt cx="11059669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566166" y="6302375"/>
              <a:ext cx="1814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Data → Model → Deployment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37736" y="6302375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2026-10-26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4412101" cy="616077"/>
            <a:chOff x="555498" y="476250"/>
            <a:chExt cx="441210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441210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Bài Toán và Mục Tiêu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business-problem"/>
          <p:cNvGrpSpPr/>
          <p:nvPr/>
        </p:nvGrpSpPr>
        <p:grpSpPr>
          <a:xfrm>
            <a:off x="571500" y="1524000"/>
            <a:ext cx="11049000" cy="1143000"/>
            <a:chOff x="571500" y="1524000"/>
            <a:chExt cx="11049000" cy="114300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779294" y="1781314"/>
              <a:ext cx="310688" cy="308538"/>
              <a:chOff x="779294" y="1781314"/>
              <a:chExt cx="310688" cy="3085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69156" y="1869281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128588" y="64294"/>
                    </a:moveTo>
                    <a:cubicBezTo>
                      <a:pt x="128588" y="99802"/>
                      <a:pt x="99802" y="128588"/>
                      <a:pt x="64294" y="128588"/>
                    </a:cubicBezTo>
                    <a:cubicBezTo>
                      <a:pt x="28785" y="128588"/>
                      <a:pt x="0" y="99802"/>
                      <a:pt x="0" y="64294"/>
                    </a:cubicBezTo>
                    <a:cubicBezTo>
                      <a:pt x="0" y="28785"/>
                      <a:pt x="28785" y="0"/>
                      <a:pt x="64294" y="0"/>
                    </a:cubicBezTo>
                    <a:cubicBezTo>
                      <a:pt x="99802" y="0"/>
                      <a:pt x="128588" y="28785"/>
                      <a:pt x="128588" y="64294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79294" y="1781314"/>
                <a:ext cx="310688" cy="308538"/>
              </a:xfrm>
              <a:custGeom>
                <a:avLst/>
                <a:gdLst/>
                <a:ahLst/>
                <a:cxnLst/>
                <a:rect l="l" t="t" r="r" b="b"/>
                <a:pathLst>
                  <a:path w="310688" h="308538">
                    <a:moveTo>
                      <a:pt x="279890" y="92200"/>
                    </a:moveTo>
                    <a:cubicBezTo>
                      <a:pt x="310688" y="156613"/>
                      <a:pt x="287855" y="233884"/>
                      <a:pt x="226992" y="271211"/>
                    </a:cubicBezTo>
                    <a:cubicBezTo>
                      <a:pt x="166129" y="308538"/>
                      <a:pt x="86903" y="293860"/>
                      <a:pt x="43452" y="237207"/>
                    </a:cubicBezTo>
                    <a:cubicBezTo>
                      <a:pt x="0" y="180554"/>
                      <a:pt x="6363" y="100232"/>
                      <a:pt x="58192" y="51127"/>
                    </a:cubicBezTo>
                    <a:cubicBezTo>
                      <a:pt x="110021" y="2021"/>
                      <a:pt x="190570" y="0"/>
                      <a:pt x="244797" y="46444"/>
                    </a:cubicBezTo>
                    <a:lnTo>
                      <a:pt x="275162" y="16065"/>
                    </a:lnTo>
                    <a:cubicBezTo>
                      <a:pt x="279349" y="11878"/>
                      <a:pt x="286138" y="11878"/>
                      <a:pt x="290325" y="16065"/>
                    </a:cubicBezTo>
                    <a:cubicBezTo>
                      <a:pt x="294512" y="20252"/>
                      <a:pt x="294512" y="27041"/>
                      <a:pt x="290325" y="31228"/>
                    </a:cubicBezTo>
                    <a:lnTo>
                      <a:pt x="161737" y="159815"/>
                    </a:lnTo>
                    <a:cubicBezTo>
                      <a:pt x="157550" y="164002"/>
                      <a:pt x="150762" y="164002"/>
                      <a:pt x="146574" y="159815"/>
                    </a:cubicBezTo>
                    <a:cubicBezTo>
                      <a:pt x="142387" y="155628"/>
                      <a:pt x="142387" y="148840"/>
                      <a:pt x="146574" y="144653"/>
                    </a:cubicBezTo>
                    <a:lnTo>
                      <a:pt x="183704" y="107523"/>
                    </a:lnTo>
                    <a:cubicBezTo>
                      <a:pt x="162988" y="93822"/>
                      <a:pt x="135572" y="96155"/>
                      <a:pt x="117468" y="113158"/>
                    </a:cubicBezTo>
                    <a:cubicBezTo>
                      <a:pt x="99365" y="130162"/>
                      <a:pt x="95320" y="157378"/>
                      <a:pt x="107697" y="178911"/>
                    </a:cubicBezTo>
                    <a:cubicBezTo>
                      <a:pt x="120074" y="200445"/>
                      <a:pt x="145627" y="210649"/>
                      <a:pt x="169432" y="203564"/>
                    </a:cubicBezTo>
                    <a:cubicBezTo>
                      <a:pt x="193237" y="196479"/>
                      <a:pt x="209052" y="173963"/>
                      <a:pt x="207640" y="149167"/>
                    </a:cubicBezTo>
                    <a:cubicBezTo>
                      <a:pt x="207307" y="143248"/>
                      <a:pt x="211835" y="138181"/>
                      <a:pt x="217753" y="137848"/>
                    </a:cubicBezTo>
                    <a:cubicBezTo>
                      <a:pt x="223671" y="137515"/>
                      <a:pt x="228739" y="142043"/>
                      <a:pt x="229071" y="147961"/>
                    </a:cubicBezTo>
                    <a:cubicBezTo>
                      <a:pt x="231084" y="183081"/>
                      <a:pt x="208419" y="214882"/>
                      <a:pt x="174565" y="224440"/>
                    </a:cubicBezTo>
                    <a:cubicBezTo>
                      <a:pt x="140710" y="233998"/>
                      <a:pt x="104761" y="218744"/>
                      <a:pt x="88110" y="187756"/>
                    </a:cubicBezTo>
                    <a:cubicBezTo>
                      <a:pt x="71459" y="156769"/>
                      <a:pt x="78580" y="118372"/>
                      <a:pt x="105235" y="95416"/>
                    </a:cubicBezTo>
                    <a:cubicBezTo>
                      <a:pt x="131891" y="72460"/>
                      <a:pt x="170918" y="71111"/>
                      <a:pt x="199094" y="92173"/>
                    </a:cubicBezTo>
                    <a:lnTo>
                      <a:pt x="229567" y="61700"/>
                    </a:lnTo>
                    <a:cubicBezTo>
                      <a:pt x="183323" y="23306"/>
                      <a:pt x="115580" y="25918"/>
                      <a:pt x="72430" y="67761"/>
                    </a:cubicBezTo>
                    <a:cubicBezTo>
                      <a:pt x="29281" y="109603"/>
                      <a:pt x="24586" y="177234"/>
                      <a:pt x="61540" y="224637"/>
                    </a:cubicBezTo>
                    <a:cubicBezTo>
                      <a:pt x="98494" y="272040"/>
                      <a:pt x="165227" y="283988"/>
                      <a:pt x="216332" y="252351"/>
                    </a:cubicBezTo>
                    <a:cubicBezTo>
                      <a:pt x="267438" y="220714"/>
                      <a:pt x="286500" y="155656"/>
                      <a:pt x="260549" y="101442"/>
                    </a:cubicBezTo>
                    <a:cubicBezTo>
                      <a:pt x="257996" y="96101"/>
                      <a:pt x="260257" y="89702"/>
                      <a:pt x="265598" y="87150"/>
                    </a:cubicBezTo>
                    <a:cubicBezTo>
                      <a:pt x="270939" y="84598"/>
                      <a:pt x="277338" y="86859"/>
                      <a:pt x="279890" y="92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279017" y="1739900"/>
              <a:ext cx="1599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Business Problem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8255" y="1987550"/>
              <a:ext cx="55302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vi" sz="15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 xml:space="preserve">Nhà phân phối cần hiểu </a:t>
              </a:r>
              <a:r>
                <a:rPr lang="vi" sz="15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kiểu cơ cấu chi tiêu</a:t>
              </a:r>
              <a:br>
                <a:rPr lang="vi" sz="15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</a:br>
              <a:r>
                <a:rPr lang="vi" sz="15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của khách hàng bán sỉ để hỗ trợ thiết kế danh mục và dịch vụ</a:t>
              </a:r>
            </a:p>
          </p:txBody>
        </p:sp>
      </p:grpSp>
      <p:grpSp>
        <p:nvGrpSpPr>
          <p:cNvPr id="16" name="research-question"/>
          <p:cNvGrpSpPr/>
          <p:nvPr/>
        </p:nvGrpSpPr>
        <p:grpSpPr>
          <a:xfrm>
            <a:off x="571500" y="2952750"/>
            <a:ext cx="11049000" cy="958152"/>
            <a:chOff x="571500" y="2952750"/>
            <a:chExt cx="11049000" cy="958152"/>
          </a:xfrm>
        </p:grpSpPr>
        <p:sp>
          <p:nvSpPr>
            <p:cNvPr id="12" name="Rectangle 12"/>
            <p:cNvSpPr/>
            <p:nvPr/>
          </p:nvSpPr>
          <p:spPr>
            <a:xfrm>
              <a:off x="571500" y="2952750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DBEAFE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0392" y="3121025"/>
              <a:ext cx="17528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Research Question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0011" y="3394075"/>
              <a:ext cx="59930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i="1" dirty="0">
                  <a:solidFill>
                    <a:srgbClr val="1E3A8A"/>
                  </a:solidFill>
                  <a:latin typeface="Inter"/>
                  <a:ea typeface="Inter"/>
                  <a:cs typeface="Inter"/>
                </a:rPr>
                <a:t>"Sau log-transform và chuẩn hóa, K-means tạo ra các phân khúc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011" y="3632200"/>
              <a:ext cx="3484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i="1" dirty="0">
                  <a:solidFill>
                    <a:srgbClr val="1E3A8A"/>
                  </a:solidFill>
                  <a:latin typeface="Inter"/>
                  <a:ea typeface="Inter"/>
                  <a:cs typeface="Inter"/>
                </a:rPr>
                <a:t>ổn định và có ý nghĩa kinh doanh nào?"</a:t>
              </a:r>
            </a:p>
          </p:txBody>
        </p:sp>
      </p:grpSp>
      <p:grpSp>
        <p:nvGrpSpPr>
          <p:cNvPr id="30" name="objectives"/>
          <p:cNvGrpSpPr/>
          <p:nvPr/>
        </p:nvGrpSpPr>
        <p:grpSpPr>
          <a:xfrm>
            <a:off x="563880" y="4251325"/>
            <a:ext cx="3892864" cy="1419733"/>
            <a:chOff x="563880" y="4251325"/>
            <a:chExt cx="3892864" cy="1419733"/>
          </a:xfrm>
        </p:grpSpPr>
        <p:sp>
          <p:nvSpPr>
            <p:cNvPr id="17" name="TextBox 17"/>
            <p:cNvSpPr txBox="1"/>
            <p:nvPr/>
          </p:nvSpPr>
          <p:spPr>
            <a:xfrm>
              <a:off x="563880" y="4251325"/>
              <a:ext cx="11240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Objectives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592931" y="4641056"/>
              <a:ext cx="185738" cy="185738"/>
              <a:chOff x="592931" y="4641056"/>
              <a:chExt cx="185738" cy="18573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00075" y="46482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92931" y="46410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33642" y="66383"/>
                    </a:moveTo>
                    <a:cubicBezTo>
                      <a:pt x="134983" y="67723"/>
                      <a:pt x="135737" y="69541"/>
                      <a:pt x="135737" y="71438"/>
                    </a:cubicBezTo>
                    <a:cubicBezTo>
                      <a:pt x="135737" y="73334"/>
                      <a:pt x="134983" y="75152"/>
                      <a:pt x="133642" y="76492"/>
                    </a:cubicBezTo>
                    <a:lnTo>
                      <a:pt x="83635" y="126498"/>
                    </a:lnTo>
                    <a:cubicBezTo>
                      <a:pt x="82296" y="127839"/>
                      <a:pt x="80477" y="128593"/>
                      <a:pt x="78581" y="128593"/>
                    </a:cubicBezTo>
                    <a:cubicBezTo>
                      <a:pt x="76685" y="128593"/>
                      <a:pt x="74867" y="127839"/>
                      <a:pt x="73527" y="126498"/>
                    </a:cubicBezTo>
                    <a:lnTo>
                      <a:pt x="52096" y="105067"/>
                    </a:lnTo>
                    <a:cubicBezTo>
                      <a:pt x="49304" y="102275"/>
                      <a:pt x="49304" y="97750"/>
                      <a:pt x="52096" y="94958"/>
                    </a:cubicBezTo>
                    <a:cubicBezTo>
                      <a:pt x="54887" y="92167"/>
                      <a:pt x="59413" y="92167"/>
                      <a:pt x="62204" y="94958"/>
                    </a:cubicBezTo>
                    <a:lnTo>
                      <a:pt x="78581" y="111344"/>
                    </a:lnTo>
                    <a:lnTo>
                      <a:pt x="123533" y="66383"/>
                    </a:lnTo>
                    <a:cubicBezTo>
                      <a:pt x="124873" y="65042"/>
                      <a:pt x="126691" y="64288"/>
                      <a:pt x="128588" y="64288"/>
                    </a:cubicBezTo>
                    <a:cubicBezTo>
                      <a:pt x="130484" y="64288"/>
                      <a:pt x="132302" y="65042"/>
                      <a:pt x="133642" y="66383"/>
                    </a:cubicBezTo>
                    <a:close/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36" y="54"/>
                      <a:pt x="185683" y="41601"/>
                      <a:pt x="185738" y="92869"/>
                    </a:cubicBezTo>
                    <a:close/>
                    <a:moveTo>
                      <a:pt x="171450" y="92869"/>
                    </a:moveTo>
                    <a:cubicBezTo>
                      <a:pt x="171450" y="49470"/>
                      <a:pt x="136268" y="14288"/>
                      <a:pt x="92869" y="14288"/>
                    </a:cubicBezTo>
                    <a:cubicBezTo>
                      <a:pt x="49470" y="14288"/>
                      <a:pt x="14288" y="49470"/>
                      <a:pt x="14288" y="92869"/>
                    </a:cubicBezTo>
                    <a:cubicBezTo>
                      <a:pt x="14288" y="136268"/>
                      <a:pt x="49470" y="171450"/>
                      <a:pt x="92869" y="171450"/>
                    </a:cubicBezTo>
                    <a:cubicBezTo>
                      <a:pt x="136248" y="171401"/>
                      <a:pt x="171401" y="136248"/>
                      <a:pt x="171450" y="928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98017" y="4645025"/>
              <a:ext cx="3558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Áp dụng K-Means phân khúc theo chi tiêu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592931" y="5022056"/>
              <a:ext cx="185738" cy="185738"/>
              <a:chOff x="592931" y="5022056"/>
              <a:chExt cx="185738" cy="18573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00075" y="50292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92931" y="50220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33642" y="66383"/>
                    </a:moveTo>
                    <a:cubicBezTo>
                      <a:pt x="134983" y="67723"/>
                      <a:pt x="135737" y="69541"/>
                      <a:pt x="135737" y="71438"/>
                    </a:cubicBezTo>
                    <a:cubicBezTo>
                      <a:pt x="135737" y="73334"/>
                      <a:pt x="134983" y="75152"/>
                      <a:pt x="133642" y="76492"/>
                    </a:cubicBezTo>
                    <a:lnTo>
                      <a:pt x="83635" y="126498"/>
                    </a:lnTo>
                    <a:cubicBezTo>
                      <a:pt x="82296" y="127839"/>
                      <a:pt x="80477" y="128593"/>
                      <a:pt x="78581" y="128593"/>
                    </a:cubicBezTo>
                    <a:cubicBezTo>
                      <a:pt x="76685" y="128593"/>
                      <a:pt x="74867" y="127839"/>
                      <a:pt x="73527" y="126498"/>
                    </a:cubicBezTo>
                    <a:lnTo>
                      <a:pt x="52096" y="105067"/>
                    </a:lnTo>
                    <a:cubicBezTo>
                      <a:pt x="49304" y="102275"/>
                      <a:pt x="49304" y="97750"/>
                      <a:pt x="52096" y="94958"/>
                    </a:cubicBezTo>
                    <a:cubicBezTo>
                      <a:pt x="54887" y="92167"/>
                      <a:pt x="59413" y="92167"/>
                      <a:pt x="62204" y="94958"/>
                    </a:cubicBezTo>
                    <a:lnTo>
                      <a:pt x="78581" y="111344"/>
                    </a:lnTo>
                    <a:lnTo>
                      <a:pt x="123533" y="66383"/>
                    </a:lnTo>
                    <a:cubicBezTo>
                      <a:pt x="124873" y="65042"/>
                      <a:pt x="126691" y="64288"/>
                      <a:pt x="128588" y="64288"/>
                    </a:cubicBezTo>
                    <a:cubicBezTo>
                      <a:pt x="130484" y="64288"/>
                      <a:pt x="132302" y="65042"/>
                      <a:pt x="133642" y="66383"/>
                    </a:cubicBezTo>
                    <a:close/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36" y="54"/>
                      <a:pt x="185683" y="41601"/>
                      <a:pt x="185738" y="92869"/>
                    </a:cubicBezTo>
                    <a:close/>
                    <a:moveTo>
                      <a:pt x="171450" y="92869"/>
                    </a:moveTo>
                    <a:cubicBezTo>
                      <a:pt x="171450" y="49470"/>
                      <a:pt x="136268" y="14288"/>
                      <a:pt x="92869" y="14288"/>
                    </a:cubicBezTo>
                    <a:cubicBezTo>
                      <a:pt x="49470" y="14288"/>
                      <a:pt x="14288" y="49470"/>
                      <a:pt x="14288" y="92869"/>
                    </a:cubicBezTo>
                    <a:cubicBezTo>
                      <a:pt x="14288" y="136268"/>
                      <a:pt x="49470" y="171450"/>
                      <a:pt x="92869" y="171450"/>
                    </a:cubicBezTo>
                    <a:cubicBezTo>
                      <a:pt x="136248" y="171401"/>
                      <a:pt x="171401" y="136248"/>
                      <a:pt x="171450" y="928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898017" y="5026025"/>
              <a:ext cx="3518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Phân tích cơ cấu chi tiêu từng phân khúc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92931" y="5403056"/>
              <a:ext cx="185738" cy="185738"/>
              <a:chOff x="592931" y="5403056"/>
              <a:chExt cx="185738" cy="1857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00075" y="54102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92931" y="54030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33642" y="66383"/>
                    </a:moveTo>
                    <a:cubicBezTo>
                      <a:pt x="134983" y="67723"/>
                      <a:pt x="135737" y="69541"/>
                      <a:pt x="135737" y="71438"/>
                    </a:cubicBezTo>
                    <a:cubicBezTo>
                      <a:pt x="135737" y="73334"/>
                      <a:pt x="134983" y="75152"/>
                      <a:pt x="133642" y="76492"/>
                    </a:cubicBezTo>
                    <a:lnTo>
                      <a:pt x="83635" y="126498"/>
                    </a:lnTo>
                    <a:cubicBezTo>
                      <a:pt x="82296" y="127839"/>
                      <a:pt x="80477" y="128593"/>
                      <a:pt x="78581" y="128593"/>
                    </a:cubicBezTo>
                    <a:cubicBezTo>
                      <a:pt x="76685" y="128593"/>
                      <a:pt x="74867" y="127839"/>
                      <a:pt x="73527" y="126498"/>
                    </a:cubicBezTo>
                    <a:lnTo>
                      <a:pt x="52096" y="105067"/>
                    </a:lnTo>
                    <a:cubicBezTo>
                      <a:pt x="49304" y="102275"/>
                      <a:pt x="49304" y="97750"/>
                      <a:pt x="52096" y="94958"/>
                    </a:cubicBezTo>
                    <a:cubicBezTo>
                      <a:pt x="54887" y="92167"/>
                      <a:pt x="59413" y="92167"/>
                      <a:pt x="62204" y="94958"/>
                    </a:cubicBezTo>
                    <a:lnTo>
                      <a:pt x="78581" y="111344"/>
                    </a:lnTo>
                    <a:lnTo>
                      <a:pt x="123533" y="66383"/>
                    </a:lnTo>
                    <a:cubicBezTo>
                      <a:pt x="124873" y="65042"/>
                      <a:pt x="126691" y="64288"/>
                      <a:pt x="128588" y="64288"/>
                    </a:cubicBezTo>
                    <a:cubicBezTo>
                      <a:pt x="130484" y="64288"/>
                      <a:pt x="132302" y="65042"/>
                      <a:pt x="133642" y="66383"/>
                    </a:cubicBezTo>
                    <a:close/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36" y="54"/>
                      <a:pt x="185683" y="41601"/>
                      <a:pt x="185738" y="92869"/>
                    </a:cubicBezTo>
                    <a:close/>
                    <a:moveTo>
                      <a:pt x="171450" y="92869"/>
                    </a:moveTo>
                    <a:cubicBezTo>
                      <a:pt x="171450" y="49470"/>
                      <a:pt x="136268" y="14288"/>
                      <a:pt x="92869" y="14288"/>
                    </a:cubicBezTo>
                    <a:cubicBezTo>
                      <a:pt x="49470" y="14288"/>
                      <a:pt x="14288" y="49470"/>
                      <a:pt x="14288" y="92869"/>
                    </a:cubicBezTo>
                    <a:cubicBezTo>
                      <a:pt x="14288" y="136268"/>
                      <a:pt x="49470" y="171450"/>
                      <a:pt x="92869" y="171450"/>
                    </a:cubicBezTo>
                    <a:cubicBezTo>
                      <a:pt x="136248" y="171401"/>
                      <a:pt x="171401" y="136248"/>
                      <a:pt x="171450" y="928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98017" y="5407025"/>
              <a:ext cx="3209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Đóng gói model thành web app với API</a:t>
              </a:r>
            </a:p>
          </p:txBody>
        </p:sp>
      </p:grpSp>
      <p:grpSp>
        <p:nvGrpSpPr>
          <p:cNvPr id="37" name="ethical-note"/>
          <p:cNvGrpSpPr/>
          <p:nvPr/>
        </p:nvGrpSpPr>
        <p:grpSpPr>
          <a:xfrm>
            <a:off x="6286500" y="4191000"/>
            <a:ext cx="5334000" cy="2095500"/>
            <a:chOff x="6286500" y="4191000"/>
            <a:chExt cx="5334000" cy="2095500"/>
          </a:xfrm>
        </p:grpSpPr>
        <p:sp>
          <p:nvSpPr>
            <p:cNvPr id="31" name="Rectangle 31"/>
            <p:cNvSpPr/>
            <p:nvPr/>
          </p:nvSpPr>
          <p:spPr>
            <a:xfrm>
              <a:off x="6286500" y="4191000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EF3C7"/>
            </a:solidFill>
            <a:ln w="19050">
              <a:solidFill>
                <a:srgbClr val="F59E0B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494763" y="4457699"/>
              <a:ext cx="269267" cy="238235"/>
              <a:chOff x="6494763" y="4457699"/>
              <a:chExt cx="269267" cy="23823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500812" y="4463915"/>
                <a:ext cx="257175" cy="22238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2385">
                    <a:moveTo>
                      <a:pt x="232720" y="222385"/>
                    </a:moveTo>
                    <a:lnTo>
                      <a:pt x="24455" y="222385"/>
                    </a:lnTo>
                    <a:cubicBezTo>
                      <a:pt x="9430" y="222385"/>
                      <a:pt x="0" y="206657"/>
                      <a:pt x="7299" y="193917"/>
                    </a:cubicBezTo>
                    <a:lnTo>
                      <a:pt x="111431" y="13097"/>
                    </a:lnTo>
                    <a:cubicBezTo>
                      <a:pt x="118932" y="0"/>
                      <a:pt x="138243" y="0"/>
                      <a:pt x="145744" y="13097"/>
                    </a:cubicBezTo>
                    <a:lnTo>
                      <a:pt x="249876" y="193917"/>
                    </a:lnTo>
                    <a:cubicBezTo>
                      <a:pt x="257175" y="206657"/>
                      <a:pt x="247745" y="222385"/>
                      <a:pt x="232720" y="222385"/>
                    </a:cubicBezTo>
                    <a:close/>
                  </a:path>
                </a:pathLst>
              </a:custGeom>
              <a:solidFill>
                <a:srgbClr val="D9770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494763" y="4457699"/>
                <a:ext cx="269267" cy="238235"/>
              </a:xfrm>
              <a:custGeom>
                <a:avLst/>
                <a:gdLst/>
                <a:ahLst/>
                <a:cxnLst/>
                <a:rect l="l" t="t" r="r" b="b"/>
                <a:pathLst>
                  <a:path w="269267" h="238235">
                    <a:moveTo>
                      <a:pt x="264177" y="195370"/>
                    </a:moveTo>
                    <a:lnTo>
                      <a:pt x="160057" y="14550"/>
                    </a:lnTo>
                    <a:lnTo>
                      <a:pt x="160057" y="14550"/>
                    </a:lnTo>
                    <a:cubicBezTo>
                      <a:pt x="154763" y="5536"/>
                      <a:pt x="145091" y="0"/>
                      <a:pt x="134637" y="0"/>
                    </a:cubicBezTo>
                    <a:cubicBezTo>
                      <a:pt x="124183" y="0"/>
                      <a:pt x="114511" y="5536"/>
                      <a:pt x="109217" y="14550"/>
                    </a:cubicBezTo>
                    <a:lnTo>
                      <a:pt x="5097" y="195370"/>
                    </a:lnTo>
                    <a:cubicBezTo>
                      <a:pt x="0" y="204094"/>
                      <a:pt x="0" y="214888"/>
                      <a:pt x="5097" y="223612"/>
                    </a:cubicBezTo>
                    <a:cubicBezTo>
                      <a:pt x="10327" y="232686"/>
                      <a:pt x="20044" y="238235"/>
                      <a:pt x="30517" y="238126"/>
                    </a:cubicBezTo>
                    <a:lnTo>
                      <a:pt x="238757" y="238126"/>
                    </a:lnTo>
                    <a:cubicBezTo>
                      <a:pt x="249222" y="238226"/>
                      <a:pt x="258928" y="232679"/>
                      <a:pt x="264153" y="223612"/>
                    </a:cubicBezTo>
                    <a:cubicBezTo>
                      <a:pt x="269258" y="214892"/>
                      <a:pt x="269267" y="204099"/>
                      <a:pt x="264177" y="195370"/>
                    </a:cubicBezTo>
                    <a:close/>
                    <a:moveTo>
                      <a:pt x="247663" y="214075"/>
                    </a:moveTo>
                    <a:cubicBezTo>
                      <a:pt x="245815" y="217228"/>
                      <a:pt x="242411" y="219139"/>
                      <a:pt x="238757" y="219076"/>
                    </a:cubicBezTo>
                    <a:lnTo>
                      <a:pt x="30517" y="219076"/>
                    </a:lnTo>
                    <a:cubicBezTo>
                      <a:pt x="26863" y="219139"/>
                      <a:pt x="23459" y="217228"/>
                      <a:pt x="21611" y="214075"/>
                    </a:cubicBezTo>
                    <a:cubicBezTo>
                      <a:pt x="19936" y="211240"/>
                      <a:pt x="19936" y="207719"/>
                      <a:pt x="21611" y="204884"/>
                    </a:cubicBezTo>
                    <a:lnTo>
                      <a:pt x="125731" y="24063"/>
                    </a:lnTo>
                    <a:cubicBezTo>
                      <a:pt x="127615" y="20929"/>
                      <a:pt x="131004" y="19011"/>
                      <a:pt x="134661" y="19011"/>
                    </a:cubicBezTo>
                    <a:cubicBezTo>
                      <a:pt x="138318" y="19011"/>
                      <a:pt x="141707" y="20929"/>
                      <a:pt x="143591" y="24063"/>
                    </a:cubicBezTo>
                    <a:lnTo>
                      <a:pt x="247711" y="204884"/>
                    </a:lnTo>
                    <a:cubicBezTo>
                      <a:pt x="249371" y="207727"/>
                      <a:pt x="249352" y="211249"/>
                      <a:pt x="247663" y="214075"/>
                    </a:cubicBezTo>
                    <a:close/>
                    <a:moveTo>
                      <a:pt x="125112" y="142876"/>
                    </a:moveTo>
                    <a:lnTo>
                      <a:pt x="125112" y="95251"/>
                    </a:lnTo>
                    <a:cubicBezTo>
                      <a:pt x="125112" y="89990"/>
                      <a:pt x="129377" y="85726"/>
                      <a:pt x="134637" y="85726"/>
                    </a:cubicBezTo>
                    <a:cubicBezTo>
                      <a:pt x="139898" y="85726"/>
                      <a:pt x="144162" y="89990"/>
                      <a:pt x="144162" y="95251"/>
                    </a:cubicBezTo>
                    <a:lnTo>
                      <a:pt x="144162" y="142876"/>
                    </a:lnTo>
                    <a:cubicBezTo>
                      <a:pt x="144162" y="148136"/>
                      <a:pt x="139898" y="152401"/>
                      <a:pt x="134637" y="152401"/>
                    </a:cubicBezTo>
                    <a:cubicBezTo>
                      <a:pt x="129377" y="152401"/>
                      <a:pt x="125112" y="148136"/>
                      <a:pt x="125112" y="142876"/>
                    </a:cubicBezTo>
                    <a:close/>
                    <a:moveTo>
                      <a:pt x="148925" y="185738"/>
                    </a:moveTo>
                    <a:cubicBezTo>
                      <a:pt x="148925" y="193629"/>
                      <a:pt x="142528" y="200026"/>
                      <a:pt x="134637" y="200026"/>
                    </a:cubicBezTo>
                    <a:cubicBezTo>
                      <a:pt x="126746" y="200026"/>
                      <a:pt x="120350" y="193629"/>
                      <a:pt x="120350" y="185738"/>
                    </a:cubicBezTo>
                    <a:cubicBezTo>
                      <a:pt x="120350" y="177848"/>
                      <a:pt x="126746" y="171451"/>
                      <a:pt x="134637" y="171451"/>
                    </a:cubicBezTo>
                    <a:cubicBezTo>
                      <a:pt x="142528" y="171451"/>
                      <a:pt x="148925" y="177848"/>
                      <a:pt x="148925" y="185738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946392" y="4502150"/>
              <a:ext cx="9546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rgbClr val="92400E"/>
                  </a:solidFill>
                  <a:latin typeface="Inter"/>
                  <a:ea typeface="Inter"/>
                  <a:cs typeface="Inter"/>
                </a:rPr>
                <a:t>Important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70523" y="4822825"/>
              <a:ext cx="2500122" cy="488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vi" sz="1280" dirty="0">
                  <a:solidFill>
                    <a:srgbClr val="78350F"/>
                  </a:solidFill>
                  <a:latin typeface="Inter"/>
                  <a:ea typeface="Inter"/>
                  <a:cs typeface="Inter"/>
                </a:rPr>
                <a:t>Cụm CHỈ mô tả hành vi chi tiêu,</a:t>
              </a:r>
              <a:br>
                <a:rPr lang="vi" sz="1280" dirty="0">
                  <a:solidFill>
                    <a:srgbClr val="78350F"/>
                  </a:solidFill>
                  <a:latin typeface="Inter"/>
                  <a:ea typeface="Inter"/>
                  <a:cs typeface="Inter"/>
                </a:rPr>
              </a:br>
              <a:r>
                <a:rPr lang="vi" sz="1280" dirty="0">
                  <a:solidFill>
                    <a:srgbClr val="78350F"/>
                  </a:solidFill>
                  <a:latin typeface="Inter"/>
                  <a:ea typeface="Inter"/>
                  <a:cs typeface="Inter"/>
                </a:rPr>
                <a:t>KHÔNG đánh giá giá trị con người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19383" y="654050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7012156" cy="616077"/>
            <a:chOff x="555498" y="476250"/>
            <a:chExt cx="701215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70121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Dữ Liệu UCI Wholesale Customers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source-info"/>
          <p:cNvGrpSpPr/>
          <p:nvPr/>
        </p:nvGrpSpPr>
        <p:grpSpPr>
          <a:xfrm>
            <a:off x="571500" y="1524000"/>
            <a:ext cx="5334000" cy="2667000"/>
            <a:chOff x="571500" y="1524000"/>
            <a:chExt cx="5334000" cy="266700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5334000" cy="2667000"/>
            </a:xfrm>
            <a:prstGeom prst="roundRect">
              <a:avLst>
                <a:gd name="adj" fmla="val 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9630" y="172720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Source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890588" y="2120503"/>
              <a:ext cx="200025" cy="216694"/>
              <a:chOff x="890588" y="2120503"/>
              <a:chExt cx="200025" cy="21669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98922" y="2128838"/>
                <a:ext cx="18335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00012">
                    <a:moveTo>
                      <a:pt x="183356" y="50006"/>
                    </a:moveTo>
                    <a:cubicBezTo>
                      <a:pt x="183356" y="77624"/>
                      <a:pt x="142309" y="100012"/>
                      <a:pt x="91678" y="100012"/>
                    </a:cubicBezTo>
                    <a:cubicBezTo>
                      <a:pt x="41047" y="100012"/>
                      <a:pt x="0" y="77624"/>
                      <a:pt x="0" y="50006"/>
                    </a:cubicBezTo>
                    <a:cubicBezTo>
                      <a:pt x="0" y="22388"/>
                      <a:pt x="41047" y="0"/>
                      <a:pt x="91678" y="0"/>
                    </a:cubicBezTo>
                    <a:cubicBezTo>
                      <a:pt x="142309" y="0"/>
                      <a:pt x="183356" y="22388"/>
                      <a:pt x="183356" y="50006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90588" y="2120503"/>
                <a:ext cx="2000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6694">
                    <a:moveTo>
                      <a:pt x="100012" y="0"/>
                    </a:moveTo>
                    <a:cubicBezTo>
                      <a:pt x="43933" y="0"/>
                      <a:pt x="0" y="25628"/>
                      <a:pt x="0" y="58341"/>
                    </a:cubicBezTo>
                    <a:lnTo>
                      <a:pt x="0" y="158353"/>
                    </a:lnTo>
                    <a:cubicBezTo>
                      <a:pt x="0" y="191066"/>
                      <a:pt x="43933" y="216694"/>
                      <a:pt x="100012" y="216694"/>
                    </a:cubicBezTo>
                    <a:cubicBezTo>
                      <a:pt x="156092" y="216694"/>
                      <a:pt x="200025" y="191066"/>
                      <a:pt x="200025" y="158353"/>
                    </a:cubicBezTo>
                    <a:lnTo>
                      <a:pt x="200025" y="58341"/>
                    </a:lnTo>
                    <a:cubicBezTo>
                      <a:pt x="200025" y="25628"/>
                      <a:pt x="156092" y="0"/>
                      <a:pt x="100012" y="0"/>
                    </a:cubicBezTo>
                    <a:close/>
                    <a:moveTo>
                      <a:pt x="183356" y="108347"/>
                    </a:moveTo>
                    <a:cubicBezTo>
                      <a:pt x="183356" y="118369"/>
                      <a:pt x="175147" y="128589"/>
                      <a:pt x="160843" y="136392"/>
                    </a:cubicBezTo>
                    <a:cubicBezTo>
                      <a:pt x="144737" y="145174"/>
                      <a:pt x="123130" y="150019"/>
                      <a:pt x="100012" y="150019"/>
                    </a:cubicBezTo>
                    <a:cubicBezTo>
                      <a:pt x="76895" y="150019"/>
                      <a:pt x="55288" y="145174"/>
                      <a:pt x="39182" y="136392"/>
                    </a:cubicBezTo>
                    <a:cubicBezTo>
                      <a:pt x="24878" y="128589"/>
                      <a:pt x="16669" y="118369"/>
                      <a:pt x="16669" y="108347"/>
                    </a:cubicBezTo>
                    <a:lnTo>
                      <a:pt x="16669" y="91011"/>
                    </a:lnTo>
                    <a:cubicBezTo>
                      <a:pt x="34442" y="106638"/>
                      <a:pt x="64831" y="116681"/>
                      <a:pt x="100012" y="116681"/>
                    </a:cubicBezTo>
                    <a:cubicBezTo>
                      <a:pt x="135194" y="116681"/>
                      <a:pt x="165583" y="106597"/>
                      <a:pt x="183356" y="91011"/>
                    </a:cubicBezTo>
                    <a:close/>
                    <a:moveTo>
                      <a:pt x="39182" y="30295"/>
                    </a:moveTo>
                    <a:cubicBezTo>
                      <a:pt x="55288" y="21513"/>
                      <a:pt x="76895" y="16669"/>
                      <a:pt x="100012" y="16669"/>
                    </a:cubicBezTo>
                    <a:cubicBezTo>
                      <a:pt x="123130" y="16669"/>
                      <a:pt x="144737" y="21513"/>
                      <a:pt x="160843" y="30295"/>
                    </a:cubicBezTo>
                    <a:cubicBezTo>
                      <a:pt x="175147" y="38099"/>
                      <a:pt x="183356" y="48319"/>
                      <a:pt x="183356" y="58341"/>
                    </a:cubicBezTo>
                    <a:cubicBezTo>
                      <a:pt x="183356" y="68363"/>
                      <a:pt x="175147" y="78583"/>
                      <a:pt x="160843" y="86386"/>
                    </a:cubicBezTo>
                    <a:cubicBezTo>
                      <a:pt x="144737" y="95168"/>
                      <a:pt x="123130" y="100012"/>
                      <a:pt x="100012" y="100012"/>
                    </a:cubicBezTo>
                    <a:cubicBezTo>
                      <a:pt x="76895" y="100012"/>
                      <a:pt x="55288" y="95168"/>
                      <a:pt x="39182" y="86386"/>
                    </a:cubicBezTo>
                    <a:cubicBezTo>
                      <a:pt x="24878" y="78583"/>
                      <a:pt x="16669" y="68363"/>
                      <a:pt x="16669" y="58341"/>
                    </a:cubicBezTo>
                    <a:cubicBezTo>
                      <a:pt x="16669" y="48319"/>
                      <a:pt x="24878" y="38099"/>
                      <a:pt x="39182" y="30295"/>
                    </a:cubicBezTo>
                    <a:close/>
                    <a:moveTo>
                      <a:pt x="160843" y="186398"/>
                    </a:moveTo>
                    <a:cubicBezTo>
                      <a:pt x="144737" y="195181"/>
                      <a:pt x="123130" y="200025"/>
                      <a:pt x="100012" y="200025"/>
                    </a:cubicBezTo>
                    <a:cubicBezTo>
                      <a:pt x="76895" y="200025"/>
                      <a:pt x="55288" y="195181"/>
                      <a:pt x="39182" y="186398"/>
                    </a:cubicBezTo>
                    <a:cubicBezTo>
                      <a:pt x="24878" y="178595"/>
                      <a:pt x="16669" y="168375"/>
                      <a:pt x="16669" y="158353"/>
                    </a:cubicBezTo>
                    <a:lnTo>
                      <a:pt x="16669" y="141018"/>
                    </a:lnTo>
                    <a:cubicBezTo>
                      <a:pt x="34442" y="156645"/>
                      <a:pt x="64831" y="166688"/>
                      <a:pt x="100012" y="166688"/>
                    </a:cubicBezTo>
                    <a:cubicBezTo>
                      <a:pt x="135194" y="166688"/>
                      <a:pt x="165583" y="156603"/>
                      <a:pt x="183356" y="141018"/>
                    </a:cubicBezTo>
                    <a:lnTo>
                      <a:pt x="183356" y="158353"/>
                    </a:lnTo>
                    <a:cubicBezTo>
                      <a:pt x="183356" y="168375"/>
                      <a:pt x="175147" y="178595"/>
                      <a:pt x="160843" y="18639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231773" y="2162175"/>
              <a:ext cx="271621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8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UCI Machine Learning Repository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1154" y="2562225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DOI: 10.24432/C5030X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1154" y="2800350"/>
              <a:ext cx="14869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License: CC BY 4.0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1154" y="3038475"/>
              <a:ext cx="1675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 xml:space="preserve">Size: </a:t>
              </a:r>
              <a:r>
                <a:rPr lang="vi" sz="12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440 customers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1154" y="3324225"/>
              <a:ext cx="25201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 xml:space="preserve">Features: </a:t>
              </a:r>
              <a:r>
                <a:rPr lang="vi" sz="120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6 spending variables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1154" y="3609975"/>
              <a:ext cx="2827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Unit: Annual monetary units (m.u.)</a:t>
              </a:r>
            </a:p>
          </p:txBody>
        </p:sp>
      </p:grpSp>
      <p:grpSp>
        <p:nvGrpSpPr>
          <p:cNvPr id="57" name="features"/>
          <p:cNvGrpSpPr/>
          <p:nvPr/>
        </p:nvGrpSpPr>
        <p:grpSpPr>
          <a:xfrm>
            <a:off x="6286500" y="1524000"/>
            <a:ext cx="5334000" cy="4572000"/>
            <a:chOff x="6286500" y="1524000"/>
            <a:chExt cx="5334000" cy="4572000"/>
          </a:xfrm>
        </p:grpSpPr>
        <p:sp>
          <p:nvSpPr>
            <p:cNvPr id="17" name="Rectangle 17"/>
            <p:cNvSpPr/>
            <p:nvPr/>
          </p:nvSpPr>
          <p:spPr>
            <a:xfrm>
              <a:off x="6286500" y="1524000"/>
              <a:ext cx="5334000" cy="4572000"/>
            </a:xfrm>
            <a:prstGeom prst="roundRect">
              <a:avLst>
                <a:gd name="adj" fmla="val 2500"/>
              </a:avLst>
            </a:prstGeom>
            <a:solidFill>
              <a:srgbClr val="EFF6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64630" y="1727200"/>
              <a:ext cx="3377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6 Primary Features (Clustering)</a:t>
              </a:r>
            </a:p>
          </p:txBody>
        </p:sp>
        <p:grpSp>
          <p:nvGrpSpPr>
            <p:cNvPr id="55" name="feature-list"/>
            <p:cNvGrpSpPr/>
            <p:nvPr/>
          </p:nvGrpSpPr>
          <p:grpSpPr>
            <a:xfrm>
              <a:off x="6572250" y="2095500"/>
              <a:ext cx="4762500" cy="3333750"/>
              <a:chOff x="6572250" y="2095500"/>
              <a:chExt cx="4762500" cy="33337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572250" y="2095500"/>
                <a:ext cx="4762500" cy="476250"/>
              </a:xfrm>
              <a:prstGeom prst="roundRect">
                <a:avLst>
                  <a:gd name="adj" fmla="val 16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6690717" y="2248495"/>
                <a:ext cx="201947" cy="170259"/>
                <a:chOff x="6690717" y="2248495"/>
                <a:chExt cx="201947" cy="170259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6698456" y="2256234"/>
                  <a:ext cx="185737" cy="15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54780">
                      <a:moveTo>
                        <a:pt x="185737" y="15478"/>
                      </a:moveTo>
                      <a:lnTo>
                        <a:pt x="185737" y="154780"/>
                      </a:lnTo>
                      <a:lnTo>
                        <a:pt x="0" y="154780"/>
                      </a:lnTo>
                      <a:lnTo>
                        <a:pt x="0" y="0"/>
                      </a:lnTo>
                      <a:lnTo>
                        <a:pt x="170259" y="0"/>
                      </a:lnTo>
                      <a:cubicBezTo>
                        <a:pt x="178807" y="0"/>
                        <a:pt x="185737" y="6930"/>
                        <a:pt x="185737" y="15478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6690717" y="2248495"/>
                  <a:ext cx="201947" cy="170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47" h="170259">
                      <a:moveTo>
                        <a:pt x="201215" y="162520"/>
                      </a:moveTo>
                      <a:cubicBezTo>
                        <a:pt x="201215" y="166794"/>
                        <a:pt x="197750" y="170259"/>
                        <a:pt x="193476" y="170259"/>
                      </a:cubicBezTo>
                      <a:lnTo>
                        <a:pt x="7739" y="170259"/>
                      </a:lnTo>
                      <a:cubicBezTo>
                        <a:pt x="3465" y="170259"/>
                        <a:pt x="0" y="166794"/>
                        <a:pt x="0" y="162520"/>
                      </a:cubicBezTo>
                      <a:lnTo>
                        <a:pt x="0" y="7739"/>
                      </a:lnTo>
                      <a:cubicBezTo>
                        <a:pt x="0" y="3465"/>
                        <a:pt x="3465" y="0"/>
                        <a:pt x="7739" y="0"/>
                      </a:cubicBezTo>
                      <a:cubicBezTo>
                        <a:pt x="12013" y="0"/>
                        <a:pt x="15478" y="3465"/>
                        <a:pt x="15478" y="7739"/>
                      </a:cubicBezTo>
                      <a:lnTo>
                        <a:pt x="15478" y="99030"/>
                      </a:lnTo>
                      <a:lnTo>
                        <a:pt x="64553" y="56108"/>
                      </a:lnTo>
                      <a:cubicBezTo>
                        <a:pt x="67305" y="53699"/>
                        <a:pt x="71369" y="53545"/>
                        <a:pt x="74295" y="55740"/>
                      </a:cubicBezTo>
                      <a:lnTo>
                        <a:pt x="131186" y="98411"/>
                      </a:lnTo>
                      <a:lnTo>
                        <a:pt x="188378" y="48369"/>
                      </a:lnTo>
                      <a:cubicBezTo>
                        <a:pt x="190421" y="46346"/>
                        <a:pt x="193417" y="45623"/>
                        <a:pt x="196158" y="46491"/>
                      </a:cubicBezTo>
                      <a:cubicBezTo>
                        <a:pt x="198899" y="47359"/>
                        <a:pt x="200933" y="49674"/>
                        <a:pt x="201440" y="52504"/>
                      </a:cubicBezTo>
                      <a:cubicBezTo>
                        <a:pt x="201947" y="55334"/>
                        <a:pt x="200843" y="58212"/>
                        <a:pt x="198574" y="59977"/>
                      </a:cubicBezTo>
                      <a:lnTo>
                        <a:pt x="136661" y="114151"/>
                      </a:lnTo>
                      <a:cubicBezTo>
                        <a:pt x="133909" y="116560"/>
                        <a:pt x="129846" y="116713"/>
                        <a:pt x="126920" y="114518"/>
                      </a:cubicBezTo>
                      <a:lnTo>
                        <a:pt x="70028" y="71867"/>
                      </a:lnTo>
                      <a:lnTo>
                        <a:pt x="15478" y="119597"/>
                      </a:lnTo>
                      <a:lnTo>
                        <a:pt x="15478" y="154780"/>
                      </a:lnTo>
                      <a:lnTo>
                        <a:pt x="193476" y="154780"/>
                      </a:lnTo>
                      <a:cubicBezTo>
                        <a:pt x="197750" y="154780"/>
                        <a:pt x="201215" y="158245"/>
                        <a:pt x="201215" y="1625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7042023" y="2228850"/>
                <a:ext cx="516142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Fresh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65810" y="2241550"/>
                <a:ext cx="138865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Sản phẩm tươi sống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572250" y="2667000"/>
                <a:ext cx="4762500" cy="476250"/>
              </a:xfrm>
              <a:prstGeom prst="roundRect">
                <a:avLst>
                  <a:gd name="adj" fmla="val 16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6690717" y="2819995"/>
                <a:ext cx="201947" cy="170259"/>
                <a:chOff x="6690717" y="2819995"/>
                <a:chExt cx="201947" cy="170259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6698456" y="2827734"/>
                  <a:ext cx="185737" cy="15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54780">
                      <a:moveTo>
                        <a:pt x="185737" y="15478"/>
                      </a:moveTo>
                      <a:lnTo>
                        <a:pt x="185737" y="154780"/>
                      </a:lnTo>
                      <a:lnTo>
                        <a:pt x="0" y="154780"/>
                      </a:lnTo>
                      <a:lnTo>
                        <a:pt x="0" y="0"/>
                      </a:lnTo>
                      <a:lnTo>
                        <a:pt x="170259" y="0"/>
                      </a:lnTo>
                      <a:cubicBezTo>
                        <a:pt x="178807" y="0"/>
                        <a:pt x="185737" y="6930"/>
                        <a:pt x="185737" y="15478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690717" y="2819995"/>
                  <a:ext cx="201947" cy="170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47" h="170259">
                      <a:moveTo>
                        <a:pt x="201215" y="162520"/>
                      </a:moveTo>
                      <a:cubicBezTo>
                        <a:pt x="201215" y="166794"/>
                        <a:pt x="197750" y="170259"/>
                        <a:pt x="193476" y="170259"/>
                      </a:cubicBezTo>
                      <a:lnTo>
                        <a:pt x="7739" y="170259"/>
                      </a:lnTo>
                      <a:cubicBezTo>
                        <a:pt x="3465" y="170259"/>
                        <a:pt x="0" y="166794"/>
                        <a:pt x="0" y="162520"/>
                      </a:cubicBezTo>
                      <a:lnTo>
                        <a:pt x="0" y="7739"/>
                      </a:lnTo>
                      <a:cubicBezTo>
                        <a:pt x="0" y="3465"/>
                        <a:pt x="3465" y="0"/>
                        <a:pt x="7739" y="0"/>
                      </a:cubicBezTo>
                      <a:cubicBezTo>
                        <a:pt x="12013" y="0"/>
                        <a:pt x="15478" y="3465"/>
                        <a:pt x="15478" y="7739"/>
                      </a:cubicBezTo>
                      <a:lnTo>
                        <a:pt x="15478" y="99030"/>
                      </a:lnTo>
                      <a:lnTo>
                        <a:pt x="64553" y="56108"/>
                      </a:lnTo>
                      <a:cubicBezTo>
                        <a:pt x="67305" y="53699"/>
                        <a:pt x="71369" y="53545"/>
                        <a:pt x="74295" y="55740"/>
                      </a:cubicBezTo>
                      <a:lnTo>
                        <a:pt x="131186" y="98411"/>
                      </a:lnTo>
                      <a:lnTo>
                        <a:pt x="188378" y="48369"/>
                      </a:lnTo>
                      <a:cubicBezTo>
                        <a:pt x="190421" y="46346"/>
                        <a:pt x="193417" y="45623"/>
                        <a:pt x="196158" y="46491"/>
                      </a:cubicBezTo>
                      <a:cubicBezTo>
                        <a:pt x="198899" y="47359"/>
                        <a:pt x="200933" y="49674"/>
                        <a:pt x="201440" y="52504"/>
                      </a:cubicBezTo>
                      <a:cubicBezTo>
                        <a:pt x="201947" y="55334"/>
                        <a:pt x="200843" y="58212"/>
                        <a:pt x="198574" y="59977"/>
                      </a:cubicBezTo>
                      <a:lnTo>
                        <a:pt x="136661" y="114151"/>
                      </a:lnTo>
                      <a:cubicBezTo>
                        <a:pt x="133909" y="116560"/>
                        <a:pt x="129846" y="116713"/>
                        <a:pt x="126920" y="114518"/>
                      </a:cubicBezTo>
                      <a:lnTo>
                        <a:pt x="70028" y="71867"/>
                      </a:lnTo>
                      <a:lnTo>
                        <a:pt x="15478" y="119597"/>
                      </a:lnTo>
                      <a:lnTo>
                        <a:pt x="15478" y="154780"/>
                      </a:lnTo>
                      <a:lnTo>
                        <a:pt x="193476" y="154780"/>
                      </a:lnTo>
                      <a:cubicBezTo>
                        <a:pt x="197750" y="154780"/>
                        <a:pt x="201215" y="158245"/>
                        <a:pt x="201215" y="1625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7042023" y="2800350"/>
                <a:ext cx="361584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Milk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371431" y="2813050"/>
                <a:ext cx="16830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Sữa và sản phẩm từ sữa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572250" y="3238500"/>
                <a:ext cx="4762500" cy="476250"/>
              </a:xfrm>
              <a:prstGeom prst="roundRect">
                <a:avLst>
                  <a:gd name="adj" fmla="val 16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690717" y="3391495"/>
                <a:ext cx="201947" cy="170259"/>
                <a:chOff x="6690717" y="3391495"/>
                <a:chExt cx="201947" cy="170259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6698456" y="3399234"/>
                  <a:ext cx="185737" cy="15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54780">
                      <a:moveTo>
                        <a:pt x="185737" y="15478"/>
                      </a:moveTo>
                      <a:lnTo>
                        <a:pt x="185737" y="154780"/>
                      </a:lnTo>
                      <a:lnTo>
                        <a:pt x="0" y="154780"/>
                      </a:lnTo>
                      <a:lnTo>
                        <a:pt x="0" y="0"/>
                      </a:lnTo>
                      <a:lnTo>
                        <a:pt x="170259" y="0"/>
                      </a:lnTo>
                      <a:cubicBezTo>
                        <a:pt x="178807" y="0"/>
                        <a:pt x="185737" y="6930"/>
                        <a:pt x="185737" y="15478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90717" y="3391495"/>
                  <a:ext cx="201947" cy="170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47" h="170259">
                      <a:moveTo>
                        <a:pt x="201215" y="162520"/>
                      </a:moveTo>
                      <a:cubicBezTo>
                        <a:pt x="201215" y="166794"/>
                        <a:pt x="197750" y="170259"/>
                        <a:pt x="193476" y="170259"/>
                      </a:cubicBezTo>
                      <a:lnTo>
                        <a:pt x="7739" y="170259"/>
                      </a:lnTo>
                      <a:cubicBezTo>
                        <a:pt x="3465" y="170259"/>
                        <a:pt x="0" y="166794"/>
                        <a:pt x="0" y="162520"/>
                      </a:cubicBezTo>
                      <a:lnTo>
                        <a:pt x="0" y="7739"/>
                      </a:lnTo>
                      <a:cubicBezTo>
                        <a:pt x="0" y="3465"/>
                        <a:pt x="3465" y="0"/>
                        <a:pt x="7739" y="0"/>
                      </a:cubicBezTo>
                      <a:cubicBezTo>
                        <a:pt x="12013" y="0"/>
                        <a:pt x="15478" y="3465"/>
                        <a:pt x="15478" y="7739"/>
                      </a:cubicBezTo>
                      <a:lnTo>
                        <a:pt x="15478" y="99030"/>
                      </a:lnTo>
                      <a:lnTo>
                        <a:pt x="64553" y="56108"/>
                      </a:lnTo>
                      <a:cubicBezTo>
                        <a:pt x="67305" y="53699"/>
                        <a:pt x="71369" y="53545"/>
                        <a:pt x="74295" y="55740"/>
                      </a:cubicBezTo>
                      <a:lnTo>
                        <a:pt x="131186" y="98411"/>
                      </a:lnTo>
                      <a:lnTo>
                        <a:pt x="188378" y="48369"/>
                      </a:lnTo>
                      <a:cubicBezTo>
                        <a:pt x="190421" y="46346"/>
                        <a:pt x="193417" y="45623"/>
                        <a:pt x="196158" y="46491"/>
                      </a:cubicBezTo>
                      <a:cubicBezTo>
                        <a:pt x="198899" y="47359"/>
                        <a:pt x="200933" y="49674"/>
                        <a:pt x="201440" y="52504"/>
                      </a:cubicBezTo>
                      <a:cubicBezTo>
                        <a:pt x="201947" y="55334"/>
                        <a:pt x="200843" y="58212"/>
                        <a:pt x="198574" y="59977"/>
                      </a:cubicBezTo>
                      <a:lnTo>
                        <a:pt x="136661" y="114151"/>
                      </a:lnTo>
                      <a:cubicBezTo>
                        <a:pt x="133909" y="116560"/>
                        <a:pt x="129846" y="116713"/>
                        <a:pt x="126920" y="114518"/>
                      </a:cubicBezTo>
                      <a:lnTo>
                        <a:pt x="70028" y="71867"/>
                      </a:lnTo>
                      <a:lnTo>
                        <a:pt x="15478" y="119597"/>
                      </a:lnTo>
                      <a:lnTo>
                        <a:pt x="15478" y="154780"/>
                      </a:lnTo>
                      <a:lnTo>
                        <a:pt x="193476" y="154780"/>
                      </a:lnTo>
                      <a:cubicBezTo>
                        <a:pt x="197750" y="154780"/>
                        <a:pt x="201215" y="158245"/>
                        <a:pt x="201215" y="1625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7042023" y="3371850"/>
                <a:ext cx="715164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Grocery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18105" y="3384550"/>
                <a:ext cx="9363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Hàng tạp hóa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572250" y="3810000"/>
                <a:ext cx="4762500" cy="476250"/>
              </a:xfrm>
              <a:prstGeom prst="roundRect">
                <a:avLst>
                  <a:gd name="adj" fmla="val 16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6690717" y="3962995"/>
                <a:ext cx="201947" cy="170259"/>
                <a:chOff x="6690717" y="3962995"/>
                <a:chExt cx="201947" cy="170259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6698456" y="3970734"/>
                  <a:ext cx="185737" cy="15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54780">
                      <a:moveTo>
                        <a:pt x="185737" y="15478"/>
                      </a:moveTo>
                      <a:lnTo>
                        <a:pt x="185737" y="154780"/>
                      </a:lnTo>
                      <a:lnTo>
                        <a:pt x="0" y="154780"/>
                      </a:lnTo>
                      <a:lnTo>
                        <a:pt x="0" y="0"/>
                      </a:lnTo>
                      <a:lnTo>
                        <a:pt x="170259" y="0"/>
                      </a:lnTo>
                      <a:cubicBezTo>
                        <a:pt x="178807" y="0"/>
                        <a:pt x="185737" y="6930"/>
                        <a:pt x="185737" y="15478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690717" y="3962995"/>
                  <a:ext cx="201947" cy="170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47" h="170259">
                      <a:moveTo>
                        <a:pt x="201215" y="162520"/>
                      </a:moveTo>
                      <a:cubicBezTo>
                        <a:pt x="201215" y="166794"/>
                        <a:pt x="197750" y="170259"/>
                        <a:pt x="193476" y="170259"/>
                      </a:cubicBezTo>
                      <a:lnTo>
                        <a:pt x="7739" y="170259"/>
                      </a:lnTo>
                      <a:cubicBezTo>
                        <a:pt x="3465" y="170259"/>
                        <a:pt x="0" y="166794"/>
                        <a:pt x="0" y="162520"/>
                      </a:cubicBezTo>
                      <a:lnTo>
                        <a:pt x="0" y="7739"/>
                      </a:lnTo>
                      <a:cubicBezTo>
                        <a:pt x="0" y="3465"/>
                        <a:pt x="3465" y="0"/>
                        <a:pt x="7739" y="0"/>
                      </a:cubicBezTo>
                      <a:cubicBezTo>
                        <a:pt x="12013" y="0"/>
                        <a:pt x="15478" y="3465"/>
                        <a:pt x="15478" y="7739"/>
                      </a:cubicBezTo>
                      <a:lnTo>
                        <a:pt x="15478" y="99030"/>
                      </a:lnTo>
                      <a:lnTo>
                        <a:pt x="64553" y="56108"/>
                      </a:lnTo>
                      <a:cubicBezTo>
                        <a:pt x="67305" y="53699"/>
                        <a:pt x="71369" y="53545"/>
                        <a:pt x="74295" y="55740"/>
                      </a:cubicBezTo>
                      <a:lnTo>
                        <a:pt x="131186" y="98411"/>
                      </a:lnTo>
                      <a:lnTo>
                        <a:pt x="188378" y="48369"/>
                      </a:lnTo>
                      <a:cubicBezTo>
                        <a:pt x="190421" y="46346"/>
                        <a:pt x="193417" y="45623"/>
                        <a:pt x="196158" y="46491"/>
                      </a:cubicBezTo>
                      <a:cubicBezTo>
                        <a:pt x="198899" y="47359"/>
                        <a:pt x="200933" y="49674"/>
                        <a:pt x="201440" y="52504"/>
                      </a:cubicBezTo>
                      <a:cubicBezTo>
                        <a:pt x="201947" y="55334"/>
                        <a:pt x="200843" y="58212"/>
                        <a:pt x="198574" y="59977"/>
                      </a:cubicBezTo>
                      <a:lnTo>
                        <a:pt x="136661" y="114151"/>
                      </a:lnTo>
                      <a:cubicBezTo>
                        <a:pt x="133909" y="116560"/>
                        <a:pt x="129846" y="116713"/>
                        <a:pt x="126920" y="114518"/>
                      </a:cubicBezTo>
                      <a:lnTo>
                        <a:pt x="70028" y="71867"/>
                      </a:lnTo>
                      <a:lnTo>
                        <a:pt x="15478" y="119597"/>
                      </a:lnTo>
                      <a:lnTo>
                        <a:pt x="15478" y="154780"/>
                      </a:lnTo>
                      <a:lnTo>
                        <a:pt x="193476" y="154780"/>
                      </a:lnTo>
                      <a:cubicBezTo>
                        <a:pt x="197750" y="154780"/>
                        <a:pt x="201215" y="158245"/>
                        <a:pt x="201215" y="1625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7042023" y="3943350"/>
                <a:ext cx="615653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Frozen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582915" y="3956050"/>
                <a:ext cx="14715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Thực phẩm đông lạnh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572250" y="4381500"/>
                <a:ext cx="4762500" cy="476250"/>
              </a:xfrm>
              <a:prstGeom prst="roundRect">
                <a:avLst>
                  <a:gd name="adj" fmla="val 16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6690717" y="4534495"/>
                <a:ext cx="201947" cy="170259"/>
                <a:chOff x="6690717" y="4534495"/>
                <a:chExt cx="201947" cy="170259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6698456" y="4542234"/>
                  <a:ext cx="185737" cy="15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54780">
                      <a:moveTo>
                        <a:pt x="185737" y="15478"/>
                      </a:moveTo>
                      <a:lnTo>
                        <a:pt x="185737" y="154780"/>
                      </a:lnTo>
                      <a:lnTo>
                        <a:pt x="0" y="154780"/>
                      </a:lnTo>
                      <a:lnTo>
                        <a:pt x="0" y="0"/>
                      </a:lnTo>
                      <a:lnTo>
                        <a:pt x="170259" y="0"/>
                      </a:lnTo>
                      <a:cubicBezTo>
                        <a:pt x="178807" y="0"/>
                        <a:pt x="185737" y="6930"/>
                        <a:pt x="185737" y="15478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6690717" y="4534495"/>
                  <a:ext cx="201947" cy="170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47" h="170259">
                      <a:moveTo>
                        <a:pt x="201215" y="162520"/>
                      </a:moveTo>
                      <a:cubicBezTo>
                        <a:pt x="201215" y="166794"/>
                        <a:pt x="197750" y="170259"/>
                        <a:pt x="193476" y="170259"/>
                      </a:cubicBezTo>
                      <a:lnTo>
                        <a:pt x="7739" y="170259"/>
                      </a:lnTo>
                      <a:cubicBezTo>
                        <a:pt x="3465" y="170259"/>
                        <a:pt x="0" y="166794"/>
                        <a:pt x="0" y="162520"/>
                      </a:cubicBezTo>
                      <a:lnTo>
                        <a:pt x="0" y="7739"/>
                      </a:lnTo>
                      <a:cubicBezTo>
                        <a:pt x="0" y="3465"/>
                        <a:pt x="3465" y="0"/>
                        <a:pt x="7739" y="0"/>
                      </a:cubicBezTo>
                      <a:cubicBezTo>
                        <a:pt x="12013" y="0"/>
                        <a:pt x="15478" y="3465"/>
                        <a:pt x="15478" y="7739"/>
                      </a:cubicBezTo>
                      <a:lnTo>
                        <a:pt x="15478" y="99030"/>
                      </a:lnTo>
                      <a:lnTo>
                        <a:pt x="64553" y="56108"/>
                      </a:lnTo>
                      <a:cubicBezTo>
                        <a:pt x="67305" y="53699"/>
                        <a:pt x="71369" y="53545"/>
                        <a:pt x="74295" y="55740"/>
                      </a:cubicBezTo>
                      <a:lnTo>
                        <a:pt x="131186" y="98411"/>
                      </a:lnTo>
                      <a:lnTo>
                        <a:pt x="188378" y="48369"/>
                      </a:lnTo>
                      <a:cubicBezTo>
                        <a:pt x="190421" y="46346"/>
                        <a:pt x="193417" y="45623"/>
                        <a:pt x="196158" y="46491"/>
                      </a:cubicBezTo>
                      <a:cubicBezTo>
                        <a:pt x="198899" y="47359"/>
                        <a:pt x="200933" y="49674"/>
                        <a:pt x="201440" y="52504"/>
                      </a:cubicBezTo>
                      <a:cubicBezTo>
                        <a:pt x="201947" y="55334"/>
                        <a:pt x="200843" y="58212"/>
                        <a:pt x="198574" y="59977"/>
                      </a:cubicBezTo>
                      <a:lnTo>
                        <a:pt x="136661" y="114151"/>
                      </a:lnTo>
                      <a:cubicBezTo>
                        <a:pt x="133909" y="116560"/>
                        <a:pt x="129846" y="116713"/>
                        <a:pt x="126920" y="114518"/>
                      </a:cubicBezTo>
                      <a:lnTo>
                        <a:pt x="70028" y="71867"/>
                      </a:lnTo>
                      <a:lnTo>
                        <a:pt x="15478" y="119597"/>
                      </a:lnTo>
                      <a:lnTo>
                        <a:pt x="15478" y="154780"/>
                      </a:lnTo>
                      <a:lnTo>
                        <a:pt x="193476" y="154780"/>
                      </a:lnTo>
                      <a:cubicBezTo>
                        <a:pt x="197750" y="154780"/>
                        <a:pt x="201215" y="158245"/>
                        <a:pt x="201215" y="1625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7042023" y="4514850"/>
                <a:ext cx="1617148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Detergents_Paper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567784" y="4527550"/>
                <a:ext cx="148668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Chất tẩy rửa và giấy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6572250" y="4953000"/>
                <a:ext cx="4762500" cy="476250"/>
              </a:xfrm>
              <a:prstGeom prst="roundRect">
                <a:avLst>
                  <a:gd name="adj" fmla="val 16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6690717" y="5105995"/>
                <a:ext cx="201947" cy="170259"/>
                <a:chOff x="6690717" y="5105995"/>
                <a:chExt cx="201947" cy="170259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6698456" y="5113734"/>
                  <a:ext cx="185737" cy="15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54780">
                      <a:moveTo>
                        <a:pt x="185737" y="15478"/>
                      </a:moveTo>
                      <a:lnTo>
                        <a:pt x="185737" y="154780"/>
                      </a:lnTo>
                      <a:lnTo>
                        <a:pt x="0" y="154780"/>
                      </a:lnTo>
                      <a:lnTo>
                        <a:pt x="0" y="0"/>
                      </a:lnTo>
                      <a:lnTo>
                        <a:pt x="170259" y="0"/>
                      </a:lnTo>
                      <a:cubicBezTo>
                        <a:pt x="178807" y="0"/>
                        <a:pt x="185737" y="6930"/>
                        <a:pt x="185737" y="15478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690717" y="5105995"/>
                  <a:ext cx="201947" cy="170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47" h="170259">
                      <a:moveTo>
                        <a:pt x="201215" y="162520"/>
                      </a:moveTo>
                      <a:cubicBezTo>
                        <a:pt x="201215" y="166794"/>
                        <a:pt x="197750" y="170259"/>
                        <a:pt x="193476" y="170259"/>
                      </a:cubicBezTo>
                      <a:lnTo>
                        <a:pt x="7739" y="170259"/>
                      </a:lnTo>
                      <a:cubicBezTo>
                        <a:pt x="3465" y="170259"/>
                        <a:pt x="0" y="166794"/>
                        <a:pt x="0" y="162520"/>
                      </a:cubicBezTo>
                      <a:lnTo>
                        <a:pt x="0" y="7739"/>
                      </a:lnTo>
                      <a:cubicBezTo>
                        <a:pt x="0" y="3465"/>
                        <a:pt x="3465" y="0"/>
                        <a:pt x="7739" y="0"/>
                      </a:cubicBezTo>
                      <a:cubicBezTo>
                        <a:pt x="12013" y="0"/>
                        <a:pt x="15478" y="3465"/>
                        <a:pt x="15478" y="7739"/>
                      </a:cubicBezTo>
                      <a:lnTo>
                        <a:pt x="15478" y="99030"/>
                      </a:lnTo>
                      <a:lnTo>
                        <a:pt x="64553" y="56108"/>
                      </a:lnTo>
                      <a:cubicBezTo>
                        <a:pt x="67305" y="53699"/>
                        <a:pt x="71369" y="53545"/>
                        <a:pt x="74295" y="55740"/>
                      </a:cubicBezTo>
                      <a:lnTo>
                        <a:pt x="131186" y="98411"/>
                      </a:lnTo>
                      <a:lnTo>
                        <a:pt x="188378" y="48369"/>
                      </a:lnTo>
                      <a:cubicBezTo>
                        <a:pt x="190421" y="46346"/>
                        <a:pt x="193417" y="45623"/>
                        <a:pt x="196158" y="46491"/>
                      </a:cubicBezTo>
                      <a:cubicBezTo>
                        <a:pt x="198899" y="47359"/>
                        <a:pt x="200933" y="49674"/>
                        <a:pt x="201440" y="52504"/>
                      </a:cubicBezTo>
                      <a:cubicBezTo>
                        <a:pt x="201947" y="55334"/>
                        <a:pt x="200843" y="58212"/>
                        <a:pt x="198574" y="59977"/>
                      </a:cubicBezTo>
                      <a:lnTo>
                        <a:pt x="136661" y="114151"/>
                      </a:lnTo>
                      <a:cubicBezTo>
                        <a:pt x="133909" y="116560"/>
                        <a:pt x="129846" y="116713"/>
                        <a:pt x="126920" y="114518"/>
                      </a:cubicBezTo>
                      <a:lnTo>
                        <a:pt x="70028" y="71867"/>
                      </a:lnTo>
                      <a:lnTo>
                        <a:pt x="15478" y="119597"/>
                      </a:lnTo>
                      <a:lnTo>
                        <a:pt x="15478" y="154780"/>
                      </a:lnTo>
                      <a:lnTo>
                        <a:pt x="193476" y="154780"/>
                      </a:lnTo>
                      <a:cubicBezTo>
                        <a:pt x="197750" y="154780"/>
                        <a:pt x="201215" y="158245"/>
                        <a:pt x="201215" y="1625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7042023" y="5086350"/>
                <a:ext cx="922721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Delicassen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786548" y="5099050"/>
                <a:ext cx="126791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Thực phẩm ăn liền</a:t>
                </a:r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6566535" y="5622925"/>
              <a:ext cx="3704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i="1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Channel &amp; Region: Chỉ dùng profiling SAU clustering</a:t>
              </a:r>
            </a:p>
          </p:txBody>
        </p:sp>
      </p:grpSp>
      <p:grpSp>
        <p:nvGrpSpPr>
          <p:cNvPr id="62" name="note"/>
          <p:cNvGrpSpPr/>
          <p:nvPr/>
        </p:nvGrpSpPr>
        <p:grpSpPr>
          <a:xfrm>
            <a:off x="571500" y="4476750"/>
            <a:ext cx="5334000" cy="1143000"/>
            <a:chOff x="571500" y="4476750"/>
            <a:chExt cx="5334000" cy="1143000"/>
          </a:xfrm>
        </p:grpSpPr>
        <p:sp>
          <p:nvSpPr>
            <p:cNvPr id="58" name="Rectangle 58"/>
            <p:cNvSpPr/>
            <p:nvPr/>
          </p:nvSpPr>
          <p:spPr>
            <a:xfrm>
              <a:off x="571500" y="447675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EF2F2"/>
            </a:solidFill>
            <a:ln w="19050">
              <a:solidFill>
                <a:srgbClr val="EF444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0773" y="4705350"/>
              <a:ext cx="24306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80" b="1" dirty="0">
                  <a:solidFill>
                    <a:srgbClr val="991B1B"/>
                  </a:solidFill>
                  <a:latin typeface="Inter"/>
                  <a:ea typeface="Inter"/>
                  <a:cs typeface="Inter"/>
                </a:rPr>
                <a:t>Không dùng để fit K-Means: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1154" y="4991100"/>
              <a:ext cx="2138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7F1D1D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>Channel (Horeca / Retail)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1154" y="5229225"/>
              <a:ext cx="27926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7F1D1D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>Region (Lisbon / Oporto / Other)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63" name="TextBox 63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19383" y="654050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10249781" cy="616077"/>
            <a:chOff x="555498" y="476250"/>
            <a:chExt cx="1024978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102497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Pipeline Machine Learning &amp; Tránh Data Leakage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ritical-rule"/>
          <p:cNvGrpSpPr/>
          <p:nvPr/>
        </p:nvGrpSpPr>
        <p:grpSpPr>
          <a:xfrm>
            <a:off x="571500" y="1524000"/>
            <a:ext cx="11049000" cy="857250"/>
            <a:chOff x="571500" y="1524000"/>
            <a:chExt cx="11049000" cy="85725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11049000" cy="857250"/>
            </a:xfrm>
            <a:prstGeom prst="roundRect">
              <a:avLst>
                <a:gd name="adj" fmla="val 13333"/>
              </a:avLst>
            </a:prstGeom>
            <a:solidFill>
              <a:srgbClr val="DCFCE7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784204" y="1797843"/>
              <a:ext cx="336583" cy="297793"/>
              <a:chOff x="784204" y="1797843"/>
              <a:chExt cx="336583" cy="29779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791766" y="1805613"/>
                <a:ext cx="321469" cy="277981"/>
              </a:xfrm>
              <a:custGeom>
                <a:avLst/>
                <a:gdLst/>
                <a:ahLst/>
                <a:cxnLst/>
                <a:rect l="l" t="t" r="r" b="b"/>
                <a:pathLst>
                  <a:path w="321469" h="277981">
                    <a:moveTo>
                      <a:pt x="290899" y="277981"/>
                    </a:moveTo>
                    <a:lnTo>
                      <a:pt x="30569" y="277981"/>
                    </a:lnTo>
                    <a:cubicBezTo>
                      <a:pt x="11787" y="277981"/>
                      <a:pt x="0" y="258321"/>
                      <a:pt x="9123" y="242396"/>
                    </a:cubicBezTo>
                    <a:lnTo>
                      <a:pt x="139288" y="16371"/>
                    </a:lnTo>
                    <a:cubicBezTo>
                      <a:pt x="148664" y="0"/>
                      <a:pt x="172804" y="0"/>
                      <a:pt x="182181" y="16371"/>
                    </a:cubicBezTo>
                    <a:lnTo>
                      <a:pt x="312346" y="242396"/>
                    </a:lnTo>
                    <a:cubicBezTo>
                      <a:pt x="321469" y="258321"/>
                      <a:pt x="309682" y="277981"/>
                      <a:pt x="290899" y="277981"/>
                    </a:cubicBezTo>
                    <a:close/>
                  </a:path>
                </a:pathLst>
              </a:custGeom>
              <a:solidFill>
                <a:srgbClr val="059669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84204" y="1797843"/>
                <a:ext cx="336583" cy="297793"/>
              </a:xfrm>
              <a:custGeom>
                <a:avLst/>
                <a:gdLst/>
                <a:ahLst/>
                <a:cxnLst/>
                <a:rect l="l" t="t" r="r" b="b"/>
                <a:pathLst>
                  <a:path w="336583" h="297793">
                    <a:moveTo>
                      <a:pt x="330221" y="244213"/>
                    </a:moveTo>
                    <a:lnTo>
                      <a:pt x="200071" y="18188"/>
                    </a:lnTo>
                    <a:lnTo>
                      <a:pt x="200071" y="18188"/>
                    </a:lnTo>
                    <a:cubicBezTo>
                      <a:pt x="193453" y="6920"/>
                      <a:pt x="181363" y="0"/>
                      <a:pt x="168296" y="0"/>
                    </a:cubicBezTo>
                    <a:cubicBezTo>
                      <a:pt x="155229" y="0"/>
                      <a:pt x="143139" y="6920"/>
                      <a:pt x="136521" y="18188"/>
                    </a:cubicBezTo>
                    <a:lnTo>
                      <a:pt x="6371" y="244213"/>
                    </a:lnTo>
                    <a:cubicBezTo>
                      <a:pt x="0" y="255118"/>
                      <a:pt x="0" y="268610"/>
                      <a:pt x="6371" y="279515"/>
                    </a:cubicBezTo>
                    <a:cubicBezTo>
                      <a:pt x="12908" y="290858"/>
                      <a:pt x="25055" y="297793"/>
                      <a:pt x="38146" y="297657"/>
                    </a:cubicBezTo>
                    <a:lnTo>
                      <a:pt x="298446" y="297657"/>
                    </a:lnTo>
                    <a:cubicBezTo>
                      <a:pt x="311527" y="297782"/>
                      <a:pt x="323660" y="290849"/>
                      <a:pt x="330192" y="279515"/>
                    </a:cubicBezTo>
                    <a:cubicBezTo>
                      <a:pt x="336572" y="268616"/>
                      <a:pt x="336583" y="255123"/>
                      <a:pt x="330221" y="244213"/>
                    </a:cubicBezTo>
                    <a:close/>
                    <a:moveTo>
                      <a:pt x="309579" y="267594"/>
                    </a:moveTo>
                    <a:cubicBezTo>
                      <a:pt x="307269" y="271535"/>
                      <a:pt x="303014" y="273924"/>
                      <a:pt x="298446" y="273845"/>
                    </a:cubicBezTo>
                    <a:lnTo>
                      <a:pt x="38146" y="273845"/>
                    </a:lnTo>
                    <a:cubicBezTo>
                      <a:pt x="33579" y="273924"/>
                      <a:pt x="29324" y="271535"/>
                      <a:pt x="27014" y="267594"/>
                    </a:cubicBezTo>
                    <a:cubicBezTo>
                      <a:pt x="24921" y="264050"/>
                      <a:pt x="24921" y="259648"/>
                      <a:pt x="27014" y="256104"/>
                    </a:cubicBezTo>
                    <a:lnTo>
                      <a:pt x="157164" y="30079"/>
                    </a:lnTo>
                    <a:cubicBezTo>
                      <a:pt x="159518" y="26161"/>
                      <a:pt x="163755" y="23764"/>
                      <a:pt x="168326" y="23764"/>
                    </a:cubicBezTo>
                    <a:cubicBezTo>
                      <a:pt x="172897" y="23764"/>
                      <a:pt x="177134" y="26161"/>
                      <a:pt x="179488" y="30079"/>
                    </a:cubicBezTo>
                    <a:lnTo>
                      <a:pt x="309638" y="256104"/>
                    </a:lnTo>
                    <a:cubicBezTo>
                      <a:pt x="311713" y="259659"/>
                      <a:pt x="311690" y="264061"/>
                      <a:pt x="309579" y="267594"/>
                    </a:cubicBezTo>
                    <a:close/>
                    <a:moveTo>
                      <a:pt x="156390" y="178595"/>
                    </a:moveTo>
                    <a:lnTo>
                      <a:pt x="156390" y="119063"/>
                    </a:lnTo>
                    <a:cubicBezTo>
                      <a:pt x="156390" y="112488"/>
                      <a:pt x="161721" y="107157"/>
                      <a:pt x="168296" y="107157"/>
                    </a:cubicBezTo>
                    <a:cubicBezTo>
                      <a:pt x="174872" y="107157"/>
                      <a:pt x="180203" y="112488"/>
                      <a:pt x="180203" y="119063"/>
                    </a:cubicBezTo>
                    <a:lnTo>
                      <a:pt x="180203" y="178595"/>
                    </a:lnTo>
                    <a:cubicBezTo>
                      <a:pt x="180203" y="185170"/>
                      <a:pt x="174872" y="190501"/>
                      <a:pt x="168296" y="190501"/>
                    </a:cubicBezTo>
                    <a:cubicBezTo>
                      <a:pt x="161721" y="190501"/>
                      <a:pt x="156390" y="185170"/>
                      <a:pt x="156390" y="178595"/>
                    </a:cubicBezTo>
                    <a:close/>
                    <a:moveTo>
                      <a:pt x="186156" y="232173"/>
                    </a:moveTo>
                    <a:cubicBezTo>
                      <a:pt x="186156" y="242036"/>
                      <a:pt x="178160" y="250032"/>
                      <a:pt x="168296" y="250032"/>
                    </a:cubicBezTo>
                    <a:cubicBezTo>
                      <a:pt x="158433" y="250032"/>
                      <a:pt x="150437" y="242036"/>
                      <a:pt x="150437" y="232173"/>
                    </a:cubicBezTo>
                    <a:cubicBezTo>
                      <a:pt x="150437" y="222309"/>
                      <a:pt x="158433" y="214313"/>
                      <a:pt x="168296" y="214313"/>
                    </a:cubicBezTo>
                    <a:cubicBezTo>
                      <a:pt x="178160" y="214313"/>
                      <a:pt x="186156" y="222309"/>
                      <a:pt x="186156" y="232173"/>
                    </a:cubicBez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325880" y="1727200"/>
              <a:ext cx="1277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Critical Rule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5118" y="1987550"/>
              <a:ext cx="72478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650" dirty="0">
                  <a:solidFill>
                    <a:srgbClr val="064E3B"/>
                  </a:solidFill>
                  <a:latin typeface="Inter"/>
                  <a:ea typeface="Inter"/>
                  <a:cs typeface="Inter"/>
                </a:rPr>
                <a:t xml:space="preserve">Split train/validation/test </a:t>
              </a:r>
              <a:r>
                <a:rPr lang="vi" sz="1650" b="1" dirty="0">
                  <a:solidFill>
                    <a:srgbClr val="059669"/>
                  </a:solidFill>
                  <a:latin typeface="Inter"/>
                  <a:ea typeface="Inter"/>
                  <a:cs typeface="Inter"/>
                </a:rPr>
                <a:t>TRƯỚC</a:t>
              </a:r>
              <a:r>
                <a:rPr lang="vi" sz="1650" dirty="0">
                  <a:solidFill>
                    <a:srgbClr val="064E3B"/>
                  </a:solidFill>
                  <a:latin typeface="Inter"/>
                  <a:ea typeface="Inter"/>
                  <a:cs typeface="Inter"/>
                </a:rPr>
                <a:t xml:space="preserve"> mọi preprocessing học từ dữ liệu</a:t>
              </a:r>
            </a:p>
          </p:txBody>
        </p:sp>
      </p:grpSp>
      <p:grpSp>
        <p:nvGrpSpPr>
          <p:cNvPr id="46" name="pipeline-flow"/>
          <p:cNvGrpSpPr/>
          <p:nvPr/>
        </p:nvGrpSpPr>
        <p:grpSpPr>
          <a:xfrm>
            <a:off x="571500" y="2667000"/>
            <a:ext cx="11049000" cy="2095500"/>
            <a:chOff x="571500" y="2667000"/>
            <a:chExt cx="11049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571500" y="26670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9778" y="2847975"/>
              <a:ext cx="1067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Raw UCI Data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6370" y="3111500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440 customers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2095500" y="3048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381250" y="26670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rgbClr val="DBEAFE"/>
            </a:solidFill>
            <a:ln w="3810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9610" y="2787650"/>
              <a:ext cx="517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35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SPLIT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9492" y="3063875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rgbClr val="1E3A8A"/>
                  </a:solidFill>
                  <a:latin typeface="Inter"/>
                  <a:ea typeface="Inter"/>
                  <a:cs typeface="Inter"/>
                </a:rPr>
                <a:t>264 train / 88 val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25357" y="3254375"/>
              <a:ext cx="1226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rgbClr val="1E3A8A"/>
                  </a:solidFill>
                  <a:latin typeface="Inter"/>
                  <a:ea typeface="Inter"/>
                  <a:cs typeface="Inter"/>
                </a:rPr>
                <a:t>88 test (seed 42)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095750" y="3048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81500" y="2667000"/>
              <a:ext cx="190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93372" y="2800350"/>
              <a:ext cx="148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Fit Preprocessing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234" y="3063875"/>
              <a:ext cx="158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log1p + StandardScaler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37617" y="3267075"/>
              <a:ext cx="9927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on train only ✓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286500" y="3048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572250" y="26670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73440" y="2800350"/>
              <a:ext cx="7121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K-Means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26143" y="3063875"/>
              <a:ext cx="806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Fit on train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12984" y="3254375"/>
              <a:ext cx="14330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K=2..8, seed 42..51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8286750" y="3048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572500" y="26670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23273" y="2800350"/>
              <a:ext cx="822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Validation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31119" y="3063875"/>
              <a:ext cx="606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Choose 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53532" y="3254375"/>
              <a:ext cx="5619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&amp; config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10096500" y="3048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382250" y="2667000"/>
              <a:ext cx="1238250" cy="762000"/>
            </a:xfrm>
            <a:prstGeom prst="roundRect">
              <a:avLst>
                <a:gd name="adj" fmla="val 10000"/>
              </a:avLst>
            </a:prstGeom>
            <a:solidFill>
              <a:srgbClr val="FEF2F2"/>
            </a:solidFill>
            <a:ln w="28575">
              <a:solidFill>
                <a:srgbClr val="EF444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806055" y="2800350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991B1B"/>
                  </a:solidFill>
                  <a:latin typeface="Inter"/>
                  <a:ea typeface="Inter"/>
                  <a:cs typeface="Inter"/>
                </a:rPr>
                <a:t>Test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16819" y="3063875"/>
              <a:ext cx="369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>ONCE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08548" y="3267075"/>
              <a:ext cx="7856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>Final report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" y="3810000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F0FDF4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94147" y="4080272"/>
              <a:ext cx="278606" cy="278606"/>
              <a:chOff x="794147" y="4080272"/>
              <a:chExt cx="278606" cy="27860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04862" y="4090988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257175" y="128588"/>
                    </a:moveTo>
                    <a:cubicBezTo>
                      <a:pt x="257175" y="199604"/>
                      <a:pt x="199604" y="257175"/>
                      <a:pt x="128588" y="257175"/>
                    </a:cubicBezTo>
                    <a:cubicBezTo>
                      <a:pt x="57571" y="257175"/>
                      <a:pt x="0" y="199604"/>
                      <a:pt x="0" y="128588"/>
                    </a:cubicBezTo>
                    <a:cubicBezTo>
                      <a:pt x="0" y="57571"/>
                      <a:pt x="57571" y="0"/>
                      <a:pt x="128588" y="0"/>
                    </a:cubicBezTo>
                    <a:cubicBezTo>
                      <a:pt x="199604" y="0"/>
                      <a:pt x="257175" y="57571"/>
                      <a:pt x="257175" y="128588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94147" y="4080272"/>
                <a:ext cx="278606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278606">
                    <a:moveTo>
                      <a:pt x="200463" y="99575"/>
                    </a:moveTo>
                    <a:cubicBezTo>
                      <a:pt x="202475" y="101585"/>
                      <a:pt x="203605" y="104312"/>
                      <a:pt x="203605" y="107156"/>
                    </a:cubicBezTo>
                    <a:cubicBezTo>
                      <a:pt x="203605" y="110000"/>
                      <a:pt x="202475" y="112728"/>
                      <a:pt x="200463" y="114738"/>
                    </a:cubicBezTo>
                    <a:lnTo>
                      <a:pt x="125453" y="189747"/>
                    </a:lnTo>
                    <a:cubicBezTo>
                      <a:pt x="123443" y="191759"/>
                      <a:pt x="120716" y="192890"/>
                      <a:pt x="117872" y="192890"/>
                    </a:cubicBezTo>
                    <a:cubicBezTo>
                      <a:pt x="115028" y="192890"/>
                      <a:pt x="112300" y="191759"/>
                      <a:pt x="110291" y="189747"/>
                    </a:cubicBezTo>
                    <a:lnTo>
                      <a:pt x="78144" y="157600"/>
                    </a:lnTo>
                    <a:cubicBezTo>
                      <a:pt x="73957" y="153413"/>
                      <a:pt x="73957" y="146624"/>
                      <a:pt x="78144" y="142437"/>
                    </a:cubicBezTo>
                    <a:cubicBezTo>
                      <a:pt x="82331" y="138250"/>
                      <a:pt x="89119" y="138250"/>
                      <a:pt x="93306" y="142437"/>
                    </a:cubicBezTo>
                    <a:lnTo>
                      <a:pt x="117872" y="167016"/>
                    </a:lnTo>
                    <a:lnTo>
                      <a:pt x="185300" y="99575"/>
                    </a:lnTo>
                    <a:cubicBezTo>
                      <a:pt x="187310" y="97563"/>
                      <a:pt x="190037" y="96432"/>
                      <a:pt x="192881" y="96432"/>
                    </a:cubicBezTo>
                    <a:cubicBezTo>
                      <a:pt x="195725" y="96432"/>
                      <a:pt x="198453" y="97563"/>
                      <a:pt x="200463" y="99575"/>
                    </a:cubicBezTo>
                    <a:close/>
                    <a:moveTo>
                      <a:pt x="278606" y="139303"/>
                    </a:moveTo>
                    <a:cubicBezTo>
                      <a:pt x="278606" y="216238"/>
                      <a:pt x="216238" y="278606"/>
                      <a:pt x="139303" y="278606"/>
                    </a:cubicBezTo>
                    <a:cubicBezTo>
                      <a:pt x="62368" y="278606"/>
                      <a:pt x="0" y="216238"/>
                      <a:pt x="0" y="139303"/>
                    </a:cubicBezTo>
                    <a:cubicBezTo>
                      <a:pt x="0" y="62368"/>
                      <a:pt x="62368" y="0"/>
                      <a:pt x="139303" y="0"/>
                    </a:cubicBezTo>
                    <a:cubicBezTo>
                      <a:pt x="216204" y="81"/>
                      <a:pt x="278525" y="62402"/>
                      <a:pt x="278606" y="139303"/>
                    </a:cubicBezTo>
                    <a:close/>
                    <a:moveTo>
                      <a:pt x="257175" y="139303"/>
                    </a:moveTo>
                    <a:cubicBezTo>
                      <a:pt x="257175" y="74204"/>
                      <a:pt x="204402" y="21431"/>
                      <a:pt x="139303" y="21431"/>
                    </a:cubicBezTo>
                    <a:cubicBezTo>
                      <a:pt x="74204" y="21431"/>
                      <a:pt x="21431" y="74204"/>
                      <a:pt x="21431" y="139303"/>
                    </a:cubicBezTo>
                    <a:cubicBezTo>
                      <a:pt x="21431" y="204402"/>
                      <a:pt x="74204" y="257175"/>
                      <a:pt x="139303" y="257175"/>
                    </a:cubicBezTo>
                    <a:cubicBezTo>
                      <a:pt x="204371" y="257101"/>
                      <a:pt x="257101" y="204371"/>
                      <a:pt x="257175" y="13930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231392" y="4073525"/>
              <a:ext cx="601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Result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31773" y="4371975"/>
              <a:ext cx="571861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80" dirty="0">
                  <a:solidFill>
                    <a:srgbClr val="064E3B"/>
                  </a:solidFill>
                  <a:latin typeface="Inter"/>
                  <a:ea typeface="Inter"/>
                  <a:cs typeface="Inter"/>
                </a:rPr>
                <a:t>Test độc lập, không dùng để chọn K hay tham số → Clean evaluation ✓</a:t>
              </a:r>
            </a:p>
          </p:txBody>
        </p:sp>
      </p:grpSp>
      <p:grpSp>
        <p:nvGrpSpPr>
          <p:cNvPr id="50" name="key-points"/>
          <p:cNvGrpSpPr/>
          <p:nvPr/>
        </p:nvGrpSpPr>
        <p:grpSpPr>
          <a:xfrm>
            <a:off x="564642" y="5121275"/>
            <a:ext cx="6375356" cy="818896"/>
            <a:chOff x="564642" y="5121275"/>
            <a:chExt cx="6375356" cy="818896"/>
          </a:xfrm>
        </p:grpSpPr>
        <p:sp>
          <p:nvSpPr>
            <p:cNvPr id="47" name="TextBox 47"/>
            <p:cNvSpPr txBox="1"/>
            <p:nvPr/>
          </p:nvSpPr>
          <p:spPr>
            <a:xfrm>
              <a:off x="564642" y="5121275"/>
              <a:ext cx="10861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Key Points: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5404" y="5419725"/>
              <a:ext cx="4258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Split ratio: 60% / 20% / 20% (264 / 88 / 88 samples)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5404" y="5705475"/>
              <a:ext cx="6374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All preprocessing parameters learned from train only, then applied to val/test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51" name="TextBox 51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19383" y="654050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5998" y="381000"/>
            <a:ext cx="380239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3150" b="1" dirty="0">
                <a:solidFill>
                  <a:schemeClr val="dk1"/>
                </a:solidFill>
                <a:latin typeface="Inter"/>
                <a:ea typeface="Inter"/>
                <a:cs typeface="Inter"/>
              </a:rPr>
              <a:t>So sánh Tiền xử lý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2856" y="879475"/>
            <a:ext cx="366433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8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Raw vs Log1p + StandardScaler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190625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685800" y="1447800"/>
            <a:ext cx="5029200" cy="4552950"/>
            <a:chOff x="685800" y="1447800"/>
            <a:chExt cx="5029200" cy="4552950"/>
          </a:xfrm>
        </p:grpSpPr>
        <p:sp>
          <p:nvSpPr>
            <p:cNvPr id="5" name="Ellipse 5"/>
            <p:cNvSpPr/>
            <p:nvPr/>
          </p:nvSpPr>
          <p:spPr>
            <a:xfrm>
              <a:off x="685800" y="1447800"/>
              <a:ext cx="533400" cy="5334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20368" y="1558925"/>
              <a:ext cx="20296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650" b="1" dirty="0">
                  <a:solidFill>
                    <a:srgbClr val="DC2626"/>
                  </a:solidFill>
                  <a:latin typeface="Inter"/>
                  <a:ea typeface="Inter"/>
                  <a:cs typeface="Inter"/>
                </a:rPr>
                <a:t>Raw data - Vấn đề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2000250"/>
              <a:ext cx="4953000" cy="4000500"/>
            </a:xfrm>
            <a:prstGeom prst="roundRect">
              <a:avLst>
                <a:gd name="adj" fmla="val 2857"/>
              </a:avLst>
            </a:prstGeom>
            <a:solidFill>
              <a:srgbClr val="FEF2F2"/>
            </a:solidFill>
            <a:ln w="19050">
              <a:solidFill>
                <a:srgbClr val="DC262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3267" y="2216150"/>
              <a:ext cx="1747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Skewness cực cao: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94029" y="2514600"/>
              <a:ext cx="1538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Delicassen: 12.12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4029" y="2752725"/>
              <a:ext cx="952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Milk: 4.28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4029" y="2990850"/>
              <a:ext cx="1177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Frozen: 3.53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4029" y="3228975"/>
              <a:ext cx="12653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Grocery: 2.76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3267" y="3644900"/>
              <a:ext cx="1346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Range rất lớn: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4029" y="3943350"/>
              <a:ext cx="16365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Fresh: 3 → 112,151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4029" y="4181475"/>
              <a:ext cx="15015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Milk: 55 → 73,498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94029" y="4419600"/>
              <a:ext cx="1721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Grocery: 3 → 59,598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3267" y="4835525"/>
              <a:ext cx="708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Hệ quả: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4029" y="5133975"/>
              <a:ext cx="26589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DC2626"/>
                  </a:solidFill>
                  <a:latin typeface="Inter"/>
                  <a:ea typeface="Inter"/>
                  <a:cs typeface="Inter"/>
                </a:rPr>
                <a:t>✗ Distance metrics bị chi phối bởi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6904" y="5324475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DC2626"/>
                  </a:solidFill>
                  <a:latin typeface="Inter"/>
                  <a:ea typeface="Inter"/>
                  <a:cs typeface="Inter"/>
                </a:rPr>
                <a:t>features có range lớn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4029" y="5562600"/>
              <a:ext cx="18823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DC2626"/>
                  </a:solidFill>
                  <a:latin typeface="Inter"/>
                  <a:ea typeface="Inter"/>
                  <a:cs typeface="Inter"/>
                </a:rPr>
                <a:t>✗ KMeans không ổn định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00800" y="1447800"/>
            <a:ext cx="5029200" cy="4552950"/>
            <a:chOff x="6400800" y="1447800"/>
            <a:chExt cx="5029200" cy="4552950"/>
          </a:xfrm>
        </p:grpSpPr>
        <p:sp>
          <p:nvSpPr>
            <p:cNvPr id="22" name="Ellipse 22"/>
            <p:cNvSpPr/>
            <p:nvPr/>
          </p:nvSpPr>
          <p:spPr>
            <a:xfrm>
              <a:off x="6400800" y="1447800"/>
              <a:ext cx="533400" cy="533400"/>
            </a:xfrm>
            <a:prstGeom prst="ellipse">
              <a:avLst/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35368" y="1558925"/>
              <a:ext cx="196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650" b="1" dirty="0">
                  <a:solidFill>
                    <a:srgbClr val="059669"/>
                  </a:solidFill>
                  <a:latin typeface="Inter"/>
                  <a:ea typeface="Inter"/>
                  <a:cs typeface="Inter"/>
                </a:rPr>
                <a:t>Log1p + Scaler ✓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0" y="2000250"/>
              <a:ext cx="4953000" cy="4000500"/>
            </a:xfrm>
            <a:prstGeom prst="roundRect">
              <a:avLst>
                <a:gd name="adj" fmla="val 2857"/>
              </a:avLst>
            </a:prstGeom>
            <a:solidFill>
              <a:srgbClr val="F0FDF4"/>
            </a:solidFill>
            <a:ln w="19050">
              <a:solidFill>
                <a:srgbClr val="05966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08267" y="2216150"/>
              <a:ext cx="19861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Giảm skewness mạnh: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09029" y="2514600"/>
              <a:ext cx="2172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Delicassen: 12.12 → -0.90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09029" y="2752725"/>
              <a:ext cx="1591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Milk: 4.28 → -0.17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09029" y="2990850"/>
              <a:ext cx="18131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Frozen: 3.53 → -0.46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09029" y="3228975"/>
              <a:ext cx="1900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Grocery: 2.76 → -0.94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08267" y="3644900"/>
              <a:ext cx="1556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Chuẩn hóa scale: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9029" y="3943350"/>
              <a:ext cx="26851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Tất cả features: mean=0, std=1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9029" y="4181475"/>
              <a:ext cx="2295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Distance metrics có ý nghĩa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9029" y="4419600"/>
              <a:ext cx="24734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Features đóng góp ngang nhau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8267" y="4835525"/>
              <a:ext cx="813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Kết quả: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09029" y="5133975"/>
              <a:ext cx="3261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059669"/>
                  </a:solidFill>
                  <a:latin typeface="Inter"/>
                  <a:ea typeface="Inter"/>
                  <a:cs typeface="Inter"/>
                </a:rPr>
                <a:t>✓ ARI mean = 0.997 (K=2, seed stability)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09029" y="5372100"/>
              <a:ext cx="2482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059669"/>
                  </a:solidFill>
                  <a:latin typeface="Inter"/>
                  <a:ea typeface="Inter"/>
                  <a:cs typeface="Inter"/>
                </a:rPr>
                <a:t>✓ Silhouette validation = 0.307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9029" y="5610225"/>
              <a:ext cx="2522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059669"/>
                  </a:solidFill>
                  <a:latin typeface="Inter"/>
                  <a:ea typeface="Inter"/>
                  <a:cs typeface="Inter"/>
                </a:rPr>
                <a:t>✓ Cluster ổn định, dễ interpret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756666" y="6350000"/>
            <a:ext cx="45529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Quyết định D011: Chọn log1p + StandardScaler cho toàn bộ pipeline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028883" y="6350000"/>
            <a:ext cx="4064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5998" y="381000"/>
            <a:ext cx="295595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3150" b="1" dirty="0">
                <a:solidFill>
                  <a:schemeClr val="dk1"/>
                </a:solidFill>
                <a:latin typeface="Inter"/>
                <a:ea typeface="Inter"/>
                <a:cs typeface="Inter"/>
              </a:rPr>
              <a:t>Elbow Method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2856" y="879475"/>
            <a:ext cx="56696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8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Validation Inertia vs K (log1p + StandardScaler)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190625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-138573" y="1730375"/>
            <a:ext cx="10425573" cy="4559808"/>
            <a:chOff x="-138573" y="1730375"/>
            <a:chExt cx="10425573" cy="4559808"/>
          </a:xfrm>
        </p:grpSpPr>
        <p:sp>
          <p:nvSpPr>
            <p:cNvPr id="5" name="Rectangle 5"/>
            <p:cNvSpPr/>
            <p:nvPr/>
          </p:nvSpPr>
          <p:spPr>
            <a:xfrm>
              <a:off x="1714500" y="1905000"/>
              <a:ext cx="8572500" cy="3048000"/>
            </a:xfrm>
            <a:prstGeom prst="roundRect">
              <a:avLst>
                <a:gd name="adj" fmla="val 3750"/>
              </a:avLst>
            </a:prstGeom>
            <a:solidFill>
              <a:srgbClr val="F9FAFB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714500" y="266700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9525">
              <a:solidFill>
                <a:srgbClr val="D1D5DB">
                  <a:alpha val="5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714500" y="342900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9525">
              <a:solidFill>
                <a:srgbClr val="D1D5DB">
                  <a:alpha val="5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714500" y="419100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9525">
              <a:solidFill>
                <a:srgbClr val="D1D5DB">
                  <a:alpha val="50000"/>
                </a:srgbClr>
              </a:solidFill>
            </a:ln>
          </p:spPr>
        </p:sp>
        <p:sp>
          <p:nvSpPr>
            <p:cNvPr id="9" name="Polyline 9"/>
            <p:cNvSpPr/>
            <p:nvPr/>
          </p:nvSpPr>
          <p:spPr>
            <a:xfrm>
              <a:off x="2190750" y="2095500"/>
              <a:ext cx="7315200" cy="2381250"/>
            </a:xfrm>
            <a:custGeom>
              <a:avLst/>
              <a:gdLst/>
              <a:ahLst/>
              <a:cxnLst/>
              <a:rect l="l" t="t" r="r" b="b"/>
              <a:pathLst>
                <a:path w="7315200" h="2381250">
                  <a:moveTo>
                    <a:pt x="0" y="0"/>
                  </a:moveTo>
                  <a:lnTo>
                    <a:pt x="1219200" y="571500"/>
                  </a:lnTo>
                  <a:lnTo>
                    <a:pt x="2438400" y="1143000"/>
                  </a:lnTo>
                  <a:lnTo>
                    <a:pt x="3657600" y="1476375"/>
                  </a:lnTo>
                  <a:lnTo>
                    <a:pt x="4876800" y="1905000"/>
                  </a:lnTo>
                  <a:lnTo>
                    <a:pt x="6096000" y="2143125"/>
                  </a:lnTo>
                  <a:lnTo>
                    <a:pt x="7315200" y="238125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2095500" y="2000250"/>
              <a:ext cx="190500" cy="1905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FFFFFF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3333750" y="2590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4552950" y="31623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772150" y="3495675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6991350" y="39243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210550" y="4162425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429750" y="440055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043836" y="47053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K=2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63036" y="47053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K=3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2236" y="47053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K=4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01436" y="47053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K=5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20636" y="47053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K=6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9836" y="47053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K=7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59036" y="47053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K=8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81340" y="1730375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391.5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23597" y="2457450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341.1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2797" y="3028950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302.0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1997" y="3362325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286.6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81197" y="3790950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265.2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00397" y="4029075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253.9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19597" y="4267200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247.2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 rot="-5400000">
              <a:off x="-138573" y="6026150"/>
              <a:ext cx="6581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Inertia</a:t>
              </a:r>
            </a:p>
          </p:txBody>
        </p:sp>
      </p:grpSp>
      <p:sp>
        <p:nvSpPr>
          <p:cNvPr id="33" name="Rectangle 33"/>
          <p:cNvSpPr/>
          <p:nvPr/>
        </p:nvSpPr>
        <p:spPr>
          <a:xfrm>
            <a:off x="1714500" y="5238750"/>
            <a:ext cx="8572500" cy="76200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9050">
            <a:solidFill>
              <a:schemeClr val="accent2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993392" y="5359400"/>
            <a:ext cx="11168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350" b="1" dirty="0">
                <a:solidFill>
                  <a:srgbClr val="059669"/>
                </a:solidFill>
                <a:latin typeface="Inter"/>
                <a:ea typeface="Inter"/>
                <a:cs typeface="Inter"/>
              </a:rPr>
              <a:t>K=2 Optimal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94154" y="5657850"/>
            <a:ext cx="61332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047857"/>
                </a:solidFill>
                <a:latin typeface="Inter"/>
                <a:ea typeface="Inter"/>
                <a:cs typeface="Inter"/>
              </a:rPr>
              <a:t>Elbow rõ ràng: inertia giảm 12.9% từ K=2→3, sau đó chỉ giảm dần &lt; 5% mỗi bước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6666" y="6350000"/>
            <a:ext cx="39875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Data: reports/data/experiments/selection_evidence.csv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028883" y="6350000"/>
            <a:ext cx="4064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6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5998" y="381000"/>
            <a:ext cx="415411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3150" b="1" dirty="0">
                <a:solidFill>
                  <a:schemeClr val="dk1"/>
                </a:solidFill>
                <a:latin typeface="Inter"/>
                <a:ea typeface="Inter"/>
                <a:cs typeface="Inter"/>
              </a:rPr>
              <a:t>Silhouette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2856" y="879475"/>
            <a:ext cx="42400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8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Train vs Validation Silhouette Score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190625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826694" y="2206625"/>
            <a:ext cx="11079556" cy="2447671"/>
            <a:chOff x="826694" y="2206625"/>
            <a:chExt cx="11079556" cy="2447671"/>
          </a:xfrm>
        </p:grpSpPr>
        <p:sp>
          <p:nvSpPr>
            <p:cNvPr id="5" name="Rectangle 5"/>
            <p:cNvSpPr/>
            <p:nvPr/>
          </p:nvSpPr>
          <p:spPr>
            <a:xfrm>
              <a:off x="1428750" y="2857500"/>
              <a:ext cx="666750" cy="1428750"/>
            </a:xfrm>
            <a:prstGeom prst="roundRect">
              <a:avLst>
                <a:gd name="adj" fmla="val 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552715" y="2587625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0.276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286000" y="2476500"/>
              <a:ext cx="666750" cy="1809750"/>
            </a:xfrm>
            <a:prstGeom prst="roundRect">
              <a:avLst>
                <a:gd name="adj" fmla="val 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09965" y="2206625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0.307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43836" y="441960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K=2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333750" y="3143250"/>
              <a:ext cx="666750" cy="1143000"/>
            </a:xfrm>
            <a:prstGeom prst="roundRect">
              <a:avLst>
                <a:gd name="adj" fmla="val 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67433" y="28733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0.205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191000" y="2952750"/>
              <a:ext cx="666750" cy="1333500"/>
            </a:xfrm>
            <a:prstGeom prst="roundRect">
              <a:avLst>
                <a:gd name="adj" fmla="val 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24683" y="2682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0.217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48836" y="441960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K=3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238750" y="3190875"/>
              <a:ext cx="666750" cy="1095375"/>
            </a:xfrm>
            <a:prstGeom prst="roundRect">
              <a:avLst>
                <a:gd name="adj" fmla="val 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72433" y="29210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0.206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0" y="3524250"/>
              <a:ext cx="666750" cy="762000"/>
            </a:xfrm>
            <a:prstGeom prst="roundRect">
              <a:avLst>
                <a:gd name="adj" fmla="val 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29683" y="32543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0.154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53836" y="441960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K=4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43750" y="3286125"/>
              <a:ext cx="666750" cy="1000125"/>
            </a:xfrm>
            <a:prstGeom prst="roundRect">
              <a:avLst>
                <a:gd name="adj" fmla="val 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77433" y="301625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0.198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01000" y="3524250"/>
              <a:ext cx="666750" cy="762000"/>
            </a:xfrm>
            <a:prstGeom prst="roundRect">
              <a:avLst>
                <a:gd name="adj" fmla="val 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34683" y="32543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0.162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58836" y="441960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K=5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048750" y="3314700"/>
              <a:ext cx="523875" cy="971550"/>
            </a:xfrm>
            <a:prstGeom prst="roundRect">
              <a:avLst>
                <a:gd name="adj" fmla="val 1090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29097" y="3076575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0.193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715500" y="3543300"/>
              <a:ext cx="523875" cy="742950"/>
            </a:xfrm>
            <a:prstGeom prst="roundRect">
              <a:avLst>
                <a:gd name="adj" fmla="val 1090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95847" y="3314700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0.160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68805" y="4432300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1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K=6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77500" y="3352800"/>
              <a:ext cx="523875" cy="933450"/>
            </a:xfrm>
            <a:prstGeom prst="roundRect">
              <a:avLst>
                <a:gd name="adj" fmla="val 1090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1144250" y="3600450"/>
              <a:ext cx="523875" cy="685800"/>
            </a:xfrm>
            <a:prstGeom prst="roundRect">
              <a:avLst>
                <a:gd name="adj" fmla="val 1090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797555" y="4432300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1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K=7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1333500" y="4286250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6694" y="234950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0.30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6694" y="330200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0.20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6694" y="4206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0.00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048750" y="2190750"/>
            <a:ext cx="2397023" cy="285750"/>
            <a:chOff x="9048750" y="2190750"/>
            <a:chExt cx="2397023" cy="285750"/>
          </a:xfrm>
        </p:grpSpPr>
        <p:sp>
          <p:nvSpPr>
            <p:cNvPr id="38" name="Rectangle 38"/>
            <p:cNvSpPr/>
            <p:nvPr/>
          </p:nvSpPr>
          <p:spPr>
            <a:xfrm>
              <a:off x="9048750" y="2190750"/>
              <a:ext cx="381000" cy="28575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518904" y="2228850"/>
              <a:ext cx="420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Train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191750" y="2190750"/>
              <a:ext cx="381000" cy="285750"/>
            </a:xfrm>
            <a:prstGeom prst="roundRect">
              <a:avLst>
                <a:gd name="adj" fmla="val 1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61904" y="2228850"/>
              <a:ext cx="7838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Validation</a:t>
              </a:r>
            </a:p>
          </p:txBody>
        </p:sp>
      </p:grpSp>
      <p:sp>
        <p:nvSpPr>
          <p:cNvPr id="43" name="Rectangle 43"/>
          <p:cNvSpPr/>
          <p:nvPr/>
        </p:nvSpPr>
        <p:spPr>
          <a:xfrm>
            <a:off x="762000" y="4953000"/>
            <a:ext cx="10668000" cy="1143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40892" y="5121275"/>
            <a:ext cx="8697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350" b="1" dirty="0">
                <a:solidFill>
                  <a:srgbClr val="1E40AF"/>
                </a:solidFill>
                <a:latin typeface="Inter"/>
                <a:ea typeface="Inter"/>
                <a:cs typeface="Inter"/>
              </a:rPr>
              <a:t>Kết luận: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1654" y="5419725"/>
            <a:ext cx="67694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1E3A8A"/>
              </a:buClr>
              <a:buSzTx/>
              <a:buFontTx/>
              <a:buChar char="•"/>
            </a:pPr>
            <a:r>
              <a:rPr lang="vi" sz="1200" dirty="0">
                <a:solidFill>
                  <a:srgbClr val="1E3A8A"/>
                </a:solidFill>
                <a:latin typeface="Inter"/>
                <a:ea typeface="Inter"/>
                <a:cs typeface="Inter"/>
              </a:rPr>
              <a:t>K=2: Silhouette validation cao nhất (0.307), train-val gap thấp → generalization tốt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1654" y="5657850"/>
            <a:ext cx="36349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1E3A8A"/>
              </a:buClr>
              <a:buSzTx/>
              <a:buFontTx/>
              <a:buChar char="•"/>
            </a:pPr>
            <a:r>
              <a:rPr lang="vi" sz="1200" dirty="0">
                <a:solidFill>
                  <a:srgbClr val="1E3A8A"/>
                </a:solidFill>
                <a:latin typeface="Inter"/>
                <a:ea typeface="Inter"/>
                <a:cs typeface="Inter"/>
              </a:rPr>
              <a:t>K≥3: Score giảm mạnh, overfitting risk tăng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1654" y="5895975"/>
            <a:ext cx="51271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rgbClr val="059669"/>
                </a:solidFill>
                <a:latin typeface="Inter"/>
                <a:ea typeface="Inter"/>
                <a:cs typeface="Inter"/>
              </a:rPr>
              <a:t>→ Kết hợp Elbow + Silhouette + ARI stability (0.997): Chọn K=2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6666" y="6350000"/>
            <a:ext cx="40412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Quyết định: K=2, log1p+StandardScaler, random_state=42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028883" y="6350000"/>
            <a:ext cx="4064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7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7218382" cy="616077"/>
            <a:chOff x="555498" y="476250"/>
            <a:chExt cx="721838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72183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 xml:space="preserve">Model Cuối Cùng — D011 </a:t>
              </a:r>
              <a:r>
                <a:rPr lang="vi" sz="3150" b="1" dirty="0">
                  <a:solidFill>
                    <a:srgbClr val="EF4444"/>
                  </a:solidFill>
                  <a:latin typeface="Inter"/>
                  <a:ea typeface="Inter"/>
                  <a:cs typeface="Inter"/>
                </a:rPr>
                <a:t>(FROZEN)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frozen-badge"/>
          <p:cNvGrpSpPr/>
          <p:nvPr/>
        </p:nvGrpSpPr>
        <p:grpSpPr>
          <a:xfrm>
            <a:off x="10001250" y="523875"/>
            <a:ext cx="1619250" cy="476250"/>
            <a:chOff x="10001250" y="523875"/>
            <a:chExt cx="1619250" cy="476250"/>
          </a:xfrm>
        </p:grpSpPr>
        <p:sp>
          <p:nvSpPr>
            <p:cNvPr id="5" name="Rectangle 5"/>
            <p:cNvSpPr/>
            <p:nvPr/>
          </p:nvSpPr>
          <p:spPr>
            <a:xfrm>
              <a:off x="10001250" y="523875"/>
              <a:ext cx="1619250" cy="476250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265588" y="650875"/>
              <a:ext cx="1090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50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✓ FROZEN</a:t>
              </a:r>
            </a:p>
          </p:txBody>
        </p:sp>
      </p:grpSp>
      <p:grpSp>
        <p:nvGrpSpPr>
          <p:cNvPr id="27" name="configuration"/>
          <p:cNvGrpSpPr/>
          <p:nvPr/>
        </p:nvGrpSpPr>
        <p:grpSpPr>
          <a:xfrm>
            <a:off x="571500" y="1524000"/>
            <a:ext cx="5334000" cy="3429000"/>
            <a:chOff x="571500" y="1524000"/>
            <a:chExt cx="5334000" cy="3429000"/>
          </a:xfrm>
        </p:grpSpPr>
        <p:sp>
          <p:nvSpPr>
            <p:cNvPr id="8" name="Rectangle 8"/>
            <p:cNvSpPr/>
            <p:nvPr/>
          </p:nvSpPr>
          <p:spPr>
            <a:xfrm>
              <a:off x="571500" y="1524000"/>
              <a:ext cx="5334000" cy="3429000"/>
            </a:xfrm>
            <a:prstGeom prst="roundRect">
              <a:avLst>
                <a:gd name="adj" fmla="val 4444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571500" y="1524000"/>
              <a:ext cx="5334000" cy="571500"/>
            </a:xfrm>
            <a:prstGeom prst="roundRect">
              <a:avLst>
                <a:gd name="adj" fmla="val 26667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868" y="1701800"/>
              <a:ext cx="15744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65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Configuration</a:t>
              </a:r>
            </a:p>
          </p:txBody>
        </p:sp>
        <p:grpSp>
          <p:nvGrpSpPr>
            <p:cNvPr id="26" name="config-details"/>
            <p:cNvGrpSpPr/>
            <p:nvPr/>
          </p:nvGrpSpPr>
          <p:grpSpPr>
            <a:xfrm>
              <a:off x="851154" y="2276475"/>
              <a:ext cx="4510019" cy="2564384"/>
              <a:chOff x="851154" y="2276475"/>
              <a:chExt cx="4510019" cy="256438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851154" y="2276475"/>
                <a:ext cx="122093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Preprocessing: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327273" y="2276475"/>
                <a:ext cx="2033900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log1p + StandardScaler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51154" y="2609850"/>
                <a:ext cx="1999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K: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327273" y="2609850"/>
                <a:ext cx="917600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2 clusters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51154" y="2943225"/>
                <a:ext cx="8575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Algorithm: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327273" y="2943225"/>
                <a:ext cx="420045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lloyd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51154" y="3276600"/>
                <a:ext cx="5533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n_init: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327273" y="3276600"/>
                <a:ext cx="211976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10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51154" y="3609975"/>
                <a:ext cx="8037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max_iter: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327273" y="3609975"/>
                <a:ext cx="311487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300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51154" y="3943350"/>
                <a:ext cx="11650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Random state: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327273" y="3943350"/>
                <a:ext cx="211976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42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51154" y="4324350"/>
                <a:ext cx="11402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Decision date: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327273" y="4324350"/>
                <a:ext cx="1008065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rgbClr val="EF4444"/>
                    </a:solidFill>
                    <a:latin typeface="Inter"/>
                    <a:ea typeface="Inter"/>
                    <a:cs typeface="Inter"/>
                  </a:rPr>
                  <a:t>2026-10-08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1916" y="4635500"/>
                <a:ext cx="159659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050" i="1" dirty="0">
                    <a:solidFill>
                      <a:srgbClr val="9CA3AF"/>
                    </a:solidFill>
                    <a:latin typeface="Inter"/>
                    <a:ea typeface="Inter"/>
                    <a:cs typeface="Inter"/>
                  </a:rPr>
                  <a:t>(BEFORE opening test)</a:t>
                </a:r>
              </a:p>
            </p:txBody>
          </p:sp>
        </p:grpSp>
      </p:grpSp>
      <p:grpSp>
        <p:nvGrpSpPr>
          <p:cNvPr id="48" name="rationale"/>
          <p:cNvGrpSpPr/>
          <p:nvPr/>
        </p:nvGrpSpPr>
        <p:grpSpPr>
          <a:xfrm>
            <a:off x="6286500" y="1524000"/>
            <a:ext cx="5334000" cy="2190750"/>
            <a:chOff x="6286500" y="1524000"/>
            <a:chExt cx="5334000" cy="2190750"/>
          </a:xfrm>
        </p:grpSpPr>
        <p:sp>
          <p:nvSpPr>
            <p:cNvPr id="28" name="Rectangle 28"/>
            <p:cNvSpPr/>
            <p:nvPr/>
          </p:nvSpPr>
          <p:spPr>
            <a:xfrm>
              <a:off x="6286500" y="1524000"/>
              <a:ext cx="5334000" cy="2190750"/>
            </a:xfrm>
            <a:prstGeom prst="roundRect">
              <a:avLst>
                <a:gd name="adj" fmla="val 6957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6286500" y="1524000"/>
              <a:ext cx="5334000" cy="571500"/>
            </a:xfrm>
            <a:prstGeom prst="roundRect">
              <a:avLst>
                <a:gd name="adj" fmla="val 26667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868" y="1701800"/>
              <a:ext cx="10611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65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Rationale</a:t>
              </a:r>
            </a:p>
          </p:txBody>
        </p:sp>
        <p:grpSp>
          <p:nvGrpSpPr>
            <p:cNvPr id="47" name="rationale-points"/>
            <p:cNvGrpSpPr/>
            <p:nvPr/>
          </p:nvGrpSpPr>
          <p:grpSpPr>
            <a:xfrm>
              <a:off x="6593681" y="2259806"/>
              <a:ext cx="3039294" cy="1251490"/>
              <a:chOff x="6593681" y="2259806"/>
              <a:chExt cx="3039294" cy="1251490"/>
            </a:xfrm>
          </p:grpSpPr>
          <p:grpSp>
            <p:nvGrpSpPr>
              <p:cNvPr id="33" name="Group 33"/>
              <p:cNvGrpSpPr/>
              <p:nvPr/>
            </p:nvGrpSpPr>
            <p:grpSpPr>
              <a:xfrm>
                <a:off x="6593681" y="2259806"/>
                <a:ext cx="185738" cy="185738"/>
                <a:chOff x="6593681" y="2259806"/>
                <a:chExt cx="185738" cy="185738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6600825" y="22669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593681" y="225980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6899529" y="2276475"/>
                <a:ext cx="23377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Validation silhouette: </a:t>
                </a:r>
                <a:r>
                  <a:rPr lang="vi" sz="120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0.3066</a:t>
                </a:r>
              </a:p>
            </p:txBody>
          </p:sp>
          <p:grpSp>
            <p:nvGrpSpPr>
              <p:cNvPr id="37" name="Group 37"/>
              <p:cNvGrpSpPr/>
              <p:nvPr/>
            </p:nvGrpSpPr>
            <p:grpSpPr>
              <a:xfrm>
                <a:off x="6593681" y="2593181"/>
                <a:ext cx="185738" cy="185738"/>
                <a:chOff x="6593681" y="2593181"/>
                <a:chExt cx="185738" cy="185738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6600825" y="26003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593681" y="2593181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6899529" y="2609850"/>
                <a:ext cx="26322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Seed ARI: </a:t>
                </a:r>
                <a:r>
                  <a:rPr lang="vi" sz="120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0.9970</a:t>
                </a:r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 (high stability)</a:t>
                </a:r>
              </a:p>
            </p:txBody>
          </p:sp>
          <p:grpSp>
            <p:nvGrpSpPr>
              <p:cNvPr id="41" name="Group 41"/>
              <p:cNvGrpSpPr/>
              <p:nvPr/>
            </p:nvGrpSpPr>
            <p:grpSpPr>
              <a:xfrm>
                <a:off x="6593681" y="2926556"/>
                <a:ext cx="185738" cy="185738"/>
                <a:chOff x="6593681" y="2926556"/>
                <a:chExt cx="185738" cy="185738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600825" y="29337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593681" y="292655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6899529" y="2943225"/>
                <a:ext cx="27334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Balanced sizes (min share 44.70%)</a:t>
                </a:r>
              </a:p>
            </p:txBody>
          </p:sp>
          <p:grpSp>
            <p:nvGrpSpPr>
              <p:cNvPr id="45" name="Group 45"/>
              <p:cNvGrpSpPr/>
              <p:nvPr/>
            </p:nvGrpSpPr>
            <p:grpSpPr>
              <a:xfrm>
                <a:off x="6593681" y="3259931"/>
                <a:ext cx="185738" cy="185738"/>
                <a:chOff x="6593681" y="3259931"/>
                <a:chExt cx="185738" cy="185738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6600825" y="3267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593681" y="3259931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6899529" y="3276600"/>
                <a:ext cx="26330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Refit ARI: 0.8893 vs K3's 0.3343</a:t>
                </a:r>
              </a:p>
            </p:txBody>
          </p:sp>
        </p:grpSp>
      </p:grpSp>
      <p:grpSp>
        <p:nvGrpSpPr>
          <p:cNvPr id="53" name="final-test"/>
          <p:cNvGrpSpPr/>
          <p:nvPr/>
        </p:nvGrpSpPr>
        <p:grpSpPr>
          <a:xfrm>
            <a:off x="6286500" y="4000500"/>
            <a:ext cx="5334000" cy="955167"/>
            <a:chOff x="6286500" y="4000500"/>
            <a:chExt cx="5334000" cy="955167"/>
          </a:xfrm>
        </p:grpSpPr>
        <p:sp>
          <p:nvSpPr>
            <p:cNvPr id="49" name="Rectangle 49"/>
            <p:cNvSpPr/>
            <p:nvPr/>
          </p:nvSpPr>
          <p:spPr>
            <a:xfrm>
              <a:off x="6286500" y="4000500"/>
              <a:ext cx="5334000" cy="952500"/>
            </a:xfrm>
            <a:prstGeom prst="roundRect">
              <a:avLst>
                <a:gd name="adj" fmla="val 16000"/>
              </a:avLst>
            </a:prstGeom>
            <a:solidFill>
              <a:srgbClr val="FEF2F2"/>
            </a:solidFill>
            <a:ln w="28575">
              <a:solidFill>
                <a:srgbClr val="EF444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4630" y="4156075"/>
              <a:ext cx="40324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991B1B"/>
                  </a:solidFill>
                  <a:latin typeface="Inter"/>
                  <a:ea typeface="Inter"/>
                  <a:cs typeface="Inter"/>
                </a:rPr>
                <a:t>Final Test (88 samples, ONE time only)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5773" y="4467225"/>
              <a:ext cx="176193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7F1D1D"/>
                </a:buClr>
                <a:buSzTx/>
                <a:buFontTx/>
                <a:buChar char="•"/>
              </a:pPr>
              <a:r>
                <a:rPr lang="vi" sz="1280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 xml:space="preserve">Silhouette: </a:t>
              </a:r>
              <a:r>
                <a:rPr lang="vi" sz="1280" b="1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>0.2389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65773" y="4705350"/>
              <a:ext cx="31927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7F1D1D"/>
                </a:buClr>
                <a:buSzTx/>
                <a:buFontTx/>
                <a:buChar char="•"/>
              </a:pPr>
              <a:r>
                <a:rPr lang="vi" sz="1280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 xml:space="preserve">Cluster sizes: </a:t>
              </a:r>
              <a:r>
                <a:rPr lang="vi" sz="1280" b="1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>45 / 43</a:t>
              </a:r>
              <a:r>
                <a:rPr lang="vi" sz="1280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 xml:space="preserve"> (balanced ✓)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71500" y="5238750"/>
            <a:ext cx="11049000" cy="762000"/>
            <a:chOff x="571500" y="5238750"/>
            <a:chExt cx="11049000" cy="762000"/>
          </a:xfrm>
        </p:grpSpPr>
        <p:sp>
          <p:nvSpPr>
            <p:cNvPr id="54" name="Rectangle 54"/>
            <p:cNvSpPr/>
            <p:nvPr/>
          </p:nvSpPr>
          <p:spPr>
            <a:xfrm>
              <a:off x="571500" y="523875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9630" y="5394325"/>
              <a:ext cx="621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K=2 with log1p + StandardScaler is the official frozen model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0773" y="5705475"/>
              <a:ext cx="507608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80" dirty="0">
                  <a:solidFill>
                    <a:srgbClr val="1E3A8A"/>
                  </a:solidFill>
                  <a:latin typeface="Inter"/>
                  <a:ea typeface="Inter"/>
                  <a:cs typeface="Inter"/>
                </a:rPr>
                <a:t>Stable, interpretable, and ready for production deployment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58" name="TextBox 58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19383" y="654050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8954999" cy="616077"/>
            <a:chOff x="555498" y="476250"/>
            <a:chExt cx="895499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89549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Hồ Sơ Hai Cụm (352 Development Samples)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radar-chart"/>
          <p:cNvGrpSpPr/>
          <p:nvPr/>
        </p:nvGrpSpPr>
        <p:grpSpPr>
          <a:xfrm>
            <a:off x="571500" y="1524000"/>
            <a:ext cx="5334000" cy="4381500"/>
            <a:chOff x="571500" y="1524000"/>
            <a:chExt cx="5334000" cy="438150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5334000" cy="4381500"/>
            </a:xfrm>
            <a:prstGeom prst="roundRect">
              <a:avLst>
                <a:gd name="adj" fmla="val 26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784643" y="1679575"/>
              <a:ext cx="2907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5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Spending Profile Comparison</a:t>
              </a:r>
            </a:p>
          </p:txBody>
        </p:sp>
        <p:grpSp>
          <p:nvGrpSpPr>
            <p:cNvPr id="25" name="radar-visual"/>
            <p:cNvGrpSpPr/>
            <p:nvPr/>
          </p:nvGrpSpPr>
          <p:grpSpPr>
            <a:xfrm>
              <a:off x="745368" y="1682750"/>
              <a:ext cx="4741373" cy="4110609"/>
              <a:chOff x="745368" y="1682750"/>
              <a:chExt cx="4741373" cy="4110609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524000" y="2000250"/>
                <a:ext cx="3429000" cy="3429000"/>
              </a:xfrm>
              <a:prstGeom prst="ellipse">
                <a:avLst/>
              </a:pr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952625" y="2428875"/>
                <a:ext cx="2571750" cy="2571750"/>
              </a:xfrm>
              <a:prstGeom prst="ellipse">
                <a:avLst/>
              </a:pr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2381250" y="2857500"/>
                <a:ext cx="1714500" cy="1714500"/>
              </a:xfrm>
              <a:prstGeom prst="ellipse">
                <a:avLst/>
              </a:pr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2809875" y="3286125"/>
                <a:ext cx="857250" cy="857250"/>
              </a:xfrm>
              <a:prstGeom prst="ellipse">
                <a:avLst/>
              </a:pr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3238500" y="2000250"/>
                <a:ext cx="9525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0">
                    <a:moveTo>
                      <a:pt x="0" y="171450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3238500" y="2857500"/>
                <a:ext cx="14859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485900" h="857250">
                    <a:moveTo>
                      <a:pt x="0" y="857250"/>
                    </a:moveTo>
                    <a:lnTo>
                      <a:pt x="1485900" y="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3238500" y="3714750"/>
                <a:ext cx="14859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485900" h="857250">
                    <a:moveTo>
                      <a:pt x="0" y="0"/>
                    </a:moveTo>
                    <a:lnTo>
                      <a:pt x="1485900" y="85725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238500" y="3714750"/>
                <a:ext cx="9525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0">
                    <a:moveTo>
                      <a:pt x="0" y="0"/>
                    </a:moveTo>
                    <a:lnTo>
                      <a:pt x="0" y="171450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752600" y="3714750"/>
                <a:ext cx="14859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485900" h="857250">
                    <a:moveTo>
                      <a:pt x="1485900" y="0"/>
                    </a:moveTo>
                    <a:lnTo>
                      <a:pt x="0" y="85725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752600" y="2857500"/>
                <a:ext cx="14859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485900" h="857250">
                    <a:moveTo>
                      <a:pt x="1485900" y="85725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</a:ln>
            </p:spPr>
          </p:sp>
          <p:sp>
            <p:nvSpPr>
              <p:cNvPr id="17" name="Polygon 17"/>
              <p:cNvSpPr/>
              <p:nvPr/>
            </p:nvSpPr>
            <p:spPr>
              <a:xfrm>
                <a:off x="2095500" y="2381250"/>
                <a:ext cx="22860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2667000">
                    <a:moveTo>
                      <a:pt x="1143000" y="0"/>
                    </a:moveTo>
                    <a:lnTo>
                      <a:pt x="2286000" y="666750"/>
                    </a:lnTo>
                    <a:lnTo>
                      <a:pt x="2286000" y="2000250"/>
                    </a:lnTo>
                    <a:lnTo>
                      <a:pt x="1143000" y="2667000"/>
                    </a:lnTo>
                    <a:lnTo>
                      <a:pt x="0" y="2000250"/>
                    </a:lnTo>
                    <a:lnTo>
                      <a:pt x="0" y="66675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Polygon 18"/>
              <p:cNvSpPr/>
              <p:nvPr/>
            </p:nvSpPr>
            <p:spPr>
              <a:xfrm>
                <a:off x="2524125" y="2857500"/>
                <a:ext cx="142875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1714500">
                    <a:moveTo>
                      <a:pt x="714375" y="0"/>
                    </a:moveTo>
                    <a:lnTo>
                      <a:pt x="1428750" y="428625"/>
                    </a:lnTo>
                    <a:lnTo>
                      <a:pt x="1428750" y="1285875"/>
                    </a:lnTo>
                    <a:lnTo>
                      <a:pt x="714375" y="1714500"/>
                    </a:lnTo>
                    <a:lnTo>
                      <a:pt x="0" y="1285875"/>
                    </a:lnTo>
                    <a:lnTo>
                      <a:pt x="0" y="428625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026780" y="1682750"/>
                <a:ext cx="4234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" sz="105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Fresh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900041" y="2730500"/>
                <a:ext cx="2966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05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Milk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900041" y="4492625"/>
                <a:ext cx="58670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05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Grocery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985965" y="5588000"/>
                <a:ext cx="5050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" sz="105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Frozen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45368" y="4492625"/>
                <a:ext cx="8315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05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Detergents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19998" y="2730500"/>
                <a:ext cx="7569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05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Delicassen</a:t>
                </a:r>
              </a:p>
            </p:txBody>
          </p:sp>
        </p:grpSp>
        <p:grpSp>
          <p:nvGrpSpPr>
            <p:cNvPr id="30" name="legend"/>
            <p:cNvGrpSpPr/>
            <p:nvPr/>
          </p:nvGrpSpPr>
          <p:grpSpPr>
            <a:xfrm>
              <a:off x="857250" y="2190750"/>
              <a:ext cx="2298649" cy="508953"/>
              <a:chOff x="857250" y="2190750"/>
              <a:chExt cx="2298649" cy="508953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57250" y="219075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137285" y="2193925"/>
                <a:ext cx="20186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Cluster 0 (162 khách, 46%)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857250" y="247650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137285" y="2479675"/>
                <a:ext cx="20186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Cluster 1 (190 khách, 54%)</a:t>
                </a:r>
              </a:p>
            </p:txBody>
          </p:sp>
        </p:grpSp>
      </p:grpSp>
      <p:grpSp>
        <p:nvGrpSpPr>
          <p:cNvPr id="43" name="cluster0-details"/>
          <p:cNvGrpSpPr/>
          <p:nvPr/>
        </p:nvGrpSpPr>
        <p:grpSpPr>
          <a:xfrm>
            <a:off x="6286500" y="1524000"/>
            <a:ext cx="5334000" cy="2190750"/>
            <a:chOff x="6286500" y="1524000"/>
            <a:chExt cx="5334000" cy="2190750"/>
          </a:xfrm>
        </p:grpSpPr>
        <p:sp>
          <p:nvSpPr>
            <p:cNvPr id="32" name="Rectangle 32"/>
            <p:cNvSpPr/>
            <p:nvPr/>
          </p:nvSpPr>
          <p:spPr>
            <a:xfrm>
              <a:off x="6286500" y="1524000"/>
              <a:ext cx="5334000" cy="2190750"/>
            </a:xfrm>
            <a:prstGeom prst="roundRect">
              <a:avLst>
                <a:gd name="adj" fmla="val 5217"/>
              </a:avLst>
            </a:prstGeom>
            <a:solidFill>
              <a:srgbClr val="EFF6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1524000"/>
              <a:ext cx="5334000" cy="476250"/>
            </a:xfrm>
            <a:prstGeom prst="roundRect">
              <a:avLst>
                <a:gd name="adj" fmla="val 24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4630" y="1660525"/>
              <a:ext cx="2421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Cluster 0 — Chi Tiêu Cao</a:t>
              </a:r>
            </a:p>
          </p:txBody>
        </p:sp>
        <p:grpSp>
          <p:nvGrpSpPr>
            <p:cNvPr id="41" name="cluster0-values"/>
            <p:cNvGrpSpPr/>
            <p:nvPr/>
          </p:nvGrpSpPr>
          <p:grpSpPr>
            <a:xfrm>
              <a:off x="6566535" y="2146300"/>
              <a:ext cx="2678430" cy="696278"/>
              <a:chOff x="6566535" y="2146300"/>
              <a:chExt cx="2678430" cy="696278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6566535" y="2146300"/>
                <a:ext cx="15973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Fresh: </a:t>
                </a:r>
                <a:r>
                  <a:rPr lang="vi" sz="112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5,693.5 m.u.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566535" y="2384425"/>
                <a:ext cx="14688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Milk: </a:t>
                </a:r>
                <a:r>
                  <a:rPr lang="vi" sz="112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4,339.5 m.u.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66535" y="2622550"/>
                <a:ext cx="17627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Grocery: </a:t>
                </a:r>
                <a:r>
                  <a:rPr lang="vi" sz="112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4,621.5 m.u.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992413" y="2146300"/>
                <a:ext cx="125255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Frozen: </a:t>
                </a:r>
                <a:r>
                  <a:rPr lang="vi" sz="112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1,945.5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661193" y="2384425"/>
                <a:ext cx="15837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Detergents: </a:t>
                </a:r>
                <a:r>
                  <a:rPr lang="vi" sz="112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1,731.5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911151" y="2622550"/>
                <a:ext cx="13338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Delicassen: </a:t>
                </a:r>
                <a:r>
                  <a:rPr lang="vi" sz="112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910.0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6566535" y="3098800"/>
              <a:ext cx="3075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i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Pattern: Chi tiêu cao ở hầu hết nhóm hàng</a:t>
              </a:r>
            </a:p>
          </p:txBody>
        </p:sp>
      </p:grpSp>
      <p:grpSp>
        <p:nvGrpSpPr>
          <p:cNvPr id="55" name="cluster1-details"/>
          <p:cNvGrpSpPr/>
          <p:nvPr/>
        </p:nvGrpSpPr>
        <p:grpSpPr>
          <a:xfrm>
            <a:off x="6286500" y="4000500"/>
            <a:ext cx="5334000" cy="2190750"/>
            <a:chOff x="6286500" y="4000500"/>
            <a:chExt cx="5334000" cy="2190750"/>
          </a:xfrm>
        </p:grpSpPr>
        <p:sp>
          <p:nvSpPr>
            <p:cNvPr id="44" name="Rectangle 44"/>
            <p:cNvSpPr/>
            <p:nvPr/>
          </p:nvSpPr>
          <p:spPr>
            <a:xfrm>
              <a:off x="6286500" y="4000500"/>
              <a:ext cx="5334000" cy="2190750"/>
            </a:xfrm>
            <a:prstGeom prst="roundRect">
              <a:avLst>
                <a:gd name="adj" fmla="val 5217"/>
              </a:avLst>
            </a:prstGeom>
            <a:solidFill>
              <a:srgbClr val="F0FDF4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86500" y="4000500"/>
              <a:ext cx="5334000" cy="476250"/>
            </a:xfrm>
            <a:prstGeom prst="roundRect">
              <a:avLst>
                <a:gd name="adj" fmla="val 24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4630" y="4137025"/>
              <a:ext cx="29054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Cluster 1 — Chi Tiêu Vừa Phải</a:t>
              </a:r>
            </a:p>
          </p:txBody>
        </p:sp>
        <p:grpSp>
          <p:nvGrpSpPr>
            <p:cNvPr id="53" name="cluster1-values"/>
            <p:cNvGrpSpPr/>
            <p:nvPr/>
          </p:nvGrpSpPr>
          <p:grpSpPr>
            <a:xfrm>
              <a:off x="6566535" y="4622800"/>
              <a:ext cx="2678430" cy="696278"/>
              <a:chOff x="6566535" y="4622800"/>
              <a:chExt cx="2678430" cy="696278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6566535" y="4622800"/>
                <a:ext cx="15973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Fresh: </a:t>
                </a:r>
                <a:r>
                  <a:rPr lang="vi" sz="112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3,276.0 m.u.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566535" y="4860925"/>
                <a:ext cx="14688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Milk: </a:t>
                </a:r>
                <a:r>
                  <a:rPr lang="vi" sz="112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2,056.5 m.u.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566535" y="5099050"/>
                <a:ext cx="17627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Grocery: </a:t>
                </a:r>
                <a:r>
                  <a:rPr lang="vi" sz="112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1,841.0 m.u.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992413" y="4622800"/>
                <a:ext cx="125255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Frozen: </a:t>
                </a:r>
                <a:r>
                  <a:rPr lang="vi" sz="112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1,051.0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835337" y="4860925"/>
                <a:ext cx="14096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Detergents: </a:t>
                </a:r>
                <a:r>
                  <a:rPr lang="vi" sz="112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296.5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911151" y="5099050"/>
                <a:ext cx="13338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Delicassen: </a:t>
                </a:r>
                <a:r>
                  <a:rPr lang="vi" sz="112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612.5</a:t>
                </a:r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6566535" y="5575300"/>
              <a:ext cx="43902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i="1" dirty="0">
                  <a:solidFill>
                    <a:srgbClr val="047857"/>
                  </a:solidFill>
                  <a:latin typeface="Inter"/>
                  <a:ea typeface="Inter"/>
                  <a:cs typeface="Inter"/>
                </a:rPr>
                <a:t>Pattern: Chi tiêu thấp hơn, đặc biệt rõ ở Detergents_Paper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19383" y="654050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5998" y="381000"/>
            <a:ext cx="528805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3150" b="1" dirty="0">
                <a:solidFill>
                  <a:schemeClr val="dk1"/>
                </a:solidFill>
                <a:latin typeface="Inter"/>
                <a:ea typeface="Inter"/>
                <a:cs typeface="Inter"/>
              </a:rPr>
              <a:t>Phân bố Channel &amp; Region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2856" y="879475"/>
            <a:ext cx="556324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8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Profiling theo biến phụ (không dùng clustering)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190625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753618" y="1463675"/>
            <a:ext cx="5151882" cy="3013075"/>
            <a:chOff x="753618" y="1463675"/>
            <a:chExt cx="5151882" cy="3013075"/>
          </a:xfrm>
        </p:grpSpPr>
        <p:sp>
          <p:nvSpPr>
            <p:cNvPr id="5" name="TextBox 5"/>
            <p:cNvSpPr txBox="1"/>
            <p:nvPr/>
          </p:nvSpPr>
          <p:spPr>
            <a:xfrm>
              <a:off x="753618" y="1463675"/>
              <a:ext cx="23042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65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Channel Distribution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1809750"/>
              <a:ext cx="5143500" cy="476250"/>
            </a:xfrm>
            <a:prstGeom prst="roundRect">
              <a:avLst>
                <a:gd name="adj" fmla="val 16000"/>
              </a:avLst>
            </a:prstGeom>
            <a:solidFill>
              <a:srgbClr val="DBEAFE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041626" y="1949450"/>
              <a:ext cx="869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35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Cluster 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37126" y="1949450"/>
              <a:ext cx="869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35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Cluster 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286000"/>
              <a:ext cx="5143500" cy="666750"/>
            </a:xfrm>
            <a:prstGeom prst="roundRect">
              <a:avLst>
                <a:gd name="adj" fmla="val 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5642" y="2501900"/>
              <a:ext cx="1239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Horeca (Ch 1)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190750" y="2428875"/>
              <a:ext cx="1047750" cy="333375"/>
            </a:xfrm>
            <a:prstGeom prst="roundRect">
              <a:avLst>
                <a:gd name="adj" fmla="val 17143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339603" y="2514600"/>
              <a:ext cx="750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54 (33%)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905250" y="2428875"/>
              <a:ext cx="1714500" cy="333375"/>
            </a:xfrm>
            <a:prstGeom prst="roundRect">
              <a:avLst>
                <a:gd name="adj" fmla="val 17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340832" y="2514600"/>
              <a:ext cx="84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186 (98%)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952750"/>
              <a:ext cx="5143500" cy="666750"/>
            </a:xfrm>
            <a:prstGeom prst="roundRect">
              <a:avLst>
                <a:gd name="adj" fmla="val 8571"/>
              </a:avLst>
            </a:prstGeom>
            <a:solidFill>
              <a:srgbClr val="F9FAFB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5642" y="3168650"/>
              <a:ext cx="1147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Retail (Ch 2)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190750" y="3095625"/>
              <a:ext cx="1428750" cy="333375"/>
            </a:xfrm>
            <a:prstGeom prst="roundRect">
              <a:avLst>
                <a:gd name="adj" fmla="val 17143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83457" y="3181350"/>
              <a:ext cx="84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108 (67%)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905250" y="3095625"/>
              <a:ext cx="476250" cy="333375"/>
            </a:xfrm>
            <a:prstGeom prst="roundRect">
              <a:avLst>
                <a:gd name="adj" fmla="val 17143"/>
              </a:avLst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61645" y="3181350"/>
              <a:ext cx="5634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4 (2%)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857625"/>
              <a:ext cx="5143500" cy="619125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6404" y="3990975"/>
              <a:ext cx="48180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💡 Cluster 1 chủ yếu Horeca (98%), Cluster 0 cân bằng hơn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4222750"/>
              <a:ext cx="44493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dirty="0">
                  <a:solidFill>
                    <a:srgbClr val="3B82F6"/>
                  </a:solidFill>
                  <a:latin typeface="Inter"/>
                  <a:ea typeface="Inter"/>
                  <a:cs typeface="Inter"/>
                </a:rPr>
                <a:t>Cluster phản ánh channel, dù không dùng channel làm feature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78118" y="1463675"/>
            <a:ext cx="5151882" cy="3013075"/>
            <a:chOff x="6278118" y="1463675"/>
            <a:chExt cx="5151882" cy="3013075"/>
          </a:xfrm>
        </p:grpSpPr>
        <p:sp>
          <p:nvSpPr>
            <p:cNvPr id="25" name="TextBox 25"/>
            <p:cNvSpPr txBox="1"/>
            <p:nvPr/>
          </p:nvSpPr>
          <p:spPr>
            <a:xfrm>
              <a:off x="6278118" y="1463675"/>
              <a:ext cx="21759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65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Region Distribution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1809750"/>
              <a:ext cx="5143500" cy="476250"/>
            </a:xfrm>
            <a:prstGeom prst="roundRect">
              <a:avLst>
                <a:gd name="adj" fmla="val 16000"/>
              </a:avLst>
            </a:prstGeom>
            <a:solidFill>
              <a:srgbClr val="D1FAE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66126" y="1949450"/>
              <a:ext cx="869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350" b="1" dirty="0">
                  <a:solidFill>
                    <a:srgbClr val="047857"/>
                  </a:solidFill>
                  <a:latin typeface="Inter"/>
                  <a:ea typeface="Inter"/>
                  <a:cs typeface="Inter"/>
                </a:rPr>
                <a:t>Cluster 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61626" y="1949450"/>
              <a:ext cx="869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350" b="1" dirty="0">
                  <a:solidFill>
                    <a:srgbClr val="047857"/>
                  </a:solidFill>
                  <a:latin typeface="Inter"/>
                  <a:ea typeface="Inter"/>
                  <a:cs typeface="Inter"/>
                </a:rPr>
                <a:t>Cluster 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2286000"/>
              <a:ext cx="5143500" cy="666750"/>
            </a:xfrm>
            <a:prstGeom prst="roundRect">
              <a:avLst>
                <a:gd name="adj" fmla="val 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0142" y="2501900"/>
              <a:ext cx="1292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Lisbon (Reg 3)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715250" y="2428875"/>
              <a:ext cx="1238250" cy="333375"/>
            </a:xfrm>
            <a:prstGeom prst="roundRect">
              <a:avLst>
                <a:gd name="adj" fmla="val 17143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12707" y="2514600"/>
              <a:ext cx="84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120 (74%)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429750" y="2428875"/>
              <a:ext cx="1428750" cy="333375"/>
            </a:xfrm>
            <a:prstGeom prst="roundRect">
              <a:avLst>
                <a:gd name="adj" fmla="val 17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22457" y="2514600"/>
              <a:ext cx="84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128 (67%)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86500" y="2952750"/>
              <a:ext cx="5143500" cy="666750"/>
            </a:xfrm>
            <a:prstGeom prst="roundRect">
              <a:avLst>
                <a:gd name="adj" fmla="val 8571"/>
              </a:avLst>
            </a:prstGeom>
            <a:solidFill>
              <a:srgbClr val="F9FAFB"/>
            </a:solidFill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70142" y="3168650"/>
              <a:ext cx="1375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Oporto (Reg 1)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715250" y="3095625"/>
              <a:ext cx="857250" cy="333375"/>
            </a:xfrm>
            <a:prstGeom prst="roundRect">
              <a:avLst>
                <a:gd name="adj" fmla="val 17143"/>
              </a:avLst>
            </a:prstGeom>
            <a:solidFill>
              <a:srgbClr val="3B82F6">
                <a:alpha val="7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68853" y="3181350"/>
              <a:ext cx="750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30 (19%)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429750" y="3095625"/>
              <a:ext cx="904875" cy="333375"/>
            </a:xfrm>
            <a:prstGeom prst="roundRect">
              <a:avLst>
                <a:gd name="adj" fmla="val 17143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511928" y="3181350"/>
              <a:ext cx="750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39 (21%)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86500" y="3857625"/>
              <a:ext cx="5143500" cy="619125"/>
            </a:xfrm>
            <a:prstGeom prst="roundRect">
              <a:avLst>
                <a:gd name="adj" fmla="val 15385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70904" y="3990975"/>
              <a:ext cx="3368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b="1" dirty="0">
                  <a:solidFill>
                    <a:srgbClr val="047857"/>
                  </a:solidFill>
                  <a:latin typeface="Inter"/>
                  <a:ea typeface="Inter"/>
                  <a:cs typeface="Inter"/>
                </a:rPr>
                <a:t>💡 Không có sự khác biệt rõ ràng về địa lý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71285" y="4222750"/>
              <a:ext cx="29567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dirty="0">
                  <a:solidFill>
                    <a:srgbClr val="059669"/>
                  </a:solidFill>
                  <a:latin typeface="Inter"/>
                  <a:ea typeface="Inter"/>
                  <a:cs typeface="Inter"/>
                </a:rPr>
                <a:t>Region phân bố tương đồng giữa 2 cluster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762000" y="4857750"/>
            <a:ext cx="10668000" cy="1238250"/>
          </a:xfrm>
          <a:prstGeom prst="roundRect">
            <a:avLst>
              <a:gd name="adj" fmla="val 9231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040130" y="5013325"/>
            <a:ext cx="9462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rgbClr val="D97706"/>
                </a:solidFill>
                <a:latin typeface="Inter"/>
                <a:ea typeface="Inter"/>
                <a:cs typeface="Inter"/>
              </a:rPr>
              <a:t>Tóm tắt: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1273" y="5324475"/>
            <a:ext cx="8049792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38176" indent="-138176">
              <a:buClr>
                <a:srgbClr val="92400E"/>
              </a:buClr>
              <a:buSzTx/>
              <a:buFontTx/>
              <a:buChar char="•"/>
            </a:pPr>
            <a:r>
              <a:rPr lang="vi" sz="1280" dirty="0">
                <a:solidFill>
                  <a:srgbClr val="92400E"/>
                </a:solidFill>
                <a:latin typeface="Inter"/>
                <a:ea typeface="Inter"/>
                <a:cs typeface="Inter"/>
              </a:rPr>
              <a:t>Channel &amp; Region CHỈ dùng profiling sau khi phân cụm xong, KHÔNG dùng làm features clustering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1273" y="5610225"/>
            <a:ext cx="4541510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38176" indent="-138176">
              <a:buClr>
                <a:srgbClr val="92400E"/>
              </a:buClr>
              <a:buSzTx/>
              <a:buFontTx/>
              <a:buChar char="•"/>
            </a:pPr>
            <a:r>
              <a:rPr lang="vi" sz="1280" dirty="0">
                <a:solidFill>
                  <a:srgbClr val="92400E"/>
                </a:solidFill>
                <a:latin typeface="Inter"/>
                <a:ea typeface="Inter"/>
                <a:cs typeface="Inter"/>
              </a:rPr>
              <a:t>Cluster 0: Cân bằng Horeca/Retail, tập trung Lisbon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1273" y="5895975"/>
            <a:ext cx="4858072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38176" indent="-138176">
              <a:buClr>
                <a:srgbClr val="92400E"/>
              </a:buClr>
              <a:buSzTx/>
              <a:buFontTx/>
              <a:buChar char="•"/>
            </a:pPr>
            <a:r>
              <a:rPr lang="vi" sz="1280" dirty="0">
                <a:solidFill>
                  <a:srgbClr val="92400E"/>
                </a:solidFill>
                <a:latin typeface="Inter"/>
                <a:ea typeface="Inter"/>
                <a:cs typeface="Inter"/>
              </a:rPr>
              <a:t>Cluster 1: Chủ yếu Horeca (98%), cũng tập trung Lisbon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6666" y="6350000"/>
            <a:ext cx="41782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Data: final_profile/channel_profile.csv, region_profile.csv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951140" y="635000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10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4054595" cy="616077"/>
            <a:chOff x="555498" y="476250"/>
            <a:chExt cx="405459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40545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Kiến Trúc Hệ Thống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architecture"/>
          <p:cNvGrpSpPr/>
          <p:nvPr/>
        </p:nvGrpSpPr>
        <p:grpSpPr>
          <a:xfrm>
            <a:off x="571500" y="1524000"/>
            <a:ext cx="6930702" cy="4572000"/>
            <a:chOff x="571500" y="1524000"/>
            <a:chExt cx="6930702" cy="4572000"/>
          </a:xfrm>
        </p:grpSpPr>
        <p:grpSp>
          <p:nvGrpSpPr>
            <p:cNvPr id="13" name="frontend-layer"/>
            <p:cNvGrpSpPr/>
            <p:nvPr/>
          </p:nvGrpSpPr>
          <p:grpSpPr>
            <a:xfrm>
              <a:off x="571500" y="1524000"/>
              <a:ext cx="6858000" cy="1143000"/>
              <a:chOff x="571500" y="1524000"/>
              <a:chExt cx="6858000" cy="11430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524000"/>
                <a:ext cx="6858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EFF6FF"/>
              </a:solidFill>
              <a:ln w="19050">
                <a:solidFill>
                  <a:schemeClr val="accent1"/>
                </a:solidFill>
              </a:ln>
              <a:effectLst>
                <a:outerShdw blurRad="152400" dist="57150" dir="5400000" algn="ctr" rotWithShape="0">
                  <a:srgbClr val="000000">
                    <a:alpha val="7500"/>
                  </a:srgbClr>
                </a:outerShdw>
              </a:effectLst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772719" y="1852286"/>
                <a:ext cx="321462" cy="257503"/>
                <a:chOff x="772719" y="1852286"/>
                <a:chExt cx="321462" cy="257503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783431" y="1927622"/>
                  <a:ext cx="300038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107156">
                      <a:moveTo>
                        <a:pt x="300038" y="53578"/>
                      </a:moveTo>
                      <a:lnTo>
                        <a:pt x="235744" y="107156"/>
                      </a:lnTo>
                      <a:lnTo>
                        <a:pt x="64294" y="107156"/>
                      </a:lnTo>
                      <a:lnTo>
                        <a:pt x="0" y="53578"/>
                      </a:lnTo>
                      <a:lnTo>
                        <a:pt x="64294" y="0"/>
                      </a:lnTo>
                      <a:lnTo>
                        <a:pt x="235744" y="0"/>
                      </a:ln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772719" y="1852286"/>
                  <a:ext cx="321462" cy="25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462" h="257503">
                      <a:moveTo>
                        <a:pt x="81864" y="83574"/>
                      </a:moveTo>
                      <a:lnTo>
                        <a:pt x="27456" y="128914"/>
                      </a:lnTo>
                      <a:lnTo>
                        <a:pt x="81864" y="174255"/>
                      </a:lnTo>
                      <a:cubicBezTo>
                        <a:pt x="84892" y="176679"/>
                        <a:pt x="86374" y="180549"/>
                        <a:pt x="85738" y="184375"/>
                      </a:cubicBezTo>
                      <a:cubicBezTo>
                        <a:pt x="85103" y="188201"/>
                        <a:pt x="82450" y="191386"/>
                        <a:pt x="78802" y="192701"/>
                      </a:cubicBezTo>
                      <a:cubicBezTo>
                        <a:pt x="75153" y="194016"/>
                        <a:pt x="71079" y="193257"/>
                        <a:pt x="68148" y="190717"/>
                      </a:cubicBezTo>
                      <a:lnTo>
                        <a:pt x="3854" y="137139"/>
                      </a:lnTo>
                      <a:cubicBezTo>
                        <a:pt x="1412" y="135103"/>
                        <a:pt x="0" y="132087"/>
                        <a:pt x="0" y="128908"/>
                      </a:cubicBezTo>
                      <a:cubicBezTo>
                        <a:pt x="0" y="125728"/>
                        <a:pt x="1412" y="122713"/>
                        <a:pt x="3854" y="120677"/>
                      </a:cubicBezTo>
                      <a:lnTo>
                        <a:pt x="68148" y="67099"/>
                      </a:lnTo>
                      <a:cubicBezTo>
                        <a:pt x="72698" y="63311"/>
                        <a:pt x="79456" y="63929"/>
                        <a:pt x="83244" y="68478"/>
                      </a:cubicBezTo>
                      <a:cubicBezTo>
                        <a:pt x="87031" y="73028"/>
                        <a:pt x="86414" y="79786"/>
                        <a:pt x="81864" y="83574"/>
                      </a:cubicBezTo>
                      <a:close/>
                      <a:moveTo>
                        <a:pt x="317608" y="120677"/>
                      </a:moveTo>
                      <a:lnTo>
                        <a:pt x="253314" y="67099"/>
                      </a:lnTo>
                      <a:cubicBezTo>
                        <a:pt x="248765" y="63311"/>
                        <a:pt x="242006" y="63929"/>
                        <a:pt x="238219" y="68478"/>
                      </a:cubicBezTo>
                      <a:cubicBezTo>
                        <a:pt x="234431" y="73028"/>
                        <a:pt x="235049" y="79786"/>
                        <a:pt x="239598" y="83574"/>
                      </a:cubicBezTo>
                      <a:lnTo>
                        <a:pt x="294007" y="128914"/>
                      </a:lnTo>
                      <a:lnTo>
                        <a:pt x="239598" y="174255"/>
                      </a:lnTo>
                      <a:cubicBezTo>
                        <a:pt x="236570" y="176679"/>
                        <a:pt x="235089" y="180549"/>
                        <a:pt x="235724" y="184375"/>
                      </a:cubicBezTo>
                      <a:cubicBezTo>
                        <a:pt x="236359" y="188201"/>
                        <a:pt x="239012" y="191386"/>
                        <a:pt x="242661" y="192701"/>
                      </a:cubicBezTo>
                      <a:cubicBezTo>
                        <a:pt x="246309" y="194016"/>
                        <a:pt x="250384" y="193257"/>
                        <a:pt x="253314" y="190717"/>
                      </a:cubicBezTo>
                      <a:lnTo>
                        <a:pt x="317608" y="137139"/>
                      </a:lnTo>
                      <a:cubicBezTo>
                        <a:pt x="320050" y="135103"/>
                        <a:pt x="321462" y="132087"/>
                        <a:pt x="321462" y="128908"/>
                      </a:cubicBezTo>
                      <a:cubicBezTo>
                        <a:pt x="321462" y="125728"/>
                        <a:pt x="320050" y="122713"/>
                        <a:pt x="317608" y="120677"/>
                      </a:cubicBezTo>
                      <a:close/>
                      <a:moveTo>
                        <a:pt x="207250" y="970"/>
                      </a:moveTo>
                      <a:cubicBezTo>
                        <a:pt x="204579" y="0"/>
                        <a:pt x="201632" y="131"/>
                        <a:pt x="199057" y="1334"/>
                      </a:cubicBezTo>
                      <a:cubicBezTo>
                        <a:pt x="196482" y="2538"/>
                        <a:pt x="194491" y="4714"/>
                        <a:pt x="193521" y="7386"/>
                      </a:cubicBezTo>
                      <a:lnTo>
                        <a:pt x="107796" y="243130"/>
                      </a:lnTo>
                      <a:cubicBezTo>
                        <a:pt x="106822" y="245803"/>
                        <a:pt x="106951" y="248753"/>
                        <a:pt x="108154" y="251331"/>
                      </a:cubicBezTo>
                      <a:cubicBezTo>
                        <a:pt x="109358" y="253909"/>
                        <a:pt x="111537" y="255903"/>
                        <a:pt x="114212" y="256872"/>
                      </a:cubicBezTo>
                      <a:cubicBezTo>
                        <a:pt x="115386" y="257290"/>
                        <a:pt x="116623" y="257503"/>
                        <a:pt x="117869" y="257502"/>
                      </a:cubicBezTo>
                      <a:cubicBezTo>
                        <a:pt x="122377" y="257502"/>
                        <a:pt x="126403" y="254681"/>
                        <a:pt x="127941" y="250443"/>
                      </a:cubicBezTo>
                      <a:lnTo>
                        <a:pt x="213666" y="14699"/>
                      </a:lnTo>
                      <a:cubicBezTo>
                        <a:pt x="214636" y="12028"/>
                        <a:pt x="214505" y="9081"/>
                        <a:pt x="213302" y="6506"/>
                      </a:cubicBezTo>
                      <a:cubicBezTo>
                        <a:pt x="212099" y="3931"/>
                        <a:pt x="209922" y="1940"/>
                        <a:pt x="207250" y="9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1230630" y="1822450"/>
                <a:ext cx="18438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500" b="1" dirty="0">
                    <a:solidFill>
                      <a:srgbClr val="1E40AF"/>
                    </a:solidFill>
                    <a:latin typeface="Inter"/>
                    <a:ea typeface="Inter"/>
                    <a:cs typeface="Inter"/>
                  </a:rPr>
                  <a:t>Frontend (React)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32154" y="2133600"/>
                <a:ext cx="13774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1E3A8A"/>
                    </a:solidFill>
                    <a:latin typeface="Inter"/>
                    <a:ea typeface="Inter"/>
                    <a:cs typeface="Inter"/>
                  </a:rPr>
                  <a:t>TypeScript + Vite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185285" y="1860550"/>
                <a:ext cx="32318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3 screens: Intro, Segmentation, Dashboard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185285" y="2146300"/>
                <a:ext cx="21787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Visualization: PCA 2D, charts</a:t>
                </a:r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4000500" y="2667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85666" y="2730500"/>
              <a:ext cx="580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API calls</a:t>
              </a:r>
            </a:p>
          </p:txBody>
        </p:sp>
        <p:grpSp>
          <p:nvGrpSpPr>
            <p:cNvPr id="25" name="backend-layer"/>
            <p:cNvGrpSpPr/>
            <p:nvPr/>
          </p:nvGrpSpPr>
          <p:grpSpPr>
            <a:xfrm>
              <a:off x="571500" y="2952750"/>
              <a:ext cx="6930702" cy="1333500"/>
              <a:chOff x="571500" y="2952750"/>
              <a:chExt cx="6930702" cy="1333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71500" y="2952750"/>
                <a:ext cx="6858000" cy="1333500"/>
              </a:xfrm>
              <a:prstGeom prst="roundRect">
                <a:avLst>
                  <a:gd name="adj" fmla="val 8571"/>
                </a:avLst>
              </a:prstGeom>
              <a:solidFill>
                <a:srgbClr val="DCFCE7"/>
              </a:solidFill>
              <a:ln w="19050">
                <a:solidFill>
                  <a:schemeClr val="accent2"/>
                </a:solidFill>
              </a:ln>
              <a:effectLst>
                <a:outerShdw blurRad="152400" dist="57150" dir="5400000" algn="ctr" rotWithShape="0">
                  <a:srgbClr val="000000">
                    <a:alpha val="7500"/>
                  </a:srgbClr>
                </a:outerShdw>
              </a:effectLst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792733" y="3307071"/>
                <a:ext cx="281506" cy="301008"/>
                <a:chOff x="792733" y="3307071"/>
                <a:chExt cx="281506" cy="301008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804862" y="3318272"/>
                  <a:ext cx="257175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50019">
                      <a:moveTo>
                        <a:pt x="257175" y="75009"/>
                      </a:moveTo>
                      <a:lnTo>
                        <a:pt x="128588" y="150019"/>
                      </a:lnTo>
                      <a:lnTo>
                        <a:pt x="0" y="75009"/>
                      </a:lnTo>
                      <a:lnTo>
                        <a:pt x="128588" y="0"/>
                      </a:ln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792733" y="3307071"/>
                  <a:ext cx="281506" cy="301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506" h="301008">
                      <a:moveTo>
                        <a:pt x="278560" y="209440"/>
                      </a:moveTo>
                      <a:cubicBezTo>
                        <a:pt x="281506" y="214553"/>
                        <a:pt x="279764" y="221087"/>
                        <a:pt x="274662" y="224053"/>
                      </a:cubicBezTo>
                      <a:lnTo>
                        <a:pt x="146074" y="299063"/>
                      </a:lnTo>
                      <a:cubicBezTo>
                        <a:pt x="142739" y="301008"/>
                        <a:pt x="138614" y="301008"/>
                        <a:pt x="135278" y="299063"/>
                      </a:cubicBezTo>
                      <a:lnTo>
                        <a:pt x="6691" y="224053"/>
                      </a:lnTo>
                      <a:cubicBezTo>
                        <a:pt x="1665" y="221033"/>
                        <a:pt x="0" y="214535"/>
                        <a:pt x="2954" y="209470"/>
                      </a:cubicBezTo>
                      <a:cubicBezTo>
                        <a:pt x="5908" y="204405"/>
                        <a:pt x="12384" y="202655"/>
                        <a:pt x="17487" y="205542"/>
                      </a:cubicBezTo>
                      <a:lnTo>
                        <a:pt x="140717" y="277404"/>
                      </a:lnTo>
                      <a:lnTo>
                        <a:pt x="263946" y="205542"/>
                      </a:lnTo>
                      <a:cubicBezTo>
                        <a:pt x="269060" y="202596"/>
                        <a:pt x="275593" y="204338"/>
                        <a:pt x="278560" y="209440"/>
                      </a:cubicBezTo>
                      <a:close/>
                      <a:moveTo>
                        <a:pt x="263946" y="141248"/>
                      </a:moveTo>
                      <a:lnTo>
                        <a:pt x="140717" y="213110"/>
                      </a:lnTo>
                      <a:lnTo>
                        <a:pt x="17487" y="141248"/>
                      </a:lnTo>
                      <a:cubicBezTo>
                        <a:pt x="12423" y="138727"/>
                        <a:pt x="6271" y="140576"/>
                        <a:pt x="3437" y="145472"/>
                      </a:cubicBezTo>
                      <a:cubicBezTo>
                        <a:pt x="603" y="150368"/>
                        <a:pt x="2063" y="156624"/>
                        <a:pt x="6771" y="159760"/>
                      </a:cubicBezTo>
                      <a:lnTo>
                        <a:pt x="135359" y="234769"/>
                      </a:lnTo>
                      <a:cubicBezTo>
                        <a:pt x="138695" y="236714"/>
                        <a:pt x="142819" y="236714"/>
                        <a:pt x="146155" y="234769"/>
                      </a:cubicBezTo>
                      <a:lnTo>
                        <a:pt x="274742" y="159760"/>
                      </a:lnTo>
                      <a:cubicBezTo>
                        <a:pt x="278103" y="157858"/>
                        <a:pt x="280181" y="154295"/>
                        <a:pt x="280181" y="150433"/>
                      </a:cubicBezTo>
                      <a:cubicBezTo>
                        <a:pt x="280181" y="146571"/>
                        <a:pt x="278103" y="143008"/>
                        <a:pt x="274742" y="141107"/>
                      </a:cubicBezTo>
                      <a:cubicBezTo>
                        <a:pt x="271381" y="139205"/>
                        <a:pt x="267256" y="139259"/>
                        <a:pt x="263946" y="141248"/>
                      </a:cubicBezTo>
                      <a:close/>
                      <a:moveTo>
                        <a:pt x="1414" y="86210"/>
                      </a:moveTo>
                      <a:cubicBezTo>
                        <a:pt x="1422" y="82391"/>
                        <a:pt x="3463" y="78864"/>
                        <a:pt x="6771" y="76955"/>
                      </a:cubicBezTo>
                      <a:lnTo>
                        <a:pt x="135359" y="1945"/>
                      </a:lnTo>
                      <a:cubicBezTo>
                        <a:pt x="138695" y="0"/>
                        <a:pt x="142819" y="0"/>
                        <a:pt x="146155" y="1945"/>
                      </a:cubicBezTo>
                      <a:lnTo>
                        <a:pt x="274742" y="76955"/>
                      </a:lnTo>
                      <a:cubicBezTo>
                        <a:pt x="278034" y="78875"/>
                        <a:pt x="280058" y="82399"/>
                        <a:pt x="280058" y="86210"/>
                      </a:cubicBezTo>
                      <a:cubicBezTo>
                        <a:pt x="280058" y="90021"/>
                        <a:pt x="278034" y="93545"/>
                        <a:pt x="274742" y="95466"/>
                      </a:cubicBezTo>
                      <a:lnTo>
                        <a:pt x="146155" y="170475"/>
                      </a:lnTo>
                      <a:cubicBezTo>
                        <a:pt x="142819" y="172420"/>
                        <a:pt x="138695" y="172420"/>
                        <a:pt x="135359" y="170475"/>
                      </a:cubicBezTo>
                      <a:lnTo>
                        <a:pt x="6771" y="95466"/>
                      </a:lnTo>
                      <a:cubicBezTo>
                        <a:pt x="3463" y="93556"/>
                        <a:pt x="1422" y="90030"/>
                        <a:pt x="1414" y="86210"/>
                      </a:cubicBezTo>
                      <a:close/>
                      <a:moveTo>
                        <a:pt x="33400" y="86210"/>
                      </a:moveTo>
                      <a:lnTo>
                        <a:pt x="140717" y="148816"/>
                      </a:lnTo>
                      <a:lnTo>
                        <a:pt x="248034" y="86210"/>
                      </a:lnTo>
                      <a:lnTo>
                        <a:pt x="140717" y="2360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230630" y="3298825"/>
                <a:ext cx="19080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5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Backend (Node.js)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2154" y="3609975"/>
                <a:ext cx="16437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047857"/>
                    </a:solidFill>
                    <a:latin typeface="Inter"/>
                    <a:ea typeface="Inter"/>
                    <a:cs typeface="Inter"/>
                  </a:rPr>
                  <a:t>Fastify + TypeScript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185285" y="3146425"/>
                <a:ext cx="31636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Load frozen model.json (SHA-256 verified)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185285" y="3432175"/>
                <a:ext cx="20323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NO retraining on requests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185285" y="3717925"/>
                <a:ext cx="331691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API: /health, /ready, /segment, /dashboard</a:t>
                </a:r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4000500" y="4286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85666" y="4349750"/>
              <a:ext cx="679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Load once</a:t>
              </a:r>
            </a:p>
          </p:txBody>
        </p:sp>
        <p:grpSp>
          <p:nvGrpSpPr>
            <p:cNvPr id="37" name="ml-layer"/>
            <p:cNvGrpSpPr/>
            <p:nvPr/>
          </p:nvGrpSpPr>
          <p:grpSpPr>
            <a:xfrm>
              <a:off x="571500" y="4572000"/>
              <a:ext cx="6858000" cy="1524000"/>
              <a:chOff x="571500" y="4572000"/>
              <a:chExt cx="6858000" cy="15240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4572000"/>
                <a:ext cx="6858000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EF3C7"/>
              </a:solidFill>
              <a:ln w="19050">
                <a:solidFill>
                  <a:srgbClr val="F59E0B"/>
                </a:solidFill>
              </a:ln>
              <a:effectLst>
                <a:outerShdw blurRad="152400" dist="57150" dir="5400000" algn="ctr" rotWithShape="0">
                  <a:srgbClr val="000000">
                    <a:alpha val="7500"/>
                  </a:srgbClr>
                </a:outerShdw>
              </a:effectLst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823916" y="4994169"/>
                <a:ext cx="248837" cy="258847"/>
                <a:chOff x="823916" y="4994169"/>
                <a:chExt cx="248837" cy="258847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997744" y="5006578"/>
                  <a:ext cx="64294" cy="6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64294">
                      <a:moveTo>
                        <a:pt x="64294" y="32147"/>
                      </a:moveTo>
                      <a:cubicBezTo>
                        <a:pt x="64294" y="49901"/>
                        <a:pt x="49901" y="64294"/>
                        <a:pt x="32147" y="64294"/>
                      </a:cubicBezTo>
                      <a:cubicBezTo>
                        <a:pt x="14393" y="64294"/>
                        <a:pt x="0" y="49901"/>
                        <a:pt x="0" y="32147"/>
                      </a:cubicBezTo>
                      <a:cubicBezTo>
                        <a:pt x="0" y="14393"/>
                        <a:pt x="14393" y="0"/>
                        <a:pt x="32147" y="0"/>
                      </a:cubicBezTo>
                      <a:cubicBezTo>
                        <a:pt x="49901" y="0"/>
                        <a:pt x="64294" y="14393"/>
                        <a:pt x="64294" y="32147"/>
                      </a:cubicBezTo>
                      <a:close/>
                    </a:path>
                  </a:pathLst>
                </a:custGeom>
                <a:solidFill>
                  <a:srgbClr val="D97706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23916" y="4994169"/>
                  <a:ext cx="248837" cy="258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837" h="258847">
                      <a:moveTo>
                        <a:pt x="248837" y="44556"/>
                      </a:moveTo>
                      <a:cubicBezTo>
                        <a:pt x="248826" y="22285"/>
                        <a:pt x="231760" y="3732"/>
                        <a:pt x="209566" y="1866"/>
                      </a:cubicBezTo>
                      <a:cubicBezTo>
                        <a:pt x="187373" y="0"/>
                        <a:pt x="167448" y="15442"/>
                        <a:pt x="163718" y="37399"/>
                      </a:cubicBezTo>
                      <a:cubicBezTo>
                        <a:pt x="159988" y="59356"/>
                        <a:pt x="173695" y="80511"/>
                        <a:pt x="195259" y="86079"/>
                      </a:cubicBezTo>
                      <a:lnTo>
                        <a:pt x="195259" y="108850"/>
                      </a:lnTo>
                      <a:cubicBezTo>
                        <a:pt x="195259" y="114768"/>
                        <a:pt x="190462" y="119566"/>
                        <a:pt x="184544" y="119566"/>
                      </a:cubicBezTo>
                      <a:lnTo>
                        <a:pt x="66672" y="119566"/>
                      </a:lnTo>
                      <a:cubicBezTo>
                        <a:pt x="63021" y="119565"/>
                        <a:pt x="59396" y="120190"/>
                        <a:pt x="55956" y="121414"/>
                      </a:cubicBezTo>
                      <a:lnTo>
                        <a:pt x="55956" y="86079"/>
                      </a:lnTo>
                      <a:cubicBezTo>
                        <a:pt x="76855" y="80683"/>
                        <a:pt x="90481" y="60589"/>
                        <a:pt x="87761" y="39177"/>
                      </a:cubicBezTo>
                      <a:cubicBezTo>
                        <a:pt x="85042" y="17765"/>
                        <a:pt x="66825" y="1715"/>
                        <a:pt x="45241" y="1715"/>
                      </a:cubicBezTo>
                      <a:cubicBezTo>
                        <a:pt x="23656" y="1715"/>
                        <a:pt x="5439" y="17765"/>
                        <a:pt x="2720" y="39177"/>
                      </a:cubicBezTo>
                      <a:cubicBezTo>
                        <a:pt x="0" y="60589"/>
                        <a:pt x="13626" y="80683"/>
                        <a:pt x="34525" y="86079"/>
                      </a:cubicBezTo>
                      <a:lnTo>
                        <a:pt x="34525" y="174483"/>
                      </a:lnTo>
                      <a:cubicBezTo>
                        <a:pt x="13626" y="179879"/>
                        <a:pt x="0" y="199973"/>
                        <a:pt x="2720" y="221386"/>
                      </a:cubicBezTo>
                      <a:cubicBezTo>
                        <a:pt x="5439" y="242798"/>
                        <a:pt x="23656" y="258847"/>
                        <a:pt x="45241" y="258847"/>
                      </a:cubicBezTo>
                      <a:cubicBezTo>
                        <a:pt x="66825" y="258847"/>
                        <a:pt x="85042" y="242798"/>
                        <a:pt x="87761" y="221386"/>
                      </a:cubicBezTo>
                      <a:cubicBezTo>
                        <a:pt x="90481" y="199973"/>
                        <a:pt x="76855" y="179879"/>
                        <a:pt x="55956" y="174483"/>
                      </a:cubicBezTo>
                      <a:lnTo>
                        <a:pt x="55956" y="151713"/>
                      </a:lnTo>
                      <a:cubicBezTo>
                        <a:pt x="55956" y="145795"/>
                        <a:pt x="60754" y="140997"/>
                        <a:pt x="66672" y="140997"/>
                      </a:cubicBezTo>
                      <a:lnTo>
                        <a:pt x="184544" y="140997"/>
                      </a:lnTo>
                      <a:cubicBezTo>
                        <a:pt x="202298" y="140997"/>
                        <a:pt x="216691" y="126604"/>
                        <a:pt x="216691" y="108850"/>
                      </a:cubicBezTo>
                      <a:lnTo>
                        <a:pt x="216691" y="86079"/>
                      </a:lnTo>
                      <a:cubicBezTo>
                        <a:pt x="235606" y="81166"/>
                        <a:pt x="248819" y="64100"/>
                        <a:pt x="248837" y="44556"/>
                      </a:cubicBezTo>
                      <a:close/>
                      <a:moveTo>
                        <a:pt x="23809" y="44556"/>
                      </a:moveTo>
                      <a:cubicBezTo>
                        <a:pt x="23809" y="32720"/>
                        <a:pt x="33404" y="23125"/>
                        <a:pt x="45241" y="23125"/>
                      </a:cubicBezTo>
                      <a:cubicBezTo>
                        <a:pt x="57077" y="23125"/>
                        <a:pt x="66672" y="32720"/>
                        <a:pt x="66672" y="44556"/>
                      </a:cubicBezTo>
                      <a:cubicBezTo>
                        <a:pt x="66672" y="56392"/>
                        <a:pt x="57077" y="65988"/>
                        <a:pt x="45241" y="65988"/>
                      </a:cubicBezTo>
                      <a:cubicBezTo>
                        <a:pt x="33404" y="65988"/>
                        <a:pt x="23809" y="56392"/>
                        <a:pt x="23809" y="44556"/>
                      </a:cubicBezTo>
                      <a:close/>
                      <a:moveTo>
                        <a:pt x="66672" y="216006"/>
                      </a:moveTo>
                      <a:cubicBezTo>
                        <a:pt x="66672" y="227842"/>
                        <a:pt x="57077" y="237438"/>
                        <a:pt x="45241" y="237438"/>
                      </a:cubicBezTo>
                      <a:cubicBezTo>
                        <a:pt x="33404" y="237438"/>
                        <a:pt x="23809" y="227842"/>
                        <a:pt x="23809" y="216006"/>
                      </a:cubicBezTo>
                      <a:cubicBezTo>
                        <a:pt x="23809" y="204170"/>
                        <a:pt x="33404" y="194575"/>
                        <a:pt x="45241" y="194575"/>
                      </a:cubicBezTo>
                      <a:cubicBezTo>
                        <a:pt x="57077" y="194575"/>
                        <a:pt x="66672" y="204170"/>
                        <a:pt x="66672" y="216006"/>
                      </a:cubicBezTo>
                      <a:close/>
                      <a:moveTo>
                        <a:pt x="205975" y="65988"/>
                      </a:moveTo>
                      <a:cubicBezTo>
                        <a:pt x="194139" y="65988"/>
                        <a:pt x="184544" y="56392"/>
                        <a:pt x="184544" y="44556"/>
                      </a:cubicBezTo>
                      <a:cubicBezTo>
                        <a:pt x="184544" y="32720"/>
                        <a:pt x="194139" y="23125"/>
                        <a:pt x="205975" y="23125"/>
                      </a:cubicBezTo>
                      <a:cubicBezTo>
                        <a:pt x="217811" y="23125"/>
                        <a:pt x="227406" y="32720"/>
                        <a:pt x="227406" y="44556"/>
                      </a:cubicBezTo>
                      <a:cubicBezTo>
                        <a:pt x="227406" y="56392"/>
                        <a:pt x="217811" y="65988"/>
                        <a:pt x="205975" y="65988"/>
                      </a:cubicBezTo>
                      <a:close/>
                    </a:path>
                  </a:pathLst>
                </a:custGeom>
                <a:solidFill>
                  <a:srgbClr val="D97706"/>
                </a:solidFill>
                <a:ln>
                  <a:noFill/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230630" y="4965700"/>
                <a:ext cx="220851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500" b="1" dirty="0">
                    <a:solidFill>
                      <a:srgbClr val="92400E"/>
                    </a:solidFill>
                    <a:latin typeface="Inter"/>
                    <a:ea typeface="Inter"/>
                    <a:cs typeface="Inter"/>
                  </a:rPr>
                  <a:t>ML Training (Python)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232154" y="5276850"/>
                <a:ext cx="22529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78350F"/>
                    </a:solidFill>
                    <a:latin typeface="Inter"/>
                    <a:ea typeface="Inter"/>
                    <a:cs typeface="Inter"/>
                  </a:rPr>
                  <a:t>scikit-learn, pandas, NumPy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185285" y="4813300"/>
                <a:ext cx="25123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140 experiments → Model selection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185285" y="5099050"/>
                <a:ext cx="255024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D011: log1p + StandardScaler, K=2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185285" y="5384800"/>
                <a:ext cx="19004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Export frozen artifacts</a:t>
                </a:r>
              </a:p>
            </p:txBody>
          </p:sp>
        </p:grpSp>
      </p:grpSp>
      <p:grpSp>
        <p:nvGrpSpPr>
          <p:cNvPr id="50" name="testing"/>
          <p:cNvGrpSpPr/>
          <p:nvPr/>
        </p:nvGrpSpPr>
        <p:grpSpPr>
          <a:xfrm>
            <a:off x="7810500" y="1524000"/>
            <a:ext cx="3810000" cy="2190750"/>
            <a:chOff x="7810500" y="1524000"/>
            <a:chExt cx="3810000" cy="2190750"/>
          </a:xfrm>
        </p:grpSpPr>
        <p:sp>
          <p:nvSpPr>
            <p:cNvPr id="39" name="Rectangle 39"/>
            <p:cNvSpPr/>
            <p:nvPr/>
          </p:nvSpPr>
          <p:spPr>
            <a:xfrm>
              <a:off x="7810500" y="1524000"/>
              <a:ext cx="3810000" cy="2190750"/>
            </a:xfrm>
            <a:prstGeom prst="roundRect">
              <a:avLst>
                <a:gd name="adj" fmla="val 5217"/>
              </a:avLst>
            </a:prstGeom>
            <a:solidFill>
              <a:srgbClr val="F0FDF4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029575" y="1790700"/>
              <a:ext cx="247650" cy="247650"/>
              <a:chOff x="8029575" y="1790700"/>
              <a:chExt cx="247650" cy="2476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039100" y="180022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114300"/>
                    </a:moveTo>
                    <a:cubicBezTo>
                      <a:pt x="228600" y="177426"/>
                      <a:pt x="177426" y="228600"/>
                      <a:pt x="114300" y="228600"/>
                    </a:cubicBezTo>
                    <a:cubicBezTo>
                      <a:pt x="51174" y="228600"/>
                      <a:pt x="0" y="177426"/>
                      <a:pt x="0" y="114300"/>
                    </a:cubicBezTo>
                    <a:cubicBezTo>
                      <a:pt x="0" y="51174"/>
                      <a:pt x="51174" y="0"/>
                      <a:pt x="114300" y="0"/>
                    </a:cubicBezTo>
                    <a:cubicBezTo>
                      <a:pt x="177426" y="0"/>
                      <a:pt x="228600" y="51174"/>
                      <a:pt x="228600" y="11430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029575" y="179070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78189" y="88511"/>
                    </a:moveTo>
                    <a:cubicBezTo>
                      <a:pt x="179978" y="90298"/>
                      <a:pt x="180982" y="92722"/>
                      <a:pt x="180982" y="95250"/>
                    </a:cubicBezTo>
                    <a:cubicBezTo>
                      <a:pt x="180982" y="97778"/>
                      <a:pt x="179978" y="100202"/>
                      <a:pt x="178189" y="101989"/>
                    </a:cubicBezTo>
                    <a:lnTo>
                      <a:pt x="111514" y="168664"/>
                    </a:lnTo>
                    <a:cubicBezTo>
                      <a:pt x="109727" y="170453"/>
                      <a:pt x="107303" y="171457"/>
                      <a:pt x="104775" y="171457"/>
                    </a:cubicBezTo>
                    <a:cubicBezTo>
                      <a:pt x="102247" y="171457"/>
                      <a:pt x="99823" y="170453"/>
                      <a:pt x="98036" y="168664"/>
                    </a:cubicBezTo>
                    <a:lnTo>
                      <a:pt x="69461" y="140089"/>
                    </a:lnTo>
                    <a:cubicBezTo>
                      <a:pt x="65739" y="136367"/>
                      <a:pt x="65739" y="130333"/>
                      <a:pt x="69461" y="126611"/>
                    </a:cubicBezTo>
                    <a:cubicBezTo>
                      <a:pt x="73183" y="122889"/>
                      <a:pt x="79217" y="122889"/>
                      <a:pt x="82939" y="126611"/>
                    </a:cubicBezTo>
                    <a:lnTo>
                      <a:pt x="104775" y="148459"/>
                    </a:lnTo>
                    <a:lnTo>
                      <a:pt x="164711" y="88511"/>
                    </a:lnTo>
                    <a:cubicBezTo>
                      <a:pt x="166498" y="86722"/>
                      <a:pt x="168922" y="85718"/>
                      <a:pt x="171450" y="85718"/>
                    </a:cubicBezTo>
                    <a:cubicBezTo>
                      <a:pt x="173978" y="85718"/>
                      <a:pt x="176402" y="86722"/>
                      <a:pt x="178189" y="88511"/>
                    </a:cubicBezTo>
                    <a:close/>
                    <a:moveTo>
                      <a:pt x="247650" y="123825"/>
                    </a:moveTo>
                    <a:cubicBezTo>
                      <a:pt x="247650" y="192212"/>
                      <a:pt x="192212" y="247650"/>
                      <a:pt x="123825" y="247650"/>
                    </a:cubicBezTo>
                    <a:cubicBezTo>
                      <a:pt x="55438" y="247650"/>
                      <a:pt x="0" y="192212"/>
                      <a:pt x="0" y="123825"/>
                    </a:cubicBezTo>
                    <a:cubicBezTo>
                      <a:pt x="0" y="55438"/>
                      <a:pt x="55438" y="0"/>
                      <a:pt x="123825" y="0"/>
                    </a:cubicBezTo>
                    <a:cubicBezTo>
                      <a:pt x="192182" y="72"/>
                      <a:pt x="247578" y="55468"/>
                      <a:pt x="247650" y="123825"/>
                    </a:cubicBezTo>
                    <a:close/>
                    <a:moveTo>
                      <a:pt x="228600" y="123825"/>
                    </a:moveTo>
                    <a:cubicBezTo>
                      <a:pt x="228600" y="65959"/>
                      <a:pt x="181691" y="19050"/>
                      <a:pt x="123825" y="19050"/>
                    </a:cubicBezTo>
                    <a:cubicBezTo>
                      <a:pt x="65959" y="19050"/>
                      <a:pt x="19050" y="65959"/>
                      <a:pt x="19050" y="123825"/>
                    </a:cubicBezTo>
                    <a:cubicBezTo>
                      <a:pt x="19050" y="181691"/>
                      <a:pt x="65959" y="228600"/>
                      <a:pt x="123825" y="228600"/>
                    </a:cubicBezTo>
                    <a:cubicBezTo>
                      <a:pt x="181663" y="228534"/>
                      <a:pt x="228534" y="181663"/>
                      <a:pt x="228600" y="12382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8422005" y="1822450"/>
              <a:ext cx="784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Testing</a:t>
              </a:r>
            </a:p>
          </p:txBody>
        </p:sp>
        <p:grpSp>
          <p:nvGrpSpPr>
            <p:cNvPr id="49" name="test-results"/>
            <p:cNvGrpSpPr/>
            <p:nvPr/>
          </p:nvGrpSpPr>
          <p:grpSpPr>
            <a:xfrm>
              <a:off x="7995285" y="2193925"/>
              <a:ext cx="2137349" cy="1363028"/>
              <a:chOff x="7995285" y="2193925"/>
              <a:chExt cx="2137349" cy="1363028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7995285" y="2193925"/>
                <a:ext cx="18066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rgbClr val="064E3B"/>
                    </a:solidFill>
                    <a:latin typeface="Inter"/>
                    <a:ea typeface="Inter"/>
                    <a:cs typeface="Inter"/>
                  </a:rPr>
                  <a:t>✓ 64/64 E2E tests PASS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995285" y="2479675"/>
                <a:ext cx="209767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rgbClr val="064E3B"/>
                    </a:solidFill>
                    <a:latin typeface="Inter"/>
                    <a:ea typeface="Inter"/>
                    <a:cs typeface="Inter"/>
                  </a:rPr>
                  <a:t>✓ Gate 6: 19 native + 16 API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995285" y="2765425"/>
                <a:ext cx="18049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rgbClr val="064E3B"/>
                    </a:solidFill>
                    <a:latin typeface="Inter"/>
                    <a:ea typeface="Inter"/>
                    <a:cs typeface="Inter"/>
                  </a:rPr>
                  <a:t>✓ Gate 7: 40 Playwright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995285" y="3051175"/>
                <a:ext cx="159912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rgbClr val="064E3B"/>
                    </a:solidFill>
                    <a:latin typeface="Inter"/>
                    <a:ea typeface="Inter"/>
                    <a:cs typeface="Inter"/>
                  </a:rPr>
                  <a:t>✓ Gate 8: Windows CI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995285" y="3336925"/>
                <a:ext cx="213734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rgbClr val="064E3B"/>
                    </a:solidFill>
                    <a:latin typeface="Inter"/>
                    <a:ea typeface="Inter"/>
                    <a:cs typeface="Inter"/>
                  </a:rPr>
                  <a:t>✓ npm audit 0 vulnerabilities</a:t>
                </a:r>
              </a:p>
            </p:txBody>
          </p:sp>
        </p:grpSp>
      </p:grpSp>
      <p:grpSp>
        <p:nvGrpSpPr>
          <p:cNvPr id="60" name="key-points"/>
          <p:cNvGrpSpPr/>
          <p:nvPr/>
        </p:nvGrpSpPr>
        <p:grpSpPr>
          <a:xfrm>
            <a:off x="7810500" y="4000500"/>
            <a:ext cx="3810000" cy="2095500"/>
            <a:chOff x="7810500" y="4000500"/>
            <a:chExt cx="3810000" cy="2095500"/>
          </a:xfrm>
        </p:grpSpPr>
        <p:sp>
          <p:nvSpPr>
            <p:cNvPr id="51" name="Rectangle 51"/>
            <p:cNvSpPr/>
            <p:nvPr/>
          </p:nvSpPr>
          <p:spPr>
            <a:xfrm>
              <a:off x="7810500" y="4000500"/>
              <a:ext cx="3810000" cy="2095500"/>
            </a:xfrm>
            <a:prstGeom prst="roundRect">
              <a:avLst>
                <a:gd name="adj" fmla="val 545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94142" y="4168775"/>
              <a:ext cx="22547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Key Architecture Points</a:t>
              </a:r>
            </a:p>
          </p:txBody>
        </p:sp>
        <p:grpSp>
          <p:nvGrpSpPr>
            <p:cNvPr id="59" name="points"/>
            <p:cNvGrpSpPr/>
            <p:nvPr/>
          </p:nvGrpSpPr>
          <p:grpSpPr>
            <a:xfrm>
              <a:off x="7995285" y="4527550"/>
              <a:ext cx="2104581" cy="1505903"/>
              <a:chOff x="7995285" y="4527550"/>
              <a:chExt cx="2104581" cy="1505903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7995285" y="4527550"/>
                <a:ext cx="137806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Clean separation: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995285" y="4765675"/>
                <a:ext cx="156903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Python trains offline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995285" y="5003800"/>
                <a:ext cx="20972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Node.js serves frozen model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995285" y="5241925"/>
                <a:ext cx="181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React presents to users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995285" y="5575300"/>
                <a:ext cx="150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No runtime training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995285" y="5813425"/>
                <a:ext cx="210458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Fast, predictable responses</a:t>
                </a:r>
              </a:p>
            </p:txBody>
          </p:sp>
        </p:grpSp>
      </p:grpSp>
      <p:grpSp>
        <p:nvGrpSpPr>
          <p:cNvPr id="63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41640" y="65405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6904368" cy="616077"/>
            <a:chOff x="555498" y="476250"/>
            <a:chExt cx="690436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69043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Ứng Dụng Web — 3 Màn Hình Chính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screen1"/>
          <p:cNvGrpSpPr/>
          <p:nvPr/>
        </p:nvGrpSpPr>
        <p:grpSpPr>
          <a:xfrm>
            <a:off x="571500" y="1524000"/>
            <a:ext cx="3429000" cy="4000500"/>
            <a:chOff x="571500" y="1524000"/>
            <a:chExt cx="3429000" cy="400050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6" name="Rectangle 6"/>
            <p:cNvSpPr/>
            <p:nvPr/>
          </p:nvSpPr>
          <p:spPr>
            <a:xfrm>
              <a:off x="666750" y="1619250"/>
              <a:ext cx="3238500" cy="38100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65082" y="1724025"/>
              <a:ext cx="16418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Screen 1: Giới Thiệu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2190750"/>
              <a:ext cx="2857500" cy="2476500"/>
            </a:xfrm>
            <a:prstGeom prst="roundRect">
              <a:avLst>
                <a:gd name="adj" fmla="val 307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65951" y="2396175"/>
              <a:ext cx="241647" cy="239974"/>
              <a:chOff x="965951" y="2396175"/>
              <a:chExt cx="241647" cy="23997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35844" y="2464594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100012" y="50006"/>
                    </a:moveTo>
                    <a:cubicBezTo>
                      <a:pt x="100012" y="77624"/>
                      <a:pt x="77624" y="100012"/>
                      <a:pt x="50006" y="100012"/>
                    </a:cubicBez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65951" y="2396175"/>
                <a:ext cx="241647" cy="239974"/>
              </a:xfrm>
              <a:custGeom>
                <a:avLst/>
                <a:gdLst/>
                <a:ahLst/>
                <a:cxnLst/>
                <a:rect l="l" t="t" r="r" b="b"/>
                <a:pathLst>
                  <a:path w="241647" h="239974">
                    <a:moveTo>
                      <a:pt x="217692" y="71711"/>
                    </a:moveTo>
                    <a:cubicBezTo>
                      <a:pt x="241647" y="121810"/>
                      <a:pt x="223887" y="181910"/>
                      <a:pt x="176549" y="210942"/>
                    </a:cubicBezTo>
                    <a:cubicBezTo>
                      <a:pt x="129211" y="239974"/>
                      <a:pt x="67591" y="228558"/>
                      <a:pt x="33796" y="184494"/>
                    </a:cubicBezTo>
                    <a:cubicBezTo>
                      <a:pt x="0" y="140431"/>
                      <a:pt x="4949" y="77958"/>
                      <a:pt x="45260" y="39765"/>
                    </a:cubicBezTo>
                    <a:cubicBezTo>
                      <a:pt x="85572" y="1572"/>
                      <a:pt x="148221" y="0"/>
                      <a:pt x="190397" y="36123"/>
                    </a:cubicBezTo>
                    <a:lnTo>
                      <a:pt x="214015" y="12495"/>
                    </a:lnTo>
                    <a:cubicBezTo>
                      <a:pt x="217271" y="9239"/>
                      <a:pt x="222551" y="9239"/>
                      <a:pt x="225808" y="12495"/>
                    </a:cubicBezTo>
                    <a:cubicBezTo>
                      <a:pt x="229065" y="15752"/>
                      <a:pt x="229065" y="21032"/>
                      <a:pt x="225808" y="24288"/>
                    </a:cubicBezTo>
                    <a:lnTo>
                      <a:pt x="125796" y="124301"/>
                    </a:lnTo>
                    <a:cubicBezTo>
                      <a:pt x="122539" y="127557"/>
                      <a:pt x="117259" y="127557"/>
                      <a:pt x="114002" y="124301"/>
                    </a:cubicBezTo>
                    <a:cubicBezTo>
                      <a:pt x="110746" y="121044"/>
                      <a:pt x="110746" y="115764"/>
                      <a:pt x="114002" y="112508"/>
                    </a:cubicBezTo>
                    <a:lnTo>
                      <a:pt x="142881" y="83629"/>
                    </a:lnTo>
                    <a:cubicBezTo>
                      <a:pt x="126769" y="72973"/>
                      <a:pt x="105445" y="74787"/>
                      <a:pt x="91364" y="88012"/>
                    </a:cubicBezTo>
                    <a:cubicBezTo>
                      <a:pt x="77284" y="101237"/>
                      <a:pt x="74138" y="122405"/>
                      <a:pt x="83764" y="139153"/>
                    </a:cubicBezTo>
                    <a:cubicBezTo>
                      <a:pt x="93391" y="155901"/>
                      <a:pt x="113265" y="163838"/>
                      <a:pt x="131780" y="158327"/>
                    </a:cubicBezTo>
                    <a:cubicBezTo>
                      <a:pt x="150295" y="152817"/>
                      <a:pt x="162596" y="135305"/>
                      <a:pt x="161498" y="116018"/>
                    </a:cubicBezTo>
                    <a:cubicBezTo>
                      <a:pt x="161239" y="111415"/>
                      <a:pt x="164761" y="107474"/>
                      <a:pt x="169363" y="107215"/>
                    </a:cubicBezTo>
                    <a:cubicBezTo>
                      <a:pt x="173966" y="106956"/>
                      <a:pt x="177908" y="110478"/>
                      <a:pt x="178167" y="115081"/>
                    </a:cubicBezTo>
                    <a:cubicBezTo>
                      <a:pt x="179732" y="142397"/>
                      <a:pt x="162104" y="167131"/>
                      <a:pt x="135772" y="174564"/>
                    </a:cubicBezTo>
                    <a:cubicBezTo>
                      <a:pt x="109441" y="181998"/>
                      <a:pt x="81481" y="170134"/>
                      <a:pt x="68530" y="146033"/>
                    </a:cubicBezTo>
                    <a:cubicBezTo>
                      <a:pt x="55580" y="121931"/>
                      <a:pt x="61118" y="92067"/>
                      <a:pt x="81850" y="74212"/>
                    </a:cubicBezTo>
                    <a:cubicBezTo>
                      <a:pt x="102582" y="56357"/>
                      <a:pt x="132936" y="55309"/>
                      <a:pt x="154851" y="71690"/>
                    </a:cubicBezTo>
                    <a:lnTo>
                      <a:pt x="178552" y="47989"/>
                    </a:lnTo>
                    <a:cubicBezTo>
                      <a:pt x="142584" y="18127"/>
                      <a:pt x="89895" y="20159"/>
                      <a:pt x="56335" y="52703"/>
                    </a:cubicBezTo>
                    <a:cubicBezTo>
                      <a:pt x="22774" y="85247"/>
                      <a:pt x="19122" y="137849"/>
                      <a:pt x="47865" y="174718"/>
                    </a:cubicBezTo>
                    <a:cubicBezTo>
                      <a:pt x="76607" y="211587"/>
                      <a:pt x="128510" y="220879"/>
                      <a:pt x="168258" y="196273"/>
                    </a:cubicBezTo>
                    <a:cubicBezTo>
                      <a:pt x="208007" y="171667"/>
                      <a:pt x="222833" y="121066"/>
                      <a:pt x="202649" y="78899"/>
                    </a:cubicBezTo>
                    <a:cubicBezTo>
                      <a:pt x="200664" y="74745"/>
                      <a:pt x="202422" y="69768"/>
                      <a:pt x="206576" y="67783"/>
                    </a:cubicBezTo>
                    <a:cubicBezTo>
                      <a:pt x="210731" y="65798"/>
                      <a:pt x="215707" y="67557"/>
                      <a:pt x="217692" y="7171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28166" y="2463800"/>
              <a:ext cx="13738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Bài toán và phạm vi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547" y="2838450"/>
              <a:ext cx="15832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chemeClr val="accent5"/>
                </a:buClr>
                <a:buSzTx/>
                <a:buFontTx/>
                <a:buChar char="•"/>
              </a:pPr>
              <a:r>
                <a:rPr lang="vi" sz="98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Data card &amp; Model card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7547" y="3076575"/>
              <a:ext cx="15052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chemeClr val="accent5"/>
                </a:buClr>
                <a:buSzTx/>
                <a:buFontTx/>
                <a:buChar char="•"/>
              </a:pPr>
              <a:r>
                <a:rPr lang="vi" sz="98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Đơn vị monetary units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7547" y="3314700"/>
              <a:ext cx="11160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chemeClr val="accent5"/>
                </a:buClr>
                <a:buSzTx/>
                <a:buFontTx/>
                <a:buChar char="•"/>
              </a:pPr>
              <a:r>
                <a:rPr lang="vi" sz="98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Giới hạn sử dụng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7547" y="3552825"/>
              <a:ext cx="1465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chemeClr val="accent5"/>
                </a:buClr>
                <a:buSzTx/>
                <a:buFontTx/>
                <a:buChar char="•"/>
              </a:pPr>
              <a:r>
                <a:rPr lang="vi" sz="98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Training methodology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547" y="3790950"/>
              <a:ext cx="12275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chemeClr val="accent5"/>
                </a:buClr>
                <a:buSzTx/>
                <a:buFontTx/>
                <a:buChar char="•"/>
              </a:pPr>
              <a:r>
                <a:rPr lang="vi" sz="98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Ethical guidelines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143000" y="5048250"/>
              <a:ext cx="2286000" cy="333375"/>
            </a:xfrm>
            <a:prstGeom prst="roundRect">
              <a:avLst>
                <a:gd name="adj" fmla="val 2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20158" y="5127625"/>
              <a:ext cx="15316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12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Bắt Đầu Phân Khúc →</a:t>
              </a:r>
            </a:p>
          </p:txBody>
        </p:sp>
      </p:grpSp>
      <p:grpSp>
        <p:nvGrpSpPr>
          <p:cNvPr id="39" name="screen2"/>
          <p:cNvGrpSpPr/>
          <p:nvPr/>
        </p:nvGrpSpPr>
        <p:grpSpPr>
          <a:xfrm>
            <a:off x="4381500" y="1524000"/>
            <a:ext cx="3429000" cy="4000500"/>
            <a:chOff x="4381500" y="1524000"/>
            <a:chExt cx="3429000" cy="4000500"/>
          </a:xfrm>
        </p:grpSpPr>
        <p:sp>
          <p:nvSpPr>
            <p:cNvPr id="21" name="Rectangle 21"/>
            <p:cNvSpPr/>
            <p:nvPr/>
          </p:nvSpPr>
          <p:spPr>
            <a:xfrm>
              <a:off x="4381500" y="152400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476750" y="1619250"/>
              <a:ext cx="3238500" cy="3810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57263" y="1724025"/>
              <a:ext cx="1677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Screen 2: Phân Khúc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667250" y="2190750"/>
              <a:ext cx="2857500" cy="2476500"/>
            </a:xfrm>
            <a:prstGeom prst="roundRect">
              <a:avLst>
                <a:gd name="adj" fmla="val 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57166" y="2301875"/>
              <a:ext cx="18545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Form Input 6 Biến Chi Tiêu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762500" y="2571750"/>
              <a:ext cx="2667000" cy="28575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9525">
              <a:solidFill>
                <a:srgbClr val="D1D5D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852988" y="2667000"/>
              <a:ext cx="809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Fresh (m.u.)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762500" y="2952750"/>
              <a:ext cx="2667000" cy="28575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9525">
              <a:solidFill>
                <a:srgbClr val="D1D5D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852988" y="3048000"/>
              <a:ext cx="7066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Milk (m.u.)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762500" y="3333750"/>
              <a:ext cx="2667000" cy="28575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9525">
              <a:solidFill>
                <a:srgbClr val="D1D5D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852988" y="3429000"/>
              <a:ext cx="1179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Grocery (m.u.) ...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57738" y="3743325"/>
              <a:ext cx="1346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Real-time validation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57738" y="3933825"/>
              <a:ext cx="16570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Lưu lịch sử (100 records)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57738" y="4124325"/>
              <a:ext cx="16468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CSV batch import/export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762500" y="4381500"/>
              <a:ext cx="2667000" cy="190500"/>
            </a:xfrm>
            <a:prstGeom prst="roundRect">
              <a:avLst>
                <a:gd name="adj" fmla="val 20000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852988" y="4422775"/>
              <a:ext cx="20940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82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Result: Cluster ID, distance, profile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953000" y="5048250"/>
              <a:ext cx="2286000" cy="333375"/>
            </a:xfrm>
            <a:prstGeom prst="roundRect">
              <a:avLst>
                <a:gd name="adj" fmla="val 2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44749" y="5127625"/>
              <a:ext cx="902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12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Phân Khúc →</a:t>
              </a:r>
            </a:p>
          </p:txBody>
        </p:sp>
      </p:grpSp>
      <p:grpSp>
        <p:nvGrpSpPr>
          <p:cNvPr id="61" name="screen3"/>
          <p:cNvGrpSpPr/>
          <p:nvPr/>
        </p:nvGrpSpPr>
        <p:grpSpPr>
          <a:xfrm>
            <a:off x="8191500" y="1524000"/>
            <a:ext cx="3429000" cy="4000500"/>
            <a:chOff x="8191500" y="1524000"/>
            <a:chExt cx="3429000" cy="4000500"/>
          </a:xfrm>
        </p:grpSpPr>
        <p:sp>
          <p:nvSpPr>
            <p:cNvPr id="40" name="Rectangle 40"/>
            <p:cNvSpPr/>
            <p:nvPr/>
          </p:nvSpPr>
          <p:spPr>
            <a:xfrm>
              <a:off x="8191500" y="152400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41" name="Rectangle 41"/>
            <p:cNvSpPr/>
            <p:nvPr/>
          </p:nvSpPr>
          <p:spPr>
            <a:xfrm>
              <a:off x="8286750" y="1619250"/>
              <a:ext cx="3238500" cy="3810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49670" y="1724025"/>
              <a:ext cx="1712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Screen 3: Dashboard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477250" y="2190750"/>
              <a:ext cx="2857500" cy="2476500"/>
            </a:xfrm>
            <a:prstGeom prst="roundRect">
              <a:avLst>
                <a:gd name="adj" fmla="val 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67166" y="2301875"/>
              <a:ext cx="1763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Analytics &amp; Visualization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572500" y="2571750"/>
              <a:ext cx="1285875" cy="762000"/>
            </a:xfrm>
            <a:prstGeom prst="roundRect">
              <a:avLst>
                <a:gd name="adj" fmla="val 7500"/>
              </a:avLst>
            </a:prstGeom>
            <a:solidFill>
              <a:srgbClr val="EFF6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005607" y="2660650"/>
              <a:ext cx="4101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820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Cluster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66365" y="2803525"/>
              <a:ext cx="2886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820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Sizes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9020175" y="2952750"/>
              <a:ext cx="381000" cy="381000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48875" y="2571750"/>
              <a:ext cx="1285875" cy="762000"/>
            </a:xfrm>
            <a:prstGeom prst="roundRect">
              <a:avLst>
                <a:gd name="adj" fmla="val 7500"/>
              </a:avLst>
            </a:prstGeom>
            <a:solidFill>
              <a:srgbClr val="F0FDF4"/>
            </a:solidFill>
            <a:ln w="9525">
              <a:solidFill>
                <a:schemeClr val="accent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470854" y="2660650"/>
              <a:ext cx="4323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820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Medians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191750" y="2905125"/>
              <a:ext cx="333375" cy="381000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572750" y="3000375"/>
              <a:ext cx="333375" cy="285750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953750" y="3048000"/>
              <a:ext cx="333375" cy="238125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567738" y="3457575"/>
              <a:ext cx="17806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Channel/Region composition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67738" y="3648075"/>
              <a:ext cx="18133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Experiment explorer (K2-8)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67738" y="3838575"/>
              <a:ext cx="13354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PCA 2D visualization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67738" y="4029075"/>
              <a:ext cx="11828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Distance outliers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67738" y="4219575"/>
              <a:ext cx="16366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Raw vs Log1p comparison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9277350" y="513397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72422" y="5124450"/>
              <a:ext cx="14011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8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Live: localhost:5173</a:t>
              </a:r>
            </a:p>
          </p:txBody>
        </p:sp>
      </p:grpSp>
      <p:grpSp>
        <p:nvGrpSpPr>
          <p:cNvPr id="67" name="highlight"/>
          <p:cNvGrpSpPr/>
          <p:nvPr/>
        </p:nvGrpSpPr>
        <p:grpSpPr>
          <a:xfrm>
            <a:off x="571500" y="5715000"/>
            <a:ext cx="11049000" cy="476250"/>
            <a:chOff x="571500" y="5715000"/>
            <a:chExt cx="11049000" cy="476250"/>
          </a:xfrm>
        </p:grpSpPr>
        <p:sp>
          <p:nvSpPr>
            <p:cNvPr id="62" name="Rectangle 62"/>
            <p:cNvSpPr/>
            <p:nvPr/>
          </p:nvSpPr>
          <p:spPr>
            <a:xfrm>
              <a:off x="571500" y="5715000"/>
              <a:ext cx="11049000" cy="476250"/>
            </a:xfrm>
            <a:prstGeom prst="roundRect">
              <a:avLst>
                <a:gd name="adj" fmla="val 20000"/>
              </a:avLst>
            </a:prstGeom>
            <a:solidFill>
              <a:srgbClr val="EFF6FF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88789" y="5837039"/>
              <a:ext cx="232173" cy="232173"/>
              <a:chOff x="788789" y="5837039"/>
              <a:chExt cx="232173" cy="23217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97719" y="5845969"/>
                <a:ext cx="214313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214313">
                    <a:moveTo>
                      <a:pt x="214313" y="107157"/>
                    </a:moveTo>
                    <a:cubicBezTo>
                      <a:pt x="214313" y="166338"/>
                      <a:pt x="166338" y="214313"/>
                      <a:pt x="107157" y="214313"/>
                    </a:cubicBezTo>
                    <a:cubicBezTo>
                      <a:pt x="47976" y="214313"/>
                      <a:pt x="0" y="166338"/>
                      <a:pt x="0" y="107157"/>
                    </a:cubicBezTo>
                    <a:cubicBezTo>
                      <a:pt x="0" y="47976"/>
                      <a:pt x="47976" y="0"/>
                      <a:pt x="107157" y="0"/>
                    </a:cubicBezTo>
                    <a:cubicBezTo>
                      <a:pt x="166338" y="0"/>
                      <a:pt x="214313" y="47976"/>
                      <a:pt x="214313" y="107157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88789" y="5837039"/>
                <a:ext cx="232173" cy="232173"/>
              </a:xfrm>
              <a:custGeom>
                <a:avLst/>
                <a:gdLst/>
                <a:ahLst/>
                <a:cxnLst/>
                <a:rect l="l" t="t" r="r" b="b"/>
                <a:pathLst>
                  <a:path w="232173" h="232173">
                    <a:moveTo>
                      <a:pt x="167053" y="82979"/>
                    </a:moveTo>
                    <a:cubicBezTo>
                      <a:pt x="168730" y="84654"/>
                      <a:pt x="169672" y="86927"/>
                      <a:pt x="169672" y="89297"/>
                    </a:cubicBezTo>
                    <a:cubicBezTo>
                      <a:pt x="169672" y="91667"/>
                      <a:pt x="168730" y="93940"/>
                      <a:pt x="167053" y="95615"/>
                    </a:cubicBezTo>
                    <a:lnTo>
                      <a:pt x="104545" y="158123"/>
                    </a:lnTo>
                    <a:cubicBezTo>
                      <a:pt x="102870" y="159800"/>
                      <a:pt x="100597" y="160742"/>
                      <a:pt x="98227" y="160742"/>
                    </a:cubicBezTo>
                    <a:cubicBezTo>
                      <a:pt x="95857" y="160742"/>
                      <a:pt x="93584" y="159800"/>
                      <a:pt x="91909" y="158123"/>
                    </a:cubicBezTo>
                    <a:lnTo>
                      <a:pt x="65120" y="131334"/>
                    </a:lnTo>
                    <a:cubicBezTo>
                      <a:pt x="61631" y="127845"/>
                      <a:pt x="61631" y="122188"/>
                      <a:pt x="65120" y="118698"/>
                    </a:cubicBezTo>
                    <a:cubicBezTo>
                      <a:pt x="68609" y="115209"/>
                      <a:pt x="74266" y="115209"/>
                      <a:pt x="77756" y="118698"/>
                    </a:cubicBezTo>
                    <a:lnTo>
                      <a:pt x="98227" y="139181"/>
                    </a:lnTo>
                    <a:lnTo>
                      <a:pt x="154417" y="82979"/>
                    </a:lnTo>
                    <a:cubicBezTo>
                      <a:pt x="156092" y="81303"/>
                      <a:pt x="158365" y="80361"/>
                      <a:pt x="160735" y="80361"/>
                    </a:cubicBezTo>
                    <a:cubicBezTo>
                      <a:pt x="163105" y="80361"/>
                      <a:pt x="165378" y="81303"/>
                      <a:pt x="167053" y="82979"/>
                    </a:cubicBezTo>
                    <a:close/>
                    <a:moveTo>
                      <a:pt x="232173" y="116086"/>
                    </a:moveTo>
                    <a:cubicBezTo>
                      <a:pt x="232173" y="180199"/>
                      <a:pt x="180199" y="232173"/>
                      <a:pt x="116086" y="232173"/>
                    </a:cubicBezTo>
                    <a:cubicBezTo>
                      <a:pt x="51974" y="232173"/>
                      <a:pt x="0" y="180199"/>
                      <a:pt x="0" y="116086"/>
                    </a:cubicBezTo>
                    <a:cubicBezTo>
                      <a:pt x="0" y="51974"/>
                      <a:pt x="51974" y="0"/>
                      <a:pt x="116086" y="0"/>
                    </a:cubicBezTo>
                    <a:cubicBezTo>
                      <a:pt x="180171" y="68"/>
                      <a:pt x="232105" y="52002"/>
                      <a:pt x="232173" y="116086"/>
                    </a:cubicBezTo>
                    <a:close/>
                    <a:moveTo>
                      <a:pt x="214313" y="116086"/>
                    </a:moveTo>
                    <a:cubicBezTo>
                      <a:pt x="214313" y="61837"/>
                      <a:pt x="170336" y="17859"/>
                      <a:pt x="116086" y="17859"/>
                    </a:cubicBezTo>
                    <a:cubicBezTo>
                      <a:pt x="61837" y="17859"/>
                      <a:pt x="17859" y="61837"/>
                      <a:pt x="17859" y="116086"/>
                    </a:cubicBezTo>
                    <a:cubicBezTo>
                      <a:pt x="17859" y="170336"/>
                      <a:pt x="61837" y="214313"/>
                      <a:pt x="116086" y="214313"/>
                    </a:cubicBezTo>
                    <a:cubicBezTo>
                      <a:pt x="170310" y="214252"/>
                      <a:pt x="214252" y="170310"/>
                      <a:pt x="214313" y="11608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183767" y="5854700"/>
              <a:ext cx="5951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Full working application from input to insights — Ready for demo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68" name="TextBox 68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141640" y="65405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6873084" cy="616077"/>
            <a:chOff x="555498" y="476250"/>
            <a:chExt cx="687308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68730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Kiểm Thử và Đảm Bảo Chất Lượng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overall-status"/>
          <p:cNvGrpSpPr/>
          <p:nvPr/>
        </p:nvGrpSpPr>
        <p:grpSpPr>
          <a:xfrm>
            <a:off x="571500" y="1524000"/>
            <a:ext cx="11049000" cy="782320"/>
            <a:chOff x="571500" y="1524000"/>
            <a:chExt cx="11049000" cy="78232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11049000" cy="762000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chemeClr val="accent2"/>
                </a:gs>
                <a:gs pos="100000">
                  <a:srgbClr val="059669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901898" y="1806773"/>
              <a:ext cx="386952" cy="386952"/>
              <a:chOff x="901898" y="1806773"/>
              <a:chExt cx="386952" cy="38695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16781" y="1821656"/>
                <a:ext cx="357187" cy="357187"/>
              </a:xfrm>
              <a:custGeom>
                <a:avLst/>
                <a:gdLst/>
                <a:ahLst/>
                <a:cxnLst/>
                <a:rect l="l" t="t" r="r" b="b"/>
                <a:pathLst>
                  <a:path w="357187" h="357187">
                    <a:moveTo>
                      <a:pt x="357187" y="178593"/>
                    </a:moveTo>
                    <a:cubicBezTo>
                      <a:pt x="357187" y="277228"/>
                      <a:pt x="277228" y="357187"/>
                      <a:pt x="178593" y="357187"/>
                    </a:cubicBezTo>
                    <a:cubicBezTo>
                      <a:pt x="79959" y="357187"/>
                      <a:pt x="0" y="277228"/>
                      <a:pt x="0" y="178593"/>
                    </a:cubicBezTo>
                    <a:cubicBezTo>
                      <a:pt x="0" y="79959"/>
                      <a:pt x="79959" y="0"/>
                      <a:pt x="178593" y="0"/>
                    </a:cubicBezTo>
                    <a:cubicBezTo>
                      <a:pt x="277228" y="0"/>
                      <a:pt x="357187" y="79959"/>
                      <a:pt x="357187" y="178593"/>
                    </a:cubicBezTo>
                    <a:close/>
                  </a:path>
                </a:pathLst>
              </a:custGeom>
              <a:solidFill>
                <a:schemeClr val="l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01898" y="1806773"/>
                <a:ext cx="386952" cy="386952"/>
              </a:xfrm>
              <a:custGeom>
                <a:avLst/>
                <a:gdLst/>
                <a:ahLst/>
                <a:cxnLst/>
                <a:rect l="l" t="t" r="r" b="b"/>
                <a:pathLst>
                  <a:path w="386952" h="386952">
                    <a:moveTo>
                      <a:pt x="278420" y="138298"/>
                    </a:moveTo>
                    <a:cubicBezTo>
                      <a:pt x="281214" y="141090"/>
                      <a:pt x="282784" y="144878"/>
                      <a:pt x="282784" y="148828"/>
                    </a:cubicBezTo>
                    <a:cubicBezTo>
                      <a:pt x="282784" y="152778"/>
                      <a:pt x="281214" y="156566"/>
                      <a:pt x="278420" y="159357"/>
                    </a:cubicBezTo>
                    <a:lnTo>
                      <a:pt x="174240" y="263537"/>
                    </a:lnTo>
                    <a:cubicBezTo>
                      <a:pt x="171449" y="266331"/>
                      <a:pt x="167661" y="267902"/>
                      <a:pt x="163711" y="267902"/>
                    </a:cubicBezTo>
                    <a:cubicBezTo>
                      <a:pt x="159760" y="267902"/>
                      <a:pt x="155972" y="266331"/>
                      <a:pt x="153181" y="263537"/>
                    </a:cubicBezTo>
                    <a:lnTo>
                      <a:pt x="108533" y="218888"/>
                    </a:lnTo>
                    <a:cubicBezTo>
                      <a:pt x="102717" y="213073"/>
                      <a:pt x="102717" y="203645"/>
                      <a:pt x="108533" y="197829"/>
                    </a:cubicBezTo>
                    <a:cubicBezTo>
                      <a:pt x="114348" y="192014"/>
                      <a:pt x="123776" y="192014"/>
                      <a:pt x="129592" y="197829"/>
                    </a:cubicBezTo>
                    <a:lnTo>
                      <a:pt x="163711" y="231967"/>
                    </a:lnTo>
                    <a:lnTo>
                      <a:pt x="257360" y="138298"/>
                    </a:lnTo>
                    <a:cubicBezTo>
                      <a:pt x="260152" y="135504"/>
                      <a:pt x="263940" y="133933"/>
                      <a:pt x="267890" y="133933"/>
                    </a:cubicBezTo>
                    <a:cubicBezTo>
                      <a:pt x="271840" y="133933"/>
                      <a:pt x="275628" y="135504"/>
                      <a:pt x="278420" y="138298"/>
                    </a:cubicBezTo>
                    <a:close/>
                    <a:moveTo>
                      <a:pt x="386952" y="193476"/>
                    </a:moveTo>
                    <a:cubicBezTo>
                      <a:pt x="386952" y="300330"/>
                      <a:pt x="300330" y="386952"/>
                      <a:pt x="193476" y="386952"/>
                    </a:cubicBezTo>
                    <a:cubicBezTo>
                      <a:pt x="86622" y="386952"/>
                      <a:pt x="0" y="300330"/>
                      <a:pt x="0" y="193476"/>
                    </a:cubicBezTo>
                    <a:cubicBezTo>
                      <a:pt x="0" y="86622"/>
                      <a:pt x="86622" y="0"/>
                      <a:pt x="193476" y="0"/>
                    </a:cubicBezTo>
                    <a:cubicBezTo>
                      <a:pt x="300283" y="113"/>
                      <a:pt x="386839" y="86669"/>
                      <a:pt x="386952" y="193476"/>
                    </a:cubicBezTo>
                    <a:close/>
                    <a:moveTo>
                      <a:pt x="357187" y="193476"/>
                    </a:moveTo>
                    <a:cubicBezTo>
                      <a:pt x="357187" y="103061"/>
                      <a:pt x="283891" y="29766"/>
                      <a:pt x="193476" y="29766"/>
                    </a:cubicBezTo>
                    <a:cubicBezTo>
                      <a:pt x="103061" y="29766"/>
                      <a:pt x="29766" y="103061"/>
                      <a:pt x="29766" y="193476"/>
                    </a:cubicBezTo>
                    <a:cubicBezTo>
                      <a:pt x="29766" y="283891"/>
                      <a:pt x="103061" y="357187"/>
                      <a:pt x="193476" y="357187"/>
                    </a:cubicBezTo>
                    <a:cubicBezTo>
                      <a:pt x="283848" y="357084"/>
                      <a:pt x="357084" y="283848"/>
                      <a:pt x="357187" y="19347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513332" y="1651000"/>
              <a:ext cx="66892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21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Comprehensive Testing: 64/64 E2E Tests PASS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6380" y="2012950"/>
              <a:ext cx="52315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dirty="0">
                  <a:solidFill>
                    <a:srgbClr val="D1FAE5"/>
                  </a:solidFill>
                  <a:latin typeface="Inter"/>
                  <a:ea typeface="Inter"/>
                  <a:cs typeface="Inter"/>
                </a:rPr>
                <a:t>All layers verified across desktop &amp; mobile platforms</a:t>
              </a:r>
            </a:p>
          </p:txBody>
        </p:sp>
      </p:grpSp>
      <p:grpSp>
        <p:nvGrpSpPr>
          <p:cNvPr id="28" name="gate6"/>
          <p:cNvGrpSpPr/>
          <p:nvPr/>
        </p:nvGrpSpPr>
        <p:grpSpPr>
          <a:xfrm>
            <a:off x="571500" y="2571750"/>
            <a:ext cx="3429000" cy="1714500"/>
            <a:chOff x="571500" y="2571750"/>
            <a:chExt cx="3429000" cy="1714500"/>
          </a:xfrm>
        </p:grpSpPr>
        <p:sp>
          <p:nvSpPr>
            <p:cNvPr id="12" name="Rectangle 12"/>
            <p:cNvSpPr/>
            <p:nvPr/>
          </p:nvSpPr>
          <p:spPr>
            <a:xfrm>
              <a:off x="571500" y="2571750"/>
              <a:ext cx="3429000" cy="1714500"/>
            </a:xfrm>
            <a:prstGeom prst="roundRect">
              <a:avLst>
                <a:gd name="adj" fmla="val 6667"/>
              </a:avLst>
            </a:prstGeom>
            <a:solidFill>
              <a:srgbClr val="EFF6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2571750"/>
              <a:ext cx="3429000" cy="476250"/>
            </a:xfrm>
            <a:prstGeom prst="roundRect">
              <a:avLst>
                <a:gd name="adj" fmla="val 24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9630" y="2708275"/>
              <a:ext cx="2138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Gate 6 — Native &amp; API</a:t>
              </a:r>
            </a:p>
          </p:txBody>
        </p:sp>
        <p:grpSp>
          <p:nvGrpSpPr>
            <p:cNvPr id="27" name="gate6-results"/>
            <p:cNvGrpSpPr/>
            <p:nvPr/>
          </p:nvGrpSpPr>
          <p:grpSpPr>
            <a:xfrm>
              <a:off x="878681" y="3212306"/>
              <a:ext cx="2426189" cy="822865"/>
              <a:chOff x="878681" y="3212306"/>
              <a:chExt cx="2426189" cy="822865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878681" y="3212306"/>
                <a:ext cx="185738" cy="185738"/>
                <a:chOff x="878681" y="3212306"/>
                <a:chExt cx="185738" cy="185738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885825" y="32194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878681" y="321230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184529" y="3228975"/>
                <a:ext cx="21203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19/19 native serving tests</a:t>
                </a:r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878681" y="3498056"/>
                <a:ext cx="185738" cy="185738"/>
                <a:chOff x="878681" y="3498056"/>
                <a:chExt cx="185738" cy="185738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885825" y="35052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878681" y="349805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1184529" y="3514725"/>
                <a:ext cx="18815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16/16 Fastify API tests</a:t>
                </a:r>
              </a:p>
            </p:txBody>
          </p:sp>
          <p:grpSp>
            <p:nvGrpSpPr>
              <p:cNvPr id="25" name="Group 25"/>
              <p:cNvGrpSpPr/>
              <p:nvPr/>
            </p:nvGrpSpPr>
            <p:grpSpPr>
              <a:xfrm>
                <a:off x="878681" y="3783806"/>
                <a:ext cx="185738" cy="185738"/>
                <a:chOff x="878681" y="3783806"/>
                <a:chExt cx="185738" cy="185738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885825" y="37909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78681" y="378380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1184529" y="3800475"/>
                <a:ext cx="17887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TypeScript &amp; Vite build</a:t>
                </a:r>
              </a:p>
            </p:txBody>
          </p:sp>
        </p:grpSp>
      </p:grpSp>
      <p:grpSp>
        <p:nvGrpSpPr>
          <p:cNvPr id="45" name="gate7"/>
          <p:cNvGrpSpPr/>
          <p:nvPr/>
        </p:nvGrpSpPr>
        <p:grpSpPr>
          <a:xfrm>
            <a:off x="4381500" y="2571750"/>
            <a:ext cx="3429000" cy="1714500"/>
            <a:chOff x="4381500" y="2571750"/>
            <a:chExt cx="3429000" cy="1714500"/>
          </a:xfrm>
        </p:grpSpPr>
        <p:sp>
          <p:nvSpPr>
            <p:cNvPr id="29" name="Rectangle 29"/>
            <p:cNvSpPr/>
            <p:nvPr/>
          </p:nvSpPr>
          <p:spPr>
            <a:xfrm>
              <a:off x="4381500" y="2571750"/>
              <a:ext cx="3429000" cy="1714500"/>
            </a:xfrm>
            <a:prstGeom prst="roundRect">
              <a:avLst>
                <a:gd name="adj" fmla="val 6667"/>
              </a:avLst>
            </a:prstGeom>
            <a:solidFill>
              <a:srgbClr val="F0FDF4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81500" y="2571750"/>
              <a:ext cx="3429000" cy="476250"/>
            </a:xfrm>
            <a:prstGeom prst="roundRect">
              <a:avLst>
                <a:gd name="adj" fmla="val 24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659630" y="2708275"/>
              <a:ext cx="21010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Gate 7 — End-to-End</a:t>
              </a:r>
            </a:p>
          </p:txBody>
        </p:sp>
        <p:grpSp>
          <p:nvGrpSpPr>
            <p:cNvPr id="44" name="gate7-results"/>
            <p:cNvGrpSpPr/>
            <p:nvPr/>
          </p:nvGrpSpPr>
          <p:grpSpPr>
            <a:xfrm>
              <a:off x="4688681" y="3212306"/>
              <a:ext cx="2415417" cy="822865"/>
              <a:chOff x="4688681" y="3212306"/>
              <a:chExt cx="2415417" cy="822865"/>
            </a:xfrm>
          </p:grpSpPr>
          <p:grpSp>
            <p:nvGrpSpPr>
              <p:cNvPr id="34" name="Group 34"/>
              <p:cNvGrpSpPr/>
              <p:nvPr/>
            </p:nvGrpSpPr>
            <p:grpSpPr>
              <a:xfrm>
                <a:off x="4688681" y="3212306"/>
                <a:ext cx="185738" cy="185738"/>
                <a:chOff x="4688681" y="3212306"/>
                <a:chExt cx="185738" cy="185738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4695825" y="32194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688681" y="321230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4994529" y="3228975"/>
                <a:ext cx="18445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40/40 Playwright tests</a:t>
                </a:r>
              </a:p>
            </p:txBody>
          </p:sp>
          <p:grpSp>
            <p:nvGrpSpPr>
              <p:cNvPr id="38" name="Group 38"/>
              <p:cNvGrpSpPr/>
              <p:nvPr/>
            </p:nvGrpSpPr>
            <p:grpSpPr>
              <a:xfrm>
                <a:off x="4688681" y="3498056"/>
                <a:ext cx="185738" cy="185738"/>
                <a:chOff x="4688681" y="3498056"/>
                <a:chExt cx="185738" cy="185738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4695825" y="35052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688681" y="349805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4994529" y="3514725"/>
                <a:ext cx="210956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Desktop + mobile emulation</a:t>
                </a:r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4688681" y="3783806"/>
                <a:ext cx="185738" cy="185738"/>
                <a:chOff x="4688681" y="3783806"/>
                <a:chExt cx="185738" cy="185738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4695825" y="37909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4688681" y="378380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4994529" y="3800475"/>
                <a:ext cx="19563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Python ↔ Node parity 1/1</a:t>
                </a:r>
              </a:p>
            </p:txBody>
          </p:sp>
        </p:grpSp>
      </p:grpSp>
      <p:grpSp>
        <p:nvGrpSpPr>
          <p:cNvPr id="62" name="gate8"/>
          <p:cNvGrpSpPr/>
          <p:nvPr/>
        </p:nvGrpSpPr>
        <p:grpSpPr>
          <a:xfrm>
            <a:off x="8191500" y="2571750"/>
            <a:ext cx="3429000" cy="1714500"/>
            <a:chOff x="8191500" y="2571750"/>
            <a:chExt cx="3429000" cy="1714500"/>
          </a:xfrm>
        </p:grpSpPr>
        <p:sp>
          <p:nvSpPr>
            <p:cNvPr id="46" name="Rectangle 46"/>
            <p:cNvSpPr/>
            <p:nvPr/>
          </p:nvSpPr>
          <p:spPr>
            <a:xfrm>
              <a:off x="8191500" y="2571750"/>
              <a:ext cx="3429000" cy="1714500"/>
            </a:xfrm>
            <a:prstGeom prst="roundRect">
              <a:avLst>
                <a:gd name="adj" fmla="val 6667"/>
              </a:avLst>
            </a:prstGeom>
            <a:solidFill>
              <a:srgbClr val="FEF3C7"/>
            </a:solidFill>
            <a:ln w="19050">
              <a:solidFill>
                <a:srgbClr val="F59E0B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191500" y="2571750"/>
              <a:ext cx="3429000" cy="476250"/>
            </a:xfrm>
            <a:prstGeom prst="roundRect">
              <a:avLst>
                <a:gd name="adj" fmla="val 24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69630" y="2708275"/>
              <a:ext cx="20322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Gate 8 — Windows CI</a:t>
              </a:r>
            </a:p>
          </p:txBody>
        </p:sp>
        <p:grpSp>
          <p:nvGrpSpPr>
            <p:cNvPr id="61" name="gate8-results"/>
            <p:cNvGrpSpPr/>
            <p:nvPr/>
          </p:nvGrpSpPr>
          <p:grpSpPr>
            <a:xfrm>
              <a:off x="8498681" y="3212306"/>
              <a:ext cx="2322344" cy="822865"/>
              <a:chOff x="8498681" y="3212306"/>
              <a:chExt cx="2322344" cy="822865"/>
            </a:xfrm>
          </p:grpSpPr>
          <p:grpSp>
            <p:nvGrpSpPr>
              <p:cNvPr id="51" name="Group 51"/>
              <p:cNvGrpSpPr/>
              <p:nvPr/>
            </p:nvGrpSpPr>
            <p:grpSpPr>
              <a:xfrm>
                <a:off x="8498681" y="3212306"/>
                <a:ext cx="185738" cy="185738"/>
                <a:chOff x="8498681" y="3212306"/>
                <a:chExt cx="185738" cy="185738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8505825" y="32194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8498681" y="321230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8804529" y="3228975"/>
                <a:ext cx="19633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Clean install verification</a:t>
                </a:r>
              </a:p>
            </p:txBody>
          </p:sp>
          <p:grpSp>
            <p:nvGrpSpPr>
              <p:cNvPr id="55" name="Group 55"/>
              <p:cNvGrpSpPr/>
              <p:nvPr/>
            </p:nvGrpSpPr>
            <p:grpSpPr>
              <a:xfrm>
                <a:off x="8498681" y="3498056"/>
                <a:ext cx="185738" cy="185738"/>
                <a:chOff x="8498681" y="3498056"/>
                <a:chExt cx="185738" cy="185738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8505825" y="35052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8498681" y="349805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8804529" y="3514725"/>
                <a:ext cx="20164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40/40 E2E on Server 2025</a:t>
                </a:r>
              </a:p>
            </p:txBody>
          </p:sp>
          <p:grpSp>
            <p:nvGrpSpPr>
              <p:cNvPr id="59" name="Group 59"/>
              <p:cNvGrpSpPr/>
              <p:nvPr/>
            </p:nvGrpSpPr>
            <p:grpSpPr>
              <a:xfrm>
                <a:off x="8498681" y="3783806"/>
                <a:ext cx="185738" cy="185738"/>
                <a:chOff x="8498681" y="3783806"/>
                <a:chExt cx="185738" cy="185738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8505825" y="37909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8498681" y="378380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60" name="TextBox 60"/>
              <p:cNvSpPr txBox="1"/>
              <p:nvPr/>
            </p:nvSpPr>
            <p:spPr>
              <a:xfrm>
                <a:off x="8804529" y="3800475"/>
                <a:ext cx="13908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Batch smoke test</a:t>
                </a:r>
              </a:p>
            </p:txBody>
          </p:sp>
        </p:grpSp>
      </p:grpSp>
      <p:grpSp>
        <p:nvGrpSpPr>
          <p:cNvPr id="70" name="gate10"/>
          <p:cNvGrpSpPr/>
          <p:nvPr/>
        </p:nvGrpSpPr>
        <p:grpSpPr>
          <a:xfrm>
            <a:off x="571500" y="4572000"/>
            <a:ext cx="5334000" cy="1524000"/>
            <a:chOff x="571500" y="4572000"/>
            <a:chExt cx="5334000" cy="1524000"/>
          </a:xfrm>
        </p:grpSpPr>
        <p:sp>
          <p:nvSpPr>
            <p:cNvPr id="63" name="Rectangle 63"/>
            <p:cNvSpPr/>
            <p:nvPr/>
          </p:nvSpPr>
          <p:spPr>
            <a:xfrm>
              <a:off x="571500" y="4572000"/>
              <a:ext cx="5334000" cy="1524000"/>
            </a:xfrm>
            <a:prstGeom prst="roundRect">
              <a:avLst>
                <a:gd name="adj" fmla="val 7500"/>
              </a:avLst>
            </a:prstGeom>
            <a:solidFill>
              <a:srgbClr val="DCFCE7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71500" y="4572000"/>
              <a:ext cx="5334000" cy="476250"/>
            </a:xfrm>
            <a:prstGeom prst="roundRect">
              <a:avLst>
                <a:gd name="adj" fmla="val 24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49630" y="4708525"/>
              <a:ext cx="2818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Gate 10.3 — Full Regression</a:t>
              </a:r>
            </a:p>
          </p:txBody>
        </p:sp>
        <p:grpSp>
          <p:nvGrpSpPr>
            <p:cNvPr id="69" name="gate10-results"/>
            <p:cNvGrpSpPr/>
            <p:nvPr/>
          </p:nvGrpSpPr>
          <p:grpSpPr>
            <a:xfrm>
              <a:off x="851154" y="5181600"/>
              <a:ext cx="3408982" cy="806196"/>
              <a:chOff x="851154" y="5181600"/>
              <a:chExt cx="3408982" cy="806196"/>
            </a:xfrm>
          </p:grpSpPr>
          <p:sp>
            <p:nvSpPr>
              <p:cNvPr id="66" name="TextBox 66"/>
              <p:cNvSpPr txBox="1"/>
              <p:nvPr/>
            </p:nvSpPr>
            <p:spPr>
              <a:xfrm>
                <a:off x="851154" y="5181600"/>
                <a:ext cx="32375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64/64 E2E tests PASS (comprehensive)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51154" y="5467350"/>
                <a:ext cx="34089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064E3B"/>
                    </a:solidFill>
                    <a:latin typeface="Inter"/>
                    <a:ea typeface="Inter"/>
                    <a:cs typeface="Inter"/>
                  </a:rPr>
                  <a:t>Backend 16/16 · Serving 19/19 · Parity 1/1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851154" y="5753100"/>
                <a:ext cx="24970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064E3B"/>
                    </a:solidFill>
                    <a:latin typeface="Inter"/>
                    <a:ea typeface="Inter"/>
                    <a:cs typeface="Inter"/>
                  </a:rPr>
                  <a:t>Readiness &amp; retry logic verified</a:t>
                </a:r>
              </a:p>
            </p:txBody>
          </p:sp>
        </p:grpSp>
      </p:grpSp>
      <p:grpSp>
        <p:nvGrpSpPr>
          <p:cNvPr id="90" name="security"/>
          <p:cNvGrpSpPr/>
          <p:nvPr/>
        </p:nvGrpSpPr>
        <p:grpSpPr>
          <a:xfrm>
            <a:off x="6286500" y="4572000"/>
            <a:ext cx="5334000" cy="1524000"/>
            <a:chOff x="6286500" y="4572000"/>
            <a:chExt cx="5334000" cy="1524000"/>
          </a:xfrm>
        </p:grpSpPr>
        <p:sp>
          <p:nvSpPr>
            <p:cNvPr id="71" name="Rectangle 71"/>
            <p:cNvSpPr/>
            <p:nvPr/>
          </p:nvSpPr>
          <p:spPr>
            <a:xfrm>
              <a:off x="6286500" y="4572000"/>
              <a:ext cx="5334000" cy="1524000"/>
            </a:xfrm>
            <a:prstGeom prst="roundRect">
              <a:avLst>
                <a:gd name="adj" fmla="val 7500"/>
              </a:avLst>
            </a:prstGeom>
            <a:solidFill>
              <a:srgbClr val="FEF2F2"/>
            </a:solidFill>
            <a:ln w="19050">
              <a:solidFill>
                <a:srgbClr val="EF4444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86500" y="4572000"/>
              <a:ext cx="5334000" cy="476250"/>
            </a:xfrm>
            <a:prstGeom prst="roundRect">
              <a:avLst>
                <a:gd name="adj" fmla="val 24000"/>
              </a:avLst>
            </a:prstGeom>
            <a:solidFill>
              <a:srgbClr val="EF4444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490322" y="4717256"/>
              <a:ext cx="201950" cy="178676"/>
              <a:chOff x="6490322" y="4717256"/>
              <a:chExt cx="201950" cy="178676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494859" y="4721918"/>
                <a:ext cx="192881" cy="166789"/>
              </a:xfrm>
              <a:custGeom>
                <a:avLst/>
                <a:gdLst/>
                <a:ahLst/>
                <a:cxnLst/>
                <a:rect l="l" t="t" r="r" b="b"/>
                <a:pathLst>
                  <a:path w="192881" h="166789">
                    <a:moveTo>
                      <a:pt x="174540" y="166789"/>
                    </a:moveTo>
                    <a:lnTo>
                      <a:pt x="18342" y="166789"/>
                    </a:lnTo>
                    <a:cubicBezTo>
                      <a:pt x="7072" y="166789"/>
                      <a:pt x="0" y="154993"/>
                      <a:pt x="5474" y="145438"/>
                    </a:cubicBezTo>
                    <a:lnTo>
                      <a:pt x="83573" y="9823"/>
                    </a:lnTo>
                    <a:cubicBezTo>
                      <a:pt x="89199" y="0"/>
                      <a:pt x="103683" y="0"/>
                      <a:pt x="109308" y="9823"/>
                    </a:cubicBezTo>
                    <a:lnTo>
                      <a:pt x="187407" y="145438"/>
                    </a:lnTo>
                    <a:cubicBezTo>
                      <a:pt x="192881" y="154993"/>
                      <a:pt x="185809" y="166789"/>
                      <a:pt x="174540" y="166789"/>
                    </a:cubicBezTo>
                    <a:close/>
                  </a:path>
                </a:pathLst>
              </a:custGeom>
              <a:solidFill>
                <a:schemeClr val="l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490322" y="4717256"/>
                <a:ext cx="201950" cy="178676"/>
              </a:xfrm>
              <a:custGeom>
                <a:avLst/>
                <a:gdLst/>
                <a:ahLst/>
                <a:cxnLst/>
                <a:rect l="l" t="t" r="r" b="b"/>
                <a:pathLst>
                  <a:path w="201950" h="178676">
                    <a:moveTo>
                      <a:pt x="198133" y="146528"/>
                    </a:moveTo>
                    <a:lnTo>
                      <a:pt x="120043" y="10913"/>
                    </a:lnTo>
                    <a:lnTo>
                      <a:pt x="120043" y="10913"/>
                    </a:lnTo>
                    <a:cubicBezTo>
                      <a:pt x="116072" y="4152"/>
                      <a:pt x="108818" y="0"/>
                      <a:pt x="100978" y="0"/>
                    </a:cubicBezTo>
                    <a:cubicBezTo>
                      <a:pt x="93137" y="0"/>
                      <a:pt x="85884" y="4152"/>
                      <a:pt x="81913" y="10913"/>
                    </a:cubicBezTo>
                    <a:lnTo>
                      <a:pt x="3823" y="146528"/>
                    </a:lnTo>
                    <a:cubicBezTo>
                      <a:pt x="0" y="153071"/>
                      <a:pt x="0" y="161166"/>
                      <a:pt x="3823" y="167709"/>
                    </a:cubicBezTo>
                    <a:cubicBezTo>
                      <a:pt x="7745" y="174515"/>
                      <a:pt x="15033" y="178676"/>
                      <a:pt x="22888" y="178594"/>
                    </a:cubicBezTo>
                    <a:lnTo>
                      <a:pt x="179068" y="178594"/>
                    </a:lnTo>
                    <a:cubicBezTo>
                      <a:pt x="186916" y="178669"/>
                      <a:pt x="194196" y="174509"/>
                      <a:pt x="198115" y="167709"/>
                    </a:cubicBezTo>
                    <a:cubicBezTo>
                      <a:pt x="201943" y="161169"/>
                      <a:pt x="201950" y="153074"/>
                      <a:pt x="198133" y="146528"/>
                    </a:cubicBezTo>
                    <a:close/>
                    <a:moveTo>
                      <a:pt x="185747" y="160556"/>
                    </a:moveTo>
                    <a:cubicBezTo>
                      <a:pt x="184361" y="162921"/>
                      <a:pt x="181808" y="164354"/>
                      <a:pt x="179068" y="164307"/>
                    </a:cubicBezTo>
                    <a:lnTo>
                      <a:pt x="22888" y="164307"/>
                    </a:lnTo>
                    <a:cubicBezTo>
                      <a:pt x="20147" y="164354"/>
                      <a:pt x="17594" y="162921"/>
                      <a:pt x="16208" y="160556"/>
                    </a:cubicBezTo>
                    <a:cubicBezTo>
                      <a:pt x="14952" y="158430"/>
                      <a:pt x="14952" y="155789"/>
                      <a:pt x="16208" y="153663"/>
                    </a:cubicBezTo>
                    <a:lnTo>
                      <a:pt x="94298" y="18047"/>
                    </a:lnTo>
                    <a:cubicBezTo>
                      <a:pt x="95711" y="15697"/>
                      <a:pt x="98253" y="14259"/>
                      <a:pt x="100996" y="14259"/>
                    </a:cubicBezTo>
                    <a:cubicBezTo>
                      <a:pt x="103738" y="14259"/>
                      <a:pt x="106280" y="15697"/>
                      <a:pt x="107693" y="18047"/>
                    </a:cubicBezTo>
                    <a:lnTo>
                      <a:pt x="185783" y="153663"/>
                    </a:lnTo>
                    <a:cubicBezTo>
                      <a:pt x="187028" y="155795"/>
                      <a:pt x="187014" y="158437"/>
                      <a:pt x="185747" y="160556"/>
                    </a:cubicBezTo>
                    <a:close/>
                    <a:moveTo>
                      <a:pt x="93834" y="107157"/>
                    </a:moveTo>
                    <a:lnTo>
                      <a:pt x="93834" y="71438"/>
                    </a:lnTo>
                    <a:cubicBezTo>
                      <a:pt x="93834" y="67493"/>
                      <a:pt x="97032" y="64294"/>
                      <a:pt x="100978" y="64294"/>
                    </a:cubicBezTo>
                    <a:cubicBezTo>
                      <a:pt x="104923" y="64294"/>
                      <a:pt x="108122" y="67493"/>
                      <a:pt x="108122" y="71438"/>
                    </a:cubicBezTo>
                    <a:lnTo>
                      <a:pt x="108122" y="107157"/>
                    </a:lnTo>
                    <a:cubicBezTo>
                      <a:pt x="108122" y="111102"/>
                      <a:pt x="104923" y="114301"/>
                      <a:pt x="100978" y="114301"/>
                    </a:cubicBezTo>
                    <a:cubicBezTo>
                      <a:pt x="97032" y="114301"/>
                      <a:pt x="93834" y="111102"/>
                      <a:pt x="93834" y="107157"/>
                    </a:cubicBezTo>
                    <a:close/>
                    <a:moveTo>
                      <a:pt x="111693" y="139304"/>
                    </a:moveTo>
                    <a:cubicBezTo>
                      <a:pt x="111693" y="145222"/>
                      <a:pt x="106896" y="150019"/>
                      <a:pt x="100978" y="150019"/>
                    </a:cubicBezTo>
                    <a:cubicBezTo>
                      <a:pt x="95060" y="150019"/>
                      <a:pt x="90262" y="145222"/>
                      <a:pt x="90262" y="139304"/>
                    </a:cubicBezTo>
                    <a:cubicBezTo>
                      <a:pt x="90262" y="133386"/>
                      <a:pt x="95060" y="128588"/>
                      <a:pt x="100978" y="128588"/>
                    </a:cubicBezTo>
                    <a:cubicBezTo>
                      <a:pt x="106896" y="128588"/>
                      <a:pt x="111693" y="133386"/>
                      <a:pt x="111693" y="1393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850380" y="4708525"/>
              <a:ext cx="26335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Security &amp; Data Integrity</a:t>
              </a:r>
            </a:p>
          </p:txBody>
        </p:sp>
        <p:grpSp>
          <p:nvGrpSpPr>
            <p:cNvPr id="89" name="security-results"/>
            <p:cNvGrpSpPr/>
            <p:nvPr/>
          </p:nvGrpSpPr>
          <p:grpSpPr>
            <a:xfrm>
              <a:off x="6593681" y="5212556"/>
              <a:ext cx="2730286" cy="822865"/>
              <a:chOff x="6593681" y="5212556"/>
              <a:chExt cx="2730286" cy="822865"/>
            </a:xfrm>
          </p:grpSpPr>
          <p:grpSp>
            <p:nvGrpSpPr>
              <p:cNvPr id="79" name="Group 79"/>
              <p:cNvGrpSpPr/>
              <p:nvPr/>
            </p:nvGrpSpPr>
            <p:grpSpPr>
              <a:xfrm>
                <a:off x="6593681" y="5212556"/>
                <a:ext cx="185738" cy="185738"/>
                <a:chOff x="6593681" y="5212556"/>
                <a:chExt cx="185738" cy="185738"/>
              </a:xfrm>
            </p:grpSpPr>
            <p:sp>
              <p:nvSpPr>
                <p:cNvPr id="77" name="Freeform 77"/>
                <p:cNvSpPr/>
                <p:nvPr/>
              </p:nvSpPr>
              <p:spPr>
                <a:xfrm>
                  <a:off x="6600825" y="52197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6593681" y="521255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6899529" y="5229225"/>
                <a:ext cx="2232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7F1D1D"/>
                    </a:solidFill>
                    <a:latin typeface="Inter"/>
                    <a:ea typeface="Inter"/>
                    <a:cs typeface="Inter"/>
                  </a:rPr>
                  <a:t xml:space="preserve">npm audit: </a:t>
                </a:r>
                <a:r>
                  <a:rPr lang="vi" sz="1200" b="1" dirty="0">
                    <a:solidFill>
                      <a:srgbClr val="991B1B"/>
                    </a:solidFill>
                    <a:latin typeface="Inter"/>
                    <a:ea typeface="Inter"/>
                    <a:cs typeface="Inter"/>
                  </a:rPr>
                  <a:t>0 vulnerabilities</a:t>
                </a:r>
              </a:p>
            </p:txBody>
          </p:sp>
          <p:grpSp>
            <p:nvGrpSpPr>
              <p:cNvPr id="83" name="Group 83"/>
              <p:cNvGrpSpPr/>
              <p:nvPr/>
            </p:nvGrpSpPr>
            <p:grpSpPr>
              <a:xfrm>
                <a:off x="6593681" y="5545931"/>
                <a:ext cx="185738" cy="185738"/>
                <a:chOff x="6593681" y="5545931"/>
                <a:chExt cx="185738" cy="185738"/>
              </a:xfrm>
            </p:grpSpPr>
            <p:sp>
              <p:nvSpPr>
                <p:cNvPr id="81" name="Freeform 81"/>
                <p:cNvSpPr/>
                <p:nvPr/>
              </p:nvSpPr>
              <p:spPr>
                <a:xfrm>
                  <a:off x="6600825" y="5553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6593681" y="5545931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84" name="TextBox 84"/>
              <p:cNvSpPr txBox="1"/>
              <p:nvPr/>
            </p:nvSpPr>
            <p:spPr>
              <a:xfrm>
                <a:off x="6899529" y="5562600"/>
                <a:ext cx="22115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7F1D1D"/>
                    </a:solidFill>
                    <a:latin typeface="Inter"/>
                    <a:ea typeface="Inter"/>
                    <a:cs typeface="Inter"/>
                  </a:rPr>
                  <a:t>SHA-256 checksums verified</a:t>
                </a:r>
              </a:p>
            </p:txBody>
          </p:sp>
          <p:grpSp>
            <p:nvGrpSpPr>
              <p:cNvPr id="87" name="Group 87"/>
              <p:cNvGrpSpPr/>
              <p:nvPr/>
            </p:nvGrpSpPr>
            <p:grpSpPr>
              <a:xfrm>
                <a:off x="6593681" y="5784056"/>
                <a:ext cx="185738" cy="185738"/>
                <a:chOff x="6593681" y="5784056"/>
                <a:chExt cx="185738" cy="185738"/>
              </a:xfrm>
            </p:grpSpPr>
            <p:sp>
              <p:nvSpPr>
                <p:cNvPr id="85" name="Freeform 85"/>
                <p:cNvSpPr/>
                <p:nvPr/>
              </p:nvSpPr>
              <p:spPr>
                <a:xfrm>
                  <a:off x="6600825" y="57912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86" name="Freeform 86"/>
                <p:cNvSpPr/>
                <p:nvPr/>
              </p:nvSpPr>
              <p:spPr>
                <a:xfrm>
                  <a:off x="6593681" y="578405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88" name="TextBox 88"/>
              <p:cNvSpPr txBox="1"/>
              <p:nvPr/>
            </p:nvSpPr>
            <p:spPr>
              <a:xfrm>
                <a:off x="6899529" y="5800725"/>
                <a:ext cx="2424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7F1D1D"/>
                    </a:solidFill>
                    <a:latin typeface="Inter"/>
                    <a:ea typeface="Inter"/>
                    <a:cs typeface="Inter"/>
                  </a:rPr>
                  <a:t>No unauthorized model changes</a:t>
                </a:r>
              </a:p>
            </p:txBody>
          </p:sp>
        </p:grpSp>
      </p:grpSp>
      <p:grpSp>
        <p:nvGrpSpPr>
          <p:cNvPr id="93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91" name="TextBox 91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141640" y="65405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5998" y="381000"/>
            <a:ext cx="571003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3150" b="1" dirty="0">
                <a:solidFill>
                  <a:schemeClr val="dk1"/>
                </a:solidFill>
                <a:latin typeface="Inter"/>
                <a:ea typeface="Inter"/>
                <a:cs typeface="Inter"/>
              </a:rPr>
              <a:t>Limitations &amp; Future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2856" y="879475"/>
            <a:ext cx="32698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8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Hạn chế và Hướng phát triển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190625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685800" y="1428750"/>
            <a:ext cx="5219700" cy="4238625"/>
            <a:chOff x="685800" y="1428750"/>
            <a:chExt cx="5219700" cy="4238625"/>
          </a:xfrm>
        </p:grpSpPr>
        <p:sp>
          <p:nvSpPr>
            <p:cNvPr id="5" name="Ellipse 5"/>
            <p:cNvSpPr/>
            <p:nvPr/>
          </p:nvSpPr>
          <p:spPr>
            <a:xfrm>
              <a:off x="685800" y="1428750"/>
              <a:ext cx="571500" cy="5715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7814" y="151765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2400" dirty="0">
                  <a:solidFill>
                    <a:srgbClr val="000000"/>
                  </a:solidFill>
                  <a:latin typeface="Inter"/>
                  <a:ea typeface="Inter"/>
                  <a:cs typeface="Inter"/>
                </a:rPr>
                <a:t>⚠️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67231" y="1546225"/>
              <a:ext cx="1947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800" b="1" dirty="0">
                  <a:solidFill>
                    <a:srgbClr val="DC2626"/>
                  </a:solidFill>
                  <a:latin typeface="Inter"/>
                  <a:ea typeface="Inter"/>
                  <a:cs typeface="Inter"/>
                </a:rPr>
                <a:t>Hạn chế hiện tại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143125"/>
              <a:ext cx="5143500" cy="1238250"/>
            </a:xfrm>
            <a:prstGeom prst="roundRect">
              <a:avLst>
                <a:gd name="adj" fmla="val 9231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92886" y="2298700"/>
              <a:ext cx="23573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1. Phương pháp K-Means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4029" y="2562225"/>
              <a:ext cx="3399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Chỉ phát hiện cluster hình cầu (Euclidean)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4029" y="2800350"/>
              <a:ext cx="3337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Không phù hợp cluster hình dạng phức tạp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4029" y="3038475"/>
              <a:ext cx="31436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Nhạy cảm outliers dù đã preprocessing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3524250"/>
              <a:ext cx="5143500" cy="1000125"/>
            </a:xfrm>
            <a:prstGeom prst="roundRect">
              <a:avLst>
                <a:gd name="adj" fmla="val 11429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92886" y="3679825"/>
              <a:ext cx="22494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2. Feature engineering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4029" y="3943350"/>
              <a:ext cx="32452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Chưa có interaction (Fresh×Milk, etc.)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94029" y="4181475"/>
              <a:ext cx="3289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Chưa có temporal patterns (timestamp)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4667250"/>
              <a:ext cx="5143500" cy="1000125"/>
            </a:xfrm>
            <a:prstGeom prst="roundRect">
              <a:avLst>
                <a:gd name="adj" fmla="val 11429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92886" y="4822825"/>
              <a:ext cx="1255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3. Validation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4029" y="5086350"/>
              <a:ext cx="32972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Chỉ test stability, chưa có ground truth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4029" y="5324475"/>
              <a:ext cx="32441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Chưa A/B test business metrics thực tế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10300" y="1428750"/>
            <a:ext cx="5219700" cy="4238625"/>
            <a:chOff x="6210300" y="1428750"/>
            <a:chExt cx="5219700" cy="4238625"/>
          </a:xfrm>
        </p:grpSpPr>
        <p:sp>
          <p:nvSpPr>
            <p:cNvPr id="22" name="Ellipse 22"/>
            <p:cNvSpPr/>
            <p:nvPr/>
          </p:nvSpPr>
          <p:spPr>
            <a:xfrm>
              <a:off x="6210300" y="1428750"/>
              <a:ext cx="571500" cy="571500"/>
            </a:xfrm>
            <a:prstGeom prst="ellipse">
              <a:avLst/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22314" y="151765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2400" dirty="0">
                  <a:solidFill>
                    <a:srgbClr val="000000"/>
                  </a:solidFill>
                  <a:latin typeface="Inter"/>
                  <a:ea typeface="Inter"/>
                  <a:cs typeface="Inter"/>
                </a:rPr>
                <a:t>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91731" y="1546225"/>
              <a:ext cx="2074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800" b="1" dirty="0">
                  <a:solidFill>
                    <a:srgbClr val="059669"/>
                  </a:solidFill>
                  <a:latin typeface="Inter"/>
                  <a:ea typeface="Inter"/>
                  <a:cs typeface="Inter"/>
                </a:rPr>
                <a:t>Hướng phát triển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286500" y="2143125"/>
              <a:ext cx="5143500" cy="1238250"/>
            </a:xfrm>
            <a:prstGeom prst="roundRect">
              <a:avLst>
                <a:gd name="adj" fmla="val 9231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17386" y="2298700"/>
              <a:ext cx="18590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1. Thuật toán khác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18529" y="2562225"/>
              <a:ext cx="2784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DBSCAN: cluster bất kỳ + outliers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18529" y="2800350"/>
              <a:ext cx="2917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Hierarchical: phân tích dendrogram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18529" y="3038475"/>
              <a:ext cx="29858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GMM: soft assignment, uncertainty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86500" y="3524250"/>
              <a:ext cx="5143500" cy="1000125"/>
            </a:xfrm>
            <a:prstGeom prst="roundRect">
              <a:avLst>
                <a:gd name="adj" fmla="val 11429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17386" y="3679825"/>
              <a:ext cx="14577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2. Feature mới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18529" y="3943350"/>
              <a:ext cx="2803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Ratio: Fresh/Total, Milk/Grocery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18529" y="4181475"/>
              <a:ext cx="29522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RFM analysis nếu có dữ liệu thời gian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86500" y="4667250"/>
              <a:ext cx="5143500" cy="1000125"/>
            </a:xfrm>
            <a:prstGeom prst="roundRect">
              <a:avLst>
                <a:gd name="adj" fmla="val 11429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17386" y="4822825"/>
              <a:ext cx="2510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3. Production deployment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18529" y="5086350"/>
              <a:ext cx="35354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Monitoring data drift (PSI, KL divergence)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18529" y="5324475"/>
              <a:ext cx="3512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A/B test chiến dịch marketing theo cluster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762000" y="4857750"/>
            <a:ext cx="10668000" cy="1238250"/>
          </a:xfrm>
          <a:prstGeom prst="roundRect">
            <a:avLst>
              <a:gd name="adj" fmla="val 9231"/>
            </a:avLst>
          </a:prstGeom>
          <a:solidFill>
            <a:srgbClr val="EEF2FF"/>
          </a:solidFill>
          <a:ln w="19050">
            <a:solidFill>
              <a:srgbClr val="6366F1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040130" y="5013325"/>
            <a:ext cx="19099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rgbClr val="4338CA"/>
                </a:solidFill>
                <a:latin typeface="Inter"/>
                <a:ea typeface="Inter"/>
                <a:cs typeface="Inter"/>
              </a:rPr>
              <a:t>Ghi chú học thuật: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1273" y="5324475"/>
            <a:ext cx="6164387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80" dirty="0">
                <a:solidFill>
                  <a:srgbClr val="4F46E5"/>
                </a:solidFill>
                <a:latin typeface="Inter"/>
                <a:ea typeface="Inter"/>
                <a:cs typeface="Inter"/>
              </a:rPr>
              <a:t>Project 22 hoàn thành với K-Means baseline theo đúng yêu cầu Project 22: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41273" y="5610225"/>
            <a:ext cx="5271569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38176" indent="-138176">
              <a:buClr>
                <a:srgbClr val="4F46E5"/>
              </a:buClr>
              <a:buSzTx/>
              <a:buFontTx/>
              <a:buChar char="•"/>
            </a:pPr>
            <a:r>
              <a:rPr lang="vi" sz="1280" dirty="0">
                <a:solidFill>
                  <a:srgbClr val="4F46E5"/>
                </a:solidFill>
                <a:latin typeface="Inter"/>
                <a:ea typeface="Inter"/>
                <a:cs typeface="Inter"/>
              </a:rPr>
              <a:t>6 biến chi tiêu là features chính, Channel/Region chỉ profiling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41273" y="5895975"/>
            <a:ext cx="7030419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38176" indent="-138176">
              <a:buClr>
                <a:srgbClr val="4F46E5"/>
              </a:buClr>
              <a:buSzTx/>
              <a:buFontTx/>
              <a:buChar char="•"/>
            </a:pPr>
            <a:r>
              <a:rPr lang="vi" sz="1280" dirty="0">
                <a:solidFill>
                  <a:srgbClr val="4F46E5"/>
                </a:solidFill>
                <a:latin typeface="Inter"/>
                <a:ea typeface="Inter"/>
                <a:cs typeface="Inter"/>
              </a:rPr>
              <a:t>Preprocessing + Train/Val/Test split đúng quy trình → Model artifact đã đóng băng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6666" y="6350000"/>
            <a:ext cx="30544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Các phương pháp nâng cao để lại cho tương lai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951140" y="635000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14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667000"/>
          </a:xfrm>
          <a:prstGeom prst="rect">
            <a:avLst/>
          </a:prstGeom>
          <a:solidFill>
            <a:srgbClr val="DCFCE7"/>
          </a:solidFill>
          <a:ln>
            <a:noFill/>
          </a:ln>
        </p:spPr>
      </p:sp>
      <p:grpSp>
        <p:nvGrpSpPr>
          <p:cNvPr id="5" name="header"/>
          <p:cNvGrpSpPr/>
          <p:nvPr/>
        </p:nvGrpSpPr>
        <p:grpSpPr>
          <a:xfrm>
            <a:off x="2547525" y="673100"/>
            <a:ext cx="7096949" cy="1198118"/>
            <a:chOff x="2547525" y="673100"/>
            <a:chExt cx="7096949" cy="1198118"/>
          </a:xfrm>
        </p:grpSpPr>
        <p:sp>
          <p:nvSpPr>
            <p:cNvPr id="3" name="TextBox 3"/>
            <p:cNvSpPr txBox="1"/>
            <p:nvPr/>
          </p:nvSpPr>
          <p:spPr>
            <a:xfrm>
              <a:off x="3074416" y="673100"/>
              <a:ext cx="604316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390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Kết Luận và Thành Quả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47525" y="1460500"/>
              <a:ext cx="70969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2100" dirty="0">
                  <a:solidFill>
                    <a:srgbClr val="047857"/>
                  </a:solidFill>
                  <a:latin typeface="Inter"/>
                  <a:ea typeface="Inter"/>
                  <a:cs typeface="Inter"/>
                </a:rPr>
                <a:t>Complete ML Project Ready for Academic Evaluation</a:t>
              </a:r>
            </a:p>
          </p:txBody>
        </p:sp>
      </p:grpSp>
      <p:grpSp>
        <p:nvGrpSpPr>
          <p:cNvPr id="60" name="achievements"/>
          <p:cNvGrpSpPr/>
          <p:nvPr/>
        </p:nvGrpSpPr>
        <p:grpSpPr>
          <a:xfrm>
            <a:off x="571500" y="2857500"/>
            <a:ext cx="11049000" cy="2381250"/>
            <a:chOff x="571500" y="2857500"/>
            <a:chExt cx="11049000" cy="2381250"/>
          </a:xfrm>
        </p:grpSpPr>
        <p:grpSp>
          <p:nvGrpSpPr>
            <p:cNvPr id="11" name="achievement-1"/>
            <p:cNvGrpSpPr/>
            <p:nvPr/>
          </p:nvGrpSpPr>
          <p:grpSpPr>
            <a:xfrm>
              <a:off x="571500" y="2857500"/>
              <a:ext cx="3476625" cy="666750"/>
              <a:chOff x="571500" y="2857500"/>
              <a:chExt cx="3476625" cy="666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285750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741164" y="3074789"/>
                <a:ext cx="232173" cy="232173"/>
                <a:chOff x="741164" y="3074789"/>
                <a:chExt cx="232173" cy="232173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750094" y="308371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741164" y="307478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1136904" y="3114675"/>
                <a:ext cx="27511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440 customers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 → 2 stable clusters</a:t>
                </a:r>
              </a:p>
            </p:txBody>
          </p:sp>
        </p:grpSp>
        <p:grpSp>
          <p:nvGrpSpPr>
            <p:cNvPr id="17" name="achievement-2"/>
            <p:cNvGrpSpPr/>
            <p:nvPr/>
          </p:nvGrpSpPr>
          <p:grpSpPr>
            <a:xfrm>
              <a:off x="4352925" y="2857500"/>
              <a:ext cx="3476625" cy="666750"/>
              <a:chOff x="4352925" y="2857500"/>
              <a:chExt cx="3476625" cy="666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352925" y="285750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4522589" y="3074789"/>
                <a:ext cx="232173" cy="232173"/>
                <a:chOff x="4522589" y="3074789"/>
                <a:chExt cx="232173" cy="232173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4531519" y="308371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4522589" y="307478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4918329" y="3114675"/>
                <a:ext cx="22890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Split-first: </a:t>
                </a:r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No data leakage</a:t>
                </a:r>
              </a:p>
            </p:txBody>
          </p:sp>
        </p:grpSp>
        <p:grpSp>
          <p:nvGrpSpPr>
            <p:cNvPr id="23" name="achievement-3"/>
            <p:cNvGrpSpPr/>
            <p:nvPr/>
          </p:nvGrpSpPr>
          <p:grpSpPr>
            <a:xfrm>
              <a:off x="8143875" y="2857500"/>
              <a:ext cx="3476625" cy="666750"/>
              <a:chOff x="8143875" y="2857500"/>
              <a:chExt cx="3476625" cy="666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8143875" y="285750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8313539" y="3074789"/>
                <a:ext cx="232173" cy="232173"/>
                <a:chOff x="8313539" y="3074789"/>
                <a:chExt cx="232173" cy="232173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8322469" y="308371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8313539" y="307478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8709279" y="3114675"/>
                <a:ext cx="25561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140 experiments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 comprehensive</a:t>
                </a:r>
              </a:p>
            </p:txBody>
          </p:sp>
        </p:grpSp>
        <p:grpSp>
          <p:nvGrpSpPr>
            <p:cNvPr id="29" name="achievement-4"/>
            <p:cNvGrpSpPr/>
            <p:nvPr/>
          </p:nvGrpSpPr>
          <p:grpSpPr>
            <a:xfrm>
              <a:off x="571500" y="3714750"/>
              <a:ext cx="3476625" cy="666750"/>
              <a:chOff x="571500" y="3714750"/>
              <a:chExt cx="3476625" cy="6667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71500" y="371475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741164" y="3932039"/>
                <a:ext cx="232173" cy="232173"/>
                <a:chOff x="741164" y="3932039"/>
                <a:chExt cx="232173" cy="232173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750094" y="394096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41164" y="393203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136904" y="3971925"/>
                <a:ext cx="23607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Test </a:t>
                </a:r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independent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, used ONCE</a:t>
                </a:r>
              </a:p>
            </p:txBody>
          </p:sp>
        </p:grpSp>
        <p:grpSp>
          <p:nvGrpSpPr>
            <p:cNvPr id="35" name="achievement-5"/>
            <p:cNvGrpSpPr/>
            <p:nvPr/>
          </p:nvGrpSpPr>
          <p:grpSpPr>
            <a:xfrm>
              <a:off x="4352925" y="3714750"/>
              <a:ext cx="3476625" cy="666750"/>
              <a:chOff x="4352925" y="3714750"/>
              <a:chExt cx="3476625" cy="6667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352925" y="371475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4522589" y="3932039"/>
                <a:ext cx="232173" cy="232173"/>
                <a:chOff x="4522589" y="3932039"/>
                <a:chExt cx="232173" cy="232173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4531519" y="394096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522589" y="393203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4918329" y="3971925"/>
                <a:ext cx="17163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Frozen model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 serving</a:t>
                </a:r>
              </a:p>
            </p:txBody>
          </p:sp>
        </p:grpSp>
        <p:grpSp>
          <p:nvGrpSpPr>
            <p:cNvPr id="41" name="achievement-6"/>
            <p:cNvGrpSpPr/>
            <p:nvPr/>
          </p:nvGrpSpPr>
          <p:grpSpPr>
            <a:xfrm>
              <a:off x="8143875" y="3714750"/>
              <a:ext cx="3476625" cy="666750"/>
              <a:chOff x="8143875" y="3714750"/>
              <a:chExt cx="3476625" cy="6667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8143875" y="371475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8313539" y="3932039"/>
                <a:ext cx="232173" cy="232173"/>
                <a:chOff x="8313539" y="3932039"/>
                <a:chExt cx="232173" cy="232173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8322469" y="394096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313539" y="393203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8709279" y="3971925"/>
                <a:ext cx="17747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64/64 E2E tests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 PASS</a:t>
                </a:r>
              </a:p>
            </p:txBody>
          </p:sp>
        </p:grpSp>
        <p:grpSp>
          <p:nvGrpSpPr>
            <p:cNvPr id="47" name="achievement-7"/>
            <p:cNvGrpSpPr/>
            <p:nvPr/>
          </p:nvGrpSpPr>
          <p:grpSpPr>
            <a:xfrm>
              <a:off x="571500" y="4572000"/>
              <a:ext cx="3476625" cy="666750"/>
              <a:chOff x="571500" y="4572000"/>
              <a:chExt cx="3476625" cy="6667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71500" y="457200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741164" y="4789289"/>
                <a:ext cx="232173" cy="232173"/>
                <a:chOff x="741164" y="4789289"/>
                <a:chExt cx="232173" cy="232173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750094" y="479821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41164" y="478928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1136904" y="4829175"/>
                <a:ext cx="23194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Data &amp; Model cards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 complete</a:t>
                </a:r>
              </a:p>
            </p:txBody>
          </p:sp>
        </p:grpSp>
        <p:grpSp>
          <p:nvGrpSpPr>
            <p:cNvPr id="53" name="achievement-8"/>
            <p:cNvGrpSpPr/>
            <p:nvPr/>
          </p:nvGrpSpPr>
          <p:grpSpPr>
            <a:xfrm>
              <a:off x="4352925" y="4572000"/>
              <a:ext cx="3476625" cy="666750"/>
              <a:chOff x="4352925" y="4572000"/>
              <a:chExt cx="3476625" cy="6667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4352925" y="457200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4522589" y="4789289"/>
                <a:ext cx="232173" cy="232173"/>
                <a:chOff x="4522589" y="4789289"/>
                <a:chExt cx="232173" cy="232173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4531519" y="479821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4522589" y="478928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4918329" y="4829175"/>
                <a:ext cx="19791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Ethical boundaries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 clear</a:t>
                </a:r>
              </a:p>
            </p:txBody>
          </p:sp>
        </p:grpSp>
        <p:grpSp>
          <p:nvGrpSpPr>
            <p:cNvPr id="59" name="achievement-9"/>
            <p:cNvGrpSpPr/>
            <p:nvPr/>
          </p:nvGrpSpPr>
          <p:grpSpPr>
            <a:xfrm>
              <a:off x="8143875" y="4572000"/>
              <a:ext cx="3476625" cy="666750"/>
              <a:chOff x="8143875" y="4572000"/>
              <a:chExt cx="3476625" cy="6667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8143875" y="457200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8313539" y="4789289"/>
                <a:ext cx="232173" cy="232173"/>
                <a:chOff x="8313539" y="4789289"/>
                <a:chExt cx="232173" cy="232173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8322469" y="479821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8313539" y="478928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709279" y="4829175"/>
                <a:ext cx="26598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Reproducible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 with SHA checksums</a:t>
                </a:r>
              </a:p>
            </p:txBody>
          </p:sp>
        </p:grpSp>
      </p:grpSp>
      <p:grpSp>
        <p:nvGrpSpPr>
          <p:cNvPr id="65" name="status"/>
          <p:cNvGrpSpPr/>
          <p:nvPr/>
        </p:nvGrpSpPr>
        <p:grpSpPr>
          <a:xfrm>
            <a:off x="571500" y="5334000"/>
            <a:ext cx="11049000" cy="952500"/>
            <a:chOff x="571500" y="5334000"/>
            <a:chExt cx="11049000" cy="952500"/>
          </a:xfrm>
        </p:grpSpPr>
        <p:sp>
          <p:nvSpPr>
            <p:cNvPr id="61" name="Rectangle 61"/>
            <p:cNvSpPr/>
            <p:nvPr/>
          </p:nvSpPr>
          <p:spPr>
            <a:xfrm>
              <a:off x="571500" y="5334000"/>
              <a:ext cx="11049000" cy="952500"/>
            </a:xfrm>
            <a:prstGeom prst="roundRect">
              <a:avLst>
                <a:gd name="adj" fmla="val 16000"/>
              </a:avLst>
            </a:prstGeom>
            <a:gradFill>
              <a:gsLst>
                <a:gs pos="0">
                  <a:schemeClr val="accent2"/>
                </a:gs>
                <a:gs pos="100000">
                  <a:srgbClr val="059669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64" name="status-content"/>
            <p:cNvGrpSpPr/>
            <p:nvPr/>
          </p:nvGrpSpPr>
          <p:grpSpPr>
            <a:xfrm>
              <a:off x="3522896" y="5499100"/>
              <a:ext cx="5146207" cy="664845"/>
              <a:chOff x="3522896" y="5499100"/>
              <a:chExt cx="5146207" cy="664845"/>
            </a:xfrm>
          </p:grpSpPr>
          <p:sp>
            <p:nvSpPr>
              <p:cNvPr id="62" name="TextBox 62"/>
              <p:cNvSpPr txBox="1"/>
              <p:nvPr/>
            </p:nvSpPr>
            <p:spPr>
              <a:xfrm>
                <a:off x="3969708" y="5499100"/>
                <a:ext cx="42525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" sz="180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✓ Gate 9.6: Final Code CI Verified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3522896" y="5870575"/>
                <a:ext cx="514620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" sz="1500" dirty="0">
                    <a:solidFill>
                      <a:srgbClr val="D1FAE5"/>
                    </a:solidFill>
                    <a:latin typeface="Inter"/>
                    <a:ea typeface="Inter"/>
                    <a:cs typeface="Inter"/>
                  </a:rPr>
                  <a:t>Model D011 FROZEN · Ready for Academic Submission</a:t>
                </a:r>
              </a:p>
            </p:txBody>
          </p:sp>
        </p:grpSp>
      </p:grpSp>
      <p:sp>
        <p:nvSpPr>
          <p:cNvPr id="66" name="TextBox 66"/>
          <p:cNvSpPr txBox="1"/>
          <p:nvPr/>
        </p:nvSpPr>
        <p:spPr>
          <a:xfrm>
            <a:off x="5121971" y="6515100"/>
            <a:ext cx="19480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200" b="1" dirty="0">
                <a:solidFill>
                  <a:srgbClr val="065F46"/>
                </a:solidFill>
                <a:latin typeface="Inter"/>
                <a:ea typeface="Inter"/>
                <a:cs typeface="Inter"/>
              </a:rPr>
              <a:t>Thank You · Questions?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ject22_kmeans_presentation">
  <a:themeElements>
    <a:clrScheme name="project22_kmeans_presentation">
      <a:dk1>
        <a:srgbClr val="1F2937"/>
      </a:dk1>
      <a:lt1>
        <a:srgbClr val="FFFFFF"/>
      </a:lt1>
      <a:dk2>
        <a:srgbClr val="1F497D"/>
      </a:dk2>
      <a:lt2>
        <a:srgbClr val="F8F9FA"/>
      </a:lt2>
      <a:accent1>
        <a:srgbClr val="2563EB"/>
      </a:accent1>
      <a:accent2>
        <a:srgbClr val="10B981"/>
      </a:accent2>
      <a:accent3>
        <a:srgbClr val="8B5CF6"/>
      </a:accent3>
      <a:accent4>
        <a:srgbClr val="2563EB"/>
      </a:accent4>
      <a:accent5>
        <a:srgbClr val="6B7280"/>
      </a:accent5>
      <a:accent6>
        <a:srgbClr val="E5E7EB"/>
      </a:accent6>
      <a:hlink>
        <a:srgbClr val="10B981"/>
      </a:hlink>
      <a:folHlink>
        <a:srgbClr val="8B5CF6"/>
      </a:folHlink>
    </a:clrScheme>
    <a:fontScheme name="project22_kmeans_presenta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22_kmeans_present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vi</dc:language>
  <cp:lastModifiedBy/>
  <cp:revision>1</cp:revision>
  <dcterms:created xsi:type="dcterms:W3CDTF">2026-10-26T14:45:25Z</dcterms:created>
  <dcterms:modified xsi:type="dcterms:W3CDTF">2026-10-26T14:45:25Z</dcterms:modified>
  <cp:category/>
  <cp:contentStatus/>
</cp:coreProperties>
</file>